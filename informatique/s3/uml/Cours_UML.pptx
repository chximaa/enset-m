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237.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233.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229.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23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232.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235.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231.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238.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234.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239.xml"/>
  <Override ContentType="application/vnd.openxmlformats-officedocument.presentationml.slide+xml" PartName="/ppt/slides/slide15.xml"/>
  <Override ContentType="application/vnd.openxmlformats-officedocument.presentationml.slide+xml" PartName="/ppt/slides/slide230.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oleObject" PartName="/ppt/embeddings/oleObject13.bin"/>
  <Override ContentType="application/vnd.openxmlformats-officedocument.oleObject" PartName="/ppt/embeddings/oleObject9.bin"/>
  <Override ContentType="application/vnd.openxmlformats-officedocument.oleObject" PartName="/ppt/embeddings/oleObject6.bin"/>
  <Override ContentType="application/vnd.openxmlformats-officedocument.oleObject" PartName="/ppt/embeddings/oleObject15.bin"/>
  <Override ContentType="application/vnd.openxmlformats-officedocument.oleObject" PartName="/ppt/embeddings/oleObject18.bin"/>
  <Override ContentType="application/vnd.openxmlformats-officedocument.oleObject" PartName="/ppt/embeddings/oleObject4.bin"/>
  <Override ContentType="application/vnd.openxmlformats-officedocument.oleObject" PartName="/ppt/embeddings/oleObject1.bin"/>
  <Override ContentType="application/vnd.openxmlformats-officedocument.oleObject" PartName="/ppt/embeddings/oleObject11.bin"/>
  <Override ContentType="application/vnd.openxmlformats-officedocument.oleObject" PartName="/ppt/embeddings/oleObject8.bin"/>
  <Override ContentType="application/vnd.openxmlformats-officedocument.oleObject" PartName="/ppt/embeddings/oleObject22.bin"/>
  <Override ContentType="application/vnd.openxmlformats-officedocument.oleObject" PartName="/ppt/embeddings/oleObject19.bin"/>
  <Override ContentType="application/vnd.openxmlformats-officedocument.oleObject" PartName="/ppt/embeddings/oleObject20.bin"/>
  <Override ContentType="application/vnd.openxmlformats-officedocument.oleObject" PartName="/ppt/embeddings/oleObject14.bin"/>
  <Override ContentType="application/vnd.openxmlformats-officedocument.oleObject" PartName="/ppt/embeddings/oleObject12.bin"/>
  <Override ContentType="application/vnd.openxmlformats-officedocument.oleObject" PartName="/ppt/embeddings/oleObject3.bin"/>
  <Override ContentType="application/vnd.openxmlformats-officedocument.oleObject" PartName="/ppt/embeddings/oleObject5.bin"/>
  <Override ContentType="application/vnd.openxmlformats-officedocument.oleObject" PartName="/ppt/embeddings/oleObject17.bin"/>
  <Override ContentType="application/vnd.openxmlformats-officedocument.oleObject" PartName="/ppt/embeddings/oleObject7.bin"/>
  <Override ContentType="application/vnd.openxmlformats-officedocument.oleObject" PartName="/ppt/embeddings/oleObject16.bin"/>
  <Override ContentType="application/vnd.openxmlformats-officedocument.oleObject" PartName="/ppt/embeddings/oleObject2.bin"/>
  <Override ContentType="application/vnd.openxmlformats-officedocument.oleObject" PartName="/ppt/embeddings/oleObject10.bin"/>
  <Override ContentType="application/vnd.openxmlformats-officedocument.oleObject" PartName="/ppt/embeddings/oleObject21.bin"/>
  <Override ContentType="application/vnd.openxmlformats-officedocument.oleObject" PartName="/ppt/embeddings/oleObject23.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230.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23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29.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23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231.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235.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239.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23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36.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233.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37.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3" r:id="rId6"/>
    <p:sldMasterId id="2147483665"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 id="336" r:id="rId89"/>
    <p:sldId id="337" r:id="rId90"/>
    <p:sldId id="338" r:id="rId91"/>
    <p:sldId id="339" r:id="rId92"/>
    <p:sldId id="340" r:id="rId93"/>
    <p:sldId id="341" r:id="rId94"/>
    <p:sldId id="342" r:id="rId95"/>
    <p:sldId id="343" r:id="rId96"/>
    <p:sldId id="344" r:id="rId97"/>
    <p:sldId id="345" r:id="rId98"/>
    <p:sldId id="346" r:id="rId99"/>
    <p:sldId id="347" r:id="rId100"/>
    <p:sldId id="348" r:id="rId101"/>
    <p:sldId id="349" r:id="rId102"/>
    <p:sldId id="350" r:id="rId103"/>
    <p:sldId id="351" r:id="rId104"/>
    <p:sldId id="352" r:id="rId105"/>
    <p:sldId id="353" r:id="rId106"/>
    <p:sldId id="354" r:id="rId107"/>
    <p:sldId id="355" r:id="rId108"/>
    <p:sldId id="356" r:id="rId109"/>
    <p:sldId id="357" r:id="rId110"/>
    <p:sldId id="358" r:id="rId111"/>
    <p:sldId id="359" r:id="rId112"/>
    <p:sldId id="360" r:id="rId113"/>
    <p:sldId id="361" r:id="rId114"/>
    <p:sldId id="362" r:id="rId115"/>
    <p:sldId id="363" r:id="rId116"/>
    <p:sldId id="364" r:id="rId117"/>
    <p:sldId id="365" r:id="rId118"/>
    <p:sldId id="366" r:id="rId119"/>
    <p:sldId id="367" r:id="rId120"/>
    <p:sldId id="368" r:id="rId121"/>
    <p:sldId id="369" r:id="rId122"/>
    <p:sldId id="370" r:id="rId123"/>
    <p:sldId id="371" r:id="rId124"/>
    <p:sldId id="372" r:id="rId125"/>
    <p:sldId id="373" r:id="rId126"/>
    <p:sldId id="374" r:id="rId127"/>
    <p:sldId id="375" r:id="rId128"/>
    <p:sldId id="376" r:id="rId129"/>
    <p:sldId id="377" r:id="rId130"/>
    <p:sldId id="378" r:id="rId131"/>
    <p:sldId id="379" r:id="rId132"/>
    <p:sldId id="380" r:id="rId133"/>
    <p:sldId id="381" r:id="rId134"/>
    <p:sldId id="382" r:id="rId135"/>
    <p:sldId id="383" r:id="rId136"/>
    <p:sldId id="384" r:id="rId137"/>
    <p:sldId id="385" r:id="rId138"/>
    <p:sldId id="386" r:id="rId139"/>
    <p:sldId id="387" r:id="rId140"/>
    <p:sldId id="388" r:id="rId141"/>
    <p:sldId id="389" r:id="rId142"/>
    <p:sldId id="390" r:id="rId143"/>
    <p:sldId id="391" r:id="rId144"/>
    <p:sldId id="392" r:id="rId145"/>
    <p:sldId id="393" r:id="rId146"/>
    <p:sldId id="394" r:id="rId147"/>
    <p:sldId id="395" r:id="rId148"/>
    <p:sldId id="396" r:id="rId149"/>
    <p:sldId id="397" r:id="rId150"/>
    <p:sldId id="398" r:id="rId151"/>
    <p:sldId id="399" r:id="rId152"/>
    <p:sldId id="400" r:id="rId153"/>
    <p:sldId id="401" r:id="rId154"/>
    <p:sldId id="402" r:id="rId155"/>
    <p:sldId id="403" r:id="rId156"/>
    <p:sldId id="404" r:id="rId157"/>
    <p:sldId id="405" r:id="rId158"/>
    <p:sldId id="406" r:id="rId159"/>
    <p:sldId id="407" r:id="rId160"/>
    <p:sldId id="408" r:id="rId161"/>
    <p:sldId id="409" r:id="rId162"/>
    <p:sldId id="410" r:id="rId163"/>
    <p:sldId id="411" r:id="rId164"/>
    <p:sldId id="412" r:id="rId165"/>
    <p:sldId id="413" r:id="rId166"/>
    <p:sldId id="414" r:id="rId167"/>
    <p:sldId id="415" r:id="rId168"/>
    <p:sldId id="416" r:id="rId169"/>
    <p:sldId id="417" r:id="rId170"/>
    <p:sldId id="418" r:id="rId171"/>
    <p:sldId id="419" r:id="rId172"/>
    <p:sldId id="420" r:id="rId173"/>
    <p:sldId id="421" r:id="rId174"/>
    <p:sldId id="422" r:id="rId175"/>
    <p:sldId id="423" r:id="rId176"/>
    <p:sldId id="424" r:id="rId177"/>
    <p:sldId id="425" r:id="rId178"/>
    <p:sldId id="426" r:id="rId179"/>
    <p:sldId id="427" r:id="rId180"/>
    <p:sldId id="428" r:id="rId181"/>
    <p:sldId id="429" r:id="rId182"/>
    <p:sldId id="430" r:id="rId183"/>
    <p:sldId id="431" r:id="rId184"/>
    <p:sldId id="432" r:id="rId185"/>
    <p:sldId id="433" r:id="rId186"/>
    <p:sldId id="434" r:id="rId187"/>
    <p:sldId id="435" r:id="rId188"/>
    <p:sldId id="436" r:id="rId189"/>
    <p:sldId id="437" r:id="rId190"/>
    <p:sldId id="438" r:id="rId191"/>
    <p:sldId id="439" r:id="rId192"/>
    <p:sldId id="440" r:id="rId193"/>
    <p:sldId id="441" r:id="rId194"/>
    <p:sldId id="442" r:id="rId195"/>
    <p:sldId id="443" r:id="rId196"/>
    <p:sldId id="444" r:id="rId197"/>
    <p:sldId id="445" r:id="rId198"/>
    <p:sldId id="446" r:id="rId199"/>
    <p:sldId id="447" r:id="rId200"/>
    <p:sldId id="448" r:id="rId201"/>
    <p:sldId id="449" r:id="rId202"/>
    <p:sldId id="450" r:id="rId203"/>
    <p:sldId id="451" r:id="rId204"/>
    <p:sldId id="452" r:id="rId205"/>
    <p:sldId id="453" r:id="rId206"/>
    <p:sldId id="454" r:id="rId207"/>
    <p:sldId id="455" r:id="rId208"/>
    <p:sldId id="456" r:id="rId209"/>
    <p:sldId id="457" r:id="rId210"/>
    <p:sldId id="458" r:id="rId211"/>
    <p:sldId id="459" r:id="rId212"/>
    <p:sldId id="460" r:id="rId213"/>
    <p:sldId id="461" r:id="rId214"/>
    <p:sldId id="462" r:id="rId215"/>
    <p:sldId id="463" r:id="rId216"/>
    <p:sldId id="464" r:id="rId217"/>
    <p:sldId id="465" r:id="rId218"/>
    <p:sldId id="466" r:id="rId219"/>
    <p:sldId id="467" r:id="rId220"/>
    <p:sldId id="468" r:id="rId221"/>
    <p:sldId id="469" r:id="rId222"/>
    <p:sldId id="470" r:id="rId223"/>
    <p:sldId id="471" r:id="rId224"/>
    <p:sldId id="472" r:id="rId225"/>
    <p:sldId id="473" r:id="rId226"/>
    <p:sldId id="474" r:id="rId227"/>
    <p:sldId id="475" r:id="rId228"/>
    <p:sldId id="476" r:id="rId229"/>
    <p:sldId id="477" r:id="rId230"/>
    <p:sldId id="478" r:id="rId231"/>
    <p:sldId id="479" r:id="rId232"/>
    <p:sldId id="480" r:id="rId233"/>
    <p:sldId id="481" r:id="rId234"/>
    <p:sldId id="482" r:id="rId235"/>
    <p:sldId id="483" r:id="rId236"/>
    <p:sldId id="484" r:id="rId237"/>
    <p:sldId id="485" r:id="rId238"/>
    <p:sldId id="486" r:id="rId239"/>
    <p:sldId id="487" r:id="rId240"/>
    <p:sldId id="488" r:id="rId241"/>
    <p:sldId id="489" r:id="rId242"/>
    <p:sldId id="490" r:id="rId243"/>
    <p:sldId id="491" r:id="rId244"/>
    <p:sldId id="492" r:id="rId245"/>
    <p:sldId id="493" r:id="rId246"/>
    <p:sldId id="494" r:id="rId247"/>
  </p:sldIdLst>
  <p:sldSz cy="6858000" cx="9144000"/>
  <p:notesSz cx="6858000" cy="9144000"/>
  <p:embeddedFontLst>
    <p:embeddedFont>
      <p:font typeface="Tahoma"/>
      <p:regular r:id="rId248"/>
      <p:bold r:id="rId249"/>
    </p:embeddedFont>
    <p:embeddedFont>
      <p:font typeface="Libre Baskerville"/>
      <p:regular r:id="rId250"/>
      <p:bold r:id="rId251"/>
      <p:italic r:id="rId252"/>
      <p:boldItalic r:id="rId2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54" roundtripDataSignature="AMtx7mgxpjLrirFkdLaHyedZwye9C/Li4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ABD0C99-CF23-4BF3-A273-EBDE9038B481}">
  <a:tblStyle styleId="{AABD0C99-CF23-4BF3-A273-EBDE9038B48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190" Type="http://schemas.openxmlformats.org/officeDocument/2006/relationships/slide" Target="slides/slide18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194" Type="http://schemas.openxmlformats.org/officeDocument/2006/relationships/slide" Target="slides/slide186.xml"/><Relationship Id="rId43" Type="http://schemas.openxmlformats.org/officeDocument/2006/relationships/slide" Target="slides/slide35.xml"/><Relationship Id="rId193" Type="http://schemas.openxmlformats.org/officeDocument/2006/relationships/slide" Target="slides/slide185.xml"/><Relationship Id="rId46" Type="http://schemas.openxmlformats.org/officeDocument/2006/relationships/slide" Target="slides/slide38.xml"/><Relationship Id="rId192" Type="http://schemas.openxmlformats.org/officeDocument/2006/relationships/slide" Target="slides/slide184.xml"/><Relationship Id="rId45" Type="http://schemas.openxmlformats.org/officeDocument/2006/relationships/slide" Target="slides/slide37.xml"/><Relationship Id="rId191" Type="http://schemas.openxmlformats.org/officeDocument/2006/relationships/slide" Target="slides/slide183.xml"/><Relationship Id="rId48" Type="http://schemas.openxmlformats.org/officeDocument/2006/relationships/slide" Target="slides/slide40.xml"/><Relationship Id="rId187" Type="http://schemas.openxmlformats.org/officeDocument/2006/relationships/slide" Target="slides/slide179.xml"/><Relationship Id="rId47" Type="http://schemas.openxmlformats.org/officeDocument/2006/relationships/slide" Target="slides/slide39.xml"/><Relationship Id="rId186" Type="http://schemas.openxmlformats.org/officeDocument/2006/relationships/slide" Target="slides/slide178.xml"/><Relationship Id="rId185" Type="http://schemas.openxmlformats.org/officeDocument/2006/relationships/slide" Target="slides/slide177.xml"/><Relationship Id="rId49" Type="http://schemas.openxmlformats.org/officeDocument/2006/relationships/slide" Target="slides/slide41.xml"/><Relationship Id="rId184" Type="http://schemas.openxmlformats.org/officeDocument/2006/relationships/slide" Target="slides/slide176.xml"/><Relationship Id="rId189" Type="http://schemas.openxmlformats.org/officeDocument/2006/relationships/slide" Target="slides/slide181.xml"/><Relationship Id="rId188" Type="http://schemas.openxmlformats.org/officeDocument/2006/relationships/slide" Target="slides/slide180.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183" Type="http://schemas.openxmlformats.org/officeDocument/2006/relationships/slide" Target="slides/slide175.xml"/><Relationship Id="rId32" Type="http://schemas.openxmlformats.org/officeDocument/2006/relationships/slide" Target="slides/slide24.xml"/><Relationship Id="rId182" Type="http://schemas.openxmlformats.org/officeDocument/2006/relationships/slide" Target="slides/slide174.xml"/><Relationship Id="rId35" Type="http://schemas.openxmlformats.org/officeDocument/2006/relationships/slide" Target="slides/slide27.xml"/><Relationship Id="rId181" Type="http://schemas.openxmlformats.org/officeDocument/2006/relationships/slide" Target="slides/slide173.xml"/><Relationship Id="rId34" Type="http://schemas.openxmlformats.org/officeDocument/2006/relationships/slide" Target="slides/slide26.xml"/><Relationship Id="rId180" Type="http://schemas.openxmlformats.org/officeDocument/2006/relationships/slide" Target="slides/slide172.xml"/><Relationship Id="rId37" Type="http://schemas.openxmlformats.org/officeDocument/2006/relationships/slide" Target="slides/slide29.xml"/><Relationship Id="rId176" Type="http://schemas.openxmlformats.org/officeDocument/2006/relationships/slide" Target="slides/slide168.xml"/><Relationship Id="rId36" Type="http://schemas.openxmlformats.org/officeDocument/2006/relationships/slide" Target="slides/slide28.xml"/><Relationship Id="rId175" Type="http://schemas.openxmlformats.org/officeDocument/2006/relationships/slide" Target="slides/slide167.xml"/><Relationship Id="rId39" Type="http://schemas.openxmlformats.org/officeDocument/2006/relationships/slide" Target="slides/slide31.xml"/><Relationship Id="rId174" Type="http://schemas.openxmlformats.org/officeDocument/2006/relationships/slide" Target="slides/slide166.xml"/><Relationship Id="rId38" Type="http://schemas.openxmlformats.org/officeDocument/2006/relationships/slide" Target="slides/slide30.xml"/><Relationship Id="rId173" Type="http://schemas.openxmlformats.org/officeDocument/2006/relationships/slide" Target="slides/slide165.xml"/><Relationship Id="rId179" Type="http://schemas.openxmlformats.org/officeDocument/2006/relationships/slide" Target="slides/slide171.xml"/><Relationship Id="rId178" Type="http://schemas.openxmlformats.org/officeDocument/2006/relationships/slide" Target="slides/slide170.xml"/><Relationship Id="rId177" Type="http://schemas.openxmlformats.org/officeDocument/2006/relationships/slide" Target="slides/slide169.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slide" Target="slides/slide7.xml"/><Relationship Id="rId198" Type="http://schemas.openxmlformats.org/officeDocument/2006/relationships/slide" Target="slides/slide190.xml"/><Relationship Id="rId14" Type="http://schemas.openxmlformats.org/officeDocument/2006/relationships/slide" Target="slides/slide6.xml"/><Relationship Id="rId197" Type="http://schemas.openxmlformats.org/officeDocument/2006/relationships/slide" Target="slides/slide189.xml"/><Relationship Id="rId17" Type="http://schemas.openxmlformats.org/officeDocument/2006/relationships/slide" Target="slides/slide9.xml"/><Relationship Id="rId196" Type="http://schemas.openxmlformats.org/officeDocument/2006/relationships/slide" Target="slides/slide188.xml"/><Relationship Id="rId16" Type="http://schemas.openxmlformats.org/officeDocument/2006/relationships/slide" Target="slides/slide8.xml"/><Relationship Id="rId195" Type="http://schemas.openxmlformats.org/officeDocument/2006/relationships/slide" Target="slides/slide187.xml"/><Relationship Id="rId19" Type="http://schemas.openxmlformats.org/officeDocument/2006/relationships/slide" Target="slides/slide11.xml"/><Relationship Id="rId18" Type="http://schemas.openxmlformats.org/officeDocument/2006/relationships/slide" Target="slides/slide10.xml"/><Relationship Id="rId199" Type="http://schemas.openxmlformats.org/officeDocument/2006/relationships/slide" Target="slides/slide191.xml"/><Relationship Id="rId84" Type="http://schemas.openxmlformats.org/officeDocument/2006/relationships/slide" Target="slides/slide76.xml"/><Relationship Id="rId83" Type="http://schemas.openxmlformats.org/officeDocument/2006/relationships/slide" Target="slides/slide75.xml"/><Relationship Id="rId86" Type="http://schemas.openxmlformats.org/officeDocument/2006/relationships/slide" Target="slides/slide78.xml"/><Relationship Id="rId85" Type="http://schemas.openxmlformats.org/officeDocument/2006/relationships/slide" Target="slides/slide77.xml"/><Relationship Id="rId88" Type="http://schemas.openxmlformats.org/officeDocument/2006/relationships/slide" Target="slides/slide80.xml"/><Relationship Id="rId150" Type="http://schemas.openxmlformats.org/officeDocument/2006/relationships/slide" Target="slides/slide142.xml"/><Relationship Id="rId87" Type="http://schemas.openxmlformats.org/officeDocument/2006/relationships/slide" Target="slides/slide79.xml"/><Relationship Id="rId89" Type="http://schemas.openxmlformats.org/officeDocument/2006/relationships/slide" Target="slides/slide81.xml"/><Relationship Id="rId80" Type="http://schemas.openxmlformats.org/officeDocument/2006/relationships/slide" Target="slides/slide72.xml"/><Relationship Id="rId82" Type="http://schemas.openxmlformats.org/officeDocument/2006/relationships/slide" Target="slides/slide74.xml"/><Relationship Id="rId81" Type="http://schemas.openxmlformats.org/officeDocument/2006/relationships/slide" Target="slides/slide73.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1.xml"/><Relationship Id="rId4" Type="http://schemas.openxmlformats.org/officeDocument/2006/relationships/tableStyles" Target="tableStyles.xml"/><Relationship Id="rId148" Type="http://schemas.openxmlformats.org/officeDocument/2006/relationships/slide" Target="slides/slide140.xml"/><Relationship Id="rId9" Type="http://schemas.openxmlformats.org/officeDocument/2006/relationships/slide" Target="slides/slide1.xml"/><Relationship Id="rId143" Type="http://schemas.openxmlformats.org/officeDocument/2006/relationships/slide" Target="slides/slide135.xml"/><Relationship Id="rId142" Type="http://schemas.openxmlformats.org/officeDocument/2006/relationships/slide" Target="slides/slide134.xml"/><Relationship Id="rId141" Type="http://schemas.openxmlformats.org/officeDocument/2006/relationships/slide" Target="slides/slide133.xml"/><Relationship Id="rId140" Type="http://schemas.openxmlformats.org/officeDocument/2006/relationships/slide" Target="slides/slide132.xml"/><Relationship Id="rId5" Type="http://schemas.openxmlformats.org/officeDocument/2006/relationships/slideMaster" Target="slideMasters/slideMaster1.xml"/><Relationship Id="rId147" Type="http://schemas.openxmlformats.org/officeDocument/2006/relationships/slide" Target="slides/slide139.xml"/><Relationship Id="rId6" Type="http://schemas.openxmlformats.org/officeDocument/2006/relationships/slideMaster" Target="slideMasters/slideMaster2.xml"/><Relationship Id="rId146" Type="http://schemas.openxmlformats.org/officeDocument/2006/relationships/slide" Target="slides/slide138.xml"/><Relationship Id="rId7" Type="http://schemas.openxmlformats.org/officeDocument/2006/relationships/slideMaster" Target="slideMasters/slideMaster3.xml"/><Relationship Id="rId145" Type="http://schemas.openxmlformats.org/officeDocument/2006/relationships/slide" Target="slides/slide137.xml"/><Relationship Id="rId8" Type="http://schemas.openxmlformats.org/officeDocument/2006/relationships/notesMaster" Target="notesMasters/notesMaster1.xml"/><Relationship Id="rId144" Type="http://schemas.openxmlformats.org/officeDocument/2006/relationships/slide" Target="slides/slide136.xml"/><Relationship Id="rId73" Type="http://schemas.openxmlformats.org/officeDocument/2006/relationships/slide" Target="slides/slide65.xml"/><Relationship Id="rId72" Type="http://schemas.openxmlformats.org/officeDocument/2006/relationships/slide" Target="slides/slide64.xml"/><Relationship Id="rId75" Type="http://schemas.openxmlformats.org/officeDocument/2006/relationships/slide" Target="slides/slide67.xml"/><Relationship Id="rId74" Type="http://schemas.openxmlformats.org/officeDocument/2006/relationships/slide" Target="slides/slide66.xml"/><Relationship Id="rId77" Type="http://schemas.openxmlformats.org/officeDocument/2006/relationships/slide" Target="slides/slide69.xml"/><Relationship Id="rId76" Type="http://schemas.openxmlformats.org/officeDocument/2006/relationships/slide" Target="slides/slide68.xml"/><Relationship Id="rId79" Type="http://schemas.openxmlformats.org/officeDocument/2006/relationships/slide" Target="slides/slide71.xml"/><Relationship Id="rId78" Type="http://schemas.openxmlformats.org/officeDocument/2006/relationships/slide" Target="slides/slide70.xml"/><Relationship Id="rId71" Type="http://schemas.openxmlformats.org/officeDocument/2006/relationships/slide" Target="slides/slide63.xml"/><Relationship Id="rId70" Type="http://schemas.openxmlformats.org/officeDocument/2006/relationships/slide" Target="slides/slide62.xml"/><Relationship Id="rId139" Type="http://schemas.openxmlformats.org/officeDocument/2006/relationships/slide" Target="slides/slide131.xml"/><Relationship Id="rId138" Type="http://schemas.openxmlformats.org/officeDocument/2006/relationships/slide" Target="slides/slide130.xml"/><Relationship Id="rId137" Type="http://schemas.openxmlformats.org/officeDocument/2006/relationships/slide" Target="slides/slide129.xml"/><Relationship Id="rId132" Type="http://schemas.openxmlformats.org/officeDocument/2006/relationships/slide" Target="slides/slide124.xml"/><Relationship Id="rId253" Type="http://schemas.openxmlformats.org/officeDocument/2006/relationships/font" Target="fonts/LibreBaskerville-boldItalic.fntdata"/><Relationship Id="rId131" Type="http://schemas.openxmlformats.org/officeDocument/2006/relationships/slide" Target="slides/slide123.xml"/><Relationship Id="rId252" Type="http://schemas.openxmlformats.org/officeDocument/2006/relationships/font" Target="fonts/LibreBaskerville-italic.fntdata"/><Relationship Id="rId130" Type="http://schemas.openxmlformats.org/officeDocument/2006/relationships/slide" Target="slides/slide122.xml"/><Relationship Id="rId251" Type="http://schemas.openxmlformats.org/officeDocument/2006/relationships/font" Target="fonts/LibreBaskerville-bold.fntdata"/><Relationship Id="rId250" Type="http://schemas.openxmlformats.org/officeDocument/2006/relationships/font" Target="fonts/LibreBaskerville-regular.fntdata"/><Relationship Id="rId136" Type="http://schemas.openxmlformats.org/officeDocument/2006/relationships/slide" Target="slides/slide128.xml"/><Relationship Id="rId135" Type="http://schemas.openxmlformats.org/officeDocument/2006/relationships/slide" Target="slides/slide127.xml"/><Relationship Id="rId134" Type="http://schemas.openxmlformats.org/officeDocument/2006/relationships/slide" Target="slides/slide126.xml"/><Relationship Id="rId133" Type="http://schemas.openxmlformats.org/officeDocument/2006/relationships/slide" Target="slides/slide125.xml"/><Relationship Id="rId254" Type="http://customschemas.google.com/relationships/presentationmetadata" Target="metadata"/><Relationship Id="rId62" Type="http://schemas.openxmlformats.org/officeDocument/2006/relationships/slide" Target="slides/slide54.xml"/><Relationship Id="rId61" Type="http://schemas.openxmlformats.org/officeDocument/2006/relationships/slide" Target="slides/slide53.xml"/><Relationship Id="rId64" Type="http://schemas.openxmlformats.org/officeDocument/2006/relationships/slide" Target="slides/slide56.xml"/><Relationship Id="rId63" Type="http://schemas.openxmlformats.org/officeDocument/2006/relationships/slide" Target="slides/slide55.xml"/><Relationship Id="rId66" Type="http://schemas.openxmlformats.org/officeDocument/2006/relationships/slide" Target="slides/slide58.xml"/><Relationship Id="rId172" Type="http://schemas.openxmlformats.org/officeDocument/2006/relationships/slide" Target="slides/slide164.xml"/><Relationship Id="rId65" Type="http://schemas.openxmlformats.org/officeDocument/2006/relationships/slide" Target="slides/slide57.xml"/><Relationship Id="rId171" Type="http://schemas.openxmlformats.org/officeDocument/2006/relationships/slide" Target="slides/slide163.xml"/><Relationship Id="rId68" Type="http://schemas.openxmlformats.org/officeDocument/2006/relationships/slide" Target="slides/slide60.xml"/><Relationship Id="rId170" Type="http://schemas.openxmlformats.org/officeDocument/2006/relationships/slide" Target="slides/slide162.xml"/><Relationship Id="rId67" Type="http://schemas.openxmlformats.org/officeDocument/2006/relationships/slide" Target="slides/slide59.xml"/><Relationship Id="rId60" Type="http://schemas.openxmlformats.org/officeDocument/2006/relationships/slide" Target="slides/slide52.xml"/><Relationship Id="rId165" Type="http://schemas.openxmlformats.org/officeDocument/2006/relationships/slide" Target="slides/slide157.xml"/><Relationship Id="rId69" Type="http://schemas.openxmlformats.org/officeDocument/2006/relationships/slide" Target="slides/slide61.xml"/><Relationship Id="rId164" Type="http://schemas.openxmlformats.org/officeDocument/2006/relationships/slide" Target="slides/slide156.xml"/><Relationship Id="rId163" Type="http://schemas.openxmlformats.org/officeDocument/2006/relationships/slide" Target="slides/slide155.xml"/><Relationship Id="rId162" Type="http://schemas.openxmlformats.org/officeDocument/2006/relationships/slide" Target="slides/slide154.xml"/><Relationship Id="rId169" Type="http://schemas.openxmlformats.org/officeDocument/2006/relationships/slide" Target="slides/slide161.xml"/><Relationship Id="rId168" Type="http://schemas.openxmlformats.org/officeDocument/2006/relationships/slide" Target="slides/slide160.xml"/><Relationship Id="rId167" Type="http://schemas.openxmlformats.org/officeDocument/2006/relationships/slide" Target="slides/slide159.xml"/><Relationship Id="rId166" Type="http://schemas.openxmlformats.org/officeDocument/2006/relationships/slide" Target="slides/slide158.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55" Type="http://schemas.openxmlformats.org/officeDocument/2006/relationships/slide" Target="slides/slide47.xml"/><Relationship Id="rId161" Type="http://schemas.openxmlformats.org/officeDocument/2006/relationships/slide" Target="slides/slide153.xml"/><Relationship Id="rId54" Type="http://schemas.openxmlformats.org/officeDocument/2006/relationships/slide" Target="slides/slide46.xml"/><Relationship Id="rId160" Type="http://schemas.openxmlformats.org/officeDocument/2006/relationships/slide" Target="slides/slide152.xml"/><Relationship Id="rId57" Type="http://schemas.openxmlformats.org/officeDocument/2006/relationships/slide" Target="slides/slide49.xml"/><Relationship Id="rId56" Type="http://schemas.openxmlformats.org/officeDocument/2006/relationships/slide" Target="slides/slide48.xml"/><Relationship Id="rId159" Type="http://schemas.openxmlformats.org/officeDocument/2006/relationships/slide" Target="slides/slide151.xml"/><Relationship Id="rId59" Type="http://schemas.openxmlformats.org/officeDocument/2006/relationships/slide" Target="slides/slide51.xml"/><Relationship Id="rId154" Type="http://schemas.openxmlformats.org/officeDocument/2006/relationships/slide" Target="slides/slide146.xml"/><Relationship Id="rId58" Type="http://schemas.openxmlformats.org/officeDocument/2006/relationships/slide" Target="slides/slide50.xml"/><Relationship Id="rId153" Type="http://schemas.openxmlformats.org/officeDocument/2006/relationships/slide" Target="slides/slide145.xml"/><Relationship Id="rId152" Type="http://schemas.openxmlformats.org/officeDocument/2006/relationships/slide" Target="slides/slide144.xml"/><Relationship Id="rId151" Type="http://schemas.openxmlformats.org/officeDocument/2006/relationships/slide" Target="slides/slide143.xml"/><Relationship Id="rId158" Type="http://schemas.openxmlformats.org/officeDocument/2006/relationships/slide" Target="slides/slide150.xml"/><Relationship Id="rId157" Type="http://schemas.openxmlformats.org/officeDocument/2006/relationships/slide" Target="slides/slide149.xml"/><Relationship Id="rId156" Type="http://schemas.openxmlformats.org/officeDocument/2006/relationships/slide" Target="slides/slide148.xml"/><Relationship Id="rId155" Type="http://schemas.openxmlformats.org/officeDocument/2006/relationships/slide" Target="slides/slide147.xml"/><Relationship Id="rId107" Type="http://schemas.openxmlformats.org/officeDocument/2006/relationships/slide" Target="slides/slide99.xml"/><Relationship Id="rId228" Type="http://schemas.openxmlformats.org/officeDocument/2006/relationships/slide" Target="slides/slide220.xml"/><Relationship Id="rId106" Type="http://schemas.openxmlformats.org/officeDocument/2006/relationships/slide" Target="slides/slide98.xml"/><Relationship Id="rId227" Type="http://schemas.openxmlformats.org/officeDocument/2006/relationships/slide" Target="slides/slide219.xml"/><Relationship Id="rId105" Type="http://schemas.openxmlformats.org/officeDocument/2006/relationships/slide" Target="slides/slide97.xml"/><Relationship Id="rId226" Type="http://schemas.openxmlformats.org/officeDocument/2006/relationships/slide" Target="slides/slide218.xml"/><Relationship Id="rId104" Type="http://schemas.openxmlformats.org/officeDocument/2006/relationships/slide" Target="slides/slide96.xml"/><Relationship Id="rId225" Type="http://schemas.openxmlformats.org/officeDocument/2006/relationships/slide" Target="slides/slide217.xml"/><Relationship Id="rId109" Type="http://schemas.openxmlformats.org/officeDocument/2006/relationships/slide" Target="slides/slide101.xml"/><Relationship Id="rId108" Type="http://schemas.openxmlformats.org/officeDocument/2006/relationships/slide" Target="slides/slide100.xml"/><Relationship Id="rId229" Type="http://schemas.openxmlformats.org/officeDocument/2006/relationships/slide" Target="slides/slide221.xml"/><Relationship Id="rId220" Type="http://schemas.openxmlformats.org/officeDocument/2006/relationships/slide" Target="slides/slide212.xml"/><Relationship Id="rId103" Type="http://schemas.openxmlformats.org/officeDocument/2006/relationships/slide" Target="slides/slide95.xml"/><Relationship Id="rId224" Type="http://schemas.openxmlformats.org/officeDocument/2006/relationships/slide" Target="slides/slide216.xml"/><Relationship Id="rId102" Type="http://schemas.openxmlformats.org/officeDocument/2006/relationships/slide" Target="slides/slide94.xml"/><Relationship Id="rId223" Type="http://schemas.openxmlformats.org/officeDocument/2006/relationships/slide" Target="slides/slide215.xml"/><Relationship Id="rId101" Type="http://schemas.openxmlformats.org/officeDocument/2006/relationships/slide" Target="slides/slide93.xml"/><Relationship Id="rId222" Type="http://schemas.openxmlformats.org/officeDocument/2006/relationships/slide" Target="slides/slide214.xml"/><Relationship Id="rId100" Type="http://schemas.openxmlformats.org/officeDocument/2006/relationships/slide" Target="slides/slide92.xml"/><Relationship Id="rId221" Type="http://schemas.openxmlformats.org/officeDocument/2006/relationships/slide" Target="slides/slide213.xml"/><Relationship Id="rId217" Type="http://schemas.openxmlformats.org/officeDocument/2006/relationships/slide" Target="slides/slide209.xml"/><Relationship Id="rId216" Type="http://schemas.openxmlformats.org/officeDocument/2006/relationships/slide" Target="slides/slide208.xml"/><Relationship Id="rId215" Type="http://schemas.openxmlformats.org/officeDocument/2006/relationships/slide" Target="slides/slide207.xml"/><Relationship Id="rId214" Type="http://schemas.openxmlformats.org/officeDocument/2006/relationships/slide" Target="slides/slide206.xml"/><Relationship Id="rId219" Type="http://schemas.openxmlformats.org/officeDocument/2006/relationships/slide" Target="slides/slide211.xml"/><Relationship Id="rId218" Type="http://schemas.openxmlformats.org/officeDocument/2006/relationships/slide" Target="slides/slide210.xml"/><Relationship Id="rId213" Type="http://schemas.openxmlformats.org/officeDocument/2006/relationships/slide" Target="slides/slide205.xml"/><Relationship Id="rId212" Type="http://schemas.openxmlformats.org/officeDocument/2006/relationships/slide" Target="slides/slide204.xml"/><Relationship Id="rId211" Type="http://schemas.openxmlformats.org/officeDocument/2006/relationships/slide" Target="slides/slide203.xml"/><Relationship Id="rId210" Type="http://schemas.openxmlformats.org/officeDocument/2006/relationships/slide" Target="slides/slide202.xml"/><Relationship Id="rId129" Type="http://schemas.openxmlformats.org/officeDocument/2006/relationships/slide" Target="slides/slide121.xml"/><Relationship Id="rId128" Type="http://schemas.openxmlformats.org/officeDocument/2006/relationships/slide" Target="slides/slide120.xml"/><Relationship Id="rId249" Type="http://schemas.openxmlformats.org/officeDocument/2006/relationships/font" Target="fonts/Tahoma-bold.fntdata"/><Relationship Id="rId127" Type="http://schemas.openxmlformats.org/officeDocument/2006/relationships/slide" Target="slides/slide119.xml"/><Relationship Id="rId248" Type="http://schemas.openxmlformats.org/officeDocument/2006/relationships/font" Target="fonts/Tahoma-regular.fntdata"/><Relationship Id="rId126" Type="http://schemas.openxmlformats.org/officeDocument/2006/relationships/slide" Target="slides/slide118.xml"/><Relationship Id="rId247" Type="http://schemas.openxmlformats.org/officeDocument/2006/relationships/slide" Target="slides/slide239.xml"/><Relationship Id="rId121" Type="http://schemas.openxmlformats.org/officeDocument/2006/relationships/slide" Target="slides/slide113.xml"/><Relationship Id="rId242" Type="http://schemas.openxmlformats.org/officeDocument/2006/relationships/slide" Target="slides/slide234.xml"/><Relationship Id="rId120" Type="http://schemas.openxmlformats.org/officeDocument/2006/relationships/slide" Target="slides/slide112.xml"/><Relationship Id="rId241" Type="http://schemas.openxmlformats.org/officeDocument/2006/relationships/slide" Target="slides/slide233.xml"/><Relationship Id="rId240" Type="http://schemas.openxmlformats.org/officeDocument/2006/relationships/slide" Target="slides/slide232.xml"/><Relationship Id="rId125" Type="http://schemas.openxmlformats.org/officeDocument/2006/relationships/slide" Target="slides/slide117.xml"/><Relationship Id="rId246" Type="http://schemas.openxmlformats.org/officeDocument/2006/relationships/slide" Target="slides/slide238.xml"/><Relationship Id="rId124" Type="http://schemas.openxmlformats.org/officeDocument/2006/relationships/slide" Target="slides/slide116.xml"/><Relationship Id="rId245" Type="http://schemas.openxmlformats.org/officeDocument/2006/relationships/slide" Target="slides/slide237.xml"/><Relationship Id="rId123" Type="http://schemas.openxmlformats.org/officeDocument/2006/relationships/slide" Target="slides/slide115.xml"/><Relationship Id="rId244" Type="http://schemas.openxmlformats.org/officeDocument/2006/relationships/slide" Target="slides/slide236.xml"/><Relationship Id="rId122" Type="http://schemas.openxmlformats.org/officeDocument/2006/relationships/slide" Target="slides/slide114.xml"/><Relationship Id="rId243" Type="http://schemas.openxmlformats.org/officeDocument/2006/relationships/slide" Target="slides/slide235.xml"/><Relationship Id="rId95" Type="http://schemas.openxmlformats.org/officeDocument/2006/relationships/slide" Target="slides/slide87.xml"/><Relationship Id="rId94" Type="http://schemas.openxmlformats.org/officeDocument/2006/relationships/slide" Target="slides/slide86.xml"/><Relationship Id="rId97" Type="http://schemas.openxmlformats.org/officeDocument/2006/relationships/slide" Target="slides/slide89.xml"/><Relationship Id="rId96" Type="http://schemas.openxmlformats.org/officeDocument/2006/relationships/slide" Target="slides/slide88.xml"/><Relationship Id="rId99" Type="http://schemas.openxmlformats.org/officeDocument/2006/relationships/slide" Target="slides/slide91.xml"/><Relationship Id="rId98" Type="http://schemas.openxmlformats.org/officeDocument/2006/relationships/slide" Target="slides/slide90.xml"/><Relationship Id="rId91" Type="http://schemas.openxmlformats.org/officeDocument/2006/relationships/slide" Target="slides/slide83.xml"/><Relationship Id="rId90" Type="http://schemas.openxmlformats.org/officeDocument/2006/relationships/slide" Target="slides/slide82.xml"/><Relationship Id="rId93" Type="http://schemas.openxmlformats.org/officeDocument/2006/relationships/slide" Target="slides/slide85.xml"/><Relationship Id="rId92" Type="http://schemas.openxmlformats.org/officeDocument/2006/relationships/slide" Target="slides/slide84.xml"/><Relationship Id="rId118" Type="http://schemas.openxmlformats.org/officeDocument/2006/relationships/slide" Target="slides/slide110.xml"/><Relationship Id="rId239" Type="http://schemas.openxmlformats.org/officeDocument/2006/relationships/slide" Target="slides/slide231.xml"/><Relationship Id="rId117" Type="http://schemas.openxmlformats.org/officeDocument/2006/relationships/slide" Target="slides/slide109.xml"/><Relationship Id="rId238" Type="http://schemas.openxmlformats.org/officeDocument/2006/relationships/slide" Target="slides/slide230.xml"/><Relationship Id="rId116" Type="http://schemas.openxmlformats.org/officeDocument/2006/relationships/slide" Target="slides/slide108.xml"/><Relationship Id="rId237" Type="http://schemas.openxmlformats.org/officeDocument/2006/relationships/slide" Target="slides/slide229.xml"/><Relationship Id="rId115" Type="http://schemas.openxmlformats.org/officeDocument/2006/relationships/slide" Target="slides/slide107.xml"/><Relationship Id="rId236" Type="http://schemas.openxmlformats.org/officeDocument/2006/relationships/slide" Target="slides/slide228.xml"/><Relationship Id="rId119" Type="http://schemas.openxmlformats.org/officeDocument/2006/relationships/slide" Target="slides/slide111.xml"/><Relationship Id="rId110" Type="http://schemas.openxmlformats.org/officeDocument/2006/relationships/slide" Target="slides/slide102.xml"/><Relationship Id="rId231" Type="http://schemas.openxmlformats.org/officeDocument/2006/relationships/slide" Target="slides/slide223.xml"/><Relationship Id="rId230" Type="http://schemas.openxmlformats.org/officeDocument/2006/relationships/slide" Target="slides/slide222.xml"/><Relationship Id="rId114" Type="http://schemas.openxmlformats.org/officeDocument/2006/relationships/slide" Target="slides/slide106.xml"/><Relationship Id="rId235" Type="http://schemas.openxmlformats.org/officeDocument/2006/relationships/slide" Target="slides/slide227.xml"/><Relationship Id="rId113" Type="http://schemas.openxmlformats.org/officeDocument/2006/relationships/slide" Target="slides/slide105.xml"/><Relationship Id="rId234" Type="http://schemas.openxmlformats.org/officeDocument/2006/relationships/slide" Target="slides/slide226.xml"/><Relationship Id="rId112" Type="http://schemas.openxmlformats.org/officeDocument/2006/relationships/slide" Target="slides/slide104.xml"/><Relationship Id="rId233" Type="http://schemas.openxmlformats.org/officeDocument/2006/relationships/slide" Target="slides/slide225.xml"/><Relationship Id="rId111" Type="http://schemas.openxmlformats.org/officeDocument/2006/relationships/slide" Target="slides/slide103.xml"/><Relationship Id="rId232" Type="http://schemas.openxmlformats.org/officeDocument/2006/relationships/slide" Target="slides/slide224.xml"/><Relationship Id="rId206" Type="http://schemas.openxmlformats.org/officeDocument/2006/relationships/slide" Target="slides/slide198.xml"/><Relationship Id="rId205" Type="http://schemas.openxmlformats.org/officeDocument/2006/relationships/slide" Target="slides/slide197.xml"/><Relationship Id="rId204" Type="http://schemas.openxmlformats.org/officeDocument/2006/relationships/slide" Target="slides/slide196.xml"/><Relationship Id="rId203" Type="http://schemas.openxmlformats.org/officeDocument/2006/relationships/slide" Target="slides/slide195.xml"/><Relationship Id="rId209" Type="http://schemas.openxmlformats.org/officeDocument/2006/relationships/slide" Target="slides/slide201.xml"/><Relationship Id="rId208" Type="http://schemas.openxmlformats.org/officeDocument/2006/relationships/slide" Target="slides/slide200.xml"/><Relationship Id="rId207" Type="http://schemas.openxmlformats.org/officeDocument/2006/relationships/slide" Target="slides/slide199.xml"/><Relationship Id="rId202" Type="http://schemas.openxmlformats.org/officeDocument/2006/relationships/slide" Target="slides/slide194.xml"/><Relationship Id="rId201" Type="http://schemas.openxmlformats.org/officeDocument/2006/relationships/slide" Target="slides/slide193.xml"/><Relationship Id="rId200" Type="http://schemas.openxmlformats.org/officeDocument/2006/relationships/slide" Target="slides/slide19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6.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4.png"/><Relationship Id="rId3" Type="http://schemas.openxmlformats.org/officeDocument/2006/relationships/image" Target="../media/image9.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4.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8.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1.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6.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59.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54.png"/></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65.png"/></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94.png"/></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03.png"/></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10.png"/></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14.png"/></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15.png"/></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25.png"/></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18.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image" Target="../media/image7.png"/><Relationship Id="rId3" Type="http://schemas.openxmlformats.org/officeDocument/2006/relationships/oleObject" Target="../embeddings/oleObject5.bin"/><Relationship Id="rId4" Type="http://schemas.openxmlformats.org/officeDocument/2006/relationships/oleObject" Target="../embeddings/oleObject5.bin"/><Relationship Id="rId5" Type="http://schemas.openxmlformats.org/officeDocument/2006/relationships/image" Target="../media/image13.png"/><Relationship Id="rId6" Type="http://schemas.openxmlformats.org/officeDocument/2006/relationships/oleObject" Target="../embeddings/oleObject6.bin"/><Relationship Id="rId7" Type="http://schemas.openxmlformats.org/officeDocument/2006/relationships/oleObject" Target="../embeddings/oleObject6.bin"/><Relationship Id="rId8" Type="http://schemas.openxmlformats.org/officeDocument/2006/relationships/image" Target="../media/image4.png"/></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image" Target="../media/image7.png"/></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227" name="Google Shape;227;p5:notes"/>
          <p:cNvSpPr/>
          <p:nvPr>
            <p:ph idx="2" type="sldImg"/>
          </p:nvPr>
        </p:nvSpPr>
        <p:spPr>
          <a:xfrm>
            <a:off x="1293812" y="798512"/>
            <a:ext cx="4268787" cy="3201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228" name="Google Shape;228;p5:notes"/>
          <p:cNvSpPr txBox="1"/>
          <p:nvPr>
            <p:ph idx="1" type="body"/>
          </p:nvPr>
        </p:nvSpPr>
        <p:spPr>
          <a:xfrm>
            <a:off x="915987" y="4344987"/>
            <a:ext cx="5026025" cy="4111625"/>
          </a:xfrm>
          <a:prstGeom prst="rect">
            <a:avLst/>
          </a:prstGeom>
          <a:noFill/>
          <a:ln>
            <a:noFill/>
          </a:ln>
        </p:spPr>
        <p:txBody>
          <a:bodyPr anchorCtr="0" anchor="t" bIns="64675" lIns="72375" spcFirstLastPara="1" rIns="72375" wrap="square" tIns="6467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 name="Google Shape;373;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7" name="Google Shape;397;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1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421" name="Google Shape;421;p11:notes"/>
          <p:cNvSpPr/>
          <p:nvPr>
            <p:ph idx="2" type="sldImg"/>
          </p:nvPr>
        </p:nvSpPr>
        <p:spPr>
          <a:xfrm>
            <a:off x="1144587"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2" name="Google Shape;422;p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1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428" name="Google Shape;428;p12:notes"/>
          <p:cNvSpPr/>
          <p:nvPr>
            <p:ph idx="2" type="sldImg"/>
          </p:nvPr>
        </p:nvSpPr>
        <p:spPr>
          <a:xfrm>
            <a:off x="1141412" y="642937"/>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9" name="Google Shape;429;p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i="1" lang="en-US"/>
              <a:t>[PAM-00 p152] Les cas d’utilisation permettent aux utilisateurs de structurer et d’articuler leurs désirs; ils les obligent à définir la manière dont ils voudraient interagir avec le système, à préciser quelles informations ils entendent échanger et à décrire ce qui doit être fait pour obtenir le résultat escompté. Les cas d’utilisation concrétisent le futur système dans une formalisation proche de l’utilisateur; </a:t>
            </a:r>
            <a:r>
              <a:rPr i="1" lang="en-US">
                <a:solidFill>
                  <a:srgbClr val="FF0000"/>
                </a:solidFill>
              </a:rPr>
              <a:t>ils favorisent la définition  d’un cahier des charges qui reflète réellement les besoins, même en l’absence d’un système à critiquer</a:t>
            </a:r>
            <a:r>
              <a:rPr i="1" lang="en-US"/>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1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450" name="Google Shape;450;p13:notes"/>
          <p:cNvSpPr/>
          <p:nvPr>
            <p:ph idx="2" type="sldImg"/>
          </p:nvPr>
        </p:nvSpPr>
        <p:spPr>
          <a:xfrm>
            <a:off x="1144587"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1" name="Google Shape;451;p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i="1" lang="en-US"/>
              <a:t>[PAM-97 p123] Le modèle des cas d’utilisation comprend les acteurs, le système et les cas d’utilisation eux-mêmes.</a:t>
            </a:r>
            <a:endParaRPr/>
          </a:p>
          <a:p>
            <a:pPr indent="0" lvl="0" marL="0" rtl="0" algn="l">
              <a:spcBef>
                <a:spcPts val="0"/>
              </a:spcBef>
              <a:spcAft>
                <a:spcPts val="0"/>
              </a:spcAft>
              <a:buSzPts val="1800"/>
              <a:buNone/>
            </a:pPr>
            <a:r>
              <a:rPr i="1" lang="en-US"/>
              <a:t>Les acteurs déclenchent les cas d’utilisation.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461" name="Google Shape;461;p14:notes"/>
          <p:cNvSpPr/>
          <p:nvPr>
            <p:ph idx="2" type="sldImg"/>
          </p:nvPr>
        </p:nvSpPr>
        <p:spPr>
          <a:xfrm>
            <a:off x="1144587"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2" name="Google Shape;462;p14:notes"/>
          <p:cNvSpPr txBox="1"/>
          <p:nvPr>
            <p:ph idx="1" type="body"/>
          </p:nvPr>
        </p:nvSpPr>
        <p:spPr>
          <a:xfrm>
            <a:off x="914400" y="5218112"/>
            <a:ext cx="5029200" cy="32400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Les diagrammes de cas d’utilisation doivent être créés à partir de l’arborescence « Use Case View » du référentiel de Rational Rose.</a:t>
            </a:r>
            <a:endParaRPr/>
          </a:p>
          <a:p>
            <a:pPr indent="0" lvl="0" marL="0" rtl="0" algn="l">
              <a:spcBef>
                <a:spcPts val="0"/>
              </a:spcBef>
              <a:spcAft>
                <a:spcPts val="0"/>
              </a:spcAft>
              <a:buNone/>
            </a:pPr>
            <a:r>
              <a:t/>
            </a:r>
            <a:endParaRPr/>
          </a:p>
        </p:txBody>
      </p:sp>
      <p:sp>
        <p:nvSpPr>
          <p:cNvPr id="463" name="Google Shape;463;p14:notes"/>
          <p:cNvSpPr txBox="1"/>
          <p:nvPr/>
        </p:nvSpPr>
        <p:spPr>
          <a:xfrm>
            <a:off x="914400" y="4360862"/>
            <a:ext cx="5029200" cy="731837"/>
          </a:xfrm>
          <a:prstGeom prst="rect">
            <a:avLst/>
          </a:prstGeom>
          <a:noFill/>
          <a:ln>
            <a:noFill/>
          </a:ln>
        </p:spPr>
        <p:txBody>
          <a:bodyPr anchorCtr="0" anchor="t" bIns="45700" lIns="91425" spcFirstLastPara="1" rIns="91425" wrap="square" tIns="45700">
            <a:noAutofit/>
          </a:bodyPr>
          <a:lstStyle/>
          <a:p>
            <a:pPr indent="0" lvl="0" marL="228600" marR="0" rtl="0" algn="l">
              <a:lnSpc>
                <a:spcPct val="100000"/>
              </a:lnSpc>
              <a:spcBef>
                <a:spcPts val="0"/>
              </a:spcBef>
              <a:spcAft>
                <a:spcPts val="0"/>
              </a:spcAft>
              <a:buNone/>
            </a:pPr>
            <a:r>
              <a:rPr b="0" i="0" lang="en-US" sz="1200" u="none">
                <a:solidFill>
                  <a:srgbClr val="000000"/>
                </a:solidFill>
                <a:latin typeface="Times New Roman"/>
                <a:ea typeface="Times New Roman"/>
                <a:cs typeface="Times New Roman"/>
                <a:sym typeface="Times New Roman"/>
              </a:rPr>
              <a:t>Créez un nouveau modèle ou projet.</a:t>
            </a:r>
            <a:endParaRPr/>
          </a:p>
          <a:p>
            <a:pPr indent="0" lvl="0" marL="228600" marR="0" rtl="0" algn="l">
              <a:lnSpc>
                <a:spcPct val="100000"/>
              </a:lnSpc>
              <a:spcBef>
                <a:spcPts val="360"/>
              </a:spcBef>
              <a:spcAft>
                <a:spcPts val="0"/>
              </a:spcAft>
              <a:buNone/>
            </a:pPr>
            <a:r>
              <a:rPr b="0" i="0" lang="en-US" sz="1200" u="none">
                <a:solidFill>
                  <a:srgbClr val="000000"/>
                </a:solidFill>
                <a:latin typeface="Times New Roman"/>
                <a:ea typeface="Times New Roman"/>
                <a:cs typeface="Times New Roman"/>
                <a:sym typeface="Times New Roman"/>
              </a:rPr>
              <a:t>Créez le diagramme de cas d’utilisation ci-dessus. </a:t>
            </a:r>
            <a:endParaRPr/>
          </a:p>
        </p:txBody>
      </p:sp>
      <p:pic>
        <p:nvPicPr>
          <p:cNvPr id="464" name="Google Shape;464;p14:notes"/>
          <p:cNvPicPr preferRelativeResize="0"/>
          <p:nvPr/>
        </p:nvPicPr>
        <p:blipFill rotWithShape="1">
          <a:blip r:embed="rId2">
            <a:alphaModFix/>
          </a:blip>
          <a:srcRect b="0" l="0" r="0" t="0"/>
          <a:stretch/>
        </p:blipFill>
        <p:spPr>
          <a:xfrm>
            <a:off x="458787" y="4432300"/>
            <a:ext cx="279400" cy="290512"/>
          </a:xfrm>
          <a:prstGeom prst="rect">
            <a:avLst/>
          </a:prstGeom>
          <a:noFill/>
          <a:ln>
            <a:noFill/>
          </a:ln>
        </p:spPr>
      </p:pic>
      <p:graphicFrame>
        <p:nvGraphicFramePr>
          <p:cNvPr id="465" name="Google Shape;465;p14:notes"/>
          <p:cNvGraphicFramePr/>
          <p:nvPr/>
        </p:nvGraphicFramePr>
        <p:xfrm>
          <a:off x="968375" y="5861050"/>
          <a:ext cx="1724025" cy="2530475"/>
        </p:xfrm>
        <a:graphic>
          <a:graphicData uri="http://schemas.openxmlformats.org/presentationml/2006/ole">
            <mc:AlternateContent>
              <mc:Choice Requires="v">
                <p:oleObj r:id="rId3" imgH="2530475" imgW="1724025" progId="MSPhotoEd.3" spid="_x0000_s1">
                  <p:embed/>
                </p:oleObj>
              </mc:Choice>
              <mc:Fallback>
                <p:oleObj r:id="rId4" imgH="2530475" imgW="1724025" progId="MSPhotoEd.3">
                  <p:embed/>
                  <p:pic>
                    <p:nvPicPr>
                      <p:cNvPr id="465" name="Google Shape;465;p14:notes"/>
                      <p:cNvPicPr preferRelativeResize="0"/>
                      <p:nvPr/>
                    </p:nvPicPr>
                    <p:blipFill rotWithShape="1">
                      <a:blip r:embed="rId5">
                        <a:alphaModFix/>
                      </a:blip>
                      <a:srcRect b="0" l="0" r="0" t="0"/>
                      <a:stretch/>
                    </p:blipFill>
                    <p:spPr>
                      <a:xfrm>
                        <a:off x="968375" y="5861050"/>
                        <a:ext cx="1724025" cy="2530475"/>
                      </a:xfrm>
                      <a:prstGeom prst="rect">
                        <a:avLst/>
                      </a:prstGeom>
                      <a:noFill/>
                      <a:ln>
                        <a:noFill/>
                      </a:ln>
                    </p:spPr>
                  </p:pic>
                </p:oleObj>
              </mc:Fallback>
            </mc:AlternateContent>
          </a:graphicData>
        </a:graphic>
      </p:graphicFrame>
      <p:cxnSp>
        <p:nvCxnSpPr>
          <p:cNvPr id="466" name="Google Shape;466;p14:notes"/>
          <p:cNvCxnSpPr/>
          <p:nvPr/>
        </p:nvCxnSpPr>
        <p:spPr>
          <a:xfrm rot="10800000">
            <a:off x="2211387" y="6291262"/>
            <a:ext cx="992187" cy="0"/>
          </a:xfrm>
          <a:prstGeom prst="straightConnector1">
            <a:avLst/>
          </a:prstGeom>
          <a:noFill/>
          <a:ln cap="flat" cmpd="sng" w="9525">
            <a:solidFill>
              <a:srgbClr val="FF0000"/>
            </a:solidFill>
            <a:prstDash val="solid"/>
            <a:miter lim="800000"/>
            <a:headEnd len="med" w="med" type="none"/>
            <a:tailEnd len="med" w="med" type="triangle"/>
          </a:ln>
        </p:spPr>
      </p:cxnSp>
      <p:sp>
        <p:nvSpPr>
          <p:cNvPr id="467" name="Google Shape;467;p14:notes"/>
          <p:cNvSpPr txBox="1"/>
          <p:nvPr/>
        </p:nvSpPr>
        <p:spPr>
          <a:xfrm>
            <a:off x="3203575" y="6075362"/>
            <a:ext cx="2741612" cy="3159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imes New Roman"/>
              <a:buNone/>
            </a:pPr>
            <a:r>
              <a:rPr b="0" i="0" lang="en-US" sz="1600" u="none">
                <a:solidFill>
                  <a:srgbClr val="FF0000"/>
                </a:solidFill>
                <a:latin typeface="Times New Roman"/>
                <a:ea typeface="Times New Roman"/>
                <a:cs typeface="Times New Roman"/>
                <a:sym typeface="Times New Roman"/>
              </a:rPr>
              <a:t>Diagramme de cas d’utilisation</a:t>
            </a:r>
            <a:endParaRPr/>
          </a:p>
        </p:txBody>
      </p:sp>
      <p:cxnSp>
        <p:nvCxnSpPr>
          <p:cNvPr id="468" name="Google Shape;468;p14:notes"/>
          <p:cNvCxnSpPr/>
          <p:nvPr/>
        </p:nvCxnSpPr>
        <p:spPr>
          <a:xfrm rot="10800000">
            <a:off x="2211387" y="7720012"/>
            <a:ext cx="992187" cy="0"/>
          </a:xfrm>
          <a:prstGeom prst="straightConnector1">
            <a:avLst/>
          </a:prstGeom>
          <a:noFill/>
          <a:ln cap="flat" cmpd="sng" w="9525">
            <a:solidFill>
              <a:srgbClr val="FF0000"/>
            </a:solidFill>
            <a:prstDash val="solid"/>
            <a:miter lim="800000"/>
            <a:headEnd len="med" w="med" type="none"/>
            <a:tailEnd len="med" w="med" type="triangle"/>
          </a:ln>
        </p:spPr>
      </p:cxnSp>
      <p:sp>
        <p:nvSpPr>
          <p:cNvPr id="469" name="Google Shape;469;p14:notes"/>
          <p:cNvSpPr txBox="1"/>
          <p:nvPr/>
        </p:nvSpPr>
        <p:spPr>
          <a:xfrm>
            <a:off x="3203575" y="7505700"/>
            <a:ext cx="1928812" cy="3159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imes New Roman"/>
              <a:buNone/>
            </a:pPr>
            <a:r>
              <a:rPr b="0" i="0" lang="en-US" sz="1600" u="none">
                <a:solidFill>
                  <a:srgbClr val="FF0000"/>
                </a:solidFill>
                <a:latin typeface="Times New Roman"/>
                <a:ea typeface="Times New Roman"/>
                <a:cs typeface="Times New Roman"/>
                <a:sym typeface="Times New Roman"/>
              </a:rPr>
              <a:t>Diagramme de classe</a:t>
            </a:r>
            <a:endParaRPr/>
          </a:p>
        </p:txBody>
      </p:sp>
      <p:graphicFrame>
        <p:nvGraphicFramePr>
          <p:cNvPr id="470" name="Google Shape;470;p14:notes"/>
          <p:cNvGraphicFramePr/>
          <p:nvPr/>
        </p:nvGraphicFramePr>
        <p:xfrm>
          <a:off x="454025" y="5289550"/>
          <a:ext cx="342900" cy="287337"/>
        </p:xfrm>
        <a:graphic>
          <a:graphicData uri="http://schemas.openxmlformats.org/presentationml/2006/ole">
            <mc:AlternateContent>
              <mc:Choice Requires="v">
                <p:oleObj r:id="rId6" imgH="287337" imgW="342900" progId="MSPhotoEd.3" spid="_x0000_s2">
                  <p:embed/>
                </p:oleObj>
              </mc:Choice>
              <mc:Fallback>
                <p:oleObj r:id="rId7" imgH="287337" imgW="342900" progId="MSPhotoEd.3">
                  <p:embed/>
                  <p:pic>
                    <p:nvPicPr>
                      <p:cNvPr id="470" name="Google Shape;470;p14:notes"/>
                      <p:cNvPicPr preferRelativeResize="0"/>
                      <p:nvPr/>
                    </p:nvPicPr>
                    <p:blipFill rotWithShape="1">
                      <a:blip r:embed="rId8">
                        <a:alphaModFix/>
                      </a:blip>
                      <a:srcRect b="0" l="0" r="0" t="0"/>
                      <a:stretch/>
                    </p:blipFill>
                    <p:spPr>
                      <a:xfrm>
                        <a:off x="454025" y="5289550"/>
                        <a:ext cx="342900" cy="287337"/>
                      </a:xfrm>
                      <a:prstGeom prst="rect">
                        <a:avLst/>
                      </a:prstGeom>
                      <a:noFill/>
                      <a:ln>
                        <a:noFill/>
                      </a:ln>
                    </p:spPr>
                  </p:pic>
                </p:oleObj>
              </mc:Fallback>
            </mc:AlternateContent>
          </a:graphicData>
        </a:graphic>
      </p:graphicFrame>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476" name="Google Shape;476;p15:notes"/>
          <p:cNvSpPr/>
          <p:nvPr>
            <p:ph idx="2" type="sldImg"/>
          </p:nvPr>
        </p:nvSpPr>
        <p:spPr>
          <a:xfrm>
            <a:off x="1144587"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7" name="Google Shape;477;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Acteurs secondaires: Back office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1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483" name="Google Shape;483;p16:notes"/>
          <p:cNvSpPr/>
          <p:nvPr>
            <p:ph idx="2" type="sldImg"/>
          </p:nvPr>
        </p:nvSpPr>
        <p:spPr>
          <a:xfrm>
            <a:off x="1144587"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4" name="Google Shape;484;p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1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490" name="Google Shape;490;p17:notes"/>
          <p:cNvSpPr/>
          <p:nvPr>
            <p:ph idx="2" type="sldImg"/>
          </p:nvPr>
        </p:nvSpPr>
        <p:spPr>
          <a:xfrm>
            <a:off x="1144587"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1" name="Google Shape;491;p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1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499" name="Google Shape;499;p18:notes"/>
          <p:cNvSpPr/>
          <p:nvPr>
            <p:ph idx="2" type="sldImg"/>
          </p:nvPr>
        </p:nvSpPr>
        <p:spPr>
          <a:xfrm>
            <a:off x="1144587"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0" name="Google Shape;500;p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1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507" name="Google Shape;507;p19:notes"/>
          <p:cNvSpPr/>
          <p:nvPr>
            <p:ph idx="2" type="sldImg"/>
          </p:nvPr>
        </p:nvSpPr>
        <p:spPr>
          <a:xfrm>
            <a:off x="1144587"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8" name="Google Shape;508;p1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2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515" name="Google Shape;515;p20:notes"/>
          <p:cNvSpPr/>
          <p:nvPr>
            <p:ph idx="2" type="sldImg"/>
          </p:nvPr>
        </p:nvSpPr>
        <p:spPr>
          <a:xfrm>
            <a:off x="1144587"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6" name="Google Shape;516;p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3" name="Google Shape;523;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2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529" name="Google Shape;529;p22:notes"/>
          <p:cNvSpPr/>
          <p:nvPr>
            <p:ph idx="2" type="sldImg"/>
          </p:nvPr>
        </p:nvSpPr>
        <p:spPr>
          <a:xfrm>
            <a:off x="1144587"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0" name="Google Shape;530;p22:notes"/>
          <p:cNvSpPr txBox="1"/>
          <p:nvPr/>
        </p:nvSpPr>
        <p:spPr>
          <a:xfrm>
            <a:off x="914400" y="4360862"/>
            <a:ext cx="5029200" cy="731837"/>
          </a:xfrm>
          <a:prstGeom prst="rect">
            <a:avLst/>
          </a:prstGeom>
          <a:noFill/>
          <a:ln>
            <a:noFill/>
          </a:ln>
        </p:spPr>
        <p:txBody>
          <a:bodyPr anchorCtr="0" anchor="t" bIns="45700" lIns="91425" spcFirstLastPara="1" rIns="91425" wrap="square" tIns="45700">
            <a:noAutofit/>
          </a:bodyPr>
          <a:lstStyle/>
          <a:p>
            <a:pPr indent="0" lvl="0" marL="228600" marR="0" rtl="0" algn="l">
              <a:lnSpc>
                <a:spcPct val="100000"/>
              </a:lnSpc>
              <a:spcBef>
                <a:spcPts val="0"/>
              </a:spcBef>
              <a:spcAft>
                <a:spcPts val="0"/>
              </a:spcAft>
              <a:buNone/>
            </a:pPr>
            <a:r>
              <a:rPr b="0" i="0" lang="en-US" sz="1200" u="none">
                <a:solidFill>
                  <a:srgbClr val="000000"/>
                </a:solidFill>
                <a:latin typeface="Times New Roman"/>
                <a:ea typeface="Times New Roman"/>
                <a:cs typeface="Times New Roman"/>
                <a:sym typeface="Times New Roman"/>
              </a:rPr>
              <a:t>Créez un nouveau modèle ou projet.</a:t>
            </a:r>
            <a:endParaRPr/>
          </a:p>
          <a:p>
            <a:pPr indent="0" lvl="0" marL="228600" marR="0" rtl="0" algn="l">
              <a:lnSpc>
                <a:spcPct val="100000"/>
              </a:lnSpc>
              <a:spcBef>
                <a:spcPts val="360"/>
              </a:spcBef>
              <a:spcAft>
                <a:spcPts val="0"/>
              </a:spcAft>
              <a:buNone/>
            </a:pPr>
            <a:r>
              <a:rPr b="0" i="0" lang="en-US" sz="1200" u="none">
                <a:solidFill>
                  <a:srgbClr val="000000"/>
                </a:solidFill>
                <a:latin typeface="Times New Roman"/>
                <a:ea typeface="Times New Roman"/>
                <a:cs typeface="Times New Roman"/>
                <a:sym typeface="Times New Roman"/>
              </a:rPr>
              <a:t>Créez le diagramme de cas d’utilisation ci-dessus.</a:t>
            </a:r>
            <a:endParaRPr/>
          </a:p>
          <a:p>
            <a:pPr indent="0" lvl="0" marL="0" marR="0" rtl="0" algn="l">
              <a:lnSpc>
                <a:spcPct val="100000"/>
              </a:lnSpc>
              <a:spcBef>
                <a:spcPts val="0"/>
              </a:spcBef>
              <a:spcAft>
                <a:spcPts val="0"/>
              </a:spcAft>
              <a:buNone/>
            </a:pPr>
            <a:r>
              <a:t/>
            </a:r>
            <a:endParaRPr b="0" i="0" sz="1200" u="none">
              <a:solidFill>
                <a:srgbClr val="000000"/>
              </a:solidFill>
              <a:latin typeface="Times New Roman"/>
              <a:ea typeface="Times New Roman"/>
              <a:cs typeface="Times New Roman"/>
              <a:sym typeface="Times New Roman"/>
            </a:endParaRPr>
          </a:p>
        </p:txBody>
      </p:sp>
      <p:pic>
        <p:nvPicPr>
          <p:cNvPr id="531" name="Google Shape;531;p22:notes"/>
          <p:cNvPicPr preferRelativeResize="0"/>
          <p:nvPr/>
        </p:nvPicPr>
        <p:blipFill rotWithShape="1">
          <a:blip r:embed="rId2">
            <a:alphaModFix/>
          </a:blip>
          <a:srcRect b="0" l="0" r="0" t="0"/>
          <a:stretch/>
        </p:blipFill>
        <p:spPr>
          <a:xfrm>
            <a:off x="458787" y="4432300"/>
            <a:ext cx="279400" cy="290512"/>
          </a:xfrm>
          <a:prstGeom prst="rect">
            <a:avLst/>
          </a:prstGeom>
          <a:noFill/>
          <a:ln>
            <a:noFill/>
          </a:ln>
        </p:spPr>
      </p:pic>
      <p:sp>
        <p:nvSpPr>
          <p:cNvPr id="532" name="Google Shape;532;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2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538" name="Google Shape;538;p23:notes"/>
          <p:cNvSpPr/>
          <p:nvPr>
            <p:ph idx="2" type="sldImg"/>
          </p:nvPr>
        </p:nvSpPr>
        <p:spPr>
          <a:xfrm>
            <a:off x="1144587"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9" name="Google Shape;539;p2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2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545" name="Google Shape;545;p24:notes"/>
          <p:cNvSpPr/>
          <p:nvPr>
            <p:ph idx="2" type="sldImg"/>
          </p:nvPr>
        </p:nvSpPr>
        <p:spPr>
          <a:xfrm>
            <a:off x="1144587"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6" name="Google Shape;546;p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0" name="Google Shape;560;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6" name="Google Shape;566;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2" name="Google Shape;572;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8" name="Google Shape;578;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4" name="Google Shape;584;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3" name="Google Shape;593;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0" name="Google Shape;600;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5" name="Google Shape;615;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4" name="Google Shape;624;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7" name="Google Shape;637;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6" name="Google Shape;646;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5" name="Google Shape;655;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3" name="Google Shape;663;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1" name="Google Shape;671;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9" name="Google Shape;679;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7" name="Google Shape;687;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4" name="Google Shape;694;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2" name="Google Shape;702;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0" name="Google Shape;710;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8" name="Google Shape;718;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5" name="Google Shape;725;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2" name="Google Shape;732;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9" name="Google Shape;739;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6" name="Google Shape;746;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3" name="Google Shape;753;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0" name="Google Shape;760;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7" name="Google Shape;767;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5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774" name="Google Shape;774;p52:notes"/>
          <p:cNvSpPr/>
          <p:nvPr>
            <p:ph idx="2" type="sldImg"/>
          </p:nvPr>
        </p:nvSpPr>
        <p:spPr>
          <a:xfrm>
            <a:off x="1144587"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5" name="Google Shape;775;p5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 Au sens strict, une maquette est statique; une interaction ne pourrait se faire que via un prototype. Malgré cette remarque, ce développement de l’auteur reste pertinent.</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1" name="Google Shape;781;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7" name="Google Shape;787;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3" name="Google Shape;793;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9" name="Google Shape;799;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5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805" name="Google Shape;805;p57:notes"/>
          <p:cNvSpPr/>
          <p:nvPr>
            <p:ph idx="2" type="sldImg"/>
          </p:nvPr>
        </p:nvSpPr>
        <p:spPr>
          <a:xfrm>
            <a:off x="1152525" y="692150"/>
            <a:ext cx="4552950" cy="34147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6" name="Google Shape;806;p57:notes"/>
          <p:cNvSpPr txBox="1"/>
          <p:nvPr>
            <p:ph idx="1" type="body"/>
          </p:nvPr>
        </p:nvSpPr>
        <p:spPr>
          <a:xfrm>
            <a:off x="914400" y="4343400"/>
            <a:ext cx="5029200" cy="41132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800"/>
              <a:buNone/>
            </a:pPr>
            <a:r>
              <a:rPr lang="en-US">
                <a:solidFill>
                  <a:srgbClr val="000000"/>
                </a:solidFill>
              </a:rPr>
              <a:t>Les </a:t>
            </a:r>
            <a:r>
              <a:rPr i="1" lang="en-US">
                <a:solidFill>
                  <a:srgbClr val="000000"/>
                </a:solidFill>
              </a:rPr>
              <a:t>diagrammes de classes</a:t>
            </a:r>
            <a:r>
              <a:rPr lang="en-US">
                <a:solidFill>
                  <a:srgbClr val="000000"/>
                </a:solidFill>
              </a:rPr>
              <a:t> représentent un ensemble de classes, d'interfaces et de collaborations, ainsi que leurs relations. Ce sont les diagrammes plus fréquents dans la modélisation des systèmes orientés objet. Ils présentent la vue de conception statique d'un système. Les diagrammes de classe qui comprennent des classes actives présentent la vue de processus statique d'un système.</a:t>
            </a:r>
            <a:r>
              <a:rPr lang="en-US"/>
              <a:t>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p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2" name="Google Shape;812;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8" name="Google Shape;818;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5" name="Google Shape;825;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p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2" name="Google Shape;882;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0" name="Google Shape;890;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p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8" name="Google Shape;898;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p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4" name="Google Shape;904;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0" name="Google Shape;910;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p6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917" name="Google Shape;917;p66:notes"/>
          <p:cNvSpPr/>
          <p:nvPr>
            <p:ph idx="2" type="sldImg"/>
          </p:nvPr>
        </p:nvSpPr>
        <p:spPr>
          <a:xfrm>
            <a:off x="1152525" y="692150"/>
            <a:ext cx="4554537"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8" name="Google Shape;918;p6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6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925" name="Google Shape;925;p67:notes"/>
          <p:cNvSpPr/>
          <p:nvPr>
            <p:ph idx="2" type="sldImg"/>
          </p:nvPr>
        </p:nvSpPr>
        <p:spPr>
          <a:xfrm>
            <a:off x="1152525" y="692150"/>
            <a:ext cx="4554537"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6" name="Google Shape;926;p6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p6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933" name="Google Shape;933;p68:notes"/>
          <p:cNvSpPr/>
          <p:nvPr>
            <p:ph idx="2" type="sldImg"/>
          </p:nvPr>
        </p:nvSpPr>
        <p:spPr>
          <a:xfrm>
            <a:off x="1152525" y="692150"/>
            <a:ext cx="4554537"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4" name="Google Shape;934;p6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p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3" name="Google Shape;943;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p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1" name="Google Shape;951;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p7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963" name="Google Shape;963;p71:notes"/>
          <p:cNvSpPr/>
          <p:nvPr>
            <p:ph idx="2" type="sldImg"/>
          </p:nvPr>
        </p:nvSpPr>
        <p:spPr>
          <a:xfrm>
            <a:off x="1152525" y="692150"/>
            <a:ext cx="4554537"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4" name="Google Shape;964;p7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p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1" name="Google Shape;971;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p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8" name="Google Shape;978;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p7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984" name="Google Shape;984;p74:notes"/>
          <p:cNvSpPr/>
          <p:nvPr>
            <p:ph idx="2" type="sldImg"/>
          </p:nvPr>
        </p:nvSpPr>
        <p:spPr>
          <a:xfrm>
            <a:off x="1152525" y="692150"/>
            <a:ext cx="4554537"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5" name="Google Shape;985;p7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p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3" name="Google Shape;993;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p7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0" name="Google Shape;1000;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p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6" name="Google Shape;1006;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p7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2" name="Google Shape;1012;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p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8" name="Google Shape;1018;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p8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4" name="Google Shape;1024;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p8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1" name="Google Shape;1031;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p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8" name="Google Shape;1038;p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p8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5" name="Google Shape;1045;p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p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1" name="Google Shape;1051;p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5" name="Shape 1055"/>
        <p:cNvGrpSpPr/>
        <p:nvPr/>
      </p:nvGrpSpPr>
      <p:grpSpPr>
        <a:xfrm>
          <a:off x="0" y="0"/>
          <a:ext cx="0" cy="0"/>
          <a:chOff x="0" y="0"/>
          <a:chExt cx="0" cy="0"/>
        </a:xfrm>
      </p:grpSpPr>
      <p:sp>
        <p:nvSpPr>
          <p:cNvPr id="1056" name="Google Shape;1056;p8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7" name="Google Shape;1057;p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p8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3" name="Google Shape;1063;p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p8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9" name="Google Shape;1069;p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p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5" name="Google Shape;1075;p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p8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1" name="Google Shape;1081;p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p9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7" name="Google Shape;1087;p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p9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3" name="Google Shape;1093;p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p9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0" name="Google Shape;1100;p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p9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6" name="Google Shape;1106;p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p9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2" name="Google Shape;1112;p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p9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8" name="Google Shape;1118;p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p9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4" name="Google Shape;1124;p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p9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1" name="Google Shape;1131;p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p9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8" name="Google Shape;1138;p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3" name="Shape 1143"/>
        <p:cNvGrpSpPr/>
        <p:nvPr/>
      </p:nvGrpSpPr>
      <p:grpSpPr>
        <a:xfrm>
          <a:off x="0" y="0"/>
          <a:ext cx="0" cy="0"/>
          <a:chOff x="0" y="0"/>
          <a:chExt cx="0" cy="0"/>
        </a:xfrm>
      </p:grpSpPr>
      <p:sp>
        <p:nvSpPr>
          <p:cNvPr id="1144" name="Google Shape;1144;p9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5" name="Google Shape;1145;p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p1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1" name="Google Shape;1151;p1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5" name="Shape 1155"/>
        <p:cNvGrpSpPr/>
        <p:nvPr/>
      </p:nvGrpSpPr>
      <p:grpSpPr>
        <a:xfrm>
          <a:off x="0" y="0"/>
          <a:ext cx="0" cy="0"/>
          <a:chOff x="0" y="0"/>
          <a:chExt cx="0" cy="0"/>
        </a:xfrm>
      </p:grpSpPr>
      <p:sp>
        <p:nvSpPr>
          <p:cNvPr id="1156" name="Google Shape;1156;p10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7" name="Google Shape;1157;p10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1" name="Shape 1161"/>
        <p:cNvGrpSpPr/>
        <p:nvPr/>
      </p:nvGrpSpPr>
      <p:grpSpPr>
        <a:xfrm>
          <a:off x="0" y="0"/>
          <a:ext cx="0" cy="0"/>
          <a:chOff x="0" y="0"/>
          <a:chExt cx="0" cy="0"/>
        </a:xfrm>
      </p:grpSpPr>
      <p:sp>
        <p:nvSpPr>
          <p:cNvPr id="1162" name="Google Shape;1162;p1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3" name="Google Shape;1163;p1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p10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9" name="Google Shape;1169;p1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3" name="Shape 1173"/>
        <p:cNvGrpSpPr/>
        <p:nvPr/>
      </p:nvGrpSpPr>
      <p:grpSpPr>
        <a:xfrm>
          <a:off x="0" y="0"/>
          <a:ext cx="0" cy="0"/>
          <a:chOff x="0" y="0"/>
          <a:chExt cx="0" cy="0"/>
        </a:xfrm>
      </p:grpSpPr>
      <p:sp>
        <p:nvSpPr>
          <p:cNvPr id="1174" name="Google Shape;1174;p10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5" name="Google Shape;1175;p10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p10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1" name="Google Shape;1181;p1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p10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7" name="Google Shape;1187;p10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1" name="Shape 1191"/>
        <p:cNvGrpSpPr/>
        <p:nvPr/>
      </p:nvGrpSpPr>
      <p:grpSpPr>
        <a:xfrm>
          <a:off x="0" y="0"/>
          <a:ext cx="0" cy="0"/>
          <a:chOff x="0" y="0"/>
          <a:chExt cx="0" cy="0"/>
        </a:xfrm>
      </p:grpSpPr>
      <p:sp>
        <p:nvSpPr>
          <p:cNvPr id="1192" name="Google Shape;1192;p10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3" name="Google Shape;1193;p1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p10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9" name="Google Shape;1199;p1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3" name="Shape 1203"/>
        <p:cNvGrpSpPr/>
        <p:nvPr/>
      </p:nvGrpSpPr>
      <p:grpSpPr>
        <a:xfrm>
          <a:off x="0" y="0"/>
          <a:ext cx="0" cy="0"/>
          <a:chOff x="0" y="0"/>
          <a:chExt cx="0" cy="0"/>
        </a:xfrm>
      </p:grpSpPr>
      <p:sp>
        <p:nvSpPr>
          <p:cNvPr id="1204" name="Google Shape;1204;p10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5" name="Google Shape;1205;p1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p1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1" name="Google Shape;1211;p1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3" name="Shape 1233"/>
        <p:cNvGrpSpPr/>
        <p:nvPr/>
      </p:nvGrpSpPr>
      <p:grpSpPr>
        <a:xfrm>
          <a:off x="0" y="0"/>
          <a:ext cx="0" cy="0"/>
          <a:chOff x="0" y="0"/>
          <a:chExt cx="0" cy="0"/>
        </a:xfrm>
      </p:grpSpPr>
      <p:sp>
        <p:nvSpPr>
          <p:cNvPr id="1234" name="Google Shape;1234;p1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5" name="Google Shape;1235;p1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p1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1" name="Google Shape;1241;p1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p1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1" name="Google Shape;1291;p1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6" name="Shape 1296"/>
        <p:cNvGrpSpPr/>
        <p:nvPr/>
      </p:nvGrpSpPr>
      <p:grpSpPr>
        <a:xfrm>
          <a:off x="0" y="0"/>
          <a:ext cx="0" cy="0"/>
          <a:chOff x="0" y="0"/>
          <a:chExt cx="0" cy="0"/>
        </a:xfrm>
      </p:grpSpPr>
      <p:sp>
        <p:nvSpPr>
          <p:cNvPr id="1297" name="Google Shape;1297;p1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8" name="Google Shape;1298;p1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9" name="Shape 1329"/>
        <p:cNvGrpSpPr/>
        <p:nvPr/>
      </p:nvGrpSpPr>
      <p:grpSpPr>
        <a:xfrm>
          <a:off x="0" y="0"/>
          <a:ext cx="0" cy="0"/>
          <a:chOff x="0" y="0"/>
          <a:chExt cx="0" cy="0"/>
        </a:xfrm>
      </p:grpSpPr>
      <p:sp>
        <p:nvSpPr>
          <p:cNvPr id="1330" name="Google Shape;1330;p1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1" name="Google Shape;1331;p1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6" name="Shape 1336"/>
        <p:cNvGrpSpPr/>
        <p:nvPr/>
      </p:nvGrpSpPr>
      <p:grpSpPr>
        <a:xfrm>
          <a:off x="0" y="0"/>
          <a:ext cx="0" cy="0"/>
          <a:chOff x="0" y="0"/>
          <a:chExt cx="0" cy="0"/>
        </a:xfrm>
      </p:grpSpPr>
      <p:sp>
        <p:nvSpPr>
          <p:cNvPr id="1337" name="Google Shape;1337;p1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8" name="Google Shape;1338;p1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2" name="Shape 1342"/>
        <p:cNvGrpSpPr/>
        <p:nvPr/>
      </p:nvGrpSpPr>
      <p:grpSpPr>
        <a:xfrm>
          <a:off x="0" y="0"/>
          <a:ext cx="0" cy="0"/>
          <a:chOff x="0" y="0"/>
          <a:chExt cx="0" cy="0"/>
        </a:xfrm>
      </p:grpSpPr>
      <p:sp>
        <p:nvSpPr>
          <p:cNvPr id="1343" name="Google Shape;1343;p1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4" name="Google Shape;1344;p1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4" name="Shape 1354"/>
        <p:cNvGrpSpPr/>
        <p:nvPr/>
      </p:nvGrpSpPr>
      <p:grpSpPr>
        <a:xfrm>
          <a:off x="0" y="0"/>
          <a:ext cx="0" cy="0"/>
          <a:chOff x="0" y="0"/>
          <a:chExt cx="0" cy="0"/>
        </a:xfrm>
      </p:grpSpPr>
      <p:sp>
        <p:nvSpPr>
          <p:cNvPr id="1355" name="Google Shape;1355;p1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6" name="Google Shape;1356;p1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Bonjour dans cette slide on va expliquer l'exercice numéro 2 concernant la montre digitale hé mais on va pas pouvoir expliquer voir l'expliquer nous et vous l'explique égal</a:t>
            </a:r>
            <a:endParaRPr/>
          </a:p>
        </p:txBody>
      </p:sp>
      <p:sp>
        <p:nvSpPr>
          <p:cNvPr id="1357" name="Google Shape;1357;p11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1" name="Shape 1361"/>
        <p:cNvGrpSpPr/>
        <p:nvPr/>
      </p:nvGrpSpPr>
      <p:grpSpPr>
        <a:xfrm>
          <a:off x="0" y="0"/>
          <a:ext cx="0" cy="0"/>
          <a:chOff x="0" y="0"/>
          <a:chExt cx="0" cy="0"/>
        </a:xfrm>
      </p:grpSpPr>
      <p:sp>
        <p:nvSpPr>
          <p:cNvPr id="1362" name="Google Shape;1362;p1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3" name="Google Shape;1363;p1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4" name="Google Shape;1364;p11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7" name="Shape 1377"/>
        <p:cNvGrpSpPr/>
        <p:nvPr/>
      </p:nvGrpSpPr>
      <p:grpSpPr>
        <a:xfrm>
          <a:off x="0" y="0"/>
          <a:ext cx="0" cy="0"/>
          <a:chOff x="0" y="0"/>
          <a:chExt cx="0" cy="0"/>
        </a:xfrm>
      </p:grpSpPr>
      <p:sp>
        <p:nvSpPr>
          <p:cNvPr id="1378" name="Google Shape;1378;p1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9" name="Google Shape;1379;p1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5" name="Shape 1385"/>
        <p:cNvGrpSpPr/>
        <p:nvPr/>
      </p:nvGrpSpPr>
      <p:grpSpPr>
        <a:xfrm>
          <a:off x="0" y="0"/>
          <a:ext cx="0" cy="0"/>
          <a:chOff x="0" y="0"/>
          <a:chExt cx="0" cy="0"/>
        </a:xfrm>
      </p:grpSpPr>
      <p:sp>
        <p:nvSpPr>
          <p:cNvPr id="1386" name="Google Shape;1386;p1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7" name="Google Shape;1387;p1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2" name="Shape 1392"/>
        <p:cNvGrpSpPr/>
        <p:nvPr/>
      </p:nvGrpSpPr>
      <p:grpSpPr>
        <a:xfrm>
          <a:off x="0" y="0"/>
          <a:ext cx="0" cy="0"/>
          <a:chOff x="0" y="0"/>
          <a:chExt cx="0" cy="0"/>
        </a:xfrm>
      </p:grpSpPr>
      <p:sp>
        <p:nvSpPr>
          <p:cNvPr id="1393" name="Google Shape;1393;p1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4" name="Google Shape;1394;p1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8" name="Shape 1398"/>
        <p:cNvGrpSpPr/>
        <p:nvPr/>
      </p:nvGrpSpPr>
      <p:grpSpPr>
        <a:xfrm>
          <a:off x="0" y="0"/>
          <a:ext cx="0" cy="0"/>
          <a:chOff x="0" y="0"/>
          <a:chExt cx="0" cy="0"/>
        </a:xfrm>
      </p:grpSpPr>
      <p:sp>
        <p:nvSpPr>
          <p:cNvPr id="1399" name="Google Shape;1399;p1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0" name="Google Shape;1400;p1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4" name="Shape 1404"/>
        <p:cNvGrpSpPr/>
        <p:nvPr/>
      </p:nvGrpSpPr>
      <p:grpSpPr>
        <a:xfrm>
          <a:off x="0" y="0"/>
          <a:ext cx="0" cy="0"/>
          <a:chOff x="0" y="0"/>
          <a:chExt cx="0" cy="0"/>
        </a:xfrm>
      </p:grpSpPr>
      <p:sp>
        <p:nvSpPr>
          <p:cNvPr id="1405" name="Google Shape;1405;p1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6" name="Google Shape;1406;p1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0" name="Shape 1410"/>
        <p:cNvGrpSpPr/>
        <p:nvPr/>
      </p:nvGrpSpPr>
      <p:grpSpPr>
        <a:xfrm>
          <a:off x="0" y="0"/>
          <a:ext cx="0" cy="0"/>
          <a:chOff x="0" y="0"/>
          <a:chExt cx="0" cy="0"/>
        </a:xfrm>
      </p:grpSpPr>
      <p:sp>
        <p:nvSpPr>
          <p:cNvPr id="1411" name="Google Shape;1411;p1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2" name="Google Shape;1412;p1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6" name="Shape 1416"/>
        <p:cNvGrpSpPr/>
        <p:nvPr/>
      </p:nvGrpSpPr>
      <p:grpSpPr>
        <a:xfrm>
          <a:off x="0" y="0"/>
          <a:ext cx="0" cy="0"/>
          <a:chOff x="0" y="0"/>
          <a:chExt cx="0" cy="0"/>
        </a:xfrm>
      </p:grpSpPr>
      <p:sp>
        <p:nvSpPr>
          <p:cNvPr id="1417" name="Google Shape;1417;p12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418" name="Google Shape;1418;p1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9" name="Google Shape;1419;p1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3" name="Shape 1423"/>
        <p:cNvGrpSpPr/>
        <p:nvPr/>
      </p:nvGrpSpPr>
      <p:grpSpPr>
        <a:xfrm>
          <a:off x="0" y="0"/>
          <a:ext cx="0" cy="0"/>
          <a:chOff x="0" y="0"/>
          <a:chExt cx="0" cy="0"/>
        </a:xfrm>
      </p:grpSpPr>
      <p:sp>
        <p:nvSpPr>
          <p:cNvPr id="1424" name="Google Shape;1424;p1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5" name="Google Shape;1425;p1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9" name="Shape 1429"/>
        <p:cNvGrpSpPr/>
        <p:nvPr/>
      </p:nvGrpSpPr>
      <p:grpSpPr>
        <a:xfrm>
          <a:off x="0" y="0"/>
          <a:ext cx="0" cy="0"/>
          <a:chOff x="0" y="0"/>
          <a:chExt cx="0" cy="0"/>
        </a:xfrm>
      </p:grpSpPr>
      <p:sp>
        <p:nvSpPr>
          <p:cNvPr id="1430" name="Google Shape;1430;p1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1" name="Google Shape;1431;p1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5" name="Shape 1435"/>
        <p:cNvGrpSpPr/>
        <p:nvPr/>
      </p:nvGrpSpPr>
      <p:grpSpPr>
        <a:xfrm>
          <a:off x="0" y="0"/>
          <a:ext cx="0" cy="0"/>
          <a:chOff x="0" y="0"/>
          <a:chExt cx="0" cy="0"/>
        </a:xfrm>
      </p:grpSpPr>
      <p:sp>
        <p:nvSpPr>
          <p:cNvPr id="1436" name="Google Shape;1436;p1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7" name="Google Shape;1437;p1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1" name="Shape 1441"/>
        <p:cNvGrpSpPr/>
        <p:nvPr/>
      </p:nvGrpSpPr>
      <p:grpSpPr>
        <a:xfrm>
          <a:off x="0" y="0"/>
          <a:ext cx="0" cy="0"/>
          <a:chOff x="0" y="0"/>
          <a:chExt cx="0" cy="0"/>
        </a:xfrm>
      </p:grpSpPr>
      <p:sp>
        <p:nvSpPr>
          <p:cNvPr id="1442" name="Google Shape;1442;p1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3" name="Google Shape;1443;p1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7" name="Shape 1447"/>
        <p:cNvGrpSpPr/>
        <p:nvPr/>
      </p:nvGrpSpPr>
      <p:grpSpPr>
        <a:xfrm>
          <a:off x="0" y="0"/>
          <a:ext cx="0" cy="0"/>
          <a:chOff x="0" y="0"/>
          <a:chExt cx="0" cy="0"/>
        </a:xfrm>
      </p:grpSpPr>
      <p:sp>
        <p:nvSpPr>
          <p:cNvPr id="1448" name="Google Shape;1448;p1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9" name="Google Shape;1449;p1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4" name="Shape 1454"/>
        <p:cNvGrpSpPr/>
        <p:nvPr/>
      </p:nvGrpSpPr>
      <p:grpSpPr>
        <a:xfrm>
          <a:off x="0" y="0"/>
          <a:ext cx="0" cy="0"/>
          <a:chOff x="0" y="0"/>
          <a:chExt cx="0" cy="0"/>
        </a:xfrm>
      </p:grpSpPr>
      <p:sp>
        <p:nvSpPr>
          <p:cNvPr id="1455" name="Google Shape;1455;p1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6" name="Google Shape;1456;p1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0" name="Shape 1460"/>
        <p:cNvGrpSpPr/>
        <p:nvPr/>
      </p:nvGrpSpPr>
      <p:grpSpPr>
        <a:xfrm>
          <a:off x="0" y="0"/>
          <a:ext cx="0" cy="0"/>
          <a:chOff x="0" y="0"/>
          <a:chExt cx="0" cy="0"/>
        </a:xfrm>
      </p:grpSpPr>
      <p:sp>
        <p:nvSpPr>
          <p:cNvPr id="1461" name="Google Shape;1461;p1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2" name="Google Shape;1462;p1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6" name="Shape 1466"/>
        <p:cNvGrpSpPr/>
        <p:nvPr/>
      </p:nvGrpSpPr>
      <p:grpSpPr>
        <a:xfrm>
          <a:off x="0" y="0"/>
          <a:ext cx="0" cy="0"/>
          <a:chOff x="0" y="0"/>
          <a:chExt cx="0" cy="0"/>
        </a:xfrm>
      </p:grpSpPr>
      <p:sp>
        <p:nvSpPr>
          <p:cNvPr id="1467" name="Google Shape;1467;p1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8" name="Google Shape;1468;p1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2" name="Shape 1472"/>
        <p:cNvGrpSpPr/>
        <p:nvPr/>
      </p:nvGrpSpPr>
      <p:grpSpPr>
        <a:xfrm>
          <a:off x="0" y="0"/>
          <a:ext cx="0" cy="0"/>
          <a:chOff x="0" y="0"/>
          <a:chExt cx="0" cy="0"/>
        </a:xfrm>
      </p:grpSpPr>
      <p:sp>
        <p:nvSpPr>
          <p:cNvPr id="1473" name="Google Shape;1473;p1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4" name="Google Shape;1474;p1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8" name="Shape 1478"/>
        <p:cNvGrpSpPr/>
        <p:nvPr/>
      </p:nvGrpSpPr>
      <p:grpSpPr>
        <a:xfrm>
          <a:off x="0" y="0"/>
          <a:ext cx="0" cy="0"/>
          <a:chOff x="0" y="0"/>
          <a:chExt cx="0" cy="0"/>
        </a:xfrm>
      </p:grpSpPr>
      <p:sp>
        <p:nvSpPr>
          <p:cNvPr id="1479" name="Google Shape;1479;p1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0" name="Google Shape;1480;p1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4" name="Shape 1484"/>
        <p:cNvGrpSpPr/>
        <p:nvPr/>
      </p:nvGrpSpPr>
      <p:grpSpPr>
        <a:xfrm>
          <a:off x="0" y="0"/>
          <a:ext cx="0" cy="0"/>
          <a:chOff x="0" y="0"/>
          <a:chExt cx="0" cy="0"/>
        </a:xfrm>
      </p:grpSpPr>
      <p:sp>
        <p:nvSpPr>
          <p:cNvPr id="1485" name="Google Shape;1485;p1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6" name="Google Shape;1486;p1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0" name="Shape 1490"/>
        <p:cNvGrpSpPr/>
        <p:nvPr/>
      </p:nvGrpSpPr>
      <p:grpSpPr>
        <a:xfrm>
          <a:off x="0" y="0"/>
          <a:ext cx="0" cy="0"/>
          <a:chOff x="0" y="0"/>
          <a:chExt cx="0" cy="0"/>
        </a:xfrm>
      </p:grpSpPr>
      <p:sp>
        <p:nvSpPr>
          <p:cNvPr id="1491" name="Google Shape;1491;p1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2" name="Google Shape;1492;p1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6" name="Shape 1496"/>
        <p:cNvGrpSpPr/>
        <p:nvPr/>
      </p:nvGrpSpPr>
      <p:grpSpPr>
        <a:xfrm>
          <a:off x="0" y="0"/>
          <a:ext cx="0" cy="0"/>
          <a:chOff x="0" y="0"/>
          <a:chExt cx="0" cy="0"/>
        </a:xfrm>
      </p:grpSpPr>
      <p:sp>
        <p:nvSpPr>
          <p:cNvPr id="1497" name="Google Shape;1497;p1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8" name="Google Shape;1498;p1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2" name="Shape 1502"/>
        <p:cNvGrpSpPr/>
        <p:nvPr/>
      </p:nvGrpSpPr>
      <p:grpSpPr>
        <a:xfrm>
          <a:off x="0" y="0"/>
          <a:ext cx="0" cy="0"/>
          <a:chOff x="0" y="0"/>
          <a:chExt cx="0" cy="0"/>
        </a:xfrm>
      </p:grpSpPr>
      <p:sp>
        <p:nvSpPr>
          <p:cNvPr id="1503" name="Google Shape;1503;p1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4" name="Google Shape;1504;p1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8" name="Shape 1508"/>
        <p:cNvGrpSpPr/>
        <p:nvPr/>
      </p:nvGrpSpPr>
      <p:grpSpPr>
        <a:xfrm>
          <a:off x="0" y="0"/>
          <a:ext cx="0" cy="0"/>
          <a:chOff x="0" y="0"/>
          <a:chExt cx="0" cy="0"/>
        </a:xfrm>
      </p:grpSpPr>
      <p:sp>
        <p:nvSpPr>
          <p:cNvPr id="1509" name="Google Shape;1509;p1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0" name="Google Shape;1510;p1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4" name="Shape 1514"/>
        <p:cNvGrpSpPr/>
        <p:nvPr/>
      </p:nvGrpSpPr>
      <p:grpSpPr>
        <a:xfrm>
          <a:off x="0" y="0"/>
          <a:ext cx="0" cy="0"/>
          <a:chOff x="0" y="0"/>
          <a:chExt cx="0" cy="0"/>
        </a:xfrm>
      </p:grpSpPr>
      <p:sp>
        <p:nvSpPr>
          <p:cNvPr id="1515" name="Google Shape;1515;p1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6" name="Google Shape;1516;p1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0" name="Shape 1520"/>
        <p:cNvGrpSpPr/>
        <p:nvPr/>
      </p:nvGrpSpPr>
      <p:grpSpPr>
        <a:xfrm>
          <a:off x="0" y="0"/>
          <a:ext cx="0" cy="0"/>
          <a:chOff x="0" y="0"/>
          <a:chExt cx="0" cy="0"/>
        </a:xfrm>
      </p:grpSpPr>
      <p:sp>
        <p:nvSpPr>
          <p:cNvPr id="1521" name="Google Shape;1521;p1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2" name="Google Shape;1522;p1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6" name="Shape 1526"/>
        <p:cNvGrpSpPr/>
        <p:nvPr/>
      </p:nvGrpSpPr>
      <p:grpSpPr>
        <a:xfrm>
          <a:off x="0" y="0"/>
          <a:ext cx="0" cy="0"/>
          <a:chOff x="0" y="0"/>
          <a:chExt cx="0" cy="0"/>
        </a:xfrm>
      </p:grpSpPr>
      <p:sp>
        <p:nvSpPr>
          <p:cNvPr id="1527" name="Google Shape;1527;p1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8" name="Google Shape;1528;p1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2" name="Shape 1532"/>
        <p:cNvGrpSpPr/>
        <p:nvPr/>
      </p:nvGrpSpPr>
      <p:grpSpPr>
        <a:xfrm>
          <a:off x="0" y="0"/>
          <a:ext cx="0" cy="0"/>
          <a:chOff x="0" y="0"/>
          <a:chExt cx="0" cy="0"/>
        </a:xfrm>
      </p:grpSpPr>
      <p:sp>
        <p:nvSpPr>
          <p:cNvPr id="1533" name="Google Shape;1533;p1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4" name="Google Shape;1534;p1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8" name="Shape 1538"/>
        <p:cNvGrpSpPr/>
        <p:nvPr/>
      </p:nvGrpSpPr>
      <p:grpSpPr>
        <a:xfrm>
          <a:off x="0" y="0"/>
          <a:ext cx="0" cy="0"/>
          <a:chOff x="0" y="0"/>
          <a:chExt cx="0" cy="0"/>
        </a:xfrm>
      </p:grpSpPr>
      <p:sp>
        <p:nvSpPr>
          <p:cNvPr id="1539" name="Google Shape;1539;p1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0" name="Google Shape;1540;p1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4" name="Shape 1544"/>
        <p:cNvGrpSpPr/>
        <p:nvPr/>
      </p:nvGrpSpPr>
      <p:grpSpPr>
        <a:xfrm>
          <a:off x="0" y="0"/>
          <a:ext cx="0" cy="0"/>
          <a:chOff x="0" y="0"/>
          <a:chExt cx="0" cy="0"/>
        </a:xfrm>
      </p:grpSpPr>
      <p:sp>
        <p:nvSpPr>
          <p:cNvPr id="1545" name="Google Shape;1545;p1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6" name="Google Shape;1546;p1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0" name="Shape 1550"/>
        <p:cNvGrpSpPr/>
        <p:nvPr/>
      </p:nvGrpSpPr>
      <p:grpSpPr>
        <a:xfrm>
          <a:off x="0" y="0"/>
          <a:ext cx="0" cy="0"/>
          <a:chOff x="0" y="0"/>
          <a:chExt cx="0" cy="0"/>
        </a:xfrm>
      </p:grpSpPr>
      <p:sp>
        <p:nvSpPr>
          <p:cNvPr id="1551" name="Google Shape;1551;p1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2" name="Google Shape;1552;p1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6" name="Shape 1556"/>
        <p:cNvGrpSpPr/>
        <p:nvPr/>
      </p:nvGrpSpPr>
      <p:grpSpPr>
        <a:xfrm>
          <a:off x="0" y="0"/>
          <a:ext cx="0" cy="0"/>
          <a:chOff x="0" y="0"/>
          <a:chExt cx="0" cy="0"/>
        </a:xfrm>
      </p:grpSpPr>
      <p:sp>
        <p:nvSpPr>
          <p:cNvPr id="1557" name="Google Shape;1557;p1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8" name="Google Shape;1558;p1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2" name="Shape 1562"/>
        <p:cNvGrpSpPr/>
        <p:nvPr/>
      </p:nvGrpSpPr>
      <p:grpSpPr>
        <a:xfrm>
          <a:off x="0" y="0"/>
          <a:ext cx="0" cy="0"/>
          <a:chOff x="0" y="0"/>
          <a:chExt cx="0" cy="0"/>
        </a:xfrm>
      </p:grpSpPr>
      <p:sp>
        <p:nvSpPr>
          <p:cNvPr id="1563" name="Google Shape;1563;p1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4" name="Google Shape;1564;p1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8" name="Shape 1568"/>
        <p:cNvGrpSpPr/>
        <p:nvPr/>
      </p:nvGrpSpPr>
      <p:grpSpPr>
        <a:xfrm>
          <a:off x="0" y="0"/>
          <a:ext cx="0" cy="0"/>
          <a:chOff x="0" y="0"/>
          <a:chExt cx="0" cy="0"/>
        </a:xfrm>
      </p:grpSpPr>
      <p:sp>
        <p:nvSpPr>
          <p:cNvPr id="1569" name="Google Shape;1569;p1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0" name="Google Shape;1570;p1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4" name="Shape 1574"/>
        <p:cNvGrpSpPr/>
        <p:nvPr/>
      </p:nvGrpSpPr>
      <p:grpSpPr>
        <a:xfrm>
          <a:off x="0" y="0"/>
          <a:ext cx="0" cy="0"/>
          <a:chOff x="0" y="0"/>
          <a:chExt cx="0" cy="0"/>
        </a:xfrm>
      </p:grpSpPr>
      <p:sp>
        <p:nvSpPr>
          <p:cNvPr id="1575" name="Google Shape;1575;p1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6" name="Google Shape;1576;p1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0" name="Shape 1580"/>
        <p:cNvGrpSpPr/>
        <p:nvPr/>
      </p:nvGrpSpPr>
      <p:grpSpPr>
        <a:xfrm>
          <a:off x="0" y="0"/>
          <a:ext cx="0" cy="0"/>
          <a:chOff x="0" y="0"/>
          <a:chExt cx="0" cy="0"/>
        </a:xfrm>
      </p:grpSpPr>
      <p:sp>
        <p:nvSpPr>
          <p:cNvPr id="1581" name="Google Shape;1581;p1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2" name="Google Shape;1582;p1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6" name="Shape 1586"/>
        <p:cNvGrpSpPr/>
        <p:nvPr/>
      </p:nvGrpSpPr>
      <p:grpSpPr>
        <a:xfrm>
          <a:off x="0" y="0"/>
          <a:ext cx="0" cy="0"/>
          <a:chOff x="0" y="0"/>
          <a:chExt cx="0" cy="0"/>
        </a:xfrm>
      </p:grpSpPr>
      <p:sp>
        <p:nvSpPr>
          <p:cNvPr id="1587" name="Google Shape;1587;p1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8" name="Google Shape;1588;p1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2" name="Shape 1592"/>
        <p:cNvGrpSpPr/>
        <p:nvPr/>
      </p:nvGrpSpPr>
      <p:grpSpPr>
        <a:xfrm>
          <a:off x="0" y="0"/>
          <a:ext cx="0" cy="0"/>
          <a:chOff x="0" y="0"/>
          <a:chExt cx="0" cy="0"/>
        </a:xfrm>
      </p:grpSpPr>
      <p:sp>
        <p:nvSpPr>
          <p:cNvPr id="1593" name="Google Shape;1593;p1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4" name="Google Shape;1594;p1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8" name="Shape 1598"/>
        <p:cNvGrpSpPr/>
        <p:nvPr/>
      </p:nvGrpSpPr>
      <p:grpSpPr>
        <a:xfrm>
          <a:off x="0" y="0"/>
          <a:ext cx="0" cy="0"/>
          <a:chOff x="0" y="0"/>
          <a:chExt cx="0" cy="0"/>
        </a:xfrm>
      </p:grpSpPr>
      <p:sp>
        <p:nvSpPr>
          <p:cNvPr id="1599" name="Google Shape;1599;p1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0" name="Google Shape;1600;p1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4" name="Shape 1604"/>
        <p:cNvGrpSpPr/>
        <p:nvPr/>
      </p:nvGrpSpPr>
      <p:grpSpPr>
        <a:xfrm>
          <a:off x="0" y="0"/>
          <a:ext cx="0" cy="0"/>
          <a:chOff x="0" y="0"/>
          <a:chExt cx="0" cy="0"/>
        </a:xfrm>
      </p:grpSpPr>
      <p:sp>
        <p:nvSpPr>
          <p:cNvPr id="1605" name="Google Shape;1605;p1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6" name="Google Shape;1606;p1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0" name="Shape 1610"/>
        <p:cNvGrpSpPr/>
        <p:nvPr/>
      </p:nvGrpSpPr>
      <p:grpSpPr>
        <a:xfrm>
          <a:off x="0" y="0"/>
          <a:ext cx="0" cy="0"/>
          <a:chOff x="0" y="0"/>
          <a:chExt cx="0" cy="0"/>
        </a:xfrm>
      </p:grpSpPr>
      <p:sp>
        <p:nvSpPr>
          <p:cNvPr id="1611" name="Google Shape;1611;p1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2" name="Google Shape;1612;p1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6" name="Shape 1616"/>
        <p:cNvGrpSpPr/>
        <p:nvPr/>
      </p:nvGrpSpPr>
      <p:grpSpPr>
        <a:xfrm>
          <a:off x="0" y="0"/>
          <a:ext cx="0" cy="0"/>
          <a:chOff x="0" y="0"/>
          <a:chExt cx="0" cy="0"/>
        </a:xfrm>
      </p:grpSpPr>
      <p:sp>
        <p:nvSpPr>
          <p:cNvPr id="1617" name="Google Shape;1617;p1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8" name="Google Shape;1618;p1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2" name="Shape 1622"/>
        <p:cNvGrpSpPr/>
        <p:nvPr/>
      </p:nvGrpSpPr>
      <p:grpSpPr>
        <a:xfrm>
          <a:off x="0" y="0"/>
          <a:ext cx="0" cy="0"/>
          <a:chOff x="0" y="0"/>
          <a:chExt cx="0" cy="0"/>
        </a:xfrm>
      </p:grpSpPr>
      <p:sp>
        <p:nvSpPr>
          <p:cNvPr id="1623" name="Google Shape;1623;p1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4" name="Google Shape;1624;p1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3" name="Shape 1633"/>
        <p:cNvGrpSpPr/>
        <p:nvPr/>
      </p:nvGrpSpPr>
      <p:grpSpPr>
        <a:xfrm>
          <a:off x="0" y="0"/>
          <a:ext cx="0" cy="0"/>
          <a:chOff x="0" y="0"/>
          <a:chExt cx="0" cy="0"/>
        </a:xfrm>
      </p:grpSpPr>
      <p:sp>
        <p:nvSpPr>
          <p:cNvPr id="1634" name="Google Shape;1634;p1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5" name="Google Shape;1635;p1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0" name="Shape 1640"/>
        <p:cNvGrpSpPr/>
        <p:nvPr/>
      </p:nvGrpSpPr>
      <p:grpSpPr>
        <a:xfrm>
          <a:off x="0" y="0"/>
          <a:ext cx="0" cy="0"/>
          <a:chOff x="0" y="0"/>
          <a:chExt cx="0" cy="0"/>
        </a:xfrm>
      </p:grpSpPr>
      <p:sp>
        <p:nvSpPr>
          <p:cNvPr id="1641" name="Google Shape;1641;p1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2" name="Google Shape;1642;p1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8" name="Shape 1648"/>
        <p:cNvGrpSpPr/>
        <p:nvPr/>
      </p:nvGrpSpPr>
      <p:grpSpPr>
        <a:xfrm>
          <a:off x="0" y="0"/>
          <a:ext cx="0" cy="0"/>
          <a:chOff x="0" y="0"/>
          <a:chExt cx="0" cy="0"/>
        </a:xfrm>
      </p:grpSpPr>
      <p:sp>
        <p:nvSpPr>
          <p:cNvPr id="1649" name="Google Shape;1649;p1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0" name="Google Shape;1650;p1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5" name="Shape 1655"/>
        <p:cNvGrpSpPr/>
        <p:nvPr/>
      </p:nvGrpSpPr>
      <p:grpSpPr>
        <a:xfrm>
          <a:off x="0" y="0"/>
          <a:ext cx="0" cy="0"/>
          <a:chOff x="0" y="0"/>
          <a:chExt cx="0" cy="0"/>
        </a:xfrm>
      </p:grpSpPr>
      <p:sp>
        <p:nvSpPr>
          <p:cNvPr id="1656" name="Google Shape;1656;p1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7" name="Google Shape;1657;p1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1" name="Shape 1661"/>
        <p:cNvGrpSpPr/>
        <p:nvPr/>
      </p:nvGrpSpPr>
      <p:grpSpPr>
        <a:xfrm>
          <a:off x="0" y="0"/>
          <a:ext cx="0" cy="0"/>
          <a:chOff x="0" y="0"/>
          <a:chExt cx="0" cy="0"/>
        </a:xfrm>
      </p:grpSpPr>
      <p:sp>
        <p:nvSpPr>
          <p:cNvPr id="1662" name="Google Shape;1662;p1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3" name="Google Shape;1663;p1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7" name="Shape 1667"/>
        <p:cNvGrpSpPr/>
        <p:nvPr/>
      </p:nvGrpSpPr>
      <p:grpSpPr>
        <a:xfrm>
          <a:off x="0" y="0"/>
          <a:ext cx="0" cy="0"/>
          <a:chOff x="0" y="0"/>
          <a:chExt cx="0" cy="0"/>
        </a:xfrm>
      </p:grpSpPr>
      <p:sp>
        <p:nvSpPr>
          <p:cNvPr id="1668" name="Google Shape;1668;p1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9" name="Google Shape;1669;p1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3" name="Shape 1673"/>
        <p:cNvGrpSpPr/>
        <p:nvPr/>
      </p:nvGrpSpPr>
      <p:grpSpPr>
        <a:xfrm>
          <a:off x="0" y="0"/>
          <a:ext cx="0" cy="0"/>
          <a:chOff x="0" y="0"/>
          <a:chExt cx="0" cy="0"/>
        </a:xfrm>
      </p:grpSpPr>
      <p:sp>
        <p:nvSpPr>
          <p:cNvPr id="1674" name="Google Shape;1674;p1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5" name="Google Shape;1675;p1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9" name="Shape 1679"/>
        <p:cNvGrpSpPr/>
        <p:nvPr/>
      </p:nvGrpSpPr>
      <p:grpSpPr>
        <a:xfrm>
          <a:off x="0" y="0"/>
          <a:ext cx="0" cy="0"/>
          <a:chOff x="0" y="0"/>
          <a:chExt cx="0" cy="0"/>
        </a:xfrm>
      </p:grpSpPr>
      <p:sp>
        <p:nvSpPr>
          <p:cNvPr id="1680" name="Google Shape;1680;p16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681" name="Google Shape;1681;p168:notes"/>
          <p:cNvSpPr/>
          <p:nvPr>
            <p:ph idx="2" type="sldImg"/>
          </p:nvPr>
        </p:nvSpPr>
        <p:spPr>
          <a:xfrm>
            <a:off x="1144587"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82" name="Google Shape;1682;p16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Nous proposons ci-après une classification pour dissocier clairement les objets propres au système à modéliser et les objets matériels ou réels qu’il peut être intéressant de faire apparaître dans un workflow (diagramme d’activité).</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Pour notre  proposition nous nous inspirons de l’exemple de la gestion commerciale présenté en page 289 de [BRJ-00]. Nous avons ajouté, à notre système, une responsabilité « Caisse » qui traitera du paiement en liquide des clients. Ce premier diagramme ne montre volontairement que les activités pour bien fixer le cadre du workflow. </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Pour éviter de surcharger notre modèle, nous avons retiré les mécanismes de synchronisation et pour des questions de réalisation du support de cours nous avons mis la responsabilité « Caisse » à gauche de l’acteur externe « Client » alors que nous devrions la mettre à droite également.</a:t>
            </a:r>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6" name="Shape 1686"/>
        <p:cNvGrpSpPr/>
        <p:nvPr/>
      </p:nvGrpSpPr>
      <p:grpSpPr>
        <a:xfrm>
          <a:off x="0" y="0"/>
          <a:ext cx="0" cy="0"/>
          <a:chOff x="0" y="0"/>
          <a:chExt cx="0" cy="0"/>
        </a:xfrm>
      </p:grpSpPr>
      <p:sp>
        <p:nvSpPr>
          <p:cNvPr id="1687" name="Google Shape;1687;p1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8" name="Google Shape;1688;p1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2" name="Shape 1692"/>
        <p:cNvGrpSpPr/>
        <p:nvPr/>
      </p:nvGrpSpPr>
      <p:grpSpPr>
        <a:xfrm>
          <a:off x="0" y="0"/>
          <a:ext cx="0" cy="0"/>
          <a:chOff x="0" y="0"/>
          <a:chExt cx="0" cy="0"/>
        </a:xfrm>
      </p:grpSpPr>
      <p:sp>
        <p:nvSpPr>
          <p:cNvPr id="1693" name="Google Shape;1693;p1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4" name="Google Shape;1694;p1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8" name="Shape 1698"/>
        <p:cNvGrpSpPr/>
        <p:nvPr/>
      </p:nvGrpSpPr>
      <p:grpSpPr>
        <a:xfrm>
          <a:off x="0" y="0"/>
          <a:ext cx="0" cy="0"/>
          <a:chOff x="0" y="0"/>
          <a:chExt cx="0" cy="0"/>
        </a:xfrm>
      </p:grpSpPr>
      <p:sp>
        <p:nvSpPr>
          <p:cNvPr id="1699" name="Google Shape;1699;p1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0" name="Google Shape;1700;p1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4" name="Shape 1704"/>
        <p:cNvGrpSpPr/>
        <p:nvPr/>
      </p:nvGrpSpPr>
      <p:grpSpPr>
        <a:xfrm>
          <a:off x="0" y="0"/>
          <a:ext cx="0" cy="0"/>
          <a:chOff x="0" y="0"/>
          <a:chExt cx="0" cy="0"/>
        </a:xfrm>
      </p:grpSpPr>
      <p:sp>
        <p:nvSpPr>
          <p:cNvPr id="1705" name="Google Shape;1705;p1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6" name="Google Shape;1706;p1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2" name="Shape 1722"/>
        <p:cNvGrpSpPr/>
        <p:nvPr/>
      </p:nvGrpSpPr>
      <p:grpSpPr>
        <a:xfrm>
          <a:off x="0" y="0"/>
          <a:ext cx="0" cy="0"/>
          <a:chOff x="0" y="0"/>
          <a:chExt cx="0" cy="0"/>
        </a:xfrm>
      </p:grpSpPr>
      <p:sp>
        <p:nvSpPr>
          <p:cNvPr id="1723" name="Google Shape;1723;p1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4" name="Google Shape;1724;p1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8" name="Shape 1728"/>
        <p:cNvGrpSpPr/>
        <p:nvPr/>
      </p:nvGrpSpPr>
      <p:grpSpPr>
        <a:xfrm>
          <a:off x="0" y="0"/>
          <a:ext cx="0" cy="0"/>
          <a:chOff x="0" y="0"/>
          <a:chExt cx="0" cy="0"/>
        </a:xfrm>
      </p:grpSpPr>
      <p:sp>
        <p:nvSpPr>
          <p:cNvPr id="1729" name="Google Shape;1729;p17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0" name="Google Shape;1730;p1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3" name="Shape 1733"/>
        <p:cNvGrpSpPr/>
        <p:nvPr/>
      </p:nvGrpSpPr>
      <p:grpSpPr>
        <a:xfrm>
          <a:off x="0" y="0"/>
          <a:ext cx="0" cy="0"/>
          <a:chOff x="0" y="0"/>
          <a:chExt cx="0" cy="0"/>
        </a:xfrm>
      </p:grpSpPr>
      <p:sp>
        <p:nvSpPr>
          <p:cNvPr id="1734" name="Google Shape;1734;p1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5" name="Google Shape;1735;p1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9" name="Shape 1739"/>
        <p:cNvGrpSpPr/>
        <p:nvPr/>
      </p:nvGrpSpPr>
      <p:grpSpPr>
        <a:xfrm>
          <a:off x="0" y="0"/>
          <a:ext cx="0" cy="0"/>
          <a:chOff x="0" y="0"/>
          <a:chExt cx="0" cy="0"/>
        </a:xfrm>
      </p:grpSpPr>
      <p:sp>
        <p:nvSpPr>
          <p:cNvPr id="1740" name="Google Shape;1740;p17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1" name="Google Shape;1741;p1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5" name="Shape 1745"/>
        <p:cNvGrpSpPr/>
        <p:nvPr/>
      </p:nvGrpSpPr>
      <p:grpSpPr>
        <a:xfrm>
          <a:off x="0" y="0"/>
          <a:ext cx="0" cy="0"/>
          <a:chOff x="0" y="0"/>
          <a:chExt cx="0" cy="0"/>
        </a:xfrm>
      </p:grpSpPr>
      <p:sp>
        <p:nvSpPr>
          <p:cNvPr id="1746" name="Google Shape;1746;p1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7" name="Google Shape;1747;p1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1" name="Shape 1751"/>
        <p:cNvGrpSpPr/>
        <p:nvPr/>
      </p:nvGrpSpPr>
      <p:grpSpPr>
        <a:xfrm>
          <a:off x="0" y="0"/>
          <a:ext cx="0" cy="0"/>
          <a:chOff x="0" y="0"/>
          <a:chExt cx="0" cy="0"/>
        </a:xfrm>
      </p:grpSpPr>
      <p:sp>
        <p:nvSpPr>
          <p:cNvPr id="1752" name="Google Shape;1752;p17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3" name="Google Shape;1753;p1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9" name="Shape 1759"/>
        <p:cNvGrpSpPr/>
        <p:nvPr/>
      </p:nvGrpSpPr>
      <p:grpSpPr>
        <a:xfrm>
          <a:off x="0" y="0"/>
          <a:ext cx="0" cy="0"/>
          <a:chOff x="0" y="0"/>
          <a:chExt cx="0" cy="0"/>
        </a:xfrm>
      </p:grpSpPr>
      <p:sp>
        <p:nvSpPr>
          <p:cNvPr id="1760" name="Google Shape;1760;p1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1" name="Google Shape;1761;p1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4" name="Shape 1774"/>
        <p:cNvGrpSpPr/>
        <p:nvPr/>
      </p:nvGrpSpPr>
      <p:grpSpPr>
        <a:xfrm>
          <a:off x="0" y="0"/>
          <a:ext cx="0" cy="0"/>
          <a:chOff x="0" y="0"/>
          <a:chExt cx="0" cy="0"/>
        </a:xfrm>
      </p:grpSpPr>
      <p:sp>
        <p:nvSpPr>
          <p:cNvPr id="1775" name="Google Shape;1775;p18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6" name="Google Shape;1776;p1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0" name="Shape 1780"/>
        <p:cNvGrpSpPr/>
        <p:nvPr/>
      </p:nvGrpSpPr>
      <p:grpSpPr>
        <a:xfrm>
          <a:off x="0" y="0"/>
          <a:ext cx="0" cy="0"/>
          <a:chOff x="0" y="0"/>
          <a:chExt cx="0" cy="0"/>
        </a:xfrm>
      </p:grpSpPr>
      <p:sp>
        <p:nvSpPr>
          <p:cNvPr id="1781" name="Google Shape;1781;p18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2" name="Google Shape;1782;p1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6" name="Shape 1836"/>
        <p:cNvGrpSpPr/>
        <p:nvPr/>
      </p:nvGrpSpPr>
      <p:grpSpPr>
        <a:xfrm>
          <a:off x="0" y="0"/>
          <a:ext cx="0" cy="0"/>
          <a:chOff x="0" y="0"/>
          <a:chExt cx="0" cy="0"/>
        </a:xfrm>
      </p:grpSpPr>
      <p:sp>
        <p:nvSpPr>
          <p:cNvPr id="1837" name="Google Shape;1837;p1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8" name="Google Shape;1838;p1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9" name="Shape 1859"/>
        <p:cNvGrpSpPr/>
        <p:nvPr/>
      </p:nvGrpSpPr>
      <p:grpSpPr>
        <a:xfrm>
          <a:off x="0" y="0"/>
          <a:ext cx="0" cy="0"/>
          <a:chOff x="0" y="0"/>
          <a:chExt cx="0" cy="0"/>
        </a:xfrm>
      </p:grpSpPr>
      <p:sp>
        <p:nvSpPr>
          <p:cNvPr id="1860" name="Google Shape;1860;p18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1" name="Google Shape;1861;p1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8" name="Shape 1878"/>
        <p:cNvGrpSpPr/>
        <p:nvPr/>
      </p:nvGrpSpPr>
      <p:grpSpPr>
        <a:xfrm>
          <a:off x="0" y="0"/>
          <a:ext cx="0" cy="0"/>
          <a:chOff x="0" y="0"/>
          <a:chExt cx="0" cy="0"/>
        </a:xfrm>
      </p:grpSpPr>
      <p:sp>
        <p:nvSpPr>
          <p:cNvPr id="1879" name="Google Shape;1879;p1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0" name="Google Shape;1880;p1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3" name="Shape 1943"/>
        <p:cNvGrpSpPr/>
        <p:nvPr/>
      </p:nvGrpSpPr>
      <p:grpSpPr>
        <a:xfrm>
          <a:off x="0" y="0"/>
          <a:ext cx="0" cy="0"/>
          <a:chOff x="0" y="0"/>
          <a:chExt cx="0" cy="0"/>
        </a:xfrm>
      </p:grpSpPr>
      <p:sp>
        <p:nvSpPr>
          <p:cNvPr id="1944" name="Google Shape;1944;p18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5" name="Google Shape;1945;p1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5" name="Shape 2025"/>
        <p:cNvGrpSpPr/>
        <p:nvPr/>
      </p:nvGrpSpPr>
      <p:grpSpPr>
        <a:xfrm>
          <a:off x="0" y="0"/>
          <a:ext cx="0" cy="0"/>
          <a:chOff x="0" y="0"/>
          <a:chExt cx="0" cy="0"/>
        </a:xfrm>
      </p:grpSpPr>
      <p:sp>
        <p:nvSpPr>
          <p:cNvPr id="2026" name="Google Shape;2026;p18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7" name="Google Shape;2027;p1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1" name="Shape 2031"/>
        <p:cNvGrpSpPr/>
        <p:nvPr/>
      </p:nvGrpSpPr>
      <p:grpSpPr>
        <a:xfrm>
          <a:off x="0" y="0"/>
          <a:ext cx="0" cy="0"/>
          <a:chOff x="0" y="0"/>
          <a:chExt cx="0" cy="0"/>
        </a:xfrm>
      </p:grpSpPr>
      <p:sp>
        <p:nvSpPr>
          <p:cNvPr id="2032" name="Google Shape;2032;p18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3" name="Google Shape;2033;p1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7" name="Shape 2037"/>
        <p:cNvGrpSpPr/>
        <p:nvPr/>
      </p:nvGrpSpPr>
      <p:grpSpPr>
        <a:xfrm>
          <a:off x="0" y="0"/>
          <a:ext cx="0" cy="0"/>
          <a:chOff x="0" y="0"/>
          <a:chExt cx="0" cy="0"/>
        </a:xfrm>
      </p:grpSpPr>
      <p:sp>
        <p:nvSpPr>
          <p:cNvPr id="2038" name="Google Shape;2038;p1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9" name="Google Shape;2039;p1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9" name="Shape 2049"/>
        <p:cNvGrpSpPr/>
        <p:nvPr/>
      </p:nvGrpSpPr>
      <p:grpSpPr>
        <a:xfrm>
          <a:off x="0" y="0"/>
          <a:ext cx="0" cy="0"/>
          <a:chOff x="0" y="0"/>
          <a:chExt cx="0" cy="0"/>
        </a:xfrm>
      </p:grpSpPr>
      <p:sp>
        <p:nvSpPr>
          <p:cNvPr id="2050" name="Google Shape;2050;p18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1" name="Google Shape;2051;p1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2" name="Shape 2092"/>
        <p:cNvGrpSpPr/>
        <p:nvPr/>
      </p:nvGrpSpPr>
      <p:grpSpPr>
        <a:xfrm>
          <a:off x="0" y="0"/>
          <a:ext cx="0" cy="0"/>
          <a:chOff x="0" y="0"/>
          <a:chExt cx="0" cy="0"/>
        </a:xfrm>
      </p:grpSpPr>
      <p:sp>
        <p:nvSpPr>
          <p:cNvPr id="2093" name="Google Shape;2093;p19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4" name="Google Shape;2094;p1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2" name="Shape 2112"/>
        <p:cNvGrpSpPr/>
        <p:nvPr/>
      </p:nvGrpSpPr>
      <p:grpSpPr>
        <a:xfrm>
          <a:off x="0" y="0"/>
          <a:ext cx="0" cy="0"/>
          <a:chOff x="0" y="0"/>
          <a:chExt cx="0" cy="0"/>
        </a:xfrm>
      </p:grpSpPr>
      <p:sp>
        <p:nvSpPr>
          <p:cNvPr id="2113" name="Google Shape;2113;p19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4" name="Google Shape;2114;p1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0" name="Shape 2250"/>
        <p:cNvGrpSpPr/>
        <p:nvPr/>
      </p:nvGrpSpPr>
      <p:grpSpPr>
        <a:xfrm>
          <a:off x="0" y="0"/>
          <a:ext cx="0" cy="0"/>
          <a:chOff x="0" y="0"/>
          <a:chExt cx="0" cy="0"/>
        </a:xfrm>
      </p:grpSpPr>
      <p:sp>
        <p:nvSpPr>
          <p:cNvPr id="2251" name="Google Shape;2251;p19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2252" name="Google Shape;2252;p192:notes"/>
          <p:cNvSpPr/>
          <p:nvPr>
            <p:ph idx="2" type="sldImg"/>
          </p:nvPr>
        </p:nvSpPr>
        <p:spPr>
          <a:xfrm>
            <a:off x="1285875" y="792162"/>
            <a:ext cx="4286250" cy="3214687"/>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3" name="Google Shape;2253;p192:notes"/>
          <p:cNvSpPr txBox="1"/>
          <p:nvPr>
            <p:ph idx="1" type="body"/>
          </p:nvPr>
        </p:nvSpPr>
        <p:spPr>
          <a:xfrm>
            <a:off x="828675" y="4344987"/>
            <a:ext cx="5200650" cy="38576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9" name="Shape 2299"/>
        <p:cNvGrpSpPr/>
        <p:nvPr/>
      </p:nvGrpSpPr>
      <p:grpSpPr>
        <a:xfrm>
          <a:off x="0" y="0"/>
          <a:ext cx="0" cy="0"/>
          <a:chOff x="0" y="0"/>
          <a:chExt cx="0" cy="0"/>
        </a:xfrm>
      </p:grpSpPr>
      <p:sp>
        <p:nvSpPr>
          <p:cNvPr id="2300" name="Google Shape;2300;p19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1" name="Google Shape;2301;p1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5" name="Shape 2305"/>
        <p:cNvGrpSpPr/>
        <p:nvPr/>
      </p:nvGrpSpPr>
      <p:grpSpPr>
        <a:xfrm>
          <a:off x="0" y="0"/>
          <a:ext cx="0" cy="0"/>
          <a:chOff x="0" y="0"/>
          <a:chExt cx="0" cy="0"/>
        </a:xfrm>
      </p:grpSpPr>
      <p:sp>
        <p:nvSpPr>
          <p:cNvPr id="2306" name="Google Shape;2306;p19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2307" name="Google Shape;2307;p194:notes"/>
          <p:cNvSpPr/>
          <p:nvPr>
            <p:ph idx="2" type="sldImg"/>
          </p:nvPr>
        </p:nvSpPr>
        <p:spPr>
          <a:xfrm>
            <a:off x="1144587"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08" name="Google Shape;2308;p194:notes"/>
          <p:cNvSpPr txBox="1"/>
          <p:nvPr>
            <p:ph idx="1" type="body"/>
          </p:nvPr>
        </p:nvSpPr>
        <p:spPr>
          <a:xfrm>
            <a:off x="914400" y="4341812"/>
            <a:ext cx="5029200" cy="41163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2" name="Shape 2312"/>
        <p:cNvGrpSpPr/>
        <p:nvPr/>
      </p:nvGrpSpPr>
      <p:grpSpPr>
        <a:xfrm>
          <a:off x="0" y="0"/>
          <a:ext cx="0" cy="0"/>
          <a:chOff x="0" y="0"/>
          <a:chExt cx="0" cy="0"/>
        </a:xfrm>
      </p:grpSpPr>
      <p:sp>
        <p:nvSpPr>
          <p:cNvPr id="2313" name="Google Shape;2313;p19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4" name="Google Shape;2314;p1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7" name="Shape 2317"/>
        <p:cNvGrpSpPr/>
        <p:nvPr/>
      </p:nvGrpSpPr>
      <p:grpSpPr>
        <a:xfrm>
          <a:off x="0" y="0"/>
          <a:ext cx="0" cy="0"/>
          <a:chOff x="0" y="0"/>
          <a:chExt cx="0" cy="0"/>
        </a:xfrm>
      </p:grpSpPr>
      <p:sp>
        <p:nvSpPr>
          <p:cNvPr id="2318" name="Google Shape;2318;p19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9" name="Google Shape;2319;p1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3" name="Shape 2323"/>
        <p:cNvGrpSpPr/>
        <p:nvPr/>
      </p:nvGrpSpPr>
      <p:grpSpPr>
        <a:xfrm>
          <a:off x="0" y="0"/>
          <a:ext cx="0" cy="0"/>
          <a:chOff x="0" y="0"/>
          <a:chExt cx="0" cy="0"/>
        </a:xfrm>
      </p:grpSpPr>
      <p:sp>
        <p:nvSpPr>
          <p:cNvPr id="2324" name="Google Shape;2324;p19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5" name="Google Shape;2325;p1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9" name="Shape 2329"/>
        <p:cNvGrpSpPr/>
        <p:nvPr/>
      </p:nvGrpSpPr>
      <p:grpSpPr>
        <a:xfrm>
          <a:off x="0" y="0"/>
          <a:ext cx="0" cy="0"/>
          <a:chOff x="0" y="0"/>
          <a:chExt cx="0" cy="0"/>
        </a:xfrm>
      </p:grpSpPr>
      <p:sp>
        <p:nvSpPr>
          <p:cNvPr id="2330" name="Google Shape;2330;p19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1" name="Google Shape;2331;p1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5" name="Shape 2335"/>
        <p:cNvGrpSpPr/>
        <p:nvPr/>
      </p:nvGrpSpPr>
      <p:grpSpPr>
        <a:xfrm>
          <a:off x="0" y="0"/>
          <a:ext cx="0" cy="0"/>
          <a:chOff x="0" y="0"/>
          <a:chExt cx="0" cy="0"/>
        </a:xfrm>
      </p:grpSpPr>
      <p:sp>
        <p:nvSpPr>
          <p:cNvPr id="2336" name="Google Shape;2336;p19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2337" name="Google Shape;2337;p1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38" name="Google Shape;2338;p19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2" name="Shape 2342"/>
        <p:cNvGrpSpPr/>
        <p:nvPr/>
      </p:nvGrpSpPr>
      <p:grpSpPr>
        <a:xfrm>
          <a:off x="0" y="0"/>
          <a:ext cx="0" cy="0"/>
          <a:chOff x="0" y="0"/>
          <a:chExt cx="0" cy="0"/>
        </a:xfrm>
      </p:grpSpPr>
      <p:sp>
        <p:nvSpPr>
          <p:cNvPr id="2343" name="Google Shape;2343;p2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4" name="Google Shape;2344;p2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0" name="Shape 2350"/>
        <p:cNvGrpSpPr/>
        <p:nvPr/>
      </p:nvGrpSpPr>
      <p:grpSpPr>
        <a:xfrm>
          <a:off x="0" y="0"/>
          <a:ext cx="0" cy="0"/>
          <a:chOff x="0" y="0"/>
          <a:chExt cx="0" cy="0"/>
        </a:xfrm>
      </p:grpSpPr>
      <p:sp>
        <p:nvSpPr>
          <p:cNvPr id="2351" name="Google Shape;2351;p20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2" name="Google Shape;2352;p20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7" name="Shape 2357"/>
        <p:cNvGrpSpPr/>
        <p:nvPr/>
      </p:nvGrpSpPr>
      <p:grpSpPr>
        <a:xfrm>
          <a:off x="0" y="0"/>
          <a:ext cx="0" cy="0"/>
          <a:chOff x="0" y="0"/>
          <a:chExt cx="0" cy="0"/>
        </a:xfrm>
      </p:grpSpPr>
      <p:sp>
        <p:nvSpPr>
          <p:cNvPr id="2358" name="Google Shape;2358;p2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9" name="Google Shape;2359;p2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2" name="Shape 2362"/>
        <p:cNvGrpSpPr/>
        <p:nvPr/>
      </p:nvGrpSpPr>
      <p:grpSpPr>
        <a:xfrm>
          <a:off x="0" y="0"/>
          <a:ext cx="0" cy="0"/>
          <a:chOff x="0" y="0"/>
          <a:chExt cx="0" cy="0"/>
        </a:xfrm>
      </p:grpSpPr>
      <p:sp>
        <p:nvSpPr>
          <p:cNvPr id="2363" name="Google Shape;2363;p20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4" name="Google Shape;2364;p2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7" name="Shape 2367"/>
        <p:cNvGrpSpPr/>
        <p:nvPr/>
      </p:nvGrpSpPr>
      <p:grpSpPr>
        <a:xfrm>
          <a:off x="0" y="0"/>
          <a:ext cx="0" cy="0"/>
          <a:chOff x="0" y="0"/>
          <a:chExt cx="0" cy="0"/>
        </a:xfrm>
      </p:grpSpPr>
      <p:sp>
        <p:nvSpPr>
          <p:cNvPr id="2368" name="Google Shape;2368;p20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9" name="Google Shape;2369;p20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5" name="Shape 2375"/>
        <p:cNvGrpSpPr/>
        <p:nvPr/>
      </p:nvGrpSpPr>
      <p:grpSpPr>
        <a:xfrm>
          <a:off x="0" y="0"/>
          <a:ext cx="0" cy="0"/>
          <a:chOff x="0" y="0"/>
          <a:chExt cx="0" cy="0"/>
        </a:xfrm>
      </p:grpSpPr>
      <p:sp>
        <p:nvSpPr>
          <p:cNvPr id="2376" name="Google Shape;2376;p20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7" name="Google Shape;2377;p2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1" name="Shape 2381"/>
        <p:cNvGrpSpPr/>
        <p:nvPr/>
      </p:nvGrpSpPr>
      <p:grpSpPr>
        <a:xfrm>
          <a:off x="0" y="0"/>
          <a:ext cx="0" cy="0"/>
          <a:chOff x="0" y="0"/>
          <a:chExt cx="0" cy="0"/>
        </a:xfrm>
      </p:grpSpPr>
      <p:sp>
        <p:nvSpPr>
          <p:cNvPr id="2382" name="Google Shape;2382;p20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3" name="Google Shape;2383;p20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6" name="Shape 2386"/>
        <p:cNvGrpSpPr/>
        <p:nvPr/>
      </p:nvGrpSpPr>
      <p:grpSpPr>
        <a:xfrm>
          <a:off x="0" y="0"/>
          <a:ext cx="0" cy="0"/>
          <a:chOff x="0" y="0"/>
          <a:chExt cx="0" cy="0"/>
        </a:xfrm>
      </p:grpSpPr>
      <p:sp>
        <p:nvSpPr>
          <p:cNvPr id="2387" name="Google Shape;2387;p20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8" name="Google Shape;2388;p2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1" name="Shape 2391"/>
        <p:cNvGrpSpPr/>
        <p:nvPr/>
      </p:nvGrpSpPr>
      <p:grpSpPr>
        <a:xfrm>
          <a:off x="0" y="0"/>
          <a:ext cx="0" cy="0"/>
          <a:chOff x="0" y="0"/>
          <a:chExt cx="0" cy="0"/>
        </a:xfrm>
      </p:grpSpPr>
      <p:sp>
        <p:nvSpPr>
          <p:cNvPr id="2392" name="Google Shape;2392;p20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3" name="Google Shape;2393;p2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7" name="Shape 2397"/>
        <p:cNvGrpSpPr/>
        <p:nvPr/>
      </p:nvGrpSpPr>
      <p:grpSpPr>
        <a:xfrm>
          <a:off x="0" y="0"/>
          <a:ext cx="0" cy="0"/>
          <a:chOff x="0" y="0"/>
          <a:chExt cx="0" cy="0"/>
        </a:xfrm>
      </p:grpSpPr>
      <p:sp>
        <p:nvSpPr>
          <p:cNvPr id="2398" name="Google Shape;2398;p20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9" name="Google Shape;2399;p2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2" name="Shape 2402"/>
        <p:cNvGrpSpPr/>
        <p:nvPr/>
      </p:nvGrpSpPr>
      <p:grpSpPr>
        <a:xfrm>
          <a:off x="0" y="0"/>
          <a:ext cx="0" cy="0"/>
          <a:chOff x="0" y="0"/>
          <a:chExt cx="0" cy="0"/>
        </a:xfrm>
      </p:grpSpPr>
      <p:sp>
        <p:nvSpPr>
          <p:cNvPr id="2403" name="Google Shape;2403;p2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4" name="Google Shape;2404;p2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9" name="Shape 2419"/>
        <p:cNvGrpSpPr/>
        <p:nvPr/>
      </p:nvGrpSpPr>
      <p:grpSpPr>
        <a:xfrm>
          <a:off x="0" y="0"/>
          <a:ext cx="0" cy="0"/>
          <a:chOff x="0" y="0"/>
          <a:chExt cx="0" cy="0"/>
        </a:xfrm>
      </p:grpSpPr>
      <p:sp>
        <p:nvSpPr>
          <p:cNvPr id="2420" name="Google Shape;2420;p2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1" name="Google Shape;2421;p2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6" name="Shape 2436"/>
        <p:cNvGrpSpPr/>
        <p:nvPr/>
      </p:nvGrpSpPr>
      <p:grpSpPr>
        <a:xfrm>
          <a:off x="0" y="0"/>
          <a:ext cx="0" cy="0"/>
          <a:chOff x="0" y="0"/>
          <a:chExt cx="0" cy="0"/>
        </a:xfrm>
      </p:grpSpPr>
      <p:sp>
        <p:nvSpPr>
          <p:cNvPr id="2437" name="Google Shape;2437;p2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8" name="Google Shape;2438;p2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0" name="Shape 2450"/>
        <p:cNvGrpSpPr/>
        <p:nvPr/>
      </p:nvGrpSpPr>
      <p:grpSpPr>
        <a:xfrm>
          <a:off x="0" y="0"/>
          <a:ext cx="0" cy="0"/>
          <a:chOff x="0" y="0"/>
          <a:chExt cx="0" cy="0"/>
        </a:xfrm>
      </p:grpSpPr>
      <p:sp>
        <p:nvSpPr>
          <p:cNvPr id="2451" name="Google Shape;2451;p2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2" name="Google Shape;2452;p2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6" name="Shape 2456"/>
        <p:cNvGrpSpPr/>
        <p:nvPr/>
      </p:nvGrpSpPr>
      <p:grpSpPr>
        <a:xfrm>
          <a:off x="0" y="0"/>
          <a:ext cx="0" cy="0"/>
          <a:chOff x="0" y="0"/>
          <a:chExt cx="0" cy="0"/>
        </a:xfrm>
      </p:grpSpPr>
      <p:sp>
        <p:nvSpPr>
          <p:cNvPr id="2457" name="Google Shape;2457;p2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8" name="Google Shape;2458;p2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2" name="Shape 2462"/>
        <p:cNvGrpSpPr/>
        <p:nvPr/>
      </p:nvGrpSpPr>
      <p:grpSpPr>
        <a:xfrm>
          <a:off x="0" y="0"/>
          <a:ext cx="0" cy="0"/>
          <a:chOff x="0" y="0"/>
          <a:chExt cx="0" cy="0"/>
        </a:xfrm>
      </p:grpSpPr>
      <p:sp>
        <p:nvSpPr>
          <p:cNvPr id="2463" name="Google Shape;2463;p2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4" name="Google Shape;2464;p2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7" name="Shape 2467"/>
        <p:cNvGrpSpPr/>
        <p:nvPr/>
      </p:nvGrpSpPr>
      <p:grpSpPr>
        <a:xfrm>
          <a:off x="0" y="0"/>
          <a:ext cx="0" cy="0"/>
          <a:chOff x="0" y="0"/>
          <a:chExt cx="0" cy="0"/>
        </a:xfrm>
      </p:grpSpPr>
      <p:sp>
        <p:nvSpPr>
          <p:cNvPr id="2468" name="Google Shape;2468;p2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9" name="Google Shape;2469;p2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3" name="Shape 2473"/>
        <p:cNvGrpSpPr/>
        <p:nvPr/>
      </p:nvGrpSpPr>
      <p:grpSpPr>
        <a:xfrm>
          <a:off x="0" y="0"/>
          <a:ext cx="0" cy="0"/>
          <a:chOff x="0" y="0"/>
          <a:chExt cx="0" cy="0"/>
        </a:xfrm>
      </p:grpSpPr>
      <p:sp>
        <p:nvSpPr>
          <p:cNvPr id="2474" name="Google Shape;2474;p2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5" name="Google Shape;2475;p2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8" name="Shape 2478"/>
        <p:cNvGrpSpPr/>
        <p:nvPr/>
      </p:nvGrpSpPr>
      <p:grpSpPr>
        <a:xfrm>
          <a:off x="0" y="0"/>
          <a:ext cx="0" cy="0"/>
          <a:chOff x="0" y="0"/>
          <a:chExt cx="0" cy="0"/>
        </a:xfrm>
      </p:grpSpPr>
      <p:sp>
        <p:nvSpPr>
          <p:cNvPr id="2479" name="Google Shape;2479;p2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0" name="Google Shape;2480;p2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2" name="Shape 2492"/>
        <p:cNvGrpSpPr/>
        <p:nvPr/>
      </p:nvGrpSpPr>
      <p:grpSpPr>
        <a:xfrm>
          <a:off x="0" y="0"/>
          <a:ext cx="0" cy="0"/>
          <a:chOff x="0" y="0"/>
          <a:chExt cx="0" cy="0"/>
        </a:xfrm>
      </p:grpSpPr>
      <p:sp>
        <p:nvSpPr>
          <p:cNvPr id="2493" name="Google Shape;2493;p2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4" name="Google Shape;2494;p2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6" name="Shape 2506"/>
        <p:cNvGrpSpPr/>
        <p:nvPr/>
      </p:nvGrpSpPr>
      <p:grpSpPr>
        <a:xfrm>
          <a:off x="0" y="0"/>
          <a:ext cx="0" cy="0"/>
          <a:chOff x="0" y="0"/>
          <a:chExt cx="0" cy="0"/>
        </a:xfrm>
      </p:grpSpPr>
      <p:sp>
        <p:nvSpPr>
          <p:cNvPr id="2507" name="Google Shape;2507;p2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8" name="Google Shape;2508;p2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0" name="Shape 2520"/>
        <p:cNvGrpSpPr/>
        <p:nvPr/>
      </p:nvGrpSpPr>
      <p:grpSpPr>
        <a:xfrm>
          <a:off x="0" y="0"/>
          <a:ext cx="0" cy="0"/>
          <a:chOff x="0" y="0"/>
          <a:chExt cx="0" cy="0"/>
        </a:xfrm>
      </p:grpSpPr>
      <p:sp>
        <p:nvSpPr>
          <p:cNvPr id="2521" name="Google Shape;2521;p2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2" name="Google Shape;2522;p2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6" name="Shape 2526"/>
        <p:cNvGrpSpPr/>
        <p:nvPr/>
      </p:nvGrpSpPr>
      <p:grpSpPr>
        <a:xfrm>
          <a:off x="0" y="0"/>
          <a:ext cx="0" cy="0"/>
          <a:chOff x="0" y="0"/>
          <a:chExt cx="0" cy="0"/>
        </a:xfrm>
      </p:grpSpPr>
      <p:sp>
        <p:nvSpPr>
          <p:cNvPr id="2527" name="Google Shape;2527;p2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8" name="Google Shape;2528;p2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1" name="Shape 2531"/>
        <p:cNvGrpSpPr/>
        <p:nvPr/>
      </p:nvGrpSpPr>
      <p:grpSpPr>
        <a:xfrm>
          <a:off x="0" y="0"/>
          <a:ext cx="0" cy="0"/>
          <a:chOff x="0" y="0"/>
          <a:chExt cx="0" cy="0"/>
        </a:xfrm>
      </p:grpSpPr>
      <p:sp>
        <p:nvSpPr>
          <p:cNvPr id="2532" name="Google Shape;2532;p2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3" name="Google Shape;2533;p2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9" name="Shape 2539"/>
        <p:cNvGrpSpPr/>
        <p:nvPr/>
      </p:nvGrpSpPr>
      <p:grpSpPr>
        <a:xfrm>
          <a:off x="0" y="0"/>
          <a:ext cx="0" cy="0"/>
          <a:chOff x="0" y="0"/>
          <a:chExt cx="0" cy="0"/>
        </a:xfrm>
      </p:grpSpPr>
      <p:sp>
        <p:nvSpPr>
          <p:cNvPr id="2540" name="Google Shape;2540;p2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1" name="Google Shape;2541;p2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5" name="Shape 2545"/>
        <p:cNvGrpSpPr/>
        <p:nvPr/>
      </p:nvGrpSpPr>
      <p:grpSpPr>
        <a:xfrm>
          <a:off x="0" y="0"/>
          <a:ext cx="0" cy="0"/>
          <a:chOff x="0" y="0"/>
          <a:chExt cx="0" cy="0"/>
        </a:xfrm>
      </p:grpSpPr>
      <p:sp>
        <p:nvSpPr>
          <p:cNvPr id="2546" name="Google Shape;2546;p2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7" name="Google Shape;2547;p2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1" name="Shape 2551"/>
        <p:cNvGrpSpPr/>
        <p:nvPr/>
      </p:nvGrpSpPr>
      <p:grpSpPr>
        <a:xfrm>
          <a:off x="0" y="0"/>
          <a:ext cx="0" cy="0"/>
          <a:chOff x="0" y="0"/>
          <a:chExt cx="0" cy="0"/>
        </a:xfrm>
      </p:grpSpPr>
      <p:sp>
        <p:nvSpPr>
          <p:cNvPr id="2552" name="Google Shape;2552;p2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3" name="Google Shape;2553;p2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6" name="Shape 2566"/>
        <p:cNvGrpSpPr/>
        <p:nvPr/>
      </p:nvGrpSpPr>
      <p:grpSpPr>
        <a:xfrm>
          <a:off x="0" y="0"/>
          <a:ext cx="0" cy="0"/>
          <a:chOff x="0" y="0"/>
          <a:chExt cx="0" cy="0"/>
        </a:xfrm>
      </p:grpSpPr>
      <p:sp>
        <p:nvSpPr>
          <p:cNvPr id="2567" name="Google Shape;2567;p2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8" name="Google Shape;2568;p2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4" name="Shape 2584"/>
        <p:cNvGrpSpPr/>
        <p:nvPr/>
      </p:nvGrpSpPr>
      <p:grpSpPr>
        <a:xfrm>
          <a:off x="0" y="0"/>
          <a:ext cx="0" cy="0"/>
          <a:chOff x="0" y="0"/>
          <a:chExt cx="0" cy="0"/>
        </a:xfrm>
      </p:grpSpPr>
      <p:sp>
        <p:nvSpPr>
          <p:cNvPr id="2585" name="Google Shape;2585;p2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6" name="Google Shape;2586;p2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0" name="Shape 2590"/>
        <p:cNvGrpSpPr/>
        <p:nvPr/>
      </p:nvGrpSpPr>
      <p:grpSpPr>
        <a:xfrm>
          <a:off x="0" y="0"/>
          <a:ext cx="0" cy="0"/>
          <a:chOff x="0" y="0"/>
          <a:chExt cx="0" cy="0"/>
        </a:xfrm>
      </p:grpSpPr>
      <p:sp>
        <p:nvSpPr>
          <p:cNvPr id="2591" name="Google Shape;2591;p2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2" name="Google Shape;2592;p2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8" name="Shape 2598"/>
        <p:cNvGrpSpPr/>
        <p:nvPr/>
      </p:nvGrpSpPr>
      <p:grpSpPr>
        <a:xfrm>
          <a:off x="0" y="0"/>
          <a:ext cx="0" cy="0"/>
          <a:chOff x="0" y="0"/>
          <a:chExt cx="0" cy="0"/>
        </a:xfrm>
      </p:grpSpPr>
      <p:sp>
        <p:nvSpPr>
          <p:cNvPr id="2599" name="Google Shape;2599;p2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0" name="Google Shape;2600;p2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7" name="Shape 2607"/>
        <p:cNvGrpSpPr/>
        <p:nvPr/>
      </p:nvGrpSpPr>
      <p:grpSpPr>
        <a:xfrm>
          <a:off x="0" y="0"/>
          <a:ext cx="0" cy="0"/>
          <a:chOff x="0" y="0"/>
          <a:chExt cx="0" cy="0"/>
        </a:xfrm>
      </p:grpSpPr>
      <p:sp>
        <p:nvSpPr>
          <p:cNvPr id="2608" name="Google Shape;2608;p2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9" name="Google Shape;2609;p2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4" name="Shape 2614"/>
        <p:cNvGrpSpPr/>
        <p:nvPr/>
      </p:nvGrpSpPr>
      <p:grpSpPr>
        <a:xfrm>
          <a:off x="0" y="0"/>
          <a:ext cx="0" cy="0"/>
          <a:chOff x="0" y="0"/>
          <a:chExt cx="0" cy="0"/>
        </a:xfrm>
      </p:grpSpPr>
      <p:sp>
        <p:nvSpPr>
          <p:cNvPr id="2615" name="Google Shape;2615;p2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6" name="Google Shape;2616;p2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2" name="Shape 2622"/>
        <p:cNvGrpSpPr/>
        <p:nvPr/>
      </p:nvGrpSpPr>
      <p:grpSpPr>
        <a:xfrm>
          <a:off x="0" y="0"/>
          <a:ext cx="0" cy="0"/>
          <a:chOff x="0" y="0"/>
          <a:chExt cx="0" cy="0"/>
        </a:xfrm>
      </p:grpSpPr>
      <p:sp>
        <p:nvSpPr>
          <p:cNvPr id="2623" name="Google Shape;2623;p2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4" name="Google Shape;2624;p2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8" name="Shape 2628"/>
        <p:cNvGrpSpPr/>
        <p:nvPr/>
      </p:nvGrpSpPr>
      <p:grpSpPr>
        <a:xfrm>
          <a:off x="0" y="0"/>
          <a:ext cx="0" cy="0"/>
          <a:chOff x="0" y="0"/>
          <a:chExt cx="0" cy="0"/>
        </a:xfrm>
      </p:grpSpPr>
      <p:sp>
        <p:nvSpPr>
          <p:cNvPr id="2629" name="Google Shape;2629;p2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0" name="Google Shape;2630;p2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4" name="Shape 2634"/>
        <p:cNvGrpSpPr/>
        <p:nvPr/>
      </p:nvGrpSpPr>
      <p:grpSpPr>
        <a:xfrm>
          <a:off x="0" y="0"/>
          <a:ext cx="0" cy="0"/>
          <a:chOff x="0" y="0"/>
          <a:chExt cx="0" cy="0"/>
        </a:xfrm>
      </p:grpSpPr>
      <p:sp>
        <p:nvSpPr>
          <p:cNvPr id="2635" name="Google Shape;2635;p2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6" name="Google Shape;2636;p2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0" name="Shape 2650"/>
        <p:cNvGrpSpPr/>
        <p:nvPr/>
      </p:nvGrpSpPr>
      <p:grpSpPr>
        <a:xfrm>
          <a:off x="0" y="0"/>
          <a:ext cx="0" cy="0"/>
          <a:chOff x="0" y="0"/>
          <a:chExt cx="0" cy="0"/>
        </a:xfrm>
      </p:grpSpPr>
      <p:sp>
        <p:nvSpPr>
          <p:cNvPr id="2651" name="Google Shape;2651;p2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2" name="Google Shape;2652;p2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2" name="Shape 2662"/>
        <p:cNvGrpSpPr/>
        <p:nvPr/>
      </p:nvGrpSpPr>
      <p:grpSpPr>
        <a:xfrm>
          <a:off x="0" y="0"/>
          <a:ext cx="0" cy="0"/>
          <a:chOff x="0" y="0"/>
          <a:chExt cx="0" cy="0"/>
        </a:xfrm>
      </p:grpSpPr>
      <p:sp>
        <p:nvSpPr>
          <p:cNvPr id="2663" name="Google Shape;2663;p2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4" name="Google Shape;2664;p2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6" name="Shape 2676"/>
        <p:cNvGrpSpPr/>
        <p:nvPr/>
      </p:nvGrpSpPr>
      <p:grpSpPr>
        <a:xfrm>
          <a:off x="0" y="0"/>
          <a:ext cx="0" cy="0"/>
          <a:chOff x="0" y="0"/>
          <a:chExt cx="0" cy="0"/>
        </a:xfrm>
      </p:grpSpPr>
      <p:sp>
        <p:nvSpPr>
          <p:cNvPr id="2677" name="Google Shape;2677;p2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8" name="Google Shape;2678;p2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0" name="Shape 2690"/>
        <p:cNvGrpSpPr/>
        <p:nvPr/>
      </p:nvGrpSpPr>
      <p:grpSpPr>
        <a:xfrm>
          <a:off x="0" y="0"/>
          <a:ext cx="0" cy="0"/>
          <a:chOff x="0" y="0"/>
          <a:chExt cx="0" cy="0"/>
        </a:xfrm>
      </p:grpSpPr>
      <p:sp>
        <p:nvSpPr>
          <p:cNvPr id="2691" name="Google Shape;2691;p2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2" name="Google Shape;2692;p2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15" name="Shape 15"/>
        <p:cNvGrpSpPr/>
        <p:nvPr/>
      </p:nvGrpSpPr>
      <p:grpSpPr>
        <a:xfrm>
          <a:off x="0" y="0"/>
          <a:ext cx="0" cy="0"/>
          <a:chOff x="0" y="0"/>
          <a:chExt cx="0" cy="0"/>
        </a:xfrm>
      </p:grpSpPr>
      <p:sp>
        <p:nvSpPr>
          <p:cNvPr id="16" name="Google Shape;16;p241"/>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241"/>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Autofit/>
          </a:bodyPr>
          <a:lstStyle>
            <a:lvl1pPr lvl="0" algn="ctr">
              <a:spcBef>
                <a:spcPts val="480"/>
              </a:spcBef>
              <a:spcAft>
                <a:spcPts val="0"/>
              </a:spcAft>
              <a:buClr>
                <a:schemeClr val="dk1"/>
              </a:buClr>
              <a:buSzPts val="2400"/>
              <a:buFont typeface="Arial"/>
              <a:buNone/>
              <a:defRPr sz="2400"/>
            </a:lvl1pPr>
            <a:lvl2pPr lvl="1" algn="ctr">
              <a:spcBef>
                <a:spcPts val="400"/>
              </a:spcBef>
              <a:spcAft>
                <a:spcPts val="0"/>
              </a:spcAft>
              <a:buClr>
                <a:schemeClr val="dk1"/>
              </a:buClr>
              <a:buSzPts val="2000"/>
              <a:buFont typeface="Arial"/>
              <a:buNone/>
              <a:defRPr sz="2000"/>
            </a:lvl2pPr>
            <a:lvl3pPr lvl="2" algn="ctr">
              <a:spcBef>
                <a:spcPts val="360"/>
              </a:spcBef>
              <a:spcAft>
                <a:spcPts val="0"/>
              </a:spcAft>
              <a:buClr>
                <a:schemeClr val="dk1"/>
              </a:buClr>
              <a:buSzPts val="1800"/>
              <a:buFont typeface="Arial"/>
              <a:buNone/>
              <a:defRPr sz="1800"/>
            </a:lvl3pPr>
            <a:lvl4pPr lvl="3" algn="ctr">
              <a:spcBef>
                <a:spcPts val="320"/>
              </a:spcBef>
              <a:spcAft>
                <a:spcPts val="0"/>
              </a:spcAft>
              <a:buClr>
                <a:schemeClr val="dk1"/>
              </a:buClr>
              <a:buSzPts val="1600"/>
              <a:buFont typeface="Arial"/>
              <a:buNone/>
              <a:defRPr sz="1600"/>
            </a:lvl4pPr>
            <a:lvl5pPr lvl="4" algn="ctr">
              <a:spcBef>
                <a:spcPts val="320"/>
              </a:spcBef>
              <a:spcAft>
                <a:spcPts val="0"/>
              </a:spcAft>
              <a:buClr>
                <a:schemeClr val="dk1"/>
              </a:buClr>
              <a:buSzPts val="1600"/>
              <a:buFont typeface="Arial"/>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4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21" name="Shape 21"/>
        <p:cNvGrpSpPr/>
        <p:nvPr/>
      </p:nvGrpSpPr>
      <p:grpSpPr>
        <a:xfrm>
          <a:off x="0" y="0"/>
          <a:ext cx="0" cy="0"/>
          <a:chOff x="0" y="0"/>
          <a:chExt cx="0" cy="0"/>
        </a:xfrm>
      </p:grpSpPr>
      <p:sp>
        <p:nvSpPr>
          <p:cNvPr id="22" name="Google Shape;22;p24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24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4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Image de la bibliothèque et texte" type="clipArtAndTx">
  <p:cSld name="CLIPART_AND_TEXT">
    <p:spTree>
      <p:nvGrpSpPr>
        <p:cNvPr id="27" name="Shape 27"/>
        <p:cNvGrpSpPr/>
        <p:nvPr/>
      </p:nvGrpSpPr>
      <p:grpSpPr>
        <a:xfrm>
          <a:off x="0" y="0"/>
          <a:ext cx="0" cy="0"/>
          <a:chOff x="0" y="0"/>
          <a:chExt cx="0" cy="0"/>
        </a:xfrm>
      </p:grpSpPr>
      <p:sp>
        <p:nvSpPr>
          <p:cNvPr id="28" name="Google Shape;28;p2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 name="Google Shape;29;p243"/>
          <p:cNvSpPr/>
          <p:nvPr>
            <p:ph idx="2" type="clipArt"/>
          </p:nvPr>
        </p:nvSpPr>
        <p:spPr>
          <a:xfrm>
            <a:off x="457200" y="1600200"/>
            <a:ext cx="4038600" cy="4525963"/>
          </a:xfrm>
          <a:prstGeom prst="rect">
            <a:avLst/>
          </a:prstGeom>
          <a:noFill/>
          <a:ln>
            <a:noFill/>
          </a:ln>
        </p:spPr>
      </p:sp>
      <p:sp>
        <p:nvSpPr>
          <p:cNvPr id="30" name="Google Shape;30;p243"/>
          <p:cNvSpPr txBox="1"/>
          <p:nvPr>
            <p:ph idx="1"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24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4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34" name="Shape 34"/>
        <p:cNvGrpSpPr/>
        <p:nvPr/>
      </p:nvGrpSpPr>
      <p:grpSpPr>
        <a:xfrm>
          <a:off x="0" y="0"/>
          <a:ext cx="0" cy="0"/>
          <a:chOff x="0" y="0"/>
          <a:chExt cx="0" cy="0"/>
        </a:xfrm>
      </p:grpSpPr>
      <p:sp>
        <p:nvSpPr>
          <p:cNvPr id="35" name="Google Shape;35;p24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6" name="Google Shape;36;p24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4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ableau" type="tbl">
  <p:cSld name="TABLE">
    <p:spTree>
      <p:nvGrpSpPr>
        <p:cNvPr id="39" name="Shape 39"/>
        <p:cNvGrpSpPr/>
        <p:nvPr/>
      </p:nvGrpSpPr>
      <p:grpSpPr>
        <a:xfrm>
          <a:off x="0" y="0"/>
          <a:ext cx="0" cy="0"/>
          <a:chOff x="0" y="0"/>
          <a:chExt cx="0" cy="0"/>
        </a:xfrm>
      </p:grpSpPr>
      <p:sp>
        <p:nvSpPr>
          <p:cNvPr id="40" name="Google Shape;40;p2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1" name="Google Shape;41;p24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4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4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44" name="Shape 44"/>
        <p:cNvGrpSpPr/>
        <p:nvPr/>
      </p:nvGrpSpPr>
      <p:grpSpPr>
        <a:xfrm>
          <a:off x="0" y="0"/>
          <a:ext cx="0" cy="0"/>
          <a:chOff x="0" y="0"/>
          <a:chExt cx="0" cy="0"/>
        </a:xfrm>
      </p:grpSpPr>
      <p:sp>
        <p:nvSpPr>
          <p:cNvPr id="45" name="Google Shape;45;p25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6" name="Google Shape;46;p25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25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25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5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5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Texte et contenu" type="txAndObj">
  <p:cSld name="TEXT_AND_OBJECT">
    <p:spTree>
      <p:nvGrpSpPr>
        <p:cNvPr id="51" name="Shape 51"/>
        <p:cNvGrpSpPr/>
        <p:nvPr/>
      </p:nvGrpSpPr>
      <p:grpSpPr>
        <a:xfrm>
          <a:off x="0" y="0"/>
          <a:ext cx="0" cy="0"/>
          <a:chOff x="0" y="0"/>
          <a:chExt cx="0" cy="0"/>
        </a:xfrm>
      </p:grpSpPr>
      <p:sp>
        <p:nvSpPr>
          <p:cNvPr id="52" name="Google Shape;52;p2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3" name="Google Shape;53;p25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25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25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58" name="Shape 58"/>
        <p:cNvGrpSpPr/>
        <p:nvPr/>
      </p:nvGrpSpPr>
      <p:grpSpPr>
        <a:xfrm>
          <a:off x="0" y="0"/>
          <a:ext cx="0" cy="0"/>
          <a:chOff x="0" y="0"/>
          <a:chExt cx="0" cy="0"/>
        </a:xfrm>
      </p:grpSpPr>
      <p:sp>
        <p:nvSpPr>
          <p:cNvPr id="59" name="Google Shape;59;p25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25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p25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5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64" name="Shape 64"/>
        <p:cNvGrpSpPr/>
        <p:nvPr/>
      </p:nvGrpSpPr>
      <p:grpSpPr>
        <a:xfrm>
          <a:off x="0" y="0"/>
          <a:ext cx="0" cy="0"/>
          <a:chOff x="0" y="0"/>
          <a:chExt cx="0" cy="0"/>
        </a:xfrm>
      </p:grpSpPr>
      <p:sp>
        <p:nvSpPr>
          <p:cNvPr id="65" name="Google Shape;65;p25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6" name="Google Shape;66;p253"/>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25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5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5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70" name="Shape 70"/>
        <p:cNvGrpSpPr/>
        <p:nvPr/>
      </p:nvGrpSpPr>
      <p:grpSpPr>
        <a:xfrm>
          <a:off x="0" y="0"/>
          <a:ext cx="0" cy="0"/>
          <a:chOff x="0" y="0"/>
          <a:chExt cx="0" cy="0"/>
        </a:xfrm>
      </p:grpSpPr>
      <p:sp>
        <p:nvSpPr>
          <p:cNvPr id="71" name="Google Shape;71;p254"/>
          <p:cNvSpPr txBox="1"/>
          <p:nvPr>
            <p:ph type="title"/>
          </p:nvPr>
        </p:nvSpPr>
        <p:spPr>
          <a:xfrm>
            <a:off x="630238" y="457200"/>
            <a:ext cx="2949575" cy="1600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2" name="Google Shape;72;p254"/>
          <p:cNvSpPr/>
          <p:nvPr>
            <p:ph idx="2" type="pic"/>
          </p:nvPr>
        </p:nvSpPr>
        <p:spPr>
          <a:xfrm>
            <a:off x="3887788" y="987425"/>
            <a:ext cx="4629150" cy="4873625"/>
          </a:xfrm>
          <a:prstGeom prst="rect">
            <a:avLst/>
          </a:prstGeom>
          <a:noFill/>
          <a:ln>
            <a:noFill/>
          </a:ln>
        </p:spPr>
      </p:sp>
      <p:sp>
        <p:nvSpPr>
          <p:cNvPr id="73" name="Google Shape;73;p254"/>
          <p:cNvSpPr txBox="1"/>
          <p:nvPr>
            <p:ph idx="1" type="body"/>
          </p:nvPr>
        </p:nvSpPr>
        <p:spPr>
          <a:xfrm>
            <a:off x="630238" y="2057400"/>
            <a:ext cx="2949575" cy="3811588"/>
          </a:xfrm>
          <a:prstGeom prst="rect">
            <a:avLst/>
          </a:prstGeom>
          <a:noFill/>
          <a:ln>
            <a:noFill/>
          </a:ln>
        </p:spPr>
        <p:txBody>
          <a:bodyPr anchorCtr="0" anchor="t" bIns="45700" lIns="91425" spcFirstLastPara="1" rIns="91425" wrap="square" tIns="45700">
            <a:noAutofit/>
          </a:bodyPr>
          <a:lstStyle>
            <a:lvl1pPr indent="-228600" lvl="0" marL="457200" algn="l">
              <a:spcBef>
                <a:spcPts val="320"/>
              </a:spcBef>
              <a:spcAft>
                <a:spcPts val="0"/>
              </a:spcAft>
              <a:buClr>
                <a:schemeClr val="dk1"/>
              </a:buClr>
              <a:buSzPts val="1600"/>
              <a:buFont typeface="Arial"/>
              <a:buNone/>
              <a:defRPr sz="1600"/>
            </a:lvl1pPr>
            <a:lvl2pPr indent="-228600" lvl="1" marL="914400" algn="l">
              <a:spcBef>
                <a:spcPts val="280"/>
              </a:spcBef>
              <a:spcAft>
                <a:spcPts val="0"/>
              </a:spcAft>
              <a:buClr>
                <a:schemeClr val="dk1"/>
              </a:buClr>
              <a:buSzPts val="1400"/>
              <a:buFont typeface="Arial"/>
              <a:buNone/>
              <a:defRPr sz="1400"/>
            </a:lvl2pPr>
            <a:lvl3pPr indent="-228600" lvl="2" marL="1371600" algn="l">
              <a:spcBef>
                <a:spcPts val="240"/>
              </a:spcBef>
              <a:spcAft>
                <a:spcPts val="0"/>
              </a:spcAft>
              <a:buClr>
                <a:schemeClr val="dk1"/>
              </a:buClr>
              <a:buSzPts val="1200"/>
              <a:buFont typeface="Arial"/>
              <a:buNone/>
              <a:defRPr sz="1200"/>
            </a:lvl3pPr>
            <a:lvl4pPr indent="-228600" lvl="3" marL="1828800" algn="l">
              <a:spcBef>
                <a:spcPts val="200"/>
              </a:spcBef>
              <a:spcAft>
                <a:spcPts val="0"/>
              </a:spcAft>
              <a:buClr>
                <a:schemeClr val="dk1"/>
              </a:buClr>
              <a:buSzPts val="1000"/>
              <a:buFont typeface="Arial"/>
              <a:buNone/>
              <a:defRPr sz="1000"/>
            </a:lvl4pPr>
            <a:lvl5pPr indent="-228600" lvl="4" marL="2286000" algn="l">
              <a:spcBef>
                <a:spcPts val="200"/>
              </a:spcBef>
              <a:spcAft>
                <a:spcPts val="0"/>
              </a:spcAft>
              <a:buClr>
                <a:schemeClr val="dk1"/>
              </a:buClr>
              <a:buSzPts val="1000"/>
              <a:buFont typeface="Arial"/>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4" name="Google Shape;74;p25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5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77" name="Shape 77"/>
        <p:cNvGrpSpPr/>
        <p:nvPr/>
      </p:nvGrpSpPr>
      <p:grpSpPr>
        <a:xfrm>
          <a:off x="0" y="0"/>
          <a:ext cx="0" cy="0"/>
          <a:chOff x="0" y="0"/>
          <a:chExt cx="0" cy="0"/>
        </a:xfrm>
      </p:grpSpPr>
      <p:sp>
        <p:nvSpPr>
          <p:cNvPr id="78" name="Google Shape;78;p255"/>
          <p:cNvSpPr txBox="1"/>
          <p:nvPr>
            <p:ph type="title"/>
          </p:nvPr>
        </p:nvSpPr>
        <p:spPr>
          <a:xfrm>
            <a:off x="630238" y="457200"/>
            <a:ext cx="2949575" cy="1600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9" name="Google Shape;79;p255"/>
          <p:cNvSpPr txBox="1"/>
          <p:nvPr>
            <p:ph idx="1" type="body"/>
          </p:nvPr>
        </p:nvSpPr>
        <p:spPr>
          <a:xfrm>
            <a:off x="3887788" y="987425"/>
            <a:ext cx="4629150" cy="4873625"/>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80" name="Google Shape;80;p255"/>
          <p:cNvSpPr txBox="1"/>
          <p:nvPr>
            <p:ph idx="2" type="body"/>
          </p:nvPr>
        </p:nvSpPr>
        <p:spPr>
          <a:xfrm>
            <a:off x="630238" y="2057400"/>
            <a:ext cx="2949575" cy="3811588"/>
          </a:xfrm>
          <a:prstGeom prst="rect">
            <a:avLst/>
          </a:prstGeom>
          <a:noFill/>
          <a:ln>
            <a:noFill/>
          </a:ln>
        </p:spPr>
        <p:txBody>
          <a:bodyPr anchorCtr="0" anchor="t" bIns="45700" lIns="91425" spcFirstLastPara="1" rIns="91425" wrap="square" tIns="45700">
            <a:noAutofit/>
          </a:bodyPr>
          <a:lstStyle>
            <a:lvl1pPr indent="-228600" lvl="0" marL="457200" algn="l">
              <a:spcBef>
                <a:spcPts val="320"/>
              </a:spcBef>
              <a:spcAft>
                <a:spcPts val="0"/>
              </a:spcAft>
              <a:buClr>
                <a:schemeClr val="dk1"/>
              </a:buClr>
              <a:buSzPts val="1600"/>
              <a:buFont typeface="Arial"/>
              <a:buNone/>
              <a:defRPr sz="1600"/>
            </a:lvl1pPr>
            <a:lvl2pPr indent="-228600" lvl="1" marL="914400" algn="l">
              <a:spcBef>
                <a:spcPts val="280"/>
              </a:spcBef>
              <a:spcAft>
                <a:spcPts val="0"/>
              </a:spcAft>
              <a:buClr>
                <a:schemeClr val="dk1"/>
              </a:buClr>
              <a:buSzPts val="1400"/>
              <a:buFont typeface="Arial"/>
              <a:buNone/>
              <a:defRPr sz="1400"/>
            </a:lvl2pPr>
            <a:lvl3pPr indent="-228600" lvl="2" marL="1371600" algn="l">
              <a:spcBef>
                <a:spcPts val="240"/>
              </a:spcBef>
              <a:spcAft>
                <a:spcPts val="0"/>
              </a:spcAft>
              <a:buClr>
                <a:schemeClr val="dk1"/>
              </a:buClr>
              <a:buSzPts val="1200"/>
              <a:buFont typeface="Arial"/>
              <a:buNone/>
              <a:defRPr sz="1200"/>
            </a:lvl3pPr>
            <a:lvl4pPr indent="-228600" lvl="3" marL="1828800" algn="l">
              <a:spcBef>
                <a:spcPts val="200"/>
              </a:spcBef>
              <a:spcAft>
                <a:spcPts val="0"/>
              </a:spcAft>
              <a:buClr>
                <a:schemeClr val="dk1"/>
              </a:buClr>
              <a:buSzPts val="1000"/>
              <a:buFont typeface="Arial"/>
              <a:buNone/>
              <a:defRPr sz="1000"/>
            </a:lvl4pPr>
            <a:lvl5pPr indent="-228600" lvl="4" marL="2286000" algn="l">
              <a:spcBef>
                <a:spcPts val="200"/>
              </a:spcBef>
              <a:spcAft>
                <a:spcPts val="0"/>
              </a:spcAft>
              <a:buClr>
                <a:schemeClr val="dk1"/>
              </a:buClr>
              <a:buSzPts val="1000"/>
              <a:buFont typeface="Arial"/>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1" name="Google Shape;81;p25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84" name="Shape 84"/>
        <p:cNvGrpSpPr/>
        <p:nvPr/>
      </p:nvGrpSpPr>
      <p:grpSpPr>
        <a:xfrm>
          <a:off x="0" y="0"/>
          <a:ext cx="0" cy="0"/>
          <a:chOff x="0" y="0"/>
          <a:chExt cx="0" cy="0"/>
        </a:xfrm>
      </p:grpSpPr>
      <p:sp>
        <p:nvSpPr>
          <p:cNvPr id="85" name="Google Shape;85;p25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5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25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88" name="Shape 88"/>
        <p:cNvGrpSpPr/>
        <p:nvPr/>
      </p:nvGrpSpPr>
      <p:grpSpPr>
        <a:xfrm>
          <a:off x="0" y="0"/>
          <a:ext cx="0" cy="0"/>
          <a:chOff x="0" y="0"/>
          <a:chExt cx="0" cy="0"/>
        </a:xfrm>
      </p:grpSpPr>
      <p:sp>
        <p:nvSpPr>
          <p:cNvPr id="89" name="Google Shape;89;p257"/>
          <p:cNvSpPr txBox="1"/>
          <p:nvPr>
            <p:ph type="title"/>
          </p:nvPr>
        </p:nvSpPr>
        <p:spPr>
          <a:xfrm>
            <a:off x="630238" y="365125"/>
            <a:ext cx="7886700" cy="1325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0" name="Google Shape;90;p257"/>
          <p:cNvSpPr txBox="1"/>
          <p:nvPr>
            <p:ph idx="1" type="body"/>
          </p:nvPr>
        </p:nvSpPr>
        <p:spPr>
          <a:xfrm>
            <a:off x="630238" y="1681163"/>
            <a:ext cx="3868737" cy="82391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91" name="Google Shape;91;p257"/>
          <p:cNvSpPr txBox="1"/>
          <p:nvPr>
            <p:ph idx="2" type="body"/>
          </p:nvPr>
        </p:nvSpPr>
        <p:spPr>
          <a:xfrm>
            <a:off x="630238" y="2505075"/>
            <a:ext cx="3868737" cy="36845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p257"/>
          <p:cNvSpPr txBox="1"/>
          <p:nvPr>
            <p:ph idx="3" type="body"/>
          </p:nvPr>
        </p:nvSpPr>
        <p:spPr>
          <a:xfrm>
            <a:off x="4629150" y="1681163"/>
            <a:ext cx="3887788" cy="82391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93" name="Google Shape;93;p257"/>
          <p:cNvSpPr txBox="1"/>
          <p:nvPr>
            <p:ph idx="4" type="body"/>
          </p:nvPr>
        </p:nvSpPr>
        <p:spPr>
          <a:xfrm>
            <a:off x="4629150" y="2505075"/>
            <a:ext cx="3887788" cy="36845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 name="Google Shape;94;p25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25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25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97" name="Shape 97"/>
        <p:cNvGrpSpPr/>
        <p:nvPr/>
      </p:nvGrpSpPr>
      <p:grpSpPr>
        <a:xfrm>
          <a:off x="0" y="0"/>
          <a:ext cx="0" cy="0"/>
          <a:chOff x="0" y="0"/>
          <a:chExt cx="0" cy="0"/>
        </a:xfrm>
      </p:grpSpPr>
      <p:sp>
        <p:nvSpPr>
          <p:cNvPr id="98" name="Google Shape;98;p258"/>
          <p:cNvSpPr txBox="1"/>
          <p:nvPr>
            <p:ph type="title"/>
          </p:nvPr>
        </p:nvSpPr>
        <p:spPr>
          <a:xfrm>
            <a:off x="623888" y="1709738"/>
            <a:ext cx="7886700" cy="2852737"/>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9" name="Google Shape;99;p258"/>
          <p:cNvSpPr txBox="1"/>
          <p:nvPr>
            <p:ph idx="1" type="body"/>
          </p:nvPr>
        </p:nvSpPr>
        <p:spPr>
          <a:xfrm>
            <a:off x="623888" y="4589463"/>
            <a:ext cx="7886700" cy="1500187"/>
          </a:xfrm>
          <a:prstGeom prst="rect">
            <a:avLst/>
          </a:prstGeom>
          <a:noFill/>
          <a:ln>
            <a:noFill/>
          </a:ln>
        </p:spPr>
        <p:txBody>
          <a:bodyPr anchorCtr="0" anchor="t"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sz="2400"/>
            </a:lvl1pPr>
            <a:lvl2pPr indent="-228600" lvl="1" marL="914400" algn="l">
              <a:spcBef>
                <a:spcPts val="400"/>
              </a:spcBef>
              <a:spcAft>
                <a:spcPts val="0"/>
              </a:spcAft>
              <a:buClr>
                <a:schemeClr val="dk1"/>
              </a:buClr>
              <a:buSzPts val="2000"/>
              <a:buFont typeface="Arial"/>
              <a:buNone/>
              <a:defRPr sz="2000"/>
            </a:lvl2pPr>
            <a:lvl3pPr indent="-228600" lvl="2" marL="1371600" algn="l">
              <a:spcBef>
                <a:spcPts val="360"/>
              </a:spcBef>
              <a:spcAft>
                <a:spcPts val="0"/>
              </a:spcAft>
              <a:buClr>
                <a:schemeClr val="dk1"/>
              </a:buClr>
              <a:buSzPts val="1800"/>
              <a:buFont typeface="Arial"/>
              <a:buNone/>
              <a:defRPr sz="1800"/>
            </a:lvl3pPr>
            <a:lvl4pPr indent="-228600" lvl="3" marL="1828800" algn="l">
              <a:spcBef>
                <a:spcPts val="320"/>
              </a:spcBef>
              <a:spcAft>
                <a:spcPts val="0"/>
              </a:spcAft>
              <a:buClr>
                <a:schemeClr val="dk1"/>
              </a:buClr>
              <a:buSzPts val="1600"/>
              <a:buFont typeface="Arial"/>
              <a:buNone/>
              <a:defRPr sz="1600"/>
            </a:lvl4pPr>
            <a:lvl5pPr indent="-228600" lvl="4" marL="2286000" algn="l">
              <a:spcBef>
                <a:spcPts val="320"/>
              </a:spcBef>
              <a:spcAft>
                <a:spcPts val="0"/>
              </a:spcAft>
              <a:buClr>
                <a:schemeClr val="dk1"/>
              </a:buClr>
              <a:buSzPts val="1600"/>
              <a:buFont typeface="Arial"/>
              <a:buNone/>
              <a:defRPr sz="1600"/>
            </a:lvl5pPr>
            <a:lvl6pPr indent="-228600" lvl="5" marL="2743200" algn="l">
              <a:lnSpc>
                <a:spcPct val="90000"/>
              </a:lnSpc>
              <a:spcBef>
                <a:spcPts val="500"/>
              </a:spcBef>
              <a:spcAft>
                <a:spcPts val="0"/>
              </a:spcAft>
              <a:buClr>
                <a:schemeClr val="dk1"/>
              </a:buClr>
              <a:buSzPts val="1600"/>
              <a:buNone/>
              <a:defRPr sz="1600"/>
            </a:lvl6pPr>
            <a:lvl7pPr indent="-228600" lvl="6" marL="3200400" algn="l">
              <a:lnSpc>
                <a:spcPct val="90000"/>
              </a:lnSpc>
              <a:spcBef>
                <a:spcPts val="500"/>
              </a:spcBef>
              <a:spcAft>
                <a:spcPts val="0"/>
              </a:spcAft>
              <a:buClr>
                <a:schemeClr val="dk1"/>
              </a:buClr>
              <a:buSzPts val="1600"/>
              <a:buNone/>
              <a:defRPr sz="1600"/>
            </a:lvl7pPr>
            <a:lvl8pPr indent="-228600" lvl="7" marL="3657600" algn="l">
              <a:lnSpc>
                <a:spcPct val="90000"/>
              </a:lnSpc>
              <a:spcBef>
                <a:spcPts val="500"/>
              </a:spcBef>
              <a:spcAft>
                <a:spcPts val="0"/>
              </a:spcAft>
              <a:buClr>
                <a:schemeClr val="dk1"/>
              </a:buClr>
              <a:buSzPts val="1600"/>
              <a:buNone/>
              <a:defRPr sz="1600"/>
            </a:lvl8pPr>
            <a:lvl9pPr indent="-228600" lvl="8" marL="4114800" algn="l">
              <a:lnSpc>
                <a:spcPct val="90000"/>
              </a:lnSpc>
              <a:spcBef>
                <a:spcPts val="500"/>
              </a:spcBef>
              <a:spcAft>
                <a:spcPts val="0"/>
              </a:spcAft>
              <a:buClr>
                <a:schemeClr val="dk1"/>
              </a:buClr>
              <a:buSzPts val="1600"/>
              <a:buNone/>
              <a:defRPr sz="1600"/>
            </a:lvl9pPr>
          </a:lstStyle>
          <a:p/>
        </p:txBody>
      </p:sp>
      <p:sp>
        <p:nvSpPr>
          <p:cNvPr id="100" name="Google Shape;100;p25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25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25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over">
    <p:spTree>
      <p:nvGrpSpPr>
        <p:cNvPr id="123" name="Shape 123"/>
        <p:cNvGrpSpPr/>
        <p:nvPr/>
      </p:nvGrpSpPr>
      <p:grpSpPr>
        <a:xfrm>
          <a:off x="0" y="0"/>
          <a:ext cx="0" cy="0"/>
          <a:chOff x="0" y="0"/>
          <a:chExt cx="0" cy="0"/>
        </a:xfrm>
      </p:grpSpPr>
      <p:sp>
        <p:nvSpPr>
          <p:cNvPr id="124" name="Google Shape;124;p246"/>
          <p:cNvSpPr/>
          <p:nvPr>
            <p:ph idx="2" type="pic"/>
          </p:nvPr>
        </p:nvSpPr>
        <p:spPr>
          <a:xfrm>
            <a:off x="0" y="3091408"/>
            <a:ext cx="1721358" cy="1728216"/>
          </a:xfrm>
          <a:prstGeom prst="rect">
            <a:avLst/>
          </a:prstGeom>
          <a:noFill/>
          <a:ln>
            <a:noFill/>
          </a:ln>
        </p:spPr>
      </p:sp>
      <p:sp>
        <p:nvSpPr>
          <p:cNvPr id="125" name="Google Shape;125;p246"/>
          <p:cNvSpPr/>
          <p:nvPr>
            <p:ph idx="3" type="pic"/>
          </p:nvPr>
        </p:nvSpPr>
        <p:spPr>
          <a:xfrm>
            <a:off x="1855661" y="3091408"/>
            <a:ext cx="1721358" cy="1728216"/>
          </a:xfrm>
          <a:prstGeom prst="rect">
            <a:avLst/>
          </a:prstGeom>
          <a:noFill/>
          <a:ln>
            <a:noFill/>
          </a:ln>
        </p:spPr>
      </p:sp>
      <p:sp>
        <p:nvSpPr>
          <p:cNvPr id="126" name="Google Shape;126;p246"/>
          <p:cNvSpPr/>
          <p:nvPr>
            <p:ph idx="4" type="pic"/>
          </p:nvPr>
        </p:nvSpPr>
        <p:spPr>
          <a:xfrm>
            <a:off x="3711321" y="3091408"/>
            <a:ext cx="1721358" cy="1728216"/>
          </a:xfrm>
          <a:prstGeom prst="rect">
            <a:avLst/>
          </a:prstGeom>
          <a:noFill/>
          <a:ln>
            <a:noFill/>
          </a:ln>
        </p:spPr>
      </p:sp>
      <p:sp>
        <p:nvSpPr>
          <p:cNvPr id="127" name="Google Shape;127;p246"/>
          <p:cNvSpPr/>
          <p:nvPr>
            <p:ph idx="5" type="pic"/>
          </p:nvPr>
        </p:nvSpPr>
        <p:spPr>
          <a:xfrm>
            <a:off x="5566982" y="3091408"/>
            <a:ext cx="1721358" cy="1728216"/>
          </a:xfrm>
          <a:prstGeom prst="rect">
            <a:avLst/>
          </a:prstGeom>
          <a:noFill/>
          <a:ln>
            <a:noFill/>
          </a:ln>
        </p:spPr>
      </p:sp>
      <p:sp>
        <p:nvSpPr>
          <p:cNvPr id="128" name="Google Shape;128;p246"/>
          <p:cNvSpPr/>
          <p:nvPr>
            <p:ph idx="6" type="pic"/>
          </p:nvPr>
        </p:nvSpPr>
        <p:spPr>
          <a:xfrm>
            <a:off x="7422642" y="3091408"/>
            <a:ext cx="1721358" cy="1728216"/>
          </a:xfrm>
          <a:prstGeom prst="rect">
            <a:avLst/>
          </a:prstGeom>
          <a:noFill/>
          <a:ln>
            <a:noFill/>
          </a:ln>
        </p:spPr>
      </p:sp>
      <p:sp>
        <p:nvSpPr>
          <p:cNvPr id="129" name="Google Shape;129;p246"/>
          <p:cNvSpPr txBox="1"/>
          <p:nvPr>
            <p:ph type="ctrTitle"/>
          </p:nvPr>
        </p:nvSpPr>
        <p:spPr>
          <a:xfrm>
            <a:off x="1143000" y="85064"/>
            <a:ext cx="6858000" cy="156105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b="1" sz="4500">
                <a:solidFill>
                  <a:schemeClr val="lt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0" name="Google Shape;130;p246"/>
          <p:cNvSpPr txBox="1"/>
          <p:nvPr>
            <p:ph idx="1" type="subTitle"/>
          </p:nvPr>
        </p:nvSpPr>
        <p:spPr>
          <a:xfrm>
            <a:off x="1143000" y="1647164"/>
            <a:ext cx="6858000" cy="1174065"/>
          </a:xfrm>
          <a:prstGeom prst="rect">
            <a:avLst/>
          </a:prstGeom>
          <a:noFill/>
          <a:ln>
            <a:noFill/>
          </a:ln>
        </p:spPr>
        <p:txBody>
          <a:bodyPr anchorCtr="0" anchor="t" bIns="45700" lIns="91425" spcFirstLastPara="1" rIns="91425" wrap="square" tIns="45700">
            <a:noAutofit/>
          </a:bodyPr>
          <a:lstStyle>
            <a:lvl1pPr lvl="0" algn="r">
              <a:spcBef>
                <a:spcPts val="360"/>
              </a:spcBef>
              <a:spcAft>
                <a:spcPts val="0"/>
              </a:spcAft>
              <a:buClr>
                <a:srgbClr val="576973"/>
              </a:buClr>
              <a:buSzPts val="1800"/>
              <a:buFont typeface="Arial"/>
              <a:buNone/>
              <a:defRPr sz="1800">
                <a:solidFill>
                  <a:srgbClr val="576973"/>
                </a:solidFill>
              </a:defRPr>
            </a:lvl1pPr>
            <a:lvl2pPr lvl="1" algn="ctr">
              <a:spcBef>
                <a:spcPts val="300"/>
              </a:spcBef>
              <a:spcAft>
                <a:spcPts val="0"/>
              </a:spcAft>
              <a:buClr>
                <a:schemeClr val="dk1"/>
              </a:buClr>
              <a:buSzPts val="1500"/>
              <a:buFont typeface="Arial"/>
              <a:buNone/>
              <a:defRPr sz="1500"/>
            </a:lvl2pPr>
            <a:lvl3pPr lvl="2" algn="ctr">
              <a:spcBef>
                <a:spcPts val="270"/>
              </a:spcBef>
              <a:spcAft>
                <a:spcPts val="0"/>
              </a:spcAft>
              <a:buClr>
                <a:schemeClr val="dk1"/>
              </a:buClr>
              <a:buSzPts val="1350"/>
              <a:buFont typeface="Arial"/>
              <a:buNone/>
              <a:defRPr sz="1350"/>
            </a:lvl3pPr>
            <a:lvl4pPr lvl="3" algn="ctr">
              <a:spcBef>
                <a:spcPts val="240"/>
              </a:spcBef>
              <a:spcAft>
                <a:spcPts val="0"/>
              </a:spcAft>
              <a:buClr>
                <a:schemeClr val="dk1"/>
              </a:buClr>
              <a:buSzPts val="1200"/>
              <a:buFont typeface="Arial"/>
              <a:buNone/>
              <a:defRPr sz="1200"/>
            </a:lvl4pPr>
            <a:lvl5pPr lvl="4" algn="ctr">
              <a:spcBef>
                <a:spcPts val="240"/>
              </a:spcBef>
              <a:spcAft>
                <a:spcPts val="0"/>
              </a:spcAft>
              <a:buClr>
                <a:schemeClr val="dk1"/>
              </a:buClr>
              <a:buSzPts val="1200"/>
              <a:buFont typeface="Arial"/>
              <a:buNone/>
              <a:defRPr sz="1200"/>
            </a:lvl5pPr>
            <a:lvl6pPr lvl="5" algn="ctr">
              <a:lnSpc>
                <a:spcPct val="90000"/>
              </a:lnSpc>
              <a:spcBef>
                <a:spcPts val="500"/>
              </a:spcBef>
              <a:spcAft>
                <a:spcPts val="0"/>
              </a:spcAft>
              <a:buClr>
                <a:schemeClr val="dk1"/>
              </a:buClr>
              <a:buSzPts val="1200"/>
              <a:buNone/>
              <a:defRPr sz="1200"/>
            </a:lvl6pPr>
            <a:lvl7pPr lvl="6" algn="ctr">
              <a:lnSpc>
                <a:spcPct val="90000"/>
              </a:lnSpc>
              <a:spcBef>
                <a:spcPts val="500"/>
              </a:spcBef>
              <a:spcAft>
                <a:spcPts val="0"/>
              </a:spcAft>
              <a:buClr>
                <a:schemeClr val="dk1"/>
              </a:buClr>
              <a:buSzPts val="1200"/>
              <a:buNone/>
              <a:defRPr sz="1200"/>
            </a:lvl7pPr>
            <a:lvl8pPr lvl="7" algn="ctr">
              <a:lnSpc>
                <a:spcPct val="90000"/>
              </a:lnSpc>
              <a:spcBef>
                <a:spcPts val="500"/>
              </a:spcBef>
              <a:spcAft>
                <a:spcPts val="0"/>
              </a:spcAft>
              <a:buClr>
                <a:schemeClr val="dk1"/>
              </a:buClr>
              <a:buSzPts val="1200"/>
              <a:buNone/>
              <a:defRPr sz="1200"/>
            </a:lvl8pPr>
            <a:lvl9pPr lvl="8" algn="ctr">
              <a:lnSpc>
                <a:spcPct val="90000"/>
              </a:lnSpc>
              <a:spcBef>
                <a:spcPts val="500"/>
              </a:spcBef>
              <a:spcAft>
                <a:spcPts val="0"/>
              </a:spcAft>
              <a:buClr>
                <a:schemeClr val="dk1"/>
              </a:buClr>
              <a:buSzPts val="1200"/>
              <a:buNone/>
              <a:defRPr sz="1200"/>
            </a:lvl9pPr>
          </a:lstStyle>
          <a:p/>
        </p:txBody>
      </p:sp>
      <p:sp>
        <p:nvSpPr>
          <p:cNvPr id="131" name="Google Shape;131;p246"/>
          <p:cNvSpPr txBox="1"/>
          <p:nvPr>
            <p:ph idx="10" type="dt"/>
          </p:nvPr>
        </p:nvSpPr>
        <p:spPr>
          <a:xfrm>
            <a:off x="628650" y="6424612"/>
            <a:ext cx="2057400"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400">
                <a:solidFill>
                  <a:srgbClr val="8C9CA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246"/>
          <p:cNvSpPr txBox="1"/>
          <p:nvPr>
            <p:ph idx="11" type="ftr"/>
          </p:nvPr>
        </p:nvSpPr>
        <p:spPr>
          <a:xfrm>
            <a:off x="3028950" y="6424612"/>
            <a:ext cx="3086100" cy="365125"/>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400">
                <a:solidFill>
                  <a:srgbClr val="8C9CA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246"/>
          <p:cNvSpPr txBox="1"/>
          <p:nvPr>
            <p:ph idx="12" type="sldNum"/>
          </p:nvPr>
        </p:nvSpPr>
        <p:spPr>
          <a:xfrm>
            <a:off x="6457950" y="6424612"/>
            <a:ext cx="2057400" cy="36512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8C9CA6"/>
              </a:buClr>
              <a:buSzPts val="1400"/>
              <a:buFont typeface="Arial"/>
              <a:buNone/>
              <a:defRPr b="0" i="0" sz="1400" u="none">
                <a:solidFill>
                  <a:srgbClr val="8C9CA6"/>
                </a:solidFill>
                <a:latin typeface="Arial"/>
                <a:ea typeface="Arial"/>
                <a:cs typeface="Arial"/>
                <a:sym typeface="Arial"/>
              </a:defRPr>
            </a:lvl1pPr>
            <a:lvl2pPr indent="0" lvl="1" marL="0" marR="0" algn="r">
              <a:lnSpc>
                <a:spcPct val="100000"/>
              </a:lnSpc>
              <a:spcBef>
                <a:spcPts val="0"/>
              </a:spcBef>
              <a:spcAft>
                <a:spcPts val="0"/>
              </a:spcAft>
              <a:buClr>
                <a:srgbClr val="8C9CA6"/>
              </a:buClr>
              <a:buSzPts val="1400"/>
              <a:buFont typeface="Arial"/>
              <a:buNone/>
              <a:defRPr b="0" i="0" sz="1400" u="none">
                <a:solidFill>
                  <a:srgbClr val="8C9CA6"/>
                </a:solidFill>
                <a:latin typeface="Arial"/>
                <a:ea typeface="Arial"/>
                <a:cs typeface="Arial"/>
                <a:sym typeface="Arial"/>
              </a:defRPr>
            </a:lvl2pPr>
            <a:lvl3pPr indent="0" lvl="2" marL="0" marR="0" algn="r">
              <a:lnSpc>
                <a:spcPct val="100000"/>
              </a:lnSpc>
              <a:spcBef>
                <a:spcPts val="0"/>
              </a:spcBef>
              <a:spcAft>
                <a:spcPts val="0"/>
              </a:spcAft>
              <a:buClr>
                <a:srgbClr val="8C9CA6"/>
              </a:buClr>
              <a:buSzPts val="1400"/>
              <a:buFont typeface="Arial"/>
              <a:buNone/>
              <a:defRPr b="0" i="0" sz="1400" u="none">
                <a:solidFill>
                  <a:srgbClr val="8C9CA6"/>
                </a:solidFill>
                <a:latin typeface="Arial"/>
                <a:ea typeface="Arial"/>
                <a:cs typeface="Arial"/>
                <a:sym typeface="Arial"/>
              </a:defRPr>
            </a:lvl3pPr>
            <a:lvl4pPr indent="0" lvl="3" marL="0" marR="0" algn="r">
              <a:lnSpc>
                <a:spcPct val="100000"/>
              </a:lnSpc>
              <a:spcBef>
                <a:spcPts val="0"/>
              </a:spcBef>
              <a:spcAft>
                <a:spcPts val="0"/>
              </a:spcAft>
              <a:buClr>
                <a:srgbClr val="8C9CA6"/>
              </a:buClr>
              <a:buSzPts val="1400"/>
              <a:buFont typeface="Arial"/>
              <a:buNone/>
              <a:defRPr b="0" i="0" sz="1400" u="none">
                <a:solidFill>
                  <a:srgbClr val="8C9CA6"/>
                </a:solidFill>
                <a:latin typeface="Arial"/>
                <a:ea typeface="Arial"/>
                <a:cs typeface="Arial"/>
                <a:sym typeface="Arial"/>
              </a:defRPr>
            </a:lvl4pPr>
            <a:lvl5pPr indent="0" lvl="4" marL="0" marR="0" algn="r">
              <a:lnSpc>
                <a:spcPct val="100000"/>
              </a:lnSpc>
              <a:spcBef>
                <a:spcPts val="0"/>
              </a:spcBef>
              <a:spcAft>
                <a:spcPts val="0"/>
              </a:spcAft>
              <a:buClr>
                <a:srgbClr val="8C9CA6"/>
              </a:buClr>
              <a:buSzPts val="1400"/>
              <a:buFont typeface="Arial"/>
              <a:buNone/>
              <a:defRPr b="0" i="0" sz="1400" u="none">
                <a:solidFill>
                  <a:srgbClr val="8C9CA6"/>
                </a:solidFill>
                <a:latin typeface="Arial"/>
                <a:ea typeface="Arial"/>
                <a:cs typeface="Arial"/>
                <a:sym typeface="Arial"/>
              </a:defRPr>
            </a:lvl5pPr>
            <a:lvl6pPr indent="0" lvl="5" marL="0" marR="0" algn="r">
              <a:lnSpc>
                <a:spcPct val="100000"/>
              </a:lnSpc>
              <a:spcBef>
                <a:spcPts val="0"/>
              </a:spcBef>
              <a:spcAft>
                <a:spcPts val="0"/>
              </a:spcAft>
              <a:buClr>
                <a:srgbClr val="8C9CA6"/>
              </a:buClr>
              <a:buSzPts val="1400"/>
              <a:buFont typeface="Arial"/>
              <a:buNone/>
              <a:defRPr b="0" i="0" sz="1400" u="none">
                <a:solidFill>
                  <a:srgbClr val="8C9CA6"/>
                </a:solidFill>
                <a:latin typeface="Arial"/>
                <a:ea typeface="Arial"/>
                <a:cs typeface="Arial"/>
                <a:sym typeface="Arial"/>
              </a:defRPr>
            </a:lvl6pPr>
            <a:lvl7pPr indent="0" lvl="6" marL="0" marR="0" algn="r">
              <a:lnSpc>
                <a:spcPct val="100000"/>
              </a:lnSpc>
              <a:spcBef>
                <a:spcPts val="0"/>
              </a:spcBef>
              <a:spcAft>
                <a:spcPts val="0"/>
              </a:spcAft>
              <a:buClr>
                <a:srgbClr val="8C9CA6"/>
              </a:buClr>
              <a:buSzPts val="1400"/>
              <a:buFont typeface="Arial"/>
              <a:buNone/>
              <a:defRPr b="0" i="0" sz="1400" u="none">
                <a:solidFill>
                  <a:srgbClr val="8C9CA6"/>
                </a:solidFill>
                <a:latin typeface="Arial"/>
                <a:ea typeface="Arial"/>
                <a:cs typeface="Arial"/>
                <a:sym typeface="Arial"/>
              </a:defRPr>
            </a:lvl7pPr>
            <a:lvl8pPr indent="0" lvl="7" marL="0" marR="0" algn="r">
              <a:lnSpc>
                <a:spcPct val="100000"/>
              </a:lnSpc>
              <a:spcBef>
                <a:spcPts val="0"/>
              </a:spcBef>
              <a:spcAft>
                <a:spcPts val="0"/>
              </a:spcAft>
              <a:buClr>
                <a:srgbClr val="8C9CA6"/>
              </a:buClr>
              <a:buSzPts val="1400"/>
              <a:buFont typeface="Arial"/>
              <a:buNone/>
              <a:defRPr b="0" i="0" sz="1400" u="none">
                <a:solidFill>
                  <a:srgbClr val="8C9CA6"/>
                </a:solidFill>
                <a:latin typeface="Arial"/>
                <a:ea typeface="Arial"/>
                <a:cs typeface="Arial"/>
                <a:sym typeface="Arial"/>
              </a:defRPr>
            </a:lvl8pPr>
            <a:lvl9pPr indent="0" lvl="8" marL="0" marR="0" algn="r">
              <a:lnSpc>
                <a:spcPct val="100000"/>
              </a:lnSpc>
              <a:spcBef>
                <a:spcPts val="0"/>
              </a:spcBef>
              <a:spcAft>
                <a:spcPts val="0"/>
              </a:spcAft>
              <a:buClr>
                <a:srgbClr val="8C9CA6"/>
              </a:buClr>
              <a:buSzPts val="1400"/>
              <a:buFont typeface="Arial"/>
              <a:buNone/>
              <a:defRPr b="0" i="0" sz="1400" u="none">
                <a:solidFill>
                  <a:srgbClr val="8C9CA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width table">
  <p:cSld name="full width table">
    <p:spTree>
      <p:nvGrpSpPr>
        <p:cNvPr id="147" name="Shape 147"/>
        <p:cNvGrpSpPr/>
        <p:nvPr/>
      </p:nvGrpSpPr>
      <p:grpSpPr>
        <a:xfrm>
          <a:off x="0" y="0"/>
          <a:ext cx="0" cy="0"/>
          <a:chOff x="0" y="0"/>
          <a:chExt cx="0" cy="0"/>
        </a:xfrm>
      </p:grpSpPr>
      <p:sp>
        <p:nvSpPr>
          <p:cNvPr id="148" name="Google Shape;148;p248"/>
          <p:cNvSpPr txBox="1"/>
          <p:nvPr>
            <p:ph type="title"/>
          </p:nvPr>
        </p:nvSpPr>
        <p:spPr>
          <a:xfrm>
            <a:off x="628650" y="244372"/>
            <a:ext cx="7886700" cy="673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9" name="Google Shape;149;p248"/>
          <p:cNvSpPr txBox="1"/>
          <p:nvPr>
            <p:ph idx="10" type="dt"/>
          </p:nvPr>
        </p:nvSpPr>
        <p:spPr>
          <a:xfrm>
            <a:off x="361950" y="6465887"/>
            <a:ext cx="2057400" cy="28098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400">
                <a:solidFill>
                  <a:srgbClr val="576973"/>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 name="Google Shape;150;p248"/>
          <p:cNvSpPr txBox="1"/>
          <p:nvPr>
            <p:ph idx="11" type="ftr"/>
          </p:nvPr>
        </p:nvSpPr>
        <p:spPr>
          <a:xfrm>
            <a:off x="3028950" y="6465887"/>
            <a:ext cx="3086100" cy="280987"/>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400">
                <a:solidFill>
                  <a:srgbClr val="576973"/>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p248"/>
          <p:cNvSpPr txBox="1"/>
          <p:nvPr>
            <p:ph idx="12" type="sldNum"/>
          </p:nvPr>
        </p:nvSpPr>
        <p:spPr>
          <a:xfrm>
            <a:off x="6724650" y="6465887"/>
            <a:ext cx="2057400" cy="280987"/>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576973"/>
              </a:buClr>
              <a:buSzPts val="1400"/>
              <a:buFont typeface="Arial"/>
              <a:buNone/>
              <a:defRPr b="0" i="0" sz="1400" u="none">
                <a:solidFill>
                  <a:srgbClr val="576973"/>
                </a:solidFill>
                <a:latin typeface="Arial"/>
                <a:ea typeface="Arial"/>
                <a:cs typeface="Arial"/>
                <a:sym typeface="Arial"/>
              </a:defRPr>
            </a:lvl1pPr>
            <a:lvl2pPr indent="0" lvl="1" marL="0" marR="0" algn="r">
              <a:lnSpc>
                <a:spcPct val="100000"/>
              </a:lnSpc>
              <a:spcBef>
                <a:spcPts val="0"/>
              </a:spcBef>
              <a:spcAft>
                <a:spcPts val="0"/>
              </a:spcAft>
              <a:buClr>
                <a:srgbClr val="576973"/>
              </a:buClr>
              <a:buSzPts val="1400"/>
              <a:buFont typeface="Arial"/>
              <a:buNone/>
              <a:defRPr b="0" i="0" sz="1400" u="none">
                <a:solidFill>
                  <a:srgbClr val="576973"/>
                </a:solidFill>
                <a:latin typeface="Arial"/>
                <a:ea typeface="Arial"/>
                <a:cs typeface="Arial"/>
                <a:sym typeface="Arial"/>
              </a:defRPr>
            </a:lvl2pPr>
            <a:lvl3pPr indent="0" lvl="2" marL="0" marR="0" algn="r">
              <a:lnSpc>
                <a:spcPct val="100000"/>
              </a:lnSpc>
              <a:spcBef>
                <a:spcPts val="0"/>
              </a:spcBef>
              <a:spcAft>
                <a:spcPts val="0"/>
              </a:spcAft>
              <a:buClr>
                <a:srgbClr val="576973"/>
              </a:buClr>
              <a:buSzPts val="1400"/>
              <a:buFont typeface="Arial"/>
              <a:buNone/>
              <a:defRPr b="0" i="0" sz="1400" u="none">
                <a:solidFill>
                  <a:srgbClr val="576973"/>
                </a:solidFill>
                <a:latin typeface="Arial"/>
                <a:ea typeface="Arial"/>
                <a:cs typeface="Arial"/>
                <a:sym typeface="Arial"/>
              </a:defRPr>
            </a:lvl3pPr>
            <a:lvl4pPr indent="0" lvl="3" marL="0" marR="0" algn="r">
              <a:lnSpc>
                <a:spcPct val="100000"/>
              </a:lnSpc>
              <a:spcBef>
                <a:spcPts val="0"/>
              </a:spcBef>
              <a:spcAft>
                <a:spcPts val="0"/>
              </a:spcAft>
              <a:buClr>
                <a:srgbClr val="576973"/>
              </a:buClr>
              <a:buSzPts val="1400"/>
              <a:buFont typeface="Arial"/>
              <a:buNone/>
              <a:defRPr b="0" i="0" sz="1400" u="none">
                <a:solidFill>
                  <a:srgbClr val="576973"/>
                </a:solidFill>
                <a:latin typeface="Arial"/>
                <a:ea typeface="Arial"/>
                <a:cs typeface="Arial"/>
                <a:sym typeface="Arial"/>
              </a:defRPr>
            </a:lvl4pPr>
            <a:lvl5pPr indent="0" lvl="4" marL="0" marR="0" algn="r">
              <a:lnSpc>
                <a:spcPct val="100000"/>
              </a:lnSpc>
              <a:spcBef>
                <a:spcPts val="0"/>
              </a:spcBef>
              <a:spcAft>
                <a:spcPts val="0"/>
              </a:spcAft>
              <a:buClr>
                <a:srgbClr val="576973"/>
              </a:buClr>
              <a:buSzPts val="1400"/>
              <a:buFont typeface="Arial"/>
              <a:buNone/>
              <a:defRPr b="0" i="0" sz="1400" u="none">
                <a:solidFill>
                  <a:srgbClr val="576973"/>
                </a:solidFill>
                <a:latin typeface="Arial"/>
                <a:ea typeface="Arial"/>
                <a:cs typeface="Arial"/>
                <a:sym typeface="Arial"/>
              </a:defRPr>
            </a:lvl5pPr>
            <a:lvl6pPr indent="0" lvl="5" marL="0" marR="0" algn="r">
              <a:lnSpc>
                <a:spcPct val="100000"/>
              </a:lnSpc>
              <a:spcBef>
                <a:spcPts val="0"/>
              </a:spcBef>
              <a:spcAft>
                <a:spcPts val="0"/>
              </a:spcAft>
              <a:buClr>
                <a:srgbClr val="576973"/>
              </a:buClr>
              <a:buSzPts val="1400"/>
              <a:buFont typeface="Arial"/>
              <a:buNone/>
              <a:defRPr b="0" i="0" sz="1400" u="none">
                <a:solidFill>
                  <a:srgbClr val="576973"/>
                </a:solidFill>
                <a:latin typeface="Arial"/>
                <a:ea typeface="Arial"/>
                <a:cs typeface="Arial"/>
                <a:sym typeface="Arial"/>
              </a:defRPr>
            </a:lvl6pPr>
            <a:lvl7pPr indent="0" lvl="6" marL="0" marR="0" algn="r">
              <a:lnSpc>
                <a:spcPct val="100000"/>
              </a:lnSpc>
              <a:spcBef>
                <a:spcPts val="0"/>
              </a:spcBef>
              <a:spcAft>
                <a:spcPts val="0"/>
              </a:spcAft>
              <a:buClr>
                <a:srgbClr val="576973"/>
              </a:buClr>
              <a:buSzPts val="1400"/>
              <a:buFont typeface="Arial"/>
              <a:buNone/>
              <a:defRPr b="0" i="0" sz="1400" u="none">
                <a:solidFill>
                  <a:srgbClr val="576973"/>
                </a:solidFill>
                <a:latin typeface="Arial"/>
                <a:ea typeface="Arial"/>
                <a:cs typeface="Arial"/>
                <a:sym typeface="Arial"/>
              </a:defRPr>
            </a:lvl7pPr>
            <a:lvl8pPr indent="0" lvl="7" marL="0" marR="0" algn="r">
              <a:lnSpc>
                <a:spcPct val="100000"/>
              </a:lnSpc>
              <a:spcBef>
                <a:spcPts val="0"/>
              </a:spcBef>
              <a:spcAft>
                <a:spcPts val="0"/>
              </a:spcAft>
              <a:buClr>
                <a:srgbClr val="576973"/>
              </a:buClr>
              <a:buSzPts val="1400"/>
              <a:buFont typeface="Arial"/>
              <a:buNone/>
              <a:defRPr b="0" i="0" sz="1400" u="none">
                <a:solidFill>
                  <a:srgbClr val="576973"/>
                </a:solidFill>
                <a:latin typeface="Arial"/>
                <a:ea typeface="Arial"/>
                <a:cs typeface="Arial"/>
                <a:sym typeface="Arial"/>
              </a:defRPr>
            </a:lvl8pPr>
            <a:lvl9pPr indent="0" lvl="8" marL="0" marR="0" algn="r">
              <a:lnSpc>
                <a:spcPct val="100000"/>
              </a:lnSpc>
              <a:spcBef>
                <a:spcPts val="0"/>
              </a:spcBef>
              <a:spcAft>
                <a:spcPts val="0"/>
              </a:spcAft>
              <a:buClr>
                <a:srgbClr val="576973"/>
              </a:buClr>
              <a:buSzPts val="1400"/>
              <a:buFont typeface="Arial"/>
              <a:buNone/>
              <a:defRPr b="0" i="0" sz="1400" u="none">
                <a:solidFill>
                  <a:srgbClr val="57697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5.xml"/><Relationship Id="rId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1" name="Google Shape;11;p24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24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4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4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3" name="Shape 103"/>
        <p:cNvGrpSpPr/>
        <p:nvPr/>
      </p:nvGrpSpPr>
      <p:grpSpPr>
        <a:xfrm>
          <a:off x="0" y="0"/>
          <a:ext cx="0" cy="0"/>
          <a:chOff x="0" y="0"/>
          <a:chExt cx="0" cy="0"/>
        </a:xfrm>
      </p:grpSpPr>
      <p:pic>
        <p:nvPicPr>
          <p:cNvPr id="104" name="Google Shape;104;p245"/>
          <p:cNvPicPr preferRelativeResize="0"/>
          <p:nvPr/>
        </p:nvPicPr>
        <p:blipFill rotWithShape="1">
          <a:blip r:embed="rId1">
            <a:alphaModFix/>
          </a:blip>
          <a:srcRect b="58147" l="0" r="0" t="0"/>
          <a:stretch/>
        </p:blipFill>
        <p:spPr>
          <a:xfrm>
            <a:off x="0" y="0"/>
            <a:ext cx="9144000" cy="2908300"/>
          </a:xfrm>
          <a:prstGeom prst="rect">
            <a:avLst/>
          </a:prstGeom>
          <a:noFill/>
          <a:ln>
            <a:noFill/>
          </a:ln>
        </p:spPr>
      </p:pic>
      <p:sp>
        <p:nvSpPr>
          <p:cNvPr id="105" name="Google Shape;105;p245"/>
          <p:cNvSpPr txBox="1"/>
          <p:nvPr/>
        </p:nvSpPr>
        <p:spPr>
          <a:xfrm>
            <a:off x="0" y="0"/>
            <a:ext cx="9144000" cy="2908300"/>
          </a:xfrm>
          <a:prstGeom prst="rect">
            <a:avLst/>
          </a:prstGeom>
          <a:solidFill>
            <a:schemeClr val="dk1">
              <a:alpha val="69803"/>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6" name="Google Shape;106;p245"/>
          <p:cNvSpPr txBox="1"/>
          <p:nvPr/>
        </p:nvSpPr>
        <p:spPr>
          <a:xfrm>
            <a:off x="0" y="6356350"/>
            <a:ext cx="9144000" cy="501650"/>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107" name="Google Shape;107;p245"/>
          <p:cNvGrpSpPr/>
          <p:nvPr/>
        </p:nvGrpSpPr>
        <p:grpSpPr>
          <a:xfrm>
            <a:off x="0" y="4819650"/>
            <a:ext cx="9144000" cy="92075"/>
            <a:chOff x="0" y="4617581"/>
            <a:chExt cx="12192000" cy="91440"/>
          </a:xfrm>
        </p:grpSpPr>
        <p:sp>
          <p:nvSpPr>
            <p:cNvPr id="108" name="Google Shape;108;p245"/>
            <p:cNvSpPr txBox="1"/>
            <p:nvPr/>
          </p:nvSpPr>
          <p:spPr>
            <a:xfrm>
              <a:off x="0" y="4617581"/>
              <a:ext cx="2294467"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9" name="Google Shape;109;p245"/>
            <p:cNvSpPr txBox="1"/>
            <p:nvPr/>
          </p:nvSpPr>
          <p:spPr>
            <a:xfrm>
              <a:off x="2474384" y="4617581"/>
              <a:ext cx="2294467" cy="9144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0" name="Google Shape;110;p245"/>
            <p:cNvSpPr txBox="1"/>
            <p:nvPr/>
          </p:nvSpPr>
          <p:spPr>
            <a:xfrm>
              <a:off x="4948767" y="4617581"/>
              <a:ext cx="2294467" cy="9144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1" name="Google Shape;111;p245"/>
            <p:cNvSpPr txBox="1"/>
            <p:nvPr/>
          </p:nvSpPr>
          <p:spPr>
            <a:xfrm>
              <a:off x="7423151" y="4617581"/>
              <a:ext cx="2294467" cy="9144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2" name="Google Shape;112;p245"/>
            <p:cNvSpPr txBox="1"/>
            <p:nvPr/>
          </p:nvSpPr>
          <p:spPr>
            <a:xfrm>
              <a:off x="9897533" y="4617581"/>
              <a:ext cx="2294467" cy="91440"/>
            </a:xfrm>
            <a:prstGeom prst="rect">
              <a:avLst/>
            </a:prstGeom>
            <a:solidFill>
              <a:srgbClr val="DAEDE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113" name="Google Shape;113;p245"/>
          <p:cNvSpPr txBox="1"/>
          <p:nvPr/>
        </p:nvSpPr>
        <p:spPr>
          <a:xfrm>
            <a:off x="0" y="3090862"/>
            <a:ext cx="1720850" cy="1728787"/>
          </a:xfrm>
          <a:prstGeom prst="rect">
            <a:avLst/>
          </a:prstGeom>
          <a:solidFill>
            <a:srgbClr val="75BEE9">
              <a:alpha val="29803"/>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4" name="Google Shape;114;p245"/>
          <p:cNvSpPr txBox="1"/>
          <p:nvPr/>
        </p:nvSpPr>
        <p:spPr>
          <a:xfrm>
            <a:off x="1855787" y="3090862"/>
            <a:ext cx="1720850" cy="1728787"/>
          </a:xfrm>
          <a:prstGeom prst="rect">
            <a:avLst/>
          </a:prstGeom>
          <a:solidFill>
            <a:srgbClr val="1E708A">
              <a:alpha val="29803"/>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5" name="Google Shape;115;p245"/>
          <p:cNvSpPr txBox="1"/>
          <p:nvPr/>
        </p:nvSpPr>
        <p:spPr>
          <a:xfrm>
            <a:off x="3711575" y="3090862"/>
            <a:ext cx="1720850" cy="1728787"/>
          </a:xfrm>
          <a:prstGeom prst="rect">
            <a:avLst/>
          </a:prstGeom>
          <a:solidFill>
            <a:srgbClr val="F99D1C">
              <a:alpha val="29803"/>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6" name="Google Shape;116;p245"/>
          <p:cNvSpPr txBox="1"/>
          <p:nvPr/>
        </p:nvSpPr>
        <p:spPr>
          <a:xfrm>
            <a:off x="5567362" y="3090862"/>
            <a:ext cx="1720850" cy="1728787"/>
          </a:xfrm>
          <a:prstGeom prst="rect">
            <a:avLst/>
          </a:prstGeom>
          <a:solidFill>
            <a:srgbClr val="8AC74F">
              <a:alpha val="29803"/>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7" name="Google Shape;117;p245"/>
          <p:cNvSpPr txBox="1"/>
          <p:nvPr/>
        </p:nvSpPr>
        <p:spPr>
          <a:xfrm>
            <a:off x="7423150" y="3090862"/>
            <a:ext cx="1720850" cy="1728787"/>
          </a:xfrm>
          <a:prstGeom prst="rect">
            <a:avLst/>
          </a:prstGeom>
          <a:solidFill>
            <a:srgbClr val="8B4E9E">
              <a:alpha val="29803"/>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8" name="Google Shape;118;p24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19" name="Google Shape;119;p24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0" name="Google Shape;120;p245"/>
          <p:cNvSpPr txBox="1"/>
          <p:nvPr>
            <p:ph idx="10" type="dt"/>
          </p:nvPr>
        </p:nvSpPr>
        <p:spPr>
          <a:xfrm>
            <a:off x="628650" y="6424612"/>
            <a:ext cx="20574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a:solidFill>
                  <a:srgbClr val="8C9CA6"/>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21" name="Google Shape;121;p245"/>
          <p:cNvSpPr txBox="1"/>
          <p:nvPr>
            <p:ph idx="11" type="ftr"/>
          </p:nvPr>
        </p:nvSpPr>
        <p:spPr>
          <a:xfrm>
            <a:off x="3028950" y="6424612"/>
            <a:ext cx="3086100" cy="3651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SzPts val="1400"/>
              <a:buNone/>
              <a:defRPr b="0" i="0" sz="1400" u="none">
                <a:solidFill>
                  <a:srgbClr val="8C9CA6"/>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22" name="Google Shape;122;p245"/>
          <p:cNvSpPr txBox="1"/>
          <p:nvPr>
            <p:ph idx="12" type="sldNum"/>
          </p:nvPr>
        </p:nvSpPr>
        <p:spPr>
          <a:xfrm>
            <a:off x="6457950" y="6424612"/>
            <a:ext cx="2057400" cy="36512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8C9CA6"/>
              </a:buClr>
              <a:buSzPts val="1400"/>
              <a:buFont typeface="Arial"/>
              <a:buNone/>
              <a:defRPr b="0" i="0" sz="1400" u="none">
                <a:solidFill>
                  <a:srgbClr val="8C9CA6"/>
                </a:solidFill>
                <a:latin typeface="Arial"/>
                <a:ea typeface="Arial"/>
                <a:cs typeface="Arial"/>
                <a:sym typeface="Arial"/>
              </a:defRPr>
            </a:lvl1pPr>
            <a:lvl2pPr indent="0" lvl="1" marL="0" marR="0" rtl="0" algn="r">
              <a:lnSpc>
                <a:spcPct val="100000"/>
              </a:lnSpc>
              <a:spcBef>
                <a:spcPts val="0"/>
              </a:spcBef>
              <a:spcAft>
                <a:spcPts val="0"/>
              </a:spcAft>
              <a:buClr>
                <a:srgbClr val="8C9CA6"/>
              </a:buClr>
              <a:buSzPts val="1400"/>
              <a:buFont typeface="Arial"/>
              <a:buNone/>
              <a:defRPr b="0" i="0" sz="1400" u="none">
                <a:solidFill>
                  <a:srgbClr val="8C9CA6"/>
                </a:solidFill>
                <a:latin typeface="Arial"/>
                <a:ea typeface="Arial"/>
                <a:cs typeface="Arial"/>
                <a:sym typeface="Arial"/>
              </a:defRPr>
            </a:lvl2pPr>
            <a:lvl3pPr indent="0" lvl="2" marL="0" marR="0" rtl="0" algn="r">
              <a:lnSpc>
                <a:spcPct val="100000"/>
              </a:lnSpc>
              <a:spcBef>
                <a:spcPts val="0"/>
              </a:spcBef>
              <a:spcAft>
                <a:spcPts val="0"/>
              </a:spcAft>
              <a:buClr>
                <a:srgbClr val="8C9CA6"/>
              </a:buClr>
              <a:buSzPts val="1400"/>
              <a:buFont typeface="Arial"/>
              <a:buNone/>
              <a:defRPr b="0" i="0" sz="1400" u="none">
                <a:solidFill>
                  <a:srgbClr val="8C9CA6"/>
                </a:solidFill>
                <a:latin typeface="Arial"/>
                <a:ea typeface="Arial"/>
                <a:cs typeface="Arial"/>
                <a:sym typeface="Arial"/>
              </a:defRPr>
            </a:lvl3pPr>
            <a:lvl4pPr indent="0" lvl="3" marL="0" marR="0" rtl="0" algn="r">
              <a:lnSpc>
                <a:spcPct val="100000"/>
              </a:lnSpc>
              <a:spcBef>
                <a:spcPts val="0"/>
              </a:spcBef>
              <a:spcAft>
                <a:spcPts val="0"/>
              </a:spcAft>
              <a:buClr>
                <a:srgbClr val="8C9CA6"/>
              </a:buClr>
              <a:buSzPts val="1400"/>
              <a:buFont typeface="Arial"/>
              <a:buNone/>
              <a:defRPr b="0" i="0" sz="1400" u="none">
                <a:solidFill>
                  <a:srgbClr val="8C9CA6"/>
                </a:solidFill>
                <a:latin typeface="Arial"/>
                <a:ea typeface="Arial"/>
                <a:cs typeface="Arial"/>
                <a:sym typeface="Arial"/>
              </a:defRPr>
            </a:lvl4pPr>
            <a:lvl5pPr indent="0" lvl="4" marL="0" marR="0" rtl="0" algn="r">
              <a:lnSpc>
                <a:spcPct val="100000"/>
              </a:lnSpc>
              <a:spcBef>
                <a:spcPts val="0"/>
              </a:spcBef>
              <a:spcAft>
                <a:spcPts val="0"/>
              </a:spcAft>
              <a:buClr>
                <a:srgbClr val="8C9CA6"/>
              </a:buClr>
              <a:buSzPts val="1400"/>
              <a:buFont typeface="Arial"/>
              <a:buNone/>
              <a:defRPr b="0" i="0" sz="1400" u="none">
                <a:solidFill>
                  <a:srgbClr val="8C9CA6"/>
                </a:solidFill>
                <a:latin typeface="Arial"/>
                <a:ea typeface="Arial"/>
                <a:cs typeface="Arial"/>
                <a:sym typeface="Arial"/>
              </a:defRPr>
            </a:lvl5pPr>
            <a:lvl6pPr indent="0" lvl="5" marL="0" marR="0" rtl="0" algn="r">
              <a:lnSpc>
                <a:spcPct val="100000"/>
              </a:lnSpc>
              <a:spcBef>
                <a:spcPts val="0"/>
              </a:spcBef>
              <a:spcAft>
                <a:spcPts val="0"/>
              </a:spcAft>
              <a:buClr>
                <a:srgbClr val="8C9CA6"/>
              </a:buClr>
              <a:buSzPts val="1400"/>
              <a:buFont typeface="Arial"/>
              <a:buNone/>
              <a:defRPr b="0" i="0" sz="1400" u="none">
                <a:solidFill>
                  <a:srgbClr val="8C9CA6"/>
                </a:solidFill>
                <a:latin typeface="Arial"/>
                <a:ea typeface="Arial"/>
                <a:cs typeface="Arial"/>
                <a:sym typeface="Arial"/>
              </a:defRPr>
            </a:lvl6pPr>
            <a:lvl7pPr indent="0" lvl="6" marL="0" marR="0" rtl="0" algn="r">
              <a:lnSpc>
                <a:spcPct val="100000"/>
              </a:lnSpc>
              <a:spcBef>
                <a:spcPts val="0"/>
              </a:spcBef>
              <a:spcAft>
                <a:spcPts val="0"/>
              </a:spcAft>
              <a:buClr>
                <a:srgbClr val="8C9CA6"/>
              </a:buClr>
              <a:buSzPts val="1400"/>
              <a:buFont typeface="Arial"/>
              <a:buNone/>
              <a:defRPr b="0" i="0" sz="1400" u="none">
                <a:solidFill>
                  <a:srgbClr val="8C9CA6"/>
                </a:solidFill>
                <a:latin typeface="Arial"/>
                <a:ea typeface="Arial"/>
                <a:cs typeface="Arial"/>
                <a:sym typeface="Arial"/>
              </a:defRPr>
            </a:lvl7pPr>
            <a:lvl8pPr indent="0" lvl="7" marL="0" marR="0" rtl="0" algn="r">
              <a:lnSpc>
                <a:spcPct val="100000"/>
              </a:lnSpc>
              <a:spcBef>
                <a:spcPts val="0"/>
              </a:spcBef>
              <a:spcAft>
                <a:spcPts val="0"/>
              </a:spcAft>
              <a:buClr>
                <a:srgbClr val="8C9CA6"/>
              </a:buClr>
              <a:buSzPts val="1400"/>
              <a:buFont typeface="Arial"/>
              <a:buNone/>
              <a:defRPr b="0" i="0" sz="1400" u="none">
                <a:solidFill>
                  <a:srgbClr val="8C9CA6"/>
                </a:solidFill>
                <a:latin typeface="Arial"/>
                <a:ea typeface="Arial"/>
                <a:cs typeface="Arial"/>
                <a:sym typeface="Arial"/>
              </a:defRPr>
            </a:lvl8pPr>
            <a:lvl9pPr indent="0" lvl="8" marL="0" marR="0" rtl="0" algn="r">
              <a:lnSpc>
                <a:spcPct val="100000"/>
              </a:lnSpc>
              <a:spcBef>
                <a:spcPts val="0"/>
              </a:spcBef>
              <a:spcAft>
                <a:spcPts val="0"/>
              </a:spcAft>
              <a:buClr>
                <a:srgbClr val="8C9CA6"/>
              </a:buClr>
              <a:buSzPts val="1400"/>
              <a:buFont typeface="Arial"/>
              <a:buNone/>
              <a:defRPr b="0" i="0" sz="1400" u="none">
                <a:solidFill>
                  <a:srgbClr val="8C9CA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64"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4" name="Shape 134"/>
        <p:cNvGrpSpPr/>
        <p:nvPr/>
      </p:nvGrpSpPr>
      <p:grpSpPr>
        <a:xfrm>
          <a:off x="0" y="0"/>
          <a:ext cx="0" cy="0"/>
          <a:chOff x="0" y="0"/>
          <a:chExt cx="0" cy="0"/>
        </a:xfrm>
      </p:grpSpPr>
      <p:sp>
        <p:nvSpPr>
          <p:cNvPr id="135" name="Google Shape;135;p247"/>
          <p:cNvSpPr txBox="1"/>
          <p:nvPr/>
        </p:nvSpPr>
        <p:spPr>
          <a:xfrm>
            <a:off x="0" y="-9525"/>
            <a:ext cx="9144000" cy="1181100"/>
          </a:xfrm>
          <a:prstGeom prst="rect">
            <a:avLst/>
          </a:prstGeom>
          <a:solidFill>
            <a:srgbClr val="27333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136" name="Google Shape;136;p247"/>
          <p:cNvGrpSpPr/>
          <p:nvPr/>
        </p:nvGrpSpPr>
        <p:grpSpPr>
          <a:xfrm>
            <a:off x="0" y="6765925"/>
            <a:ext cx="9144000" cy="92075"/>
            <a:chOff x="0" y="4480421"/>
            <a:chExt cx="12192000" cy="91440"/>
          </a:xfrm>
        </p:grpSpPr>
        <p:sp>
          <p:nvSpPr>
            <p:cNvPr id="137" name="Google Shape;137;p247"/>
            <p:cNvSpPr txBox="1"/>
            <p:nvPr/>
          </p:nvSpPr>
          <p:spPr>
            <a:xfrm>
              <a:off x="0" y="4480421"/>
              <a:ext cx="2440517"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8" name="Google Shape;138;p247"/>
            <p:cNvSpPr txBox="1"/>
            <p:nvPr/>
          </p:nvSpPr>
          <p:spPr>
            <a:xfrm>
              <a:off x="2440517" y="4480421"/>
              <a:ext cx="2438400" cy="9144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9" name="Google Shape;139;p247"/>
            <p:cNvSpPr txBox="1"/>
            <p:nvPr/>
          </p:nvSpPr>
          <p:spPr>
            <a:xfrm>
              <a:off x="4878917" y="4480421"/>
              <a:ext cx="2440516" cy="9144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0" name="Google Shape;140;p247"/>
            <p:cNvSpPr txBox="1"/>
            <p:nvPr/>
          </p:nvSpPr>
          <p:spPr>
            <a:xfrm>
              <a:off x="7319433" y="4480421"/>
              <a:ext cx="2440517" cy="9144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1" name="Google Shape;141;p247"/>
            <p:cNvSpPr txBox="1"/>
            <p:nvPr/>
          </p:nvSpPr>
          <p:spPr>
            <a:xfrm>
              <a:off x="9759951" y="4480421"/>
              <a:ext cx="2432049" cy="91440"/>
            </a:xfrm>
            <a:prstGeom prst="rect">
              <a:avLst/>
            </a:prstGeom>
            <a:solidFill>
              <a:srgbClr val="DAEDE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142" name="Google Shape;142;p24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43" name="Google Shape;143;p24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44" name="Google Shape;144;p247"/>
          <p:cNvSpPr txBox="1"/>
          <p:nvPr>
            <p:ph idx="10" type="dt"/>
          </p:nvPr>
        </p:nvSpPr>
        <p:spPr>
          <a:xfrm>
            <a:off x="361950" y="6465887"/>
            <a:ext cx="2057400" cy="28098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a:solidFill>
                  <a:srgbClr val="576973"/>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5" name="Google Shape;145;p247"/>
          <p:cNvSpPr txBox="1"/>
          <p:nvPr>
            <p:ph idx="11" type="ftr"/>
          </p:nvPr>
        </p:nvSpPr>
        <p:spPr>
          <a:xfrm>
            <a:off x="3028950" y="6465887"/>
            <a:ext cx="3086100" cy="280987"/>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SzPts val="1400"/>
              <a:buNone/>
              <a:defRPr b="0" i="0" sz="1400" u="none">
                <a:solidFill>
                  <a:srgbClr val="576973"/>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6" name="Google Shape;146;p247"/>
          <p:cNvSpPr txBox="1"/>
          <p:nvPr>
            <p:ph idx="12" type="sldNum"/>
          </p:nvPr>
        </p:nvSpPr>
        <p:spPr>
          <a:xfrm>
            <a:off x="6724650" y="6465887"/>
            <a:ext cx="2057400" cy="280987"/>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576973"/>
              </a:buClr>
              <a:buSzPts val="1400"/>
              <a:buFont typeface="Arial"/>
              <a:buNone/>
              <a:defRPr b="0" i="0" sz="1400" u="none">
                <a:solidFill>
                  <a:srgbClr val="576973"/>
                </a:solidFill>
                <a:latin typeface="Arial"/>
                <a:ea typeface="Arial"/>
                <a:cs typeface="Arial"/>
                <a:sym typeface="Arial"/>
              </a:defRPr>
            </a:lvl1pPr>
            <a:lvl2pPr indent="0" lvl="1" marL="0" marR="0" rtl="0" algn="r">
              <a:lnSpc>
                <a:spcPct val="100000"/>
              </a:lnSpc>
              <a:spcBef>
                <a:spcPts val="0"/>
              </a:spcBef>
              <a:spcAft>
                <a:spcPts val="0"/>
              </a:spcAft>
              <a:buClr>
                <a:srgbClr val="576973"/>
              </a:buClr>
              <a:buSzPts val="1400"/>
              <a:buFont typeface="Arial"/>
              <a:buNone/>
              <a:defRPr b="0" i="0" sz="1400" u="none">
                <a:solidFill>
                  <a:srgbClr val="576973"/>
                </a:solidFill>
                <a:latin typeface="Arial"/>
                <a:ea typeface="Arial"/>
                <a:cs typeface="Arial"/>
                <a:sym typeface="Arial"/>
              </a:defRPr>
            </a:lvl2pPr>
            <a:lvl3pPr indent="0" lvl="2" marL="0" marR="0" rtl="0" algn="r">
              <a:lnSpc>
                <a:spcPct val="100000"/>
              </a:lnSpc>
              <a:spcBef>
                <a:spcPts val="0"/>
              </a:spcBef>
              <a:spcAft>
                <a:spcPts val="0"/>
              </a:spcAft>
              <a:buClr>
                <a:srgbClr val="576973"/>
              </a:buClr>
              <a:buSzPts val="1400"/>
              <a:buFont typeface="Arial"/>
              <a:buNone/>
              <a:defRPr b="0" i="0" sz="1400" u="none">
                <a:solidFill>
                  <a:srgbClr val="576973"/>
                </a:solidFill>
                <a:latin typeface="Arial"/>
                <a:ea typeface="Arial"/>
                <a:cs typeface="Arial"/>
                <a:sym typeface="Arial"/>
              </a:defRPr>
            </a:lvl3pPr>
            <a:lvl4pPr indent="0" lvl="3" marL="0" marR="0" rtl="0" algn="r">
              <a:lnSpc>
                <a:spcPct val="100000"/>
              </a:lnSpc>
              <a:spcBef>
                <a:spcPts val="0"/>
              </a:spcBef>
              <a:spcAft>
                <a:spcPts val="0"/>
              </a:spcAft>
              <a:buClr>
                <a:srgbClr val="576973"/>
              </a:buClr>
              <a:buSzPts val="1400"/>
              <a:buFont typeface="Arial"/>
              <a:buNone/>
              <a:defRPr b="0" i="0" sz="1400" u="none">
                <a:solidFill>
                  <a:srgbClr val="576973"/>
                </a:solidFill>
                <a:latin typeface="Arial"/>
                <a:ea typeface="Arial"/>
                <a:cs typeface="Arial"/>
                <a:sym typeface="Arial"/>
              </a:defRPr>
            </a:lvl4pPr>
            <a:lvl5pPr indent="0" lvl="4" marL="0" marR="0" rtl="0" algn="r">
              <a:lnSpc>
                <a:spcPct val="100000"/>
              </a:lnSpc>
              <a:spcBef>
                <a:spcPts val="0"/>
              </a:spcBef>
              <a:spcAft>
                <a:spcPts val="0"/>
              </a:spcAft>
              <a:buClr>
                <a:srgbClr val="576973"/>
              </a:buClr>
              <a:buSzPts val="1400"/>
              <a:buFont typeface="Arial"/>
              <a:buNone/>
              <a:defRPr b="0" i="0" sz="1400" u="none">
                <a:solidFill>
                  <a:srgbClr val="576973"/>
                </a:solidFill>
                <a:latin typeface="Arial"/>
                <a:ea typeface="Arial"/>
                <a:cs typeface="Arial"/>
                <a:sym typeface="Arial"/>
              </a:defRPr>
            </a:lvl5pPr>
            <a:lvl6pPr indent="0" lvl="5" marL="0" marR="0" rtl="0" algn="r">
              <a:lnSpc>
                <a:spcPct val="100000"/>
              </a:lnSpc>
              <a:spcBef>
                <a:spcPts val="0"/>
              </a:spcBef>
              <a:spcAft>
                <a:spcPts val="0"/>
              </a:spcAft>
              <a:buClr>
                <a:srgbClr val="576973"/>
              </a:buClr>
              <a:buSzPts val="1400"/>
              <a:buFont typeface="Arial"/>
              <a:buNone/>
              <a:defRPr b="0" i="0" sz="1400" u="none">
                <a:solidFill>
                  <a:srgbClr val="576973"/>
                </a:solidFill>
                <a:latin typeface="Arial"/>
                <a:ea typeface="Arial"/>
                <a:cs typeface="Arial"/>
                <a:sym typeface="Arial"/>
              </a:defRPr>
            </a:lvl6pPr>
            <a:lvl7pPr indent="0" lvl="6" marL="0" marR="0" rtl="0" algn="r">
              <a:lnSpc>
                <a:spcPct val="100000"/>
              </a:lnSpc>
              <a:spcBef>
                <a:spcPts val="0"/>
              </a:spcBef>
              <a:spcAft>
                <a:spcPts val="0"/>
              </a:spcAft>
              <a:buClr>
                <a:srgbClr val="576973"/>
              </a:buClr>
              <a:buSzPts val="1400"/>
              <a:buFont typeface="Arial"/>
              <a:buNone/>
              <a:defRPr b="0" i="0" sz="1400" u="none">
                <a:solidFill>
                  <a:srgbClr val="576973"/>
                </a:solidFill>
                <a:latin typeface="Arial"/>
                <a:ea typeface="Arial"/>
                <a:cs typeface="Arial"/>
                <a:sym typeface="Arial"/>
              </a:defRPr>
            </a:lvl7pPr>
            <a:lvl8pPr indent="0" lvl="7" marL="0" marR="0" rtl="0" algn="r">
              <a:lnSpc>
                <a:spcPct val="100000"/>
              </a:lnSpc>
              <a:spcBef>
                <a:spcPts val="0"/>
              </a:spcBef>
              <a:spcAft>
                <a:spcPts val="0"/>
              </a:spcAft>
              <a:buClr>
                <a:srgbClr val="576973"/>
              </a:buClr>
              <a:buSzPts val="1400"/>
              <a:buFont typeface="Arial"/>
              <a:buNone/>
              <a:defRPr b="0" i="0" sz="1400" u="none">
                <a:solidFill>
                  <a:srgbClr val="576973"/>
                </a:solidFill>
                <a:latin typeface="Arial"/>
                <a:ea typeface="Arial"/>
                <a:cs typeface="Arial"/>
                <a:sym typeface="Arial"/>
              </a:defRPr>
            </a:lvl8pPr>
            <a:lvl9pPr indent="0" lvl="8" marL="0" marR="0" rtl="0" algn="r">
              <a:lnSpc>
                <a:spcPct val="100000"/>
              </a:lnSpc>
              <a:spcBef>
                <a:spcPts val="0"/>
              </a:spcBef>
              <a:spcAft>
                <a:spcPts val="0"/>
              </a:spcAft>
              <a:buClr>
                <a:srgbClr val="576973"/>
              </a:buClr>
              <a:buSzPts val="1400"/>
              <a:buFont typeface="Arial"/>
              <a:buNone/>
              <a:defRPr b="0" i="0" sz="1400" u="none">
                <a:solidFill>
                  <a:srgbClr val="57697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66"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www.omg.org/"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vmlDrawing" Target="../drawings/vmlDrawing1.vml"/><Relationship Id="rId4" Type="http://schemas.openxmlformats.org/officeDocument/2006/relationships/oleObject" Target="../embeddings/oleObject1.bin"/><Relationship Id="rId5" Type="http://schemas.openxmlformats.org/officeDocument/2006/relationships/oleObject" Target="../embeddings/oleObject1.bin"/><Relationship Id="rId6"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vmlDrawing" Target="../drawings/vmlDrawing2.vml"/><Relationship Id="rId4" Type="http://schemas.openxmlformats.org/officeDocument/2006/relationships/oleObject" Target="../embeddings/oleObject2.bin"/><Relationship Id="rId5" Type="http://schemas.openxmlformats.org/officeDocument/2006/relationships/oleObject" Target="../embeddings/oleObject2.bin"/><Relationship Id="rId6" Type="http://schemas.openxmlformats.org/officeDocument/2006/relationships/image" Target="../media/image15.png"/><Relationship Id="rId7"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vmlDrawing" Target="../drawings/vmlDrawing3.vml"/><Relationship Id="rId4" Type="http://schemas.openxmlformats.org/officeDocument/2006/relationships/oleObject" Target="../embeddings/oleObject3.bin"/><Relationship Id="rId5" Type="http://schemas.openxmlformats.org/officeDocument/2006/relationships/oleObject" Target="../embeddings/oleObject3.bin"/><Relationship Id="rId6"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4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vmlDrawing" Target="../drawings/vmlDrawing4.vml"/><Relationship Id="rId4" Type="http://schemas.openxmlformats.org/officeDocument/2006/relationships/oleObject" Target="../embeddings/oleObject4.bin"/><Relationship Id="rId5" Type="http://schemas.openxmlformats.org/officeDocument/2006/relationships/oleObject" Target="../embeddings/oleObject4.bin"/><Relationship Id="rId6"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vmlDrawing" Target="../drawings/vmlDrawing5.vml"/><Relationship Id="rId4" Type="http://schemas.openxmlformats.org/officeDocument/2006/relationships/oleObject" Target="../embeddings/oleObject7.bin"/><Relationship Id="rId5" Type="http://schemas.openxmlformats.org/officeDocument/2006/relationships/oleObject" Target="../embeddings/oleObject7.bin"/><Relationship Id="rId6"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vmlDrawing" Target="../drawings/vmlDrawing6.vml"/><Relationship Id="rId4" Type="http://schemas.openxmlformats.org/officeDocument/2006/relationships/oleObject" Target="../embeddings/oleObject8.bin"/><Relationship Id="rId5" Type="http://schemas.openxmlformats.org/officeDocument/2006/relationships/oleObject" Target="../embeddings/oleObject8.bin"/><Relationship Id="rId6"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Relationship Id="rId3"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Relationship Id="rId3" Type="http://schemas.openxmlformats.org/officeDocument/2006/relationships/image" Target="../media/image3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Relationship Id="rId3" Type="http://schemas.openxmlformats.org/officeDocument/2006/relationships/image" Target="../media/image1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3.xml"/><Relationship Id="rId3"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4.xml"/><Relationship Id="rId3" Type="http://schemas.openxmlformats.org/officeDocument/2006/relationships/image" Target="../media/image2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5.xml"/><Relationship Id="rId3" Type="http://schemas.openxmlformats.org/officeDocument/2006/relationships/image" Target="../media/image3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3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3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5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3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4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4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3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3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4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4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vmlDrawing" Target="../drawings/vmlDrawing7.vml"/><Relationship Id="rId4" Type="http://schemas.openxmlformats.org/officeDocument/2006/relationships/oleObject" Target="../embeddings/oleObject9.bin"/><Relationship Id="rId5" Type="http://schemas.openxmlformats.org/officeDocument/2006/relationships/oleObject" Target="../embeddings/oleObject9.bin"/><Relationship Id="rId6" Type="http://schemas.openxmlformats.org/officeDocument/2006/relationships/image" Target="../media/image58.png"/><Relationship Id="rId7" Type="http://schemas.openxmlformats.org/officeDocument/2006/relationships/image" Target="../media/image3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60.png"/><Relationship Id="rId4" Type="http://schemas.openxmlformats.org/officeDocument/2006/relationships/image" Target="../media/image4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vmlDrawing" Target="../drawings/vmlDrawing8.vml"/><Relationship Id="rId4" Type="http://schemas.openxmlformats.org/officeDocument/2006/relationships/oleObject" Target="../embeddings/oleObject10.bin"/><Relationship Id="rId5" Type="http://schemas.openxmlformats.org/officeDocument/2006/relationships/oleObject" Target="../embeddings/oleObject10.bin"/><Relationship Id="rId6" Type="http://schemas.openxmlformats.org/officeDocument/2006/relationships/image" Target="../media/image4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vmlDrawing" Target="../drawings/vmlDrawing9.vml"/><Relationship Id="rId4" Type="http://schemas.openxmlformats.org/officeDocument/2006/relationships/oleObject" Target="../embeddings/oleObject11.bin"/><Relationship Id="rId5" Type="http://schemas.openxmlformats.org/officeDocument/2006/relationships/oleObject" Target="../embeddings/oleObject11.bin"/><Relationship Id="rId6" Type="http://schemas.openxmlformats.org/officeDocument/2006/relationships/image" Target="../media/image4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73.png"/><Relationship Id="rId4" Type="http://schemas.openxmlformats.org/officeDocument/2006/relationships/image" Target="../media/image53.png"/><Relationship Id="rId5" Type="http://schemas.openxmlformats.org/officeDocument/2006/relationships/image" Target="../media/image5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9.xml"/><Relationship Id="rId3" Type="http://schemas.openxmlformats.org/officeDocument/2006/relationships/image" Target="../media/image4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 Id="rId3" Type="http://schemas.openxmlformats.org/officeDocument/2006/relationships/image" Target="../media/image5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64.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vmlDrawing" Target="../drawings/vmlDrawing10.vml"/><Relationship Id="rId4" Type="http://schemas.openxmlformats.org/officeDocument/2006/relationships/oleObject" Target="../embeddings/oleObject12.bin"/><Relationship Id="rId5" Type="http://schemas.openxmlformats.org/officeDocument/2006/relationships/oleObject" Target="../embeddings/oleObject12.bin"/><Relationship Id="rId6" Type="http://schemas.openxmlformats.org/officeDocument/2006/relationships/image" Target="../media/image59.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50.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vmlDrawing" Target="../drawings/vmlDrawing11.vml"/><Relationship Id="rId4" Type="http://schemas.openxmlformats.org/officeDocument/2006/relationships/oleObject" Target="../embeddings/oleObject13.bin"/><Relationship Id="rId5" Type="http://schemas.openxmlformats.org/officeDocument/2006/relationships/oleObject" Target="../embeddings/oleObject13.bin"/><Relationship Id="rId6" Type="http://schemas.openxmlformats.org/officeDocument/2006/relationships/image" Target="../media/image54.png"/><Relationship Id="rId7" Type="http://schemas.openxmlformats.org/officeDocument/2006/relationships/image" Target="../media/image4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56.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75.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hyperlink" Target="http://www.iutc3.unicaen.fr/%7Emoranb/cours/acsi/donnees1/ea7.htm"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hyperlink" Target="http://www.iutc3.unicaen.fr/%7Emoranb/cours/acsi/donnees1/ea2.htm" TargetMode="External"/><Relationship Id="rId4" Type="http://schemas.openxmlformats.org/officeDocument/2006/relationships/hyperlink" Target="http://www.iutc3.unicaen.fr/%7Emoranb/cours/acsi/static2/stat10.htm" TargetMode="External"/><Relationship Id="rId5" Type="http://schemas.openxmlformats.org/officeDocument/2006/relationships/hyperlink" Target="http://www.iutc3.unicaen.fr/%7Emoranb/cours/acsi/static2/stat12.htm"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57.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63.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6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 Id="rId3" Type="http://schemas.openxmlformats.org/officeDocument/2006/relationships/image" Target="../media/image6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 Id="rId3" Type="http://schemas.openxmlformats.org/officeDocument/2006/relationships/image" Target="../media/image70.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 Id="rId3" Type="http://schemas.openxmlformats.org/officeDocument/2006/relationships/image" Target="../media/image76.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 Id="rId3" Type="http://schemas.openxmlformats.org/officeDocument/2006/relationships/image" Target="../media/image7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 Id="rId3" Type="http://schemas.openxmlformats.org/officeDocument/2006/relationships/image" Target="../media/image74.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 Id="rId3" Type="http://schemas.openxmlformats.org/officeDocument/2006/relationships/image" Target="../media/image66.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 Id="rId3" Type="http://schemas.openxmlformats.org/officeDocument/2006/relationships/image" Target="../media/image68.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 Id="rId3" Type="http://schemas.openxmlformats.org/officeDocument/2006/relationships/image" Target="../media/image67.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3.xml"/><Relationship Id="rId3" Type="http://schemas.openxmlformats.org/officeDocument/2006/relationships/image" Target="../media/image69.png"/><Relationship Id="rId4" Type="http://schemas.openxmlformats.org/officeDocument/2006/relationships/image" Target="../media/image87.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 Id="rId3" Type="http://schemas.openxmlformats.org/officeDocument/2006/relationships/vmlDrawing" Target="../drawings/vmlDrawing12.vml"/><Relationship Id="rId4" Type="http://schemas.openxmlformats.org/officeDocument/2006/relationships/oleObject" Target="../embeddings/oleObject14.bin"/><Relationship Id="rId5" Type="http://schemas.openxmlformats.org/officeDocument/2006/relationships/oleObject" Target="../embeddings/oleObject14.bin"/><Relationship Id="rId6" Type="http://schemas.openxmlformats.org/officeDocument/2006/relationships/image" Target="../media/image65.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 Id="rId3" Type="http://schemas.openxmlformats.org/officeDocument/2006/relationships/image" Target="../media/image72.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 Id="rId3" Type="http://schemas.openxmlformats.org/officeDocument/2006/relationships/image" Target="../media/image80.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 Id="rId3" Type="http://schemas.openxmlformats.org/officeDocument/2006/relationships/image" Target="../media/image72.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 Id="rId3" Type="http://schemas.openxmlformats.org/officeDocument/2006/relationships/image" Target="../media/image88.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 Id="rId3" Type="http://schemas.openxmlformats.org/officeDocument/2006/relationships/image" Target="../media/image82.jp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 Id="rId3" Type="http://schemas.openxmlformats.org/officeDocument/2006/relationships/vmlDrawing" Target="../drawings/vmlDrawing13.vml"/><Relationship Id="rId4" Type="http://schemas.openxmlformats.org/officeDocument/2006/relationships/oleObject" Target="../embeddings/oleObject15.bin"/><Relationship Id="rId5" Type="http://schemas.openxmlformats.org/officeDocument/2006/relationships/oleObject" Target="../embeddings/oleObject15.bin"/><Relationship Id="rId6" Type="http://schemas.openxmlformats.org/officeDocument/2006/relationships/image" Target="../media/image94.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 Id="rId3" Type="http://schemas.openxmlformats.org/officeDocument/2006/relationships/image" Target="../media/image77.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 Id="rId3" Type="http://schemas.openxmlformats.org/officeDocument/2006/relationships/image" Target="../media/image86.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 Id="rId3" Type="http://schemas.openxmlformats.org/officeDocument/2006/relationships/image" Target="../media/image78.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 Id="rId3" Type="http://schemas.openxmlformats.org/officeDocument/2006/relationships/image" Target="../media/image79.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 Id="rId3" Type="http://schemas.openxmlformats.org/officeDocument/2006/relationships/image" Target="../media/image93.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 Id="rId3" Type="http://schemas.openxmlformats.org/officeDocument/2006/relationships/image" Target="../media/image91.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 Id="rId3" Type="http://schemas.openxmlformats.org/officeDocument/2006/relationships/image" Target="../media/image81.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 Id="rId3" Type="http://schemas.openxmlformats.org/officeDocument/2006/relationships/image" Target="../media/image96.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 Id="rId3" Type="http://schemas.openxmlformats.org/officeDocument/2006/relationships/image" Target="../media/image89.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 Id="rId3" Type="http://schemas.openxmlformats.org/officeDocument/2006/relationships/image" Target="../media/image85.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 Id="rId3" Type="http://schemas.openxmlformats.org/officeDocument/2006/relationships/image" Target="../media/image84.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 Id="rId3" Type="http://schemas.openxmlformats.org/officeDocument/2006/relationships/image" Target="../media/image90.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 Id="rId3" Type="http://schemas.openxmlformats.org/officeDocument/2006/relationships/image" Target="../media/image98.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 Id="rId3" Type="http://schemas.openxmlformats.org/officeDocument/2006/relationships/image" Target="../media/image105.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 Id="rId3" Type="http://schemas.openxmlformats.org/officeDocument/2006/relationships/image" Target="../media/image92.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 Id="rId3" Type="http://schemas.openxmlformats.org/officeDocument/2006/relationships/image" Target="../media/image95.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 Id="rId3" Type="http://schemas.openxmlformats.org/officeDocument/2006/relationships/image" Target="../media/image108.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 Id="rId3" Type="http://schemas.openxmlformats.org/officeDocument/2006/relationships/image" Target="../media/image100.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 Id="rId3" Type="http://schemas.openxmlformats.org/officeDocument/2006/relationships/image" Target="../media/image97.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 Id="rId3" Type="http://schemas.openxmlformats.org/officeDocument/2006/relationships/image" Target="../media/image99.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 Id="rId3" Type="http://schemas.openxmlformats.org/officeDocument/2006/relationships/image" Target="../media/image107.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 Id="rId3" Type="http://schemas.openxmlformats.org/officeDocument/2006/relationships/image" Target="../media/image109.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 Id="rId3" Type="http://schemas.openxmlformats.org/officeDocument/2006/relationships/image" Target="../media/image101.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 Id="rId3" Type="http://schemas.openxmlformats.org/officeDocument/2006/relationships/image" Target="../media/image104.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 Id="rId3" Type="http://schemas.openxmlformats.org/officeDocument/2006/relationships/image" Target="../media/image106.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 Id="rId3" Type="http://schemas.openxmlformats.org/officeDocument/2006/relationships/image" Target="../media/image102.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 Id="rId3" Type="http://schemas.openxmlformats.org/officeDocument/2006/relationships/image" Target="../media/image124.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 Id="rId3" Type="http://schemas.openxmlformats.org/officeDocument/2006/relationships/vmlDrawing" Target="../drawings/vmlDrawing14.vml"/><Relationship Id="rId4" Type="http://schemas.openxmlformats.org/officeDocument/2006/relationships/oleObject" Target="../embeddings/oleObject16.bin"/><Relationship Id="rId5" Type="http://schemas.openxmlformats.org/officeDocument/2006/relationships/oleObject" Target="../embeddings/oleObject16.bin"/><Relationship Id="rId6" Type="http://schemas.openxmlformats.org/officeDocument/2006/relationships/image" Target="../media/image103.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 Id="rId3" Type="http://schemas.openxmlformats.org/officeDocument/2006/relationships/vmlDrawing" Target="../drawings/vmlDrawing15.vml"/><Relationship Id="rId4" Type="http://schemas.openxmlformats.org/officeDocument/2006/relationships/oleObject" Target="../embeddings/oleObject17.bin"/><Relationship Id="rId5" Type="http://schemas.openxmlformats.org/officeDocument/2006/relationships/oleObject" Target="../embeddings/oleObject17.bin"/><Relationship Id="rId6" Type="http://schemas.openxmlformats.org/officeDocument/2006/relationships/image" Target="../media/image110.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2.xml"/><Relationship Id="rId3" Type="http://schemas.openxmlformats.org/officeDocument/2006/relationships/vmlDrawing" Target="../drawings/vmlDrawing16.vml"/><Relationship Id="rId4" Type="http://schemas.openxmlformats.org/officeDocument/2006/relationships/oleObject" Target="../embeddings/oleObject18.bin"/><Relationship Id="rId9" Type="http://schemas.openxmlformats.org/officeDocument/2006/relationships/image" Target="../media/image112.png"/><Relationship Id="rId5" Type="http://schemas.openxmlformats.org/officeDocument/2006/relationships/oleObject" Target="../embeddings/oleObject18.bin"/><Relationship Id="rId6" Type="http://schemas.openxmlformats.org/officeDocument/2006/relationships/image" Target="../media/image111.png"/><Relationship Id="rId7" Type="http://schemas.openxmlformats.org/officeDocument/2006/relationships/oleObject" Target="../embeddings/oleObject19.bin"/><Relationship Id="rId8" Type="http://schemas.openxmlformats.org/officeDocument/2006/relationships/oleObject" Target="../embeddings/oleObject19.bin"/></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 Id="rId3" Type="http://schemas.openxmlformats.org/officeDocument/2006/relationships/vmlDrawing" Target="../drawings/vmlDrawing17.vml"/><Relationship Id="rId4" Type="http://schemas.openxmlformats.org/officeDocument/2006/relationships/oleObject" Target="../embeddings/oleObject20.bin"/><Relationship Id="rId5" Type="http://schemas.openxmlformats.org/officeDocument/2006/relationships/oleObject" Target="../embeddings/oleObject20.bin"/><Relationship Id="rId6" Type="http://schemas.openxmlformats.org/officeDocument/2006/relationships/image" Target="../media/image114.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 Id="rId3" Type="http://schemas.openxmlformats.org/officeDocument/2006/relationships/vmlDrawing" Target="../drawings/vmlDrawing18.vml"/><Relationship Id="rId4" Type="http://schemas.openxmlformats.org/officeDocument/2006/relationships/oleObject" Target="../embeddings/oleObject21.bin"/><Relationship Id="rId5" Type="http://schemas.openxmlformats.org/officeDocument/2006/relationships/oleObject" Target="../embeddings/oleObject21.bin"/><Relationship Id="rId6" Type="http://schemas.openxmlformats.org/officeDocument/2006/relationships/image" Target="../media/image115.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8.xml"/><Relationship Id="rId3" Type="http://schemas.openxmlformats.org/officeDocument/2006/relationships/vmlDrawing" Target="../drawings/vmlDrawing19.vml"/><Relationship Id="rId4" Type="http://schemas.openxmlformats.org/officeDocument/2006/relationships/oleObject" Target="../embeddings/oleObject22.bin"/><Relationship Id="rId5" Type="http://schemas.openxmlformats.org/officeDocument/2006/relationships/oleObject" Target="../embeddings/oleObject22.bin"/><Relationship Id="rId6" Type="http://schemas.openxmlformats.org/officeDocument/2006/relationships/image" Target="../media/image125.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 Id="rId3" Type="http://schemas.openxmlformats.org/officeDocument/2006/relationships/vmlDrawing" Target="../drawings/vmlDrawing20.vml"/><Relationship Id="rId4" Type="http://schemas.openxmlformats.org/officeDocument/2006/relationships/oleObject" Target="../embeddings/oleObject23.bin"/><Relationship Id="rId5" Type="http://schemas.openxmlformats.org/officeDocument/2006/relationships/oleObject" Target="../embeddings/oleObject23.bin"/><Relationship Id="rId6" Type="http://schemas.openxmlformats.org/officeDocument/2006/relationships/image" Target="../media/image118.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 Id="rId3" Type="http://schemas.openxmlformats.org/officeDocument/2006/relationships/image" Target="../media/image119.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 Id="rId3" Type="http://schemas.openxmlformats.org/officeDocument/2006/relationships/image" Target="../media/image113.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 Id="rId3" Type="http://schemas.openxmlformats.org/officeDocument/2006/relationships/image" Target="../media/image116.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 Id="rId3" Type="http://schemas.openxmlformats.org/officeDocument/2006/relationships/image" Target="../media/image120.jp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 Id="rId3" Type="http://schemas.openxmlformats.org/officeDocument/2006/relationships/image" Target="../media/image120.jp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 Id="rId3" Type="http://schemas.openxmlformats.org/officeDocument/2006/relationships/image" Target="../media/image117.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 Id="rId3" Type="http://schemas.openxmlformats.org/officeDocument/2006/relationships/image" Target="../media/image122.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3.xml"/><Relationship Id="rId3" Type="http://schemas.openxmlformats.org/officeDocument/2006/relationships/image" Target="../media/image123.jpg"/><Relationship Id="rId4" Type="http://schemas.openxmlformats.org/officeDocument/2006/relationships/image" Target="../media/image121.jp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Généralités sur UML </a:t>
            </a:r>
            <a:endParaRPr/>
          </a:p>
        </p:txBody>
      </p:sp>
      <p:sp>
        <p:nvSpPr>
          <p:cNvPr id="157" name="Google Shape;157;p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Par </a:t>
            </a:r>
            <a:endParaRPr/>
          </a:p>
          <a:p>
            <a:pPr indent="0" lvl="0" marL="0" rtl="0" algn="ctr">
              <a:lnSpc>
                <a:spcPct val="100000"/>
              </a:lnSpc>
              <a:spcBef>
                <a:spcPts val="64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A.Marzak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Présentation d’UML</a:t>
            </a:r>
            <a:endParaRPr/>
          </a:p>
        </p:txBody>
      </p:sp>
      <p:sp>
        <p:nvSpPr>
          <p:cNvPr id="163" name="Google Shape;163;p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2000"/>
              <a:buFont typeface="Arial"/>
              <a:buChar char="•"/>
            </a:pPr>
            <a:r>
              <a:rPr b="1" i="0" lang="en-US" sz="2000" u="none">
                <a:solidFill>
                  <a:schemeClr val="dk1"/>
                </a:solidFill>
                <a:latin typeface="Arial"/>
                <a:ea typeface="Arial"/>
                <a:cs typeface="Arial"/>
                <a:sym typeface="Arial"/>
              </a:rPr>
              <a:t>UML</a:t>
            </a:r>
            <a:r>
              <a:rPr b="0" i="0" lang="en-US" sz="2000" u="none">
                <a:solidFill>
                  <a:schemeClr val="dk1"/>
                </a:solidFill>
                <a:latin typeface="Arial"/>
                <a:ea typeface="Arial"/>
                <a:cs typeface="Arial"/>
                <a:sym typeface="Arial"/>
              </a:rPr>
              <a:t> est l'</a:t>
            </a:r>
            <a:r>
              <a:rPr b="1" i="1" lang="en-US" sz="2000" u="none">
                <a:solidFill>
                  <a:schemeClr val="dk1"/>
                </a:solidFill>
                <a:latin typeface="Arial"/>
                <a:ea typeface="Arial"/>
                <a:cs typeface="Arial"/>
                <a:sym typeface="Arial"/>
              </a:rPr>
              <a:t>Unified Modeling Language</a:t>
            </a:r>
            <a:r>
              <a:rPr b="0" i="0" lang="en-US" sz="2000" u="none">
                <a:solidFill>
                  <a:schemeClr val="dk1"/>
                </a:solidFill>
                <a:latin typeface="Arial"/>
                <a:ea typeface="Arial"/>
                <a:cs typeface="Arial"/>
                <a:sym typeface="Arial"/>
              </a:rPr>
              <a:t> standardisé par l'</a:t>
            </a:r>
            <a:r>
              <a:rPr b="1" i="0" lang="en-US" sz="2000" u="sng">
                <a:solidFill>
                  <a:schemeClr val="dk1"/>
                </a:solidFill>
                <a:hlinkClick r:id="rId3">
                  <a:extLst>
                    <a:ext uri="{A12FA001-AC4F-418D-AE19-62706E023703}">
                      <ahyp:hlinkClr val="tx"/>
                    </a:ext>
                  </a:extLst>
                </a:hlinkClick>
              </a:rPr>
              <a:t>OMG</a:t>
            </a:r>
            <a:r>
              <a:rPr b="0" i="0" lang="en-US" sz="2000" u="none">
                <a:solidFill>
                  <a:schemeClr val="dk1"/>
                </a:solidFill>
                <a:latin typeface="Arial"/>
                <a:ea typeface="Arial"/>
                <a:cs typeface="Arial"/>
                <a:sym typeface="Arial"/>
              </a:rPr>
              <a:t> (</a:t>
            </a:r>
            <a:r>
              <a:rPr b="0" i="1" lang="en-US" sz="2000" u="none">
                <a:solidFill>
                  <a:schemeClr val="dk1"/>
                </a:solidFill>
                <a:latin typeface="Arial"/>
                <a:ea typeface="Arial"/>
                <a:cs typeface="Arial"/>
                <a:sym typeface="Arial"/>
              </a:rPr>
              <a:t>Object Management Group</a:t>
            </a:r>
            <a:r>
              <a:rPr b="0" i="0" lang="en-US" sz="2000" u="none">
                <a:solidFill>
                  <a:schemeClr val="dk1"/>
                </a:solidFill>
                <a:latin typeface="Arial"/>
                <a:ea typeface="Arial"/>
                <a:cs typeface="Arial"/>
                <a:sym typeface="Arial"/>
              </a:rPr>
              <a:t> : http://www.omg.org). Ce n'est pas une méthode, il ne donne pas de solution pour la mise en oeuvre d'un projet. C'est avant tout un </a:t>
            </a:r>
            <a:r>
              <a:rPr b="1" i="0" lang="en-US" sz="2000" u="none">
                <a:solidFill>
                  <a:schemeClr val="dk1"/>
                </a:solidFill>
                <a:latin typeface="Arial"/>
                <a:ea typeface="Arial"/>
                <a:cs typeface="Arial"/>
                <a:sym typeface="Arial"/>
              </a:rPr>
              <a:t>formalisme graphique</a:t>
            </a:r>
            <a:r>
              <a:rPr b="0" i="0" lang="en-US" sz="2000" u="none">
                <a:solidFill>
                  <a:schemeClr val="dk1"/>
                </a:solidFill>
                <a:latin typeface="Arial"/>
                <a:ea typeface="Arial"/>
                <a:cs typeface="Arial"/>
                <a:sym typeface="Arial"/>
              </a:rPr>
              <a:t> issu de notations employées dans différentes méthodes objets.</a:t>
            </a:r>
            <a:endParaRPr/>
          </a:p>
          <a:p>
            <a:pPr indent="-342900" lvl="0" marL="342900" rtl="0" algn="l">
              <a:lnSpc>
                <a:spcPct val="80000"/>
              </a:lnSpc>
              <a:spcBef>
                <a:spcPts val="400"/>
              </a:spcBef>
              <a:spcAft>
                <a:spcPts val="0"/>
              </a:spcAft>
              <a:buClr>
                <a:schemeClr val="dk1"/>
              </a:buClr>
              <a:buSzPts val="2000"/>
              <a:buFont typeface="Arial"/>
              <a:buChar char="•"/>
            </a:pPr>
            <a:r>
              <a:rPr b="1" i="0" lang="en-US" sz="2000" u="none">
                <a:solidFill>
                  <a:schemeClr val="dk1"/>
                </a:solidFill>
                <a:latin typeface="Arial"/>
                <a:ea typeface="Arial"/>
                <a:cs typeface="Arial"/>
                <a:sym typeface="Arial"/>
              </a:rPr>
              <a:t>UML</a:t>
            </a:r>
            <a:r>
              <a:rPr b="0" i="0" lang="en-US" sz="2000" u="none">
                <a:solidFill>
                  <a:schemeClr val="dk1"/>
                </a:solidFill>
                <a:latin typeface="Arial"/>
                <a:ea typeface="Arial"/>
                <a:cs typeface="Arial"/>
                <a:sym typeface="Arial"/>
              </a:rPr>
              <a:t> sert à :</a:t>
            </a:r>
            <a:endParaRPr/>
          </a:p>
          <a:p>
            <a:pPr indent="-342900" lvl="0" marL="342900" rtl="0" algn="l">
              <a:lnSpc>
                <a:spcPct val="80000"/>
              </a:lnSpc>
              <a:spcBef>
                <a:spcPts val="400"/>
              </a:spcBef>
              <a:spcAft>
                <a:spcPts val="0"/>
              </a:spcAft>
              <a:buClr>
                <a:schemeClr val="dk1"/>
              </a:buClr>
              <a:buSzPts val="2000"/>
              <a:buFont typeface="Arial"/>
              <a:buChar char="•"/>
            </a:pPr>
            <a:r>
              <a:rPr b="1" i="0" lang="en-US" sz="2000" u="none">
                <a:solidFill>
                  <a:schemeClr val="dk1"/>
                </a:solidFill>
                <a:latin typeface="Arial"/>
                <a:ea typeface="Arial"/>
                <a:cs typeface="Arial"/>
                <a:sym typeface="Arial"/>
              </a:rPr>
              <a:t>Décomposer</a:t>
            </a:r>
            <a:r>
              <a:rPr b="0" i="0" lang="en-US" sz="2000" u="none">
                <a:solidFill>
                  <a:schemeClr val="dk1"/>
                </a:solidFill>
                <a:latin typeface="Arial"/>
                <a:ea typeface="Arial"/>
                <a:cs typeface="Arial"/>
                <a:sym typeface="Arial"/>
              </a:rPr>
              <a:t> le processus de développement, </a:t>
            </a:r>
            <a:endParaRPr/>
          </a:p>
          <a:p>
            <a:pPr indent="-342900" lvl="0" marL="342900" rtl="0" algn="l">
              <a:lnSpc>
                <a:spcPct val="80000"/>
              </a:lnSpc>
              <a:spcBef>
                <a:spcPts val="400"/>
              </a:spcBef>
              <a:spcAft>
                <a:spcPts val="0"/>
              </a:spcAft>
              <a:buClr>
                <a:schemeClr val="dk1"/>
              </a:buClr>
              <a:buSzPts val="2000"/>
              <a:buFont typeface="Arial"/>
              <a:buChar char="•"/>
            </a:pPr>
            <a:r>
              <a:rPr b="1" i="0" lang="en-US" sz="2000" u="none">
                <a:solidFill>
                  <a:schemeClr val="dk1"/>
                </a:solidFill>
                <a:latin typeface="Arial"/>
                <a:ea typeface="Arial"/>
                <a:cs typeface="Arial"/>
                <a:sym typeface="Arial"/>
              </a:rPr>
              <a:t>Mettre en relation</a:t>
            </a:r>
            <a:r>
              <a:rPr b="0" i="0" lang="en-US" sz="2000" u="none">
                <a:solidFill>
                  <a:schemeClr val="dk1"/>
                </a:solidFill>
                <a:latin typeface="Arial"/>
                <a:ea typeface="Arial"/>
                <a:cs typeface="Arial"/>
                <a:sym typeface="Arial"/>
              </a:rPr>
              <a:t> les experts métiers et les analystes, </a:t>
            </a:r>
            <a:endParaRPr/>
          </a:p>
          <a:p>
            <a:pPr indent="-342900" lvl="0" marL="342900" rtl="0" algn="l">
              <a:lnSpc>
                <a:spcPct val="80000"/>
              </a:lnSpc>
              <a:spcBef>
                <a:spcPts val="400"/>
              </a:spcBef>
              <a:spcAft>
                <a:spcPts val="0"/>
              </a:spcAft>
              <a:buClr>
                <a:schemeClr val="dk1"/>
              </a:buClr>
              <a:buSzPts val="2000"/>
              <a:buFont typeface="Arial"/>
              <a:buChar char="•"/>
            </a:pPr>
            <a:r>
              <a:rPr b="1" i="0" lang="en-US" sz="2000" u="none">
                <a:solidFill>
                  <a:schemeClr val="dk1"/>
                </a:solidFill>
                <a:latin typeface="Arial"/>
                <a:ea typeface="Arial"/>
                <a:cs typeface="Arial"/>
                <a:sym typeface="Arial"/>
              </a:rPr>
              <a:t>Coordonner</a:t>
            </a:r>
            <a:r>
              <a:rPr b="0" i="0" lang="en-US" sz="2000" u="none">
                <a:solidFill>
                  <a:schemeClr val="dk1"/>
                </a:solidFill>
                <a:latin typeface="Arial"/>
                <a:ea typeface="Arial"/>
                <a:cs typeface="Arial"/>
                <a:sym typeface="Arial"/>
              </a:rPr>
              <a:t> les équipes d'analyse et de conception, </a:t>
            </a:r>
            <a:endParaRPr/>
          </a:p>
          <a:p>
            <a:pPr indent="-342900" lvl="0" marL="342900" rtl="0" algn="l">
              <a:lnSpc>
                <a:spcPct val="80000"/>
              </a:lnSpc>
              <a:spcBef>
                <a:spcPts val="400"/>
              </a:spcBef>
              <a:spcAft>
                <a:spcPts val="0"/>
              </a:spcAft>
              <a:buClr>
                <a:schemeClr val="dk1"/>
              </a:buClr>
              <a:buSzPts val="2000"/>
              <a:buFont typeface="Arial"/>
              <a:buChar char="•"/>
            </a:pPr>
            <a:r>
              <a:rPr b="1" i="0" lang="en-US" sz="2000" u="none">
                <a:solidFill>
                  <a:schemeClr val="dk1"/>
                </a:solidFill>
                <a:latin typeface="Arial"/>
                <a:ea typeface="Arial"/>
                <a:cs typeface="Arial"/>
                <a:sym typeface="Arial"/>
              </a:rPr>
              <a:t>Séparer</a:t>
            </a:r>
            <a:r>
              <a:rPr b="0" i="0" lang="en-US" sz="2000" u="none">
                <a:solidFill>
                  <a:schemeClr val="dk1"/>
                </a:solidFill>
                <a:latin typeface="Arial"/>
                <a:ea typeface="Arial"/>
                <a:cs typeface="Arial"/>
                <a:sym typeface="Arial"/>
              </a:rPr>
              <a:t> l'analyse de la réalisation, </a:t>
            </a:r>
            <a:endParaRPr/>
          </a:p>
          <a:p>
            <a:pPr indent="-342900" lvl="0" marL="342900" rtl="0" algn="l">
              <a:lnSpc>
                <a:spcPct val="8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Prendre en compte </a:t>
            </a:r>
            <a:r>
              <a:rPr b="1" i="0" lang="en-US" sz="2000" u="none">
                <a:solidFill>
                  <a:schemeClr val="dk1"/>
                </a:solidFill>
                <a:latin typeface="Arial"/>
                <a:ea typeface="Arial"/>
                <a:cs typeface="Arial"/>
                <a:sym typeface="Arial"/>
              </a:rPr>
              <a:t>l'évolution</a:t>
            </a:r>
            <a:r>
              <a:rPr b="0" i="0" lang="en-US" sz="2000" u="none">
                <a:solidFill>
                  <a:schemeClr val="dk1"/>
                </a:solidFill>
                <a:latin typeface="Arial"/>
                <a:ea typeface="Arial"/>
                <a:cs typeface="Arial"/>
                <a:sym typeface="Arial"/>
              </a:rPr>
              <a:t> de l'analyse et du développement, </a:t>
            </a:r>
            <a:endParaRPr/>
          </a:p>
          <a:p>
            <a:pPr indent="-342900" lvl="0" marL="342900" rtl="0" algn="l">
              <a:lnSpc>
                <a:spcPct val="80000"/>
              </a:lnSpc>
              <a:spcBef>
                <a:spcPts val="400"/>
              </a:spcBef>
              <a:spcAft>
                <a:spcPts val="0"/>
              </a:spcAft>
              <a:buClr>
                <a:schemeClr val="dk1"/>
              </a:buClr>
              <a:buSzPts val="2000"/>
              <a:buFont typeface="Arial"/>
              <a:buChar char="•"/>
            </a:pPr>
            <a:r>
              <a:rPr b="1" i="0" lang="en-US" sz="2000" u="none">
                <a:solidFill>
                  <a:schemeClr val="dk1"/>
                </a:solidFill>
                <a:latin typeface="Arial"/>
                <a:ea typeface="Arial"/>
                <a:cs typeface="Arial"/>
                <a:sym typeface="Arial"/>
              </a:rPr>
              <a:t>Migrer</a:t>
            </a:r>
            <a:r>
              <a:rPr b="0" i="0" lang="en-US" sz="2000" u="none">
                <a:solidFill>
                  <a:schemeClr val="dk1"/>
                </a:solidFill>
                <a:latin typeface="Arial"/>
                <a:ea typeface="Arial"/>
                <a:cs typeface="Arial"/>
                <a:sym typeface="Arial"/>
              </a:rPr>
              <a:t> facilement vers une architecture objet d'un point de vue statique et dynamique. </a:t>
            </a:r>
            <a:endParaRPr/>
          </a:p>
          <a:p>
            <a:pPr indent="-215900" lvl="0" marL="342900" rtl="0" algn="l">
              <a:spcBef>
                <a:spcPts val="400"/>
              </a:spcBef>
              <a:spcAft>
                <a:spcPts val="0"/>
              </a:spcAft>
              <a:buClr>
                <a:schemeClr val="dk1"/>
              </a:buClr>
              <a:buSzPts val="2000"/>
              <a:buFont typeface="Arial"/>
              <a:buNone/>
            </a:pPr>
            <a:r>
              <a:t/>
            </a:r>
            <a:endParaRPr b="0" i="0" sz="2000" u="non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Historique : Évolution de UML</a:t>
            </a:r>
            <a:endParaRPr/>
          </a:p>
        </p:txBody>
      </p:sp>
      <p:sp>
        <p:nvSpPr>
          <p:cNvPr id="169" name="Google Shape;169;p3"/>
          <p:cNvSpPr txBox="1"/>
          <p:nvPr>
            <p:ph idx="1" type="body"/>
          </p:nvPr>
        </p:nvSpPr>
        <p:spPr>
          <a:xfrm>
            <a:off x="4652962" y="1600200"/>
            <a:ext cx="4033837"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0.8 -&gt;0.9</a:t>
            </a:r>
            <a:endParaRPr/>
          </a:p>
          <a:p>
            <a:pPr indent="-342900" lvl="0" marL="342900" rtl="0" algn="l">
              <a:lnSpc>
                <a:spcPct val="100000"/>
              </a:lnSpc>
              <a:spcBef>
                <a:spcPts val="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0.9-&gt;0.91-&gt;1.0</a:t>
            </a:r>
            <a:endParaRPr/>
          </a:p>
          <a:p>
            <a:pPr indent="-342900" lvl="0" marL="342900" rtl="0" algn="l">
              <a:lnSpc>
                <a:spcPct val="100000"/>
              </a:lnSpc>
              <a:spcBef>
                <a:spcPts val="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1.0-&gt;1.1-&gt;1.2-&gt;1.3-&gt;1.4</a:t>
            </a:r>
            <a:endParaRPr/>
          </a:p>
          <a:p>
            <a:pPr indent="-139700" lvl="0" marL="342900" rtl="0" algn="l">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p:txBody>
      </p:sp>
      <p:graphicFrame>
        <p:nvGraphicFramePr>
          <p:cNvPr id="170" name="Google Shape;170;p3"/>
          <p:cNvGraphicFramePr/>
          <p:nvPr/>
        </p:nvGraphicFramePr>
        <p:xfrm>
          <a:off x="457200" y="2292350"/>
          <a:ext cx="4033837" cy="3141662"/>
        </p:xfrm>
        <a:graphic>
          <a:graphicData uri="http://schemas.openxmlformats.org/presentationml/2006/ole">
            <mc:AlternateContent>
              <mc:Choice Requires="v">
                <p:oleObj r:id="rId4" imgH="3141662" imgW="4033837" progId="PowerPoint.Slide.8" spid="_x0000_s1">
                  <p:embed/>
                </p:oleObj>
              </mc:Choice>
              <mc:Fallback>
                <p:oleObj r:id="rId5" imgH="3141662" imgW="4033837" progId="PowerPoint.Slide.8">
                  <p:embed/>
                  <p:pic>
                    <p:nvPicPr>
                      <p:cNvPr id="170" name="Google Shape;170;p3"/>
                      <p:cNvPicPr preferRelativeResize="0"/>
                      <p:nvPr>
                        <p:ph idx="2" type="clipArt"/>
                      </p:nvPr>
                    </p:nvPicPr>
                    <p:blipFill rotWithShape="1">
                      <a:blip r:embed="rId6">
                        <a:alphaModFix/>
                      </a:blip>
                      <a:srcRect b="0" l="0" r="0" t="0"/>
                      <a:stretch/>
                    </p:blipFill>
                    <p:spPr>
                      <a:xfrm>
                        <a:off x="457200" y="2292350"/>
                        <a:ext cx="4033837" cy="3141662"/>
                      </a:xfrm>
                      <a:prstGeom prst="rect">
                        <a:avLst/>
                      </a:prstGeom>
                      <a:noFill/>
                      <a:ln>
                        <a:noFill/>
                      </a:ln>
                    </p:spPr>
                  </p:pic>
                </p:oleObj>
              </mc:Fallback>
            </mc:AlternateContent>
          </a:graphicData>
        </a:graphic>
      </p:graphicFrame>
      <p:sp>
        <p:nvSpPr>
          <p:cNvPr id="171" name="Google Shape;171;p3"/>
          <p:cNvSpPr txBox="1"/>
          <p:nvPr/>
        </p:nvSpPr>
        <p:spPr>
          <a:xfrm>
            <a:off x="6781800" y="3810000"/>
            <a:ext cx="6873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33"/>
              </a:buClr>
              <a:buSzPts val="2400"/>
              <a:buFont typeface="Comic Sans MS"/>
              <a:buNone/>
            </a:pPr>
            <a:r>
              <a:rPr b="1" i="0" lang="en-US" sz="2400" u="none" cap="none" strike="noStrike">
                <a:solidFill>
                  <a:srgbClr val="FF0033"/>
                </a:solidFill>
                <a:latin typeface="Comic Sans MS"/>
                <a:ea typeface="Comic Sans MS"/>
                <a:cs typeface="Comic Sans MS"/>
                <a:sym typeface="Comic Sans MS"/>
              </a:rPr>
              <a:t>1.5</a:t>
            </a:r>
            <a:endParaRPr/>
          </a:p>
        </p:txBody>
      </p:sp>
      <p:sp>
        <p:nvSpPr>
          <p:cNvPr id="172" name="Google Shape;172;p3"/>
          <p:cNvSpPr txBox="1"/>
          <p:nvPr/>
        </p:nvSpPr>
        <p:spPr>
          <a:xfrm>
            <a:off x="7010400" y="4648200"/>
            <a:ext cx="6873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33"/>
              </a:buClr>
              <a:buSzPts val="2400"/>
              <a:buFont typeface="Comic Sans MS"/>
              <a:buNone/>
            </a:pPr>
            <a:r>
              <a:rPr b="1" i="0" lang="en-US" sz="2400" u="none" cap="none" strike="noStrike">
                <a:solidFill>
                  <a:srgbClr val="FF0033"/>
                </a:solidFill>
                <a:latin typeface="Comic Sans MS"/>
                <a:ea typeface="Comic Sans MS"/>
                <a:cs typeface="Comic Sans MS"/>
                <a:sym typeface="Comic Sans MS"/>
              </a:rPr>
              <a:t>2.0</a:t>
            </a:r>
            <a:endParaRPr/>
          </a:p>
        </p:txBody>
      </p:sp>
      <p:sp>
        <p:nvSpPr>
          <p:cNvPr id="173" name="Google Shape;173;p3"/>
          <p:cNvSpPr txBox="1"/>
          <p:nvPr/>
        </p:nvSpPr>
        <p:spPr>
          <a:xfrm>
            <a:off x="7389812" y="5943600"/>
            <a:ext cx="6635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33"/>
              </a:buClr>
              <a:buSzPts val="2400"/>
              <a:buFont typeface="Comic Sans MS"/>
              <a:buNone/>
            </a:pPr>
            <a:r>
              <a:rPr b="1" i="0" lang="en-US" sz="2400" u="none" cap="none" strike="noStrike">
                <a:solidFill>
                  <a:srgbClr val="FF0033"/>
                </a:solidFill>
                <a:latin typeface="Comic Sans MS"/>
                <a:ea typeface="Comic Sans MS"/>
                <a:cs typeface="Comic Sans MS"/>
                <a:sym typeface="Comic Sans MS"/>
              </a:rPr>
              <a:t>x.y</a:t>
            </a:r>
            <a:endParaRPr/>
          </a:p>
        </p:txBody>
      </p:sp>
      <p:cxnSp>
        <p:nvCxnSpPr>
          <p:cNvPr id="174" name="Google Shape;174;p3"/>
          <p:cNvCxnSpPr/>
          <p:nvPr/>
        </p:nvCxnSpPr>
        <p:spPr>
          <a:xfrm flipH="1" rot="10800000">
            <a:off x="5181600" y="4038600"/>
            <a:ext cx="1676400" cy="228600"/>
          </a:xfrm>
          <a:prstGeom prst="straightConnector1">
            <a:avLst/>
          </a:prstGeom>
          <a:noFill/>
          <a:ln cap="flat" cmpd="sng" w="12700">
            <a:solidFill>
              <a:srgbClr val="FF0033"/>
            </a:solidFill>
            <a:prstDash val="solid"/>
            <a:miter lim="800000"/>
            <a:headEnd len="med" w="med" type="none"/>
            <a:tailEnd len="lg" w="lg" type="stealth"/>
          </a:ln>
        </p:spPr>
      </p:cxnSp>
      <p:cxnSp>
        <p:nvCxnSpPr>
          <p:cNvPr id="175" name="Google Shape;175;p3"/>
          <p:cNvCxnSpPr/>
          <p:nvPr/>
        </p:nvCxnSpPr>
        <p:spPr>
          <a:xfrm>
            <a:off x="5181600" y="4267200"/>
            <a:ext cx="1905000" cy="609600"/>
          </a:xfrm>
          <a:prstGeom prst="straightConnector1">
            <a:avLst/>
          </a:prstGeom>
          <a:noFill/>
          <a:ln cap="flat" cmpd="sng" w="12700">
            <a:solidFill>
              <a:srgbClr val="FF0033"/>
            </a:solidFill>
            <a:prstDash val="solid"/>
            <a:miter lim="800000"/>
            <a:headEnd len="med" w="med" type="none"/>
            <a:tailEnd len="lg" w="lg" type="stealth"/>
          </a:ln>
        </p:spPr>
      </p:cxnSp>
      <p:cxnSp>
        <p:nvCxnSpPr>
          <p:cNvPr id="176" name="Google Shape;176;p3"/>
          <p:cNvCxnSpPr/>
          <p:nvPr/>
        </p:nvCxnSpPr>
        <p:spPr>
          <a:xfrm>
            <a:off x="5181600" y="4267200"/>
            <a:ext cx="2286000" cy="1905000"/>
          </a:xfrm>
          <a:prstGeom prst="straightConnector1">
            <a:avLst/>
          </a:prstGeom>
          <a:noFill/>
          <a:ln cap="flat" cmpd="sng" w="12700">
            <a:solidFill>
              <a:srgbClr val="FF0033"/>
            </a:solidFill>
            <a:prstDash val="solid"/>
            <a:miter lim="800000"/>
            <a:headEnd len="med" w="med" type="none"/>
            <a:tailEnd len="lg" w="lg" type="stealth"/>
          </a:ln>
        </p:spPr>
      </p:cxnSp>
      <p:sp>
        <p:nvSpPr>
          <p:cNvPr id="177" name="Google Shape;177;p3"/>
          <p:cNvSpPr txBox="1"/>
          <p:nvPr/>
        </p:nvSpPr>
        <p:spPr>
          <a:xfrm>
            <a:off x="1219200" y="6019800"/>
            <a:ext cx="4503737"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660033"/>
              </a:buClr>
              <a:buSzPts val="1800"/>
              <a:buFont typeface="Comic Sans MS"/>
              <a:buNone/>
            </a:pPr>
            <a:r>
              <a:rPr b="0" i="0" lang="en-US" sz="1800" u="none" cap="none" strike="noStrike">
                <a:solidFill>
                  <a:srgbClr val="660033"/>
                </a:solidFill>
                <a:latin typeface="Comic Sans MS"/>
                <a:ea typeface="Comic Sans MS"/>
                <a:cs typeface="Comic Sans MS"/>
                <a:sym typeface="Comic Sans MS"/>
              </a:rPr>
              <a:t>Comprendre la logique d’évolution d’UML.</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De Rational à l'OMG</a:t>
            </a:r>
            <a:endParaRPr/>
          </a:p>
        </p:txBody>
      </p:sp>
      <p:sp>
        <p:nvSpPr>
          <p:cNvPr id="183" name="Google Shape;183;p4"/>
          <p:cNvSpPr txBox="1"/>
          <p:nvPr/>
        </p:nvSpPr>
        <p:spPr>
          <a:xfrm>
            <a:off x="6253162" y="2032000"/>
            <a:ext cx="1747837" cy="2667000"/>
          </a:xfrm>
          <a:prstGeom prst="rect">
            <a:avLst/>
          </a:prstGeom>
          <a:solidFill>
            <a:srgbClr val="FFC5CF"/>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4" name="Google Shape;184;p4"/>
          <p:cNvSpPr txBox="1"/>
          <p:nvPr/>
        </p:nvSpPr>
        <p:spPr>
          <a:xfrm>
            <a:off x="6402387" y="4318000"/>
            <a:ext cx="1751012" cy="366712"/>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accent2"/>
              </a:buClr>
              <a:buSzPts val="1800"/>
              <a:buFont typeface="Comic Sans MS"/>
              <a:buNone/>
            </a:pPr>
            <a:r>
              <a:rPr b="1" i="0" lang="en-US" sz="1800" u="none">
                <a:solidFill>
                  <a:schemeClr val="accent2"/>
                </a:solidFill>
                <a:latin typeface="Comic Sans MS"/>
                <a:ea typeface="Comic Sans MS"/>
                <a:cs typeface="Comic Sans MS"/>
                <a:sym typeface="Comic Sans MS"/>
              </a:rPr>
              <a:t>Fragmentation</a:t>
            </a:r>
            <a:endParaRPr/>
          </a:p>
        </p:txBody>
      </p:sp>
      <p:sp>
        <p:nvSpPr>
          <p:cNvPr id="185" name="Google Shape;185;p4"/>
          <p:cNvSpPr txBox="1"/>
          <p:nvPr/>
        </p:nvSpPr>
        <p:spPr>
          <a:xfrm>
            <a:off x="6523037" y="3556000"/>
            <a:ext cx="1370012" cy="366712"/>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accent2"/>
              </a:buClr>
              <a:buSzPts val="1800"/>
              <a:buFont typeface="Comic Sans MS"/>
              <a:buNone/>
            </a:pPr>
            <a:r>
              <a:rPr b="1" i="0" lang="en-US" sz="1800" u="none">
                <a:solidFill>
                  <a:schemeClr val="accent2"/>
                </a:solidFill>
                <a:latin typeface="Comic Sans MS"/>
                <a:ea typeface="Comic Sans MS"/>
                <a:cs typeface="Comic Sans MS"/>
                <a:sym typeface="Comic Sans MS"/>
              </a:rPr>
              <a:t>Unification</a:t>
            </a:r>
            <a:endParaRPr/>
          </a:p>
        </p:txBody>
      </p:sp>
      <p:sp>
        <p:nvSpPr>
          <p:cNvPr id="186" name="Google Shape;186;p4"/>
          <p:cNvSpPr txBox="1"/>
          <p:nvPr/>
        </p:nvSpPr>
        <p:spPr>
          <a:xfrm>
            <a:off x="6334125" y="2717800"/>
            <a:ext cx="1916112" cy="366712"/>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accent2"/>
              </a:buClr>
              <a:buSzPts val="1800"/>
              <a:buFont typeface="Comic Sans MS"/>
              <a:buNone/>
            </a:pPr>
            <a:r>
              <a:rPr b="1" i="0" lang="en-US" sz="1800" u="none">
                <a:solidFill>
                  <a:schemeClr val="accent2"/>
                </a:solidFill>
                <a:latin typeface="Comic Sans MS"/>
                <a:ea typeface="Comic Sans MS"/>
                <a:cs typeface="Comic Sans MS"/>
                <a:sym typeface="Comic Sans MS"/>
              </a:rPr>
              <a:t>Standardisation</a:t>
            </a:r>
            <a:endParaRPr/>
          </a:p>
        </p:txBody>
      </p:sp>
      <p:sp>
        <p:nvSpPr>
          <p:cNvPr id="187" name="Google Shape;187;p4"/>
          <p:cNvSpPr txBox="1"/>
          <p:nvPr/>
        </p:nvSpPr>
        <p:spPr>
          <a:xfrm>
            <a:off x="6291262" y="2076450"/>
            <a:ext cx="1976437" cy="366712"/>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accent2"/>
              </a:buClr>
              <a:buSzPts val="1800"/>
              <a:buFont typeface="Comic Sans MS"/>
              <a:buNone/>
            </a:pPr>
            <a:r>
              <a:rPr b="1" i="0" lang="en-US" sz="1800" u="none">
                <a:solidFill>
                  <a:schemeClr val="accent2"/>
                </a:solidFill>
                <a:latin typeface="Comic Sans MS"/>
                <a:ea typeface="Comic Sans MS"/>
                <a:cs typeface="Comic Sans MS"/>
                <a:sym typeface="Comic Sans MS"/>
              </a:rPr>
              <a:t>Industrialisation</a:t>
            </a:r>
            <a:endParaRPr/>
          </a:p>
        </p:txBody>
      </p:sp>
      <p:sp>
        <p:nvSpPr>
          <p:cNvPr id="188" name="Google Shape;188;p4"/>
          <p:cNvSpPr/>
          <p:nvPr/>
        </p:nvSpPr>
        <p:spPr>
          <a:xfrm>
            <a:off x="6875462" y="2413000"/>
            <a:ext cx="450850" cy="309562"/>
          </a:xfrm>
          <a:prstGeom prst="upArrow">
            <a:avLst>
              <a:gd fmla="val 10799" name="adj1"/>
              <a:gd fmla="val 50000" name="adj2"/>
            </a:avLst>
          </a:prstGeom>
          <a:solidFill>
            <a:srgbClr val="99FF99"/>
          </a:solidFill>
          <a:ln cap="flat" cmpd="sng" w="12700">
            <a:solidFill>
              <a:srgbClr val="FF00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9" name="Google Shape;189;p4"/>
          <p:cNvSpPr/>
          <p:nvPr/>
        </p:nvSpPr>
        <p:spPr>
          <a:xfrm>
            <a:off x="6875462" y="3175000"/>
            <a:ext cx="450850" cy="309562"/>
          </a:xfrm>
          <a:prstGeom prst="upArrow">
            <a:avLst>
              <a:gd fmla="val 10799" name="adj1"/>
              <a:gd fmla="val 50000" name="adj2"/>
            </a:avLst>
          </a:prstGeom>
          <a:solidFill>
            <a:srgbClr val="99FF99"/>
          </a:solidFill>
          <a:ln cap="flat" cmpd="sng" w="12700">
            <a:solidFill>
              <a:srgbClr val="FF00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0" name="Google Shape;190;p4"/>
          <p:cNvSpPr/>
          <p:nvPr/>
        </p:nvSpPr>
        <p:spPr>
          <a:xfrm>
            <a:off x="6875462" y="3937000"/>
            <a:ext cx="450850" cy="309562"/>
          </a:xfrm>
          <a:prstGeom prst="upArrow">
            <a:avLst>
              <a:gd fmla="val 10799" name="adj1"/>
              <a:gd fmla="val 50000" name="adj2"/>
            </a:avLst>
          </a:prstGeom>
          <a:solidFill>
            <a:srgbClr val="99FF99"/>
          </a:solidFill>
          <a:ln cap="flat" cmpd="sng" w="12700">
            <a:solidFill>
              <a:srgbClr val="FF00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1" name="Google Shape;191;p4"/>
          <p:cNvSpPr txBox="1"/>
          <p:nvPr/>
        </p:nvSpPr>
        <p:spPr>
          <a:xfrm>
            <a:off x="393700" y="5656262"/>
            <a:ext cx="1857375" cy="581025"/>
          </a:xfrm>
          <a:prstGeom prst="rect">
            <a:avLst/>
          </a:prstGeom>
          <a:noFill/>
          <a:ln>
            <a:noFill/>
          </a:ln>
        </p:spPr>
        <p:txBody>
          <a:bodyPr anchorCtr="0" anchor="t" bIns="46025" lIns="92075" spcFirstLastPara="1" rIns="92075" wrap="square" tIns="46025">
            <a:spAutoFit/>
          </a:bodyPr>
          <a:lstStyle/>
          <a:p>
            <a:pPr indent="0" lvl="0" marL="0" marR="0" rtl="0" algn="ctr">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Autres méthodes</a:t>
            </a:r>
            <a:endParaRPr/>
          </a:p>
          <a:p>
            <a:pPr indent="0" lvl="0" marL="0" marR="0" rtl="0" algn="ctr">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 50)</a:t>
            </a:r>
            <a:endParaRPr/>
          </a:p>
        </p:txBody>
      </p:sp>
      <p:sp>
        <p:nvSpPr>
          <p:cNvPr id="192" name="Google Shape;192;p4"/>
          <p:cNvSpPr txBox="1"/>
          <p:nvPr/>
        </p:nvSpPr>
        <p:spPr>
          <a:xfrm>
            <a:off x="2422525" y="5656262"/>
            <a:ext cx="1084262" cy="3365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Booch 91</a:t>
            </a:r>
            <a:endParaRPr/>
          </a:p>
        </p:txBody>
      </p:sp>
      <p:sp>
        <p:nvSpPr>
          <p:cNvPr id="193" name="Google Shape;193;p4"/>
          <p:cNvSpPr txBox="1"/>
          <p:nvPr/>
        </p:nvSpPr>
        <p:spPr>
          <a:xfrm>
            <a:off x="5535612" y="5656262"/>
            <a:ext cx="776287" cy="3365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OOSE</a:t>
            </a:r>
            <a:endParaRPr/>
          </a:p>
        </p:txBody>
      </p:sp>
      <p:sp>
        <p:nvSpPr>
          <p:cNvPr id="194" name="Google Shape;194;p4"/>
          <p:cNvSpPr txBox="1"/>
          <p:nvPr/>
        </p:nvSpPr>
        <p:spPr>
          <a:xfrm>
            <a:off x="3725862" y="5656262"/>
            <a:ext cx="914400" cy="3365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OMT-1</a:t>
            </a:r>
            <a:endParaRPr/>
          </a:p>
        </p:txBody>
      </p:sp>
      <p:sp>
        <p:nvSpPr>
          <p:cNvPr id="195" name="Google Shape;195;p4"/>
          <p:cNvSpPr txBox="1"/>
          <p:nvPr/>
        </p:nvSpPr>
        <p:spPr>
          <a:xfrm>
            <a:off x="2373312" y="4926012"/>
            <a:ext cx="1084262" cy="3365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Booch 93</a:t>
            </a:r>
            <a:endParaRPr/>
          </a:p>
        </p:txBody>
      </p:sp>
      <p:sp>
        <p:nvSpPr>
          <p:cNvPr id="196" name="Google Shape;196;p4"/>
          <p:cNvSpPr txBox="1"/>
          <p:nvPr/>
        </p:nvSpPr>
        <p:spPr>
          <a:xfrm>
            <a:off x="3697287" y="4926012"/>
            <a:ext cx="914400" cy="3365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OMT-2</a:t>
            </a:r>
            <a:endParaRPr/>
          </a:p>
        </p:txBody>
      </p:sp>
      <p:sp>
        <p:nvSpPr>
          <p:cNvPr id="197" name="Google Shape;197;p4"/>
          <p:cNvSpPr txBox="1"/>
          <p:nvPr/>
        </p:nvSpPr>
        <p:spPr>
          <a:xfrm>
            <a:off x="1530350" y="4300537"/>
            <a:ext cx="3392487" cy="3365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OOPSLA’95 Unified Method O.8</a:t>
            </a:r>
            <a:endParaRPr/>
          </a:p>
        </p:txBody>
      </p:sp>
      <p:sp>
        <p:nvSpPr>
          <p:cNvPr id="198" name="Google Shape;198;p4"/>
          <p:cNvSpPr txBox="1"/>
          <p:nvPr/>
        </p:nvSpPr>
        <p:spPr>
          <a:xfrm>
            <a:off x="2593975" y="3625850"/>
            <a:ext cx="1822450" cy="3365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UML 0.9 &amp; 0.91</a:t>
            </a:r>
            <a:endParaRPr/>
          </a:p>
        </p:txBody>
      </p:sp>
      <p:sp>
        <p:nvSpPr>
          <p:cNvPr id="199" name="Google Shape;199;p4"/>
          <p:cNvSpPr txBox="1"/>
          <p:nvPr/>
        </p:nvSpPr>
        <p:spPr>
          <a:xfrm>
            <a:off x="4494212" y="3778250"/>
            <a:ext cx="2025650" cy="581025"/>
          </a:xfrm>
          <a:prstGeom prst="rect">
            <a:avLst/>
          </a:prstGeom>
          <a:noFill/>
          <a:ln>
            <a:noFill/>
          </a:ln>
        </p:spPr>
        <p:txBody>
          <a:bodyPr anchorCtr="0" anchor="t" bIns="46025" lIns="92075" spcFirstLastPara="1" rIns="92075" wrap="square" tIns="46025">
            <a:spAutoFit/>
          </a:bodyPr>
          <a:lstStyle/>
          <a:p>
            <a:pPr indent="0" lvl="0" marL="0" marR="0" rtl="0" algn="ctr">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UML </a:t>
            </a:r>
            <a:endParaRPr/>
          </a:p>
          <a:p>
            <a:pPr indent="0" lvl="0" marL="0" marR="0" rtl="0" algn="ctr">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partners expertise</a:t>
            </a:r>
            <a:endParaRPr/>
          </a:p>
        </p:txBody>
      </p:sp>
      <p:sp>
        <p:nvSpPr>
          <p:cNvPr id="200" name="Google Shape;200;p4"/>
          <p:cNvSpPr txBox="1"/>
          <p:nvPr/>
        </p:nvSpPr>
        <p:spPr>
          <a:xfrm>
            <a:off x="4060825" y="3027362"/>
            <a:ext cx="1050925" cy="336550"/>
          </a:xfrm>
          <a:prstGeom prst="rect">
            <a:avLst/>
          </a:prstGeom>
          <a:noFill/>
          <a:ln>
            <a:noFill/>
          </a:ln>
        </p:spPr>
        <p:txBody>
          <a:bodyPr anchorCtr="0" anchor="t" bIns="46025" lIns="92075" spcFirstLastPara="1" rIns="92075" wrap="square" tIns="46025">
            <a:spAutoFit/>
          </a:bodyPr>
          <a:lstStyle/>
          <a:p>
            <a:pPr indent="0" lvl="0" marL="0" marR="0" rtl="0" algn="ctr">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UML 1.0</a:t>
            </a:r>
            <a:endParaRPr/>
          </a:p>
        </p:txBody>
      </p:sp>
      <p:sp>
        <p:nvSpPr>
          <p:cNvPr id="201" name="Google Shape;201;p4"/>
          <p:cNvSpPr txBox="1"/>
          <p:nvPr/>
        </p:nvSpPr>
        <p:spPr>
          <a:xfrm>
            <a:off x="2940050" y="2151062"/>
            <a:ext cx="3355975" cy="581025"/>
          </a:xfrm>
          <a:prstGeom prst="rect">
            <a:avLst/>
          </a:prstGeom>
          <a:noFill/>
          <a:ln>
            <a:noFill/>
          </a:ln>
        </p:spPr>
        <p:txBody>
          <a:bodyPr anchorCtr="0" anchor="t" bIns="46025" lIns="92075" spcFirstLastPara="1" rIns="92075" wrap="square" tIns="46025">
            <a:spAutoFit/>
          </a:bodyPr>
          <a:lstStyle/>
          <a:p>
            <a:pPr indent="0" lvl="0" marL="0" marR="0" rtl="0" algn="ctr">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Soumission de UML 1.0 à OMG </a:t>
            </a:r>
            <a:endParaRPr/>
          </a:p>
          <a:p>
            <a:pPr indent="0" lvl="0" marL="0" marR="0" rtl="0" algn="ctr">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pour adoption (janvier 1997).</a:t>
            </a:r>
            <a:endParaRPr/>
          </a:p>
        </p:txBody>
      </p:sp>
      <p:cxnSp>
        <p:nvCxnSpPr>
          <p:cNvPr id="202" name="Google Shape;202;p4"/>
          <p:cNvCxnSpPr/>
          <p:nvPr/>
        </p:nvCxnSpPr>
        <p:spPr>
          <a:xfrm flipH="1" rot="10800000">
            <a:off x="1528762" y="4568825"/>
            <a:ext cx="587375" cy="1196975"/>
          </a:xfrm>
          <a:prstGeom prst="straightConnector1">
            <a:avLst/>
          </a:prstGeom>
          <a:noFill/>
          <a:ln cap="flat" cmpd="sng" w="12700">
            <a:solidFill>
              <a:srgbClr val="FF4A4A"/>
            </a:solidFill>
            <a:prstDash val="solid"/>
            <a:miter lim="800000"/>
            <a:headEnd len="med" w="med" type="none"/>
            <a:tailEnd len="med" w="med" type="stealth"/>
          </a:ln>
        </p:spPr>
      </p:cxnSp>
      <p:cxnSp>
        <p:nvCxnSpPr>
          <p:cNvPr id="203" name="Google Shape;203;p4"/>
          <p:cNvCxnSpPr/>
          <p:nvPr/>
        </p:nvCxnSpPr>
        <p:spPr>
          <a:xfrm flipH="1" rot="10800000">
            <a:off x="2916237" y="5227637"/>
            <a:ext cx="1587" cy="446087"/>
          </a:xfrm>
          <a:prstGeom prst="straightConnector1">
            <a:avLst/>
          </a:prstGeom>
          <a:noFill/>
          <a:ln cap="flat" cmpd="sng" w="12700">
            <a:solidFill>
              <a:srgbClr val="FF4A4A"/>
            </a:solidFill>
            <a:prstDash val="solid"/>
            <a:miter lim="800000"/>
            <a:headEnd len="med" w="med" type="none"/>
            <a:tailEnd len="med" w="med" type="stealth"/>
          </a:ln>
        </p:spPr>
      </p:cxnSp>
      <p:cxnSp>
        <p:nvCxnSpPr>
          <p:cNvPr id="204" name="Google Shape;204;p4"/>
          <p:cNvCxnSpPr/>
          <p:nvPr/>
        </p:nvCxnSpPr>
        <p:spPr>
          <a:xfrm flipH="1" rot="10800000">
            <a:off x="4116387" y="5211762"/>
            <a:ext cx="1587" cy="446087"/>
          </a:xfrm>
          <a:prstGeom prst="straightConnector1">
            <a:avLst/>
          </a:prstGeom>
          <a:noFill/>
          <a:ln cap="flat" cmpd="sng" w="12700">
            <a:solidFill>
              <a:srgbClr val="FF4A4A"/>
            </a:solidFill>
            <a:prstDash val="solid"/>
            <a:miter lim="800000"/>
            <a:headEnd len="med" w="med" type="none"/>
            <a:tailEnd len="med" w="med" type="stealth"/>
          </a:ln>
        </p:spPr>
      </p:cxnSp>
      <p:cxnSp>
        <p:nvCxnSpPr>
          <p:cNvPr id="205" name="Google Shape;205;p4"/>
          <p:cNvCxnSpPr/>
          <p:nvPr/>
        </p:nvCxnSpPr>
        <p:spPr>
          <a:xfrm rot="10800000">
            <a:off x="3740150" y="4540250"/>
            <a:ext cx="319087" cy="449262"/>
          </a:xfrm>
          <a:prstGeom prst="straightConnector1">
            <a:avLst/>
          </a:prstGeom>
          <a:noFill/>
          <a:ln cap="flat" cmpd="sng" w="12700">
            <a:solidFill>
              <a:srgbClr val="FF4A4A"/>
            </a:solidFill>
            <a:prstDash val="solid"/>
            <a:miter lim="800000"/>
            <a:headEnd len="med" w="med" type="none"/>
            <a:tailEnd len="med" w="med" type="stealth"/>
          </a:ln>
        </p:spPr>
      </p:cxnSp>
      <p:cxnSp>
        <p:nvCxnSpPr>
          <p:cNvPr id="206" name="Google Shape;206;p4"/>
          <p:cNvCxnSpPr/>
          <p:nvPr/>
        </p:nvCxnSpPr>
        <p:spPr>
          <a:xfrm flipH="1" rot="10800000">
            <a:off x="2951162" y="4583112"/>
            <a:ext cx="327025" cy="407987"/>
          </a:xfrm>
          <a:prstGeom prst="straightConnector1">
            <a:avLst/>
          </a:prstGeom>
          <a:noFill/>
          <a:ln cap="flat" cmpd="sng" w="12700">
            <a:solidFill>
              <a:srgbClr val="FF4A4A"/>
            </a:solidFill>
            <a:prstDash val="solid"/>
            <a:miter lim="800000"/>
            <a:headEnd len="med" w="med" type="none"/>
            <a:tailEnd len="med" w="med" type="stealth"/>
          </a:ln>
        </p:spPr>
      </p:cxnSp>
      <p:cxnSp>
        <p:nvCxnSpPr>
          <p:cNvPr id="207" name="Google Shape;207;p4"/>
          <p:cNvCxnSpPr/>
          <p:nvPr/>
        </p:nvCxnSpPr>
        <p:spPr>
          <a:xfrm rot="10800000">
            <a:off x="4146550" y="3897312"/>
            <a:ext cx="1738312" cy="1806575"/>
          </a:xfrm>
          <a:prstGeom prst="straightConnector1">
            <a:avLst/>
          </a:prstGeom>
          <a:noFill/>
          <a:ln cap="flat" cmpd="sng" w="12700">
            <a:solidFill>
              <a:srgbClr val="FF4A4A"/>
            </a:solidFill>
            <a:prstDash val="solid"/>
            <a:miter lim="800000"/>
            <a:headEnd len="med" w="med" type="none"/>
            <a:tailEnd len="med" w="med" type="stealth"/>
          </a:ln>
        </p:spPr>
      </p:cxnSp>
      <p:cxnSp>
        <p:nvCxnSpPr>
          <p:cNvPr id="208" name="Google Shape;208;p4"/>
          <p:cNvCxnSpPr/>
          <p:nvPr/>
        </p:nvCxnSpPr>
        <p:spPr>
          <a:xfrm rot="10800000">
            <a:off x="3052762" y="3827462"/>
            <a:ext cx="3175" cy="506412"/>
          </a:xfrm>
          <a:prstGeom prst="straightConnector1">
            <a:avLst/>
          </a:prstGeom>
          <a:noFill/>
          <a:ln cap="flat" cmpd="sng" w="12700">
            <a:solidFill>
              <a:srgbClr val="FF4A4A"/>
            </a:solidFill>
            <a:prstDash val="solid"/>
            <a:miter lim="800000"/>
            <a:headEnd len="med" w="med" type="none"/>
            <a:tailEnd len="med" w="med" type="stealth"/>
          </a:ln>
        </p:spPr>
      </p:cxnSp>
      <p:cxnSp>
        <p:nvCxnSpPr>
          <p:cNvPr id="209" name="Google Shape;209;p4"/>
          <p:cNvCxnSpPr/>
          <p:nvPr/>
        </p:nvCxnSpPr>
        <p:spPr>
          <a:xfrm flipH="1" rot="10800000">
            <a:off x="3432175" y="3238500"/>
            <a:ext cx="701675" cy="349250"/>
          </a:xfrm>
          <a:prstGeom prst="straightConnector1">
            <a:avLst/>
          </a:prstGeom>
          <a:noFill/>
          <a:ln cap="flat" cmpd="sng" w="12700">
            <a:solidFill>
              <a:srgbClr val="FF4A4A"/>
            </a:solidFill>
            <a:prstDash val="solid"/>
            <a:miter lim="800000"/>
            <a:headEnd len="med" w="med" type="none"/>
            <a:tailEnd len="med" w="med" type="stealth"/>
          </a:ln>
        </p:spPr>
      </p:cxnSp>
      <p:cxnSp>
        <p:nvCxnSpPr>
          <p:cNvPr id="210" name="Google Shape;210;p4"/>
          <p:cNvCxnSpPr/>
          <p:nvPr/>
        </p:nvCxnSpPr>
        <p:spPr>
          <a:xfrm rot="10800000">
            <a:off x="4597400" y="2678112"/>
            <a:ext cx="0" cy="306387"/>
          </a:xfrm>
          <a:prstGeom prst="straightConnector1">
            <a:avLst/>
          </a:prstGeom>
          <a:noFill/>
          <a:ln cap="flat" cmpd="sng" w="12700">
            <a:solidFill>
              <a:srgbClr val="FF4A4A"/>
            </a:solidFill>
            <a:prstDash val="solid"/>
            <a:miter lim="800000"/>
            <a:headEnd len="med" w="med" type="none"/>
            <a:tailEnd len="med" w="med" type="stealth"/>
          </a:ln>
        </p:spPr>
      </p:cxnSp>
      <p:cxnSp>
        <p:nvCxnSpPr>
          <p:cNvPr id="211" name="Google Shape;211;p4"/>
          <p:cNvCxnSpPr/>
          <p:nvPr/>
        </p:nvCxnSpPr>
        <p:spPr>
          <a:xfrm rot="10800000">
            <a:off x="4959350" y="3295650"/>
            <a:ext cx="544512" cy="514350"/>
          </a:xfrm>
          <a:prstGeom prst="straightConnector1">
            <a:avLst/>
          </a:prstGeom>
          <a:noFill/>
          <a:ln cap="flat" cmpd="sng" w="12700">
            <a:solidFill>
              <a:srgbClr val="FF4A4A"/>
            </a:solidFill>
            <a:prstDash val="solid"/>
            <a:miter lim="800000"/>
            <a:headEnd len="med" w="med" type="none"/>
            <a:tailEnd len="med" w="med" type="stealth"/>
          </a:ln>
        </p:spPr>
      </p:cxnSp>
      <p:sp>
        <p:nvSpPr>
          <p:cNvPr id="212" name="Google Shape;212;p4"/>
          <p:cNvSpPr txBox="1"/>
          <p:nvPr/>
        </p:nvSpPr>
        <p:spPr>
          <a:xfrm>
            <a:off x="857250" y="3622675"/>
            <a:ext cx="1819275" cy="3048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dk2"/>
              </a:buClr>
              <a:buSzPts val="1400"/>
              <a:buFont typeface="Comic Sans MS"/>
              <a:buNone/>
            </a:pPr>
            <a:r>
              <a:rPr b="1" i="0" lang="en-US" sz="1400" u="none">
                <a:solidFill>
                  <a:schemeClr val="dk2"/>
                </a:solidFill>
                <a:latin typeface="Comic Sans MS"/>
                <a:ea typeface="Comic Sans MS"/>
                <a:cs typeface="Comic Sans MS"/>
                <a:sym typeface="Comic Sans MS"/>
              </a:rPr>
              <a:t>(juin 96 - oct. 96)</a:t>
            </a:r>
            <a:endParaRPr/>
          </a:p>
        </p:txBody>
      </p:sp>
      <p:cxnSp>
        <p:nvCxnSpPr>
          <p:cNvPr id="213" name="Google Shape;213;p4"/>
          <p:cNvCxnSpPr/>
          <p:nvPr/>
        </p:nvCxnSpPr>
        <p:spPr>
          <a:xfrm rot="10800000">
            <a:off x="898525" y="3227387"/>
            <a:ext cx="0" cy="1260475"/>
          </a:xfrm>
          <a:prstGeom prst="straightConnector1">
            <a:avLst/>
          </a:prstGeom>
          <a:noFill/>
          <a:ln cap="flat" cmpd="sng" w="12700">
            <a:solidFill>
              <a:srgbClr val="FF4A4A"/>
            </a:solidFill>
            <a:prstDash val="solid"/>
            <a:miter lim="800000"/>
            <a:headEnd len="med" w="med" type="none"/>
            <a:tailEnd len="med" w="med" type="stealth"/>
          </a:ln>
        </p:spPr>
      </p:cxnSp>
      <p:sp>
        <p:nvSpPr>
          <p:cNvPr id="214" name="Google Shape;214;p4"/>
          <p:cNvSpPr txBox="1"/>
          <p:nvPr/>
        </p:nvSpPr>
        <p:spPr>
          <a:xfrm rot="-5400000">
            <a:off x="-423862" y="3898900"/>
            <a:ext cx="2295525" cy="336550"/>
          </a:xfrm>
          <a:prstGeom prst="rect">
            <a:avLst/>
          </a:prstGeom>
          <a:noFill/>
          <a:ln>
            <a:noFill/>
          </a:ln>
        </p:spPr>
        <p:txBody>
          <a:bodyPr anchorCtr="0" anchor="t" bIns="46025" lIns="92075" spcFirstLastPara="1" rIns="92075" wrap="square" tIns="46025">
            <a:spAutoFit/>
          </a:bodyPr>
          <a:lstStyle/>
          <a:p>
            <a:pPr indent="0" lvl="3" marL="571500" marR="0" rtl="0" algn="l">
              <a:lnSpc>
                <a:spcPct val="100000"/>
              </a:lnSpc>
              <a:spcBef>
                <a:spcPts val="0"/>
              </a:spcBef>
              <a:spcAft>
                <a:spcPts val="0"/>
              </a:spcAft>
              <a:buClr>
                <a:srgbClr val="FF0033"/>
              </a:buClr>
              <a:buSzPts val="1600"/>
              <a:buFont typeface="Comic Sans MS"/>
              <a:buNone/>
            </a:pPr>
            <a:r>
              <a:rPr b="1" i="1" lang="en-US" sz="1600" u="none" cap="none" strike="noStrike">
                <a:solidFill>
                  <a:srgbClr val="FF0033"/>
                </a:solidFill>
                <a:latin typeface="Comic Sans MS"/>
                <a:ea typeface="Comic Sans MS"/>
                <a:cs typeface="Comic Sans MS"/>
                <a:sym typeface="Comic Sans MS"/>
              </a:rPr>
              <a:t>public feedback</a:t>
            </a:r>
            <a:endParaRPr/>
          </a:p>
        </p:txBody>
      </p:sp>
      <p:cxnSp>
        <p:nvCxnSpPr>
          <p:cNvPr id="215" name="Google Shape;215;p4"/>
          <p:cNvCxnSpPr/>
          <p:nvPr/>
        </p:nvCxnSpPr>
        <p:spPr>
          <a:xfrm rot="10800000">
            <a:off x="4554537" y="1822450"/>
            <a:ext cx="0" cy="306387"/>
          </a:xfrm>
          <a:prstGeom prst="straightConnector1">
            <a:avLst/>
          </a:prstGeom>
          <a:noFill/>
          <a:ln cap="flat" cmpd="sng" w="12700">
            <a:solidFill>
              <a:srgbClr val="FF4A4A"/>
            </a:solidFill>
            <a:prstDash val="solid"/>
            <a:miter lim="800000"/>
            <a:headEnd len="med" w="med" type="none"/>
            <a:tailEnd len="med" w="med" type="stealth"/>
          </a:ln>
        </p:spPr>
      </p:cxnSp>
      <p:cxnSp>
        <p:nvCxnSpPr>
          <p:cNvPr id="216" name="Google Shape;216;p4"/>
          <p:cNvCxnSpPr/>
          <p:nvPr/>
        </p:nvCxnSpPr>
        <p:spPr>
          <a:xfrm flipH="1" rot="10800000">
            <a:off x="3363912" y="1638300"/>
            <a:ext cx="1063625" cy="265112"/>
          </a:xfrm>
          <a:prstGeom prst="straightConnector1">
            <a:avLst/>
          </a:prstGeom>
          <a:noFill/>
          <a:ln cap="flat" cmpd="sng" w="12700">
            <a:solidFill>
              <a:srgbClr val="FF4A4A"/>
            </a:solidFill>
            <a:prstDash val="solid"/>
            <a:miter lim="800000"/>
            <a:headEnd len="med" w="med" type="none"/>
            <a:tailEnd len="med" w="med" type="stealth"/>
          </a:ln>
        </p:spPr>
      </p:cxnSp>
      <p:cxnSp>
        <p:nvCxnSpPr>
          <p:cNvPr id="217" name="Google Shape;217;p4"/>
          <p:cNvCxnSpPr/>
          <p:nvPr/>
        </p:nvCxnSpPr>
        <p:spPr>
          <a:xfrm rot="10800000">
            <a:off x="4679950" y="1638300"/>
            <a:ext cx="1050925" cy="265112"/>
          </a:xfrm>
          <a:prstGeom prst="straightConnector1">
            <a:avLst/>
          </a:prstGeom>
          <a:noFill/>
          <a:ln cap="flat" cmpd="sng" w="12700">
            <a:solidFill>
              <a:srgbClr val="FF4A4A"/>
            </a:solidFill>
            <a:prstDash val="solid"/>
            <a:miter lim="800000"/>
            <a:headEnd len="med" w="med" type="none"/>
            <a:tailEnd len="med" w="med" type="stealth"/>
          </a:ln>
        </p:spPr>
      </p:cxnSp>
      <p:sp>
        <p:nvSpPr>
          <p:cNvPr id="218" name="Google Shape;218;p4"/>
          <p:cNvSpPr txBox="1"/>
          <p:nvPr/>
        </p:nvSpPr>
        <p:spPr>
          <a:xfrm>
            <a:off x="4335462" y="1290637"/>
            <a:ext cx="471487" cy="701675"/>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FF0033"/>
              </a:buClr>
              <a:buSzPts val="4000"/>
              <a:buFont typeface="Comic Sans MS"/>
              <a:buNone/>
            </a:pPr>
            <a:r>
              <a:rPr b="1" i="0" lang="en-US" sz="4000" u="none">
                <a:solidFill>
                  <a:srgbClr val="FF0033"/>
                </a:solidFill>
                <a:latin typeface="Comic Sans MS"/>
                <a:ea typeface="Comic Sans MS"/>
                <a:cs typeface="Comic Sans MS"/>
                <a:sym typeface="Comic Sans MS"/>
              </a:rPr>
              <a:t>?</a:t>
            </a:r>
            <a:endParaRPr/>
          </a:p>
        </p:txBody>
      </p:sp>
      <p:grpSp>
        <p:nvGrpSpPr>
          <p:cNvPr id="219" name="Google Shape;219;p4"/>
          <p:cNvGrpSpPr/>
          <p:nvPr/>
        </p:nvGrpSpPr>
        <p:grpSpPr>
          <a:xfrm flipH="1" rot="10800000">
            <a:off x="7508875" y="1117600"/>
            <a:ext cx="914400" cy="4191000"/>
            <a:chOff x="5184" y="1248"/>
            <a:chExt cx="624" cy="2640"/>
          </a:xfrm>
        </p:grpSpPr>
        <p:sp>
          <p:nvSpPr>
            <p:cNvPr id="220" name="Google Shape;220;p4"/>
            <p:cNvSpPr/>
            <p:nvPr/>
          </p:nvSpPr>
          <p:spPr>
            <a:xfrm flipH="1">
              <a:off x="5184" y="1248"/>
              <a:ext cx="528" cy="576"/>
            </a:xfrm>
            <a:custGeom>
              <a:rect b="b" l="l" r="r" t="t"/>
              <a:pathLst>
                <a:path extrusionOk="0" h="21600" w="21600">
                  <a:moveTo>
                    <a:pt x="15662" y="14285"/>
                  </a:moveTo>
                  <a:lnTo>
                    <a:pt x="21600" y="8310"/>
                  </a:lnTo>
                  <a:lnTo>
                    <a:pt x="18630" y="8310"/>
                  </a:lnTo>
                  <a:cubicBezTo>
                    <a:pt x="18630" y="3721"/>
                    <a:pt x="14430" y="0"/>
                    <a:pt x="9250" y="0"/>
                  </a:cubicBezTo>
                  <a:cubicBezTo>
                    <a:pt x="4141" y="0"/>
                    <a:pt x="0" y="3799"/>
                    <a:pt x="0" y="8485"/>
                  </a:cubicBezTo>
                  <a:lnTo>
                    <a:pt x="0" y="21600"/>
                  </a:lnTo>
                  <a:lnTo>
                    <a:pt x="6110" y="21600"/>
                  </a:lnTo>
                  <a:lnTo>
                    <a:pt x="6110" y="8310"/>
                  </a:lnTo>
                  <a:cubicBezTo>
                    <a:pt x="6110" y="6947"/>
                    <a:pt x="7362" y="5842"/>
                    <a:pt x="8907" y="5842"/>
                  </a:cubicBezTo>
                  <a:lnTo>
                    <a:pt x="9725" y="5842"/>
                  </a:lnTo>
                  <a:cubicBezTo>
                    <a:pt x="11269" y="5842"/>
                    <a:pt x="12520" y="6947"/>
                    <a:pt x="12520" y="8310"/>
                  </a:cubicBezTo>
                  <a:lnTo>
                    <a:pt x="9725" y="8310"/>
                  </a:lnTo>
                  <a:lnTo>
                    <a:pt x="15662" y="14285"/>
                  </a:lnTo>
                  <a:close/>
                </a:path>
              </a:pathLst>
            </a:custGeom>
            <a:solidFill>
              <a:schemeClr val="accent1"/>
            </a:solidFill>
            <a:ln cap="flat" cmpd="sng" w="12700">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1" name="Google Shape;221;p4"/>
            <p:cNvSpPr/>
            <p:nvPr/>
          </p:nvSpPr>
          <p:spPr>
            <a:xfrm flipH="1" rot="10800000">
              <a:off x="5280" y="3312"/>
              <a:ext cx="528" cy="576"/>
            </a:xfrm>
            <a:custGeom>
              <a:rect b="b" l="l" r="r" t="t"/>
              <a:pathLst>
                <a:path extrusionOk="0" h="21600" w="21600">
                  <a:moveTo>
                    <a:pt x="15662" y="14285"/>
                  </a:moveTo>
                  <a:lnTo>
                    <a:pt x="21600" y="8310"/>
                  </a:lnTo>
                  <a:lnTo>
                    <a:pt x="18630" y="8310"/>
                  </a:lnTo>
                  <a:cubicBezTo>
                    <a:pt x="18630" y="3721"/>
                    <a:pt x="14430" y="0"/>
                    <a:pt x="9250" y="0"/>
                  </a:cubicBezTo>
                  <a:cubicBezTo>
                    <a:pt x="4141" y="0"/>
                    <a:pt x="0" y="3799"/>
                    <a:pt x="0" y="8485"/>
                  </a:cubicBezTo>
                  <a:lnTo>
                    <a:pt x="0" y="21600"/>
                  </a:lnTo>
                  <a:lnTo>
                    <a:pt x="6110" y="21600"/>
                  </a:lnTo>
                  <a:lnTo>
                    <a:pt x="6110" y="8310"/>
                  </a:lnTo>
                  <a:cubicBezTo>
                    <a:pt x="6110" y="6947"/>
                    <a:pt x="7362" y="5842"/>
                    <a:pt x="8907" y="5842"/>
                  </a:cubicBezTo>
                  <a:lnTo>
                    <a:pt x="9725" y="5842"/>
                  </a:lnTo>
                  <a:cubicBezTo>
                    <a:pt x="11269" y="5842"/>
                    <a:pt x="12520" y="6947"/>
                    <a:pt x="12520" y="8310"/>
                  </a:cubicBezTo>
                  <a:lnTo>
                    <a:pt x="9725" y="8310"/>
                  </a:lnTo>
                  <a:lnTo>
                    <a:pt x="15662" y="14285"/>
                  </a:lnTo>
                  <a:close/>
                </a:path>
              </a:pathLst>
            </a:custGeom>
            <a:solidFill>
              <a:schemeClr val="accent1"/>
            </a:solidFill>
            <a:ln cap="flat" cmpd="sng" w="12700">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2" name="Google Shape;222;p4"/>
            <p:cNvSpPr/>
            <p:nvPr/>
          </p:nvSpPr>
          <p:spPr>
            <a:xfrm>
              <a:off x="5520" y="1824"/>
              <a:ext cx="240" cy="1632"/>
            </a:xfrm>
            <a:prstGeom prst="upArrow">
              <a:avLst>
                <a:gd fmla="val 50000" name="adj1"/>
                <a:gd fmla="val 50000" name="adj2"/>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pic>
        <p:nvPicPr>
          <p:cNvPr descr="quesbutn" id="223" name="Google Shape;223;p4"/>
          <p:cNvPicPr preferRelativeResize="0"/>
          <p:nvPr/>
        </p:nvPicPr>
        <p:blipFill rotWithShape="1">
          <a:blip r:embed="rId3">
            <a:alphaModFix/>
          </a:blip>
          <a:srcRect b="0" l="0" r="0" t="0"/>
          <a:stretch/>
        </p:blipFill>
        <p:spPr>
          <a:xfrm>
            <a:off x="8351837" y="2870200"/>
            <a:ext cx="352425" cy="381000"/>
          </a:xfrm>
          <a:prstGeom prst="rect">
            <a:avLst/>
          </a:prstGeom>
          <a:noFill/>
          <a:ln>
            <a:noFill/>
          </a:ln>
        </p:spPr>
      </p:pic>
      <p:sp>
        <p:nvSpPr>
          <p:cNvPr id="224" name="Google Shape;224;p4"/>
          <p:cNvSpPr txBox="1"/>
          <p:nvPr/>
        </p:nvSpPr>
        <p:spPr>
          <a:xfrm>
            <a:off x="2752725" y="914400"/>
            <a:ext cx="3636962"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1.1 -&gt; 1.2. -&gt; 1.3 -&gt; 1.4 -&gt; 1.5 -&gt; 2.0</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5"/>
          <p:cNvSpPr txBox="1"/>
          <p:nvPr>
            <p:ph type="title"/>
          </p:nvPr>
        </p:nvSpPr>
        <p:spPr>
          <a:xfrm>
            <a:off x="457200" y="274637"/>
            <a:ext cx="8229600" cy="1143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rgbClr val="663300"/>
              </a:buClr>
              <a:buSzPts val="4400"/>
              <a:buFont typeface="Arial"/>
              <a:buNone/>
            </a:pPr>
            <a:r>
              <a:rPr b="0" i="0" lang="en-US" sz="4400" u="none">
                <a:solidFill>
                  <a:srgbClr val="663300"/>
                </a:solidFill>
                <a:latin typeface="Arial"/>
                <a:ea typeface="Arial"/>
                <a:cs typeface="Arial"/>
                <a:sym typeface="Arial"/>
              </a:rPr>
              <a:t>Devant et derrière, Avant et après ...</a:t>
            </a:r>
            <a:endParaRPr/>
          </a:p>
        </p:txBody>
      </p:sp>
      <p:graphicFrame>
        <p:nvGraphicFramePr>
          <p:cNvPr id="231" name="Google Shape;231;p5"/>
          <p:cNvGraphicFramePr/>
          <p:nvPr/>
        </p:nvGraphicFramePr>
        <p:xfrm>
          <a:off x="2068512" y="3779837"/>
          <a:ext cx="4837112" cy="2085975"/>
        </p:xfrm>
        <a:graphic>
          <a:graphicData uri="http://schemas.openxmlformats.org/presentationml/2006/ole">
            <mc:AlternateContent>
              <mc:Choice Requires="v">
                <p:oleObj r:id="rId4" imgH="2085975" imgW="4837112" progId="MS_ClipArt_Gallery" spid="_x0000_s1">
                  <p:embed/>
                </p:oleObj>
              </mc:Choice>
              <mc:Fallback>
                <p:oleObj r:id="rId5" imgH="2085975" imgW="4837112" progId="MS_ClipArt_Gallery">
                  <p:embed/>
                  <p:pic>
                    <p:nvPicPr>
                      <p:cNvPr id="231" name="Google Shape;231;p5"/>
                      <p:cNvPicPr preferRelativeResize="0"/>
                      <p:nvPr/>
                    </p:nvPicPr>
                    <p:blipFill rotWithShape="1">
                      <a:blip r:embed="rId6">
                        <a:alphaModFix/>
                      </a:blip>
                      <a:srcRect b="0" l="0" r="0" t="0"/>
                      <a:stretch/>
                    </p:blipFill>
                    <p:spPr>
                      <a:xfrm>
                        <a:off x="2068512" y="3779837"/>
                        <a:ext cx="4837112" cy="2085975"/>
                      </a:xfrm>
                      <a:prstGeom prst="rect">
                        <a:avLst/>
                      </a:prstGeom>
                      <a:noFill/>
                      <a:ln>
                        <a:noFill/>
                      </a:ln>
                    </p:spPr>
                  </p:pic>
                </p:oleObj>
              </mc:Fallback>
            </mc:AlternateContent>
          </a:graphicData>
        </a:graphic>
      </p:graphicFrame>
      <p:sp>
        <p:nvSpPr>
          <p:cNvPr id="232" name="Google Shape;232;p5"/>
          <p:cNvSpPr txBox="1"/>
          <p:nvPr/>
        </p:nvSpPr>
        <p:spPr>
          <a:xfrm>
            <a:off x="3505200" y="4329112"/>
            <a:ext cx="1066800" cy="579437"/>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FF0033"/>
              </a:buClr>
              <a:buSzPts val="3200"/>
              <a:buFont typeface="Comic Sans MS"/>
              <a:buNone/>
            </a:pPr>
            <a:r>
              <a:rPr b="1" i="0" lang="en-US" sz="3200" u="none">
                <a:solidFill>
                  <a:srgbClr val="FF0033"/>
                </a:solidFill>
                <a:latin typeface="Comic Sans MS"/>
                <a:ea typeface="Comic Sans MS"/>
                <a:cs typeface="Comic Sans MS"/>
                <a:sym typeface="Comic Sans MS"/>
              </a:rPr>
              <a:t>UML</a:t>
            </a:r>
            <a:endParaRPr/>
          </a:p>
        </p:txBody>
      </p:sp>
      <p:sp>
        <p:nvSpPr>
          <p:cNvPr id="233" name="Google Shape;233;p5"/>
          <p:cNvSpPr txBox="1"/>
          <p:nvPr/>
        </p:nvSpPr>
        <p:spPr>
          <a:xfrm>
            <a:off x="6146800" y="4117975"/>
            <a:ext cx="909637"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dk2"/>
              </a:buClr>
              <a:buSzPts val="2400"/>
              <a:buFont typeface="Comic Sans MS"/>
              <a:buNone/>
            </a:pPr>
            <a:r>
              <a:rPr b="1" i="0" lang="en-US" sz="2400" u="none">
                <a:solidFill>
                  <a:schemeClr val="dk2"/>
                </a:solidFill>
                <a:latin typeface="Comic Sans MS"/>
                <a:ea typeface="Comic Sans MS"/>
                <a:cs typeface="Comic Sans MS"/>
                <a:sym typeface="Comic Sans MS"/>
              </a:rPr>
              <a:t>OMT</a:t>
            </a:r>
            <a:endParaRPr/>
          </a:p>
        </p:txBody>
      </p:sp>
      <p:sp>
        <p:nvSpPr>
          <p:cNvPr id="234" name="Google Shape;234;p5"/>
          <p:cNvSpPr txBox="1"/>
          <p:nvPr/>
        </p:nvSpPr>
        <p:spPr>
          <a:xfrm>
            <a:off x="7083425" y="4999037"/>
            <a:ext cx="1685925" cy="457200"/>
          </a:xfrm>
          <a:prstGeom prst="rect">
            <a:avLst/>
          </a:prstGeom>
          <a:noFill/>
          <a:ln>
            <a:noFill/>
          </a:ln>
        </p:spPr>
        <p:txBody>
          <a:bodyPr anchorCtr="0" anchor="t" bIns="46025" lIns="92075" spcFirstLastPara="1" rIns="92075" wrap="square" tIns="46025">
            <a:spAutoFit/>
          </a:bodyPr>
          <a:lstStyle/>
          <a:p>
            <a:pPr indent="0" lvl="2" marL="381000" marR="0" rtl="0" algn="l">
              <a:lnSpc>
                <a:spcPct val="100000"/>
              </a:lnSpc>
              <a:spcBef>
                <a:spcPts val="0"/>
              </a:spcBef>
              <a:spcAft>
                <a:spcPts val="0"/>
              </a:spcAft>
              <a:buClr>
                <a:srgbClr val="AD62C4"/>
              </a:buClr>
              <a:buSzPts val="2400"/>
              <a:buFont typeface="Comic Sans MS"/>
              <a:buNone/>
            </a:pPr>
            <a:r>
              <a:rPr b="1" i="1" lang="en-US" sz="2400" u="none" cap="none" strike="noStrike">
                <a:solidFill>
                  <a:srgbClr val="AD62C4"/>
                </a:solidFill>
                <a:latin typeface="Comic Sans MS"/>
                <a:ea typeface="Comic Sans MS"/>
                <a:cs typeface="Comic Sans MS"/>
                <a:sym typeface="Comic Sans MS"/>
              </a:rPr>
              <a:t>Merise </a:t>
            </a:r>
            <a:endParaRPr/>
          </a:p>
        </p:txBody>
      </p:sp>
      <p:sp>
        <p:nvSpPr>
          <p:cNvPr id="235" name="Google Shape;235;p5"/>
          <p:cNvSpPr txBox="1"/>
          <p:nvPr/>
        </p:nvSpPr>
        <p:spPr>
          <a:xfrm>
            <a:off x="6818312" y="4465637"/>
            <a:ext cx="931862" cy="366712"/>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accent1"/>
              </a:buClr>
              <a:buSzPts val="1800"/>
              <a:buFont typeface="Comic Sans MS"/>
              <a:buNone/>
            </a:pPr>
            <a:r>
              <a:rPr b="1" i="0" lang="en-US" sz="1800" u="none">
                <a:solidFill>
                  <a:schemeClr val="accent1"/>
                </a:solidFill>
                <a:latin typeface="Comic Sans MS"/>
                <a:ea typeface="Comic Sans MS"/>
                <a:cs typeface="Comic Sans MS"/>
                <a:sym typeface="Comic Sans MS"/>
              </a:rPr>
              <a:t>SA/RT</a:t>
            </a:r>
            <a:endParaRPr/>
          </a:p>
        </p:txBody>
      </p:sp>
      <p:sp>
        <p:nvSpPr>
          <p:cNvPr id="236" name="Google Shape;236;p5"/>
          <p:cNvSpPr txBox="1"/>
          <p:nvPr/>
        </p:nvSpPr>
        <p:spPr>
          <a:xfrm>
            <a:off x="6818312" y="4986337"/>
            <a:ext cx="638175" cy="366712"/>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FF4A4A"/>
              </a:buClr>
              <a:buSzPts val="1800"/>
              <a:buFont typeface="Comic Sans MS"/>
              <a:buNone/>
            </a:pPr>
            <a:r>
              <a:rPr b="1" i="0" lang="en-US" sz="1800" u="none">
                <a:solidFill>
                  <a:srgbClr val="FF4A4A"/>
                </a:solidFill>
                <a:latin typeface="Comic Sans MS"/>
                <a:ea typeface="Comic Sans MS"/>
                <a:cs typeface="Comic Sans MS"/>
                <a:sym typeface="Comic Sans MS"/>
              </a:rPr>
              <a:t>ERD</a:t>
            </a:r>
            <a:endParaRPr/>
          </a:p>
        </p:txBody>
      </p:sp>
      <p:sp>
        <p:nvSpPr>
          <p:cNvPr id="237" name="Google Shape;237;p5"/>
          <p:cNvSpPr txBox="1"/>
          <p:nvPr/>
        </p:nvSpPr>
        <p:spPr>
          <a:xfrm>
            <a:off x="7813675" y="4648200"/>
            <a:ext cx="758825" cy="3365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CC00"/>
              </a:buClr>
              <a:buSzPts val="1600"/>
              <a:buFont typeface="Comic Sans MS"/>
              <a:buNone/>
            </a:pPr>
            <a:r>
              <a:rPr b="0" i="0" lang="en-US" sz="1600" u="none">
                <a:solidFill>
                  <a:srgbClr val="00CC00"/>
                </a:solidFill>
                <a:latin typeface="Comic Sans MS"/>
                <a:ea typeface="Comic Sans MS"/>
                <a:cs typeface="Comic Sans MS"/>
                <a:sym typeface="Comic Sans MS"/>
              </a:rPr>
              <a:t>SADT</a:t>
            </a:r>
            <a:endParaRPr/>
          </a:p>
        </p:txBody>
      </p:sp>
      <p:sp>
        <p:nvSpPr>
          <p:cNvPr id="238" name="Google Shape;238;p5"/>
          <p:cNvSpPr txBox="1"/>
          <p:nvPr/>
        </p:nvSpPr>
        <p:spPr>
          <a:xfrm>
            <a:off x="7392987" y="5405437"/>
            <a:ext cx="652462" cy="366712"/>
          </a:xfrm>
          <a:prstGeom prst="rect">
            <a:avLst/>
          </a:prstGeom>
          <a:noFill/>
          <a:ln>
            <a:noFill/>
          </a:ln>
          <a:effectLst>
            <a:outerShdw blurRad="63500" dir="2700000" dist="107763">
              <a:srgbClr val="CC0066"/>
            </a:outerShdw>
          </a:effectLst>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dk2"/>
              </a:buClr>
              <a:buSzPts val="1800"/>
              <a:buFont typeface="Comic Sans MS"/>
              <a:buNone/>
            </a:pPr>
            <a:r>
              <a:rPr b="1" i="1" lang="en-US" sz="1800" u="none">
                <a:solidFill>
                  <a:schemeClr val="dk2"/>
                </a:solidFill>
                <a:latin typeface="Comic Sans MS"/>
                <a:ea typeface="Comic Sans MS"/>
                <a:cs typeface="Comic Sans MS"/>
                <a:sym typeface="Comic Sans MS"/>
              </a:rPr>
              <a:t>DFD</a:t>
            </a:r>
            <a:endParaRPr/>
          </a:p>
        </p:txBody>
      </p:sp>
      <p:sp>
        <p:nvSpPr>
          <p:cNvPr id="239" name="Google Shape;239;p5"/>
          <p:cNvSpPr txBox="1"/>
          <p:nvPr/>
        </p:nvSpPr>
        <p:spPr>
          <a:xfrm>
            <a:off x="8274050" y="5730875"/>
            <a:ext cx="684212" cy="396875"/>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660033"/>
              </a:buClr>
              <a:buSzPts val="2000"/>
              <a:buFont typeface="Comic Sans MS"/>
              <a:buNone/>
            </a:pPr>
            <a:r>
              <a:rPr b="1" i="0" lang="en-US" sz="2000" u="none">
                <a:solidFill>
                  <a:srgbClr val="660033"/>
                </a:solidFill>
                <a:latin typeface="Comic Sans MS"/>
                <a:ea typeface="Comic Sans MS"/>
                <a:cs typeface="Comic Sans MS"/>
                <a:sym typeface="Comic Sans MS"/>
              </a:rPr>
              <a:t>etc.</a:t>
            </a:r>
            <a:endParaRPr/>
          </a:p>
        </p:txBody>
      </p:sp>
      <p:sp>
        <p:nvSpPr>
          <p:cNvPr id="240" name="Google Shape;240;p5"/>
          <p:cNvSpPr txBox="1"/>
          <p:nvPr/>
        </p:nvSpPr>
        <p:spPr>
          <a:xfrm>
            <a:off x="250825" y="4418012"/>
            <a:ext cx="1730375" cy="1465262"/>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FF4A4A"/>
              </a:buClr>
              <a:buSzPts val="1800"/>
              <a:buFont typeface="Comic Sans MS"/>
              <a:buNone/>
            </a:pPr>
            <a:r>
              <a:rPr b="1" i="0" lang="en-US" sz="1800" u="none">
                <a:solidFill>
                  <a:srgbClr val="FF4A4A"/>
                </a:solidFill>
                <a:latin typeface="Comic Sans MS"/>
                <a:ea typeface="Comic Sans MS"/>
                <a:cs typeface="Comic Sans MS"/>
                <a:sym typeface="Comic Sans MS"/>
              </a:rPr>
              <a:t>procédés </a:t>
            </a:r>
            <a:endParaRPr/>
          </a:p>
          <a:p>
            <a:pPr indent="0" lvl="0" marL="0" marR="0" rtl="0" algn="l">
              <a:lnSpc>
                <a:spcPct val="100000"/>
              </a:lnSpc>
              <a:spcBef>
                <a:spcPts val="0"/>
              </a:spcBef>
              <a:spcAft>
                <a:spcPts val="0"/>
              </a:spcAft>
              <a:buClr>
                <a:srgbClr val="FF4A4A"/>
              </a:buClr>
              <a:buSzPts val="1800"/>
              <a:buFont typeface="Comic Sans MS"/>
              <a:buNone/>
            </a:pPr>
            <a:r>
              <a:rPr b="1" i="0" lang="en-US" sz="1800" u="none">
                <a:solidFill>
                  <a:srgbClr val="FF4A4A"/>
                </a:solidFill>
                <a:latin typeface="Comic Sans MS"/>
                <a:ea typeface="Comic Sans MS"/>
                <a:cs typeface="Comic Sans MS"/>
                <a:sym typeface="Comic Sans MS"/>
              </a:rPr>
              <a:t>industriels </a:t>
            </a:r>
            <a:endParaRPr/>
          </a:p>
          <a:p>
            <a:pPr indent="0" lvl="0" marL="0" marR="0" rtl="0" algn="l">
              <a:lnSpc>
                <a:spcPct val="100000"/>
              </a:lnSpc>
              <a:spcBef>
                <a:spcPts val="0"/>
              </a:spcBef>
              <a:spcAft>
                <a:spcPts val="0"/>
              </a:spcAft>
              <a:buClr>
                <a:srgbClr val="FF4A4A"/>
              </a:buClr>
              <a:buSzPts val="1800"/>
              <a:buFont typeface="Comic Sans MS"/>
              <a:buNone/>
            </a:pPr>
            <a:r>
              <a:rPr b="1" i="0" lang="en-US" sz="1800" u="none">
                <a:solidFill>
                  <a:srgbClr val="FF4A4A"/>
                </a:solidFill>
                <a:latin typeface="Comic Sans MS"/>
                <a:ea typeface="Comic Sans MS"/>
                <a:cs typeface="Comic Sans MS"/>
                <a:sym typeface="Comic Sans MS"/>
              </a:rPr>
              <a:t>de production</a:t>
            </a:r>
            <a:endParaRPr/>
          </a:p>
          <a:p>
            <a:pPr indent="0" lvl="0" marL="0" marR="0" rtl="0" algn="l">
              <a:lnSpc>
                <a:spcPct val="100000"/>
              </a:lnSpc>
              <a:spcBef>
                <a:spcPts val="0"/>
              </a:spcBef>
              <a:spcAft>
                <a:spcPts val="0"/>
              </a:spcAft>
              <a:buClr>
                <a:srgbClr val="FF4A4A"/>
              </a:buClr>
              <a:buSzPts val="1800"/>
              <a:buFont typeface="Comic Sans MS"/>
              <a:buNone/>
            </a:pPr>
            <a:r>
              <a:rPr b="1" i="0" lang="en-US" sz="1800" u="none">
                <a:solidFill>
                  <a:srgbClr val="FF4A4A"/>
                </a:solidFill>
                <a:latin typeface="Comic Sans MS"/>
                <a:ea typeface="Comic Sans MS"/>
                <a:cs typeface="Comic Sans MS"/>
                <a:sym typeface="Comic Sans MS"/>
              </a:rPr>
              <a:t>de logiciels et</a:t>
            </a:r>
            <a:endParaRPr/>
          </a:p>
          <a:p>
            <a:pPr indent="0" lvl="0" marL="0" marR="0" rtl="0" algn="l">
              <a:lnSpc>
                <a:spcPct val="100000"/>
              </a:lnSpc>
              <a:spcBef>
                <a:spcPts val="0"/>
              </a:spcBef>
              <a:spcAft>
                <a:spcPts val="0"/>
              </a:spcAft>
              <a:buClr>
                <a:srgbClr val="FF4A4A"/>
              </a:buClr>
              <a:buSzPts val="1800"/>
              <a:buFont typeface="Comic Sans MS"/>
              <a:buNone/>
            </a:pPr>
            <a:r>
              <a:rPr b="1" i="0" lang="en-US" sz="1800" u="none">
                <a:solidFill>
                  <a:srgbClr val="FF4A4A"/>
                </a:solidFill>
                <a:latin typeface="Comic Sans MS"/>
                <a:ea typeface="Comic Sans MS"/>
                <a:cs typeface="Comic Sans MS"/>
                <a:sym typeface="Comic Sans MS"/>
              </a:rPr>
              <a:t>de systèmes.</a:t>
            </a:r>
            <a:endParaRPr/>
          </a:p>
        </p:txBody>
      </p:sp>
      <p:sp>
        <p:nvSpPr>
          <p:cNvPr id="241" name="Google Shape;241;p5"/>
          <p:cNvSpPr txBox="1"/>
          <p:nvPr/>
        </p:nvSpPr>
        <p:spPr>
          <a:xfrm>
            <a:off x="7070725" y="5938837"/>
            <a:ext cx="660400" cy="366712"/>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144EFF"/>
              </a:buClr>
              <a:buSzPts val="1800"/>
              <a:buFont typeface="Comic Sans MS"/>
              <a:buNone/>
            </a:pPr>
            <a:r>
              <a:rPr b="1" i="0" lang="en-US" sz="1800" u="none">
                <a:solidFill>
                  <a:srgbClr val="144EFF"/>
                </a:solidFill>
                <a:latin typeface="Comic Sans MS"/>
                <a:ea typeface="Comic Sans MS"/>
                <a:cs typeface="Comic Sans MS"/>
                <a:sym typeface="Comic Sans MS"/>
              </a:rPr>
              <a:t>JSD</a:t>
            </a:r>
            <a:endParaRPr/>
          </a:p>
        </p:txBody>
      </p:sp>
      <p:pic>
        <p:nvPicPr>
          <p:cNvPr id="242" name="Google Shape;242;p5"/>
          <p:cNvPicPr preferRelativeResize="0"/>
          <p:nvPr/>
        </p:nvPicPr>
        <p:blipFill rotWithShape="1">
          <a:blip r:embed="rId7">
            <a:alphaModFix/>
          </a:blip>
          <a:srcRect b="0" l="0" r="0" t="0"/>
          <a:stretch/>
        </p:blipFill>
        <p:spPr>
          <a:xfrm>
            <a:off x="4583112" y="4484687"/>
            <a:ext cx="519112" cy="282575"/>
          </a:xfrm>
          <a:prstGeom prst="rect">
            <a:avLst/>
          </a:prstGeom>
          <a:noFill/>
          <a:ln>
            <a:noFill/>
          </a:ln>
        </p:spPr>
      </p:pic>
      <p:sp>
        <p:nvSpPr>
          <p:cNvPr id="243" name="Google Shape;243;p5"/>
          <p:cNvSpPr txBox="1"/>
          <p:nvPr/>
        </p:nvSpPr>
        <p:spPr>
          <a:xfrm>
            <a:off x="685800" y="2054225"/>
            <a:ext cx="7718425" cy="519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3366"/>
              </a:buClr>
              <a:buSzPts val="2800"/>
              <a:buFont typeface="Comic Sans MS"/>
              <a:buNone/>
            </a:pPr>
            <a:r>
              <a:rPr b="1" i="0" lang="en-US" sz="2800" u="none">
                <a:solidFill>
                  <a:srgbClr val="003366"/>
                </a:solidFill>
                <a:latin typeface="Comic Sans MS"/>
                <a:ea typeface="Comic Sans MS"/>
                <a:cs typeface="Comic Sans MS"/>
                <a:sym typeface="Comic Sans MS"/>
              </a:rPr>
              <a:t>Méthode = Langage(s) + Démarche + Outils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6"/>
          <p:cNvSpPr txBox="1"/>
          <p:nvPr>
            <p:ph type="title"/>
          </p:nvPr>
        </p:nvSpPr>
        <p:spPr>
          <a:xfrm>
            <a:off x="457200" y="274637"/>
            <a:ext cx="8229600" cy="1143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rgbClr val="663300"/>
              </a:buClr>
              <a:buSzPts val="3600"/>
              <a:buFont typeface="Arial"/>
              <a:buNone/>
            </a:pPr>
            <a:r>
              <a:rPr b="0" i="0" lang="en-US" sz="3600" u="none">
                <a:solidFill>
                  <a:srgbClr val="663300"/>
                </a:solidFill>
                <a:latin typeface="Arial"/>
                <a:ea typeface="Arial"/>
                <a:cs typeface="Arial"/>
                <a:sym typeface="Arial"/>
              </a:rPr>
              <a:t>Et un langage unique, un!</a:t>
            </a:r>
            <a:endParaRPr/>
          </a:p>
        </p:txBody>
      </p:sp>
      <p:pic>
        <p:nvPicPr>
          <p:cNvPr id="249" name="Google Shape;249;p6"/>
          <p:cNvPicPr preferRelativeResize="0"/>
          <p:nvPr/>
        </p:nvPicPr>
        <p:blipFill rotWithShape="1">
          <a:blip r:embed="rId3">
            <a:alphaModFix/>
          </a:blip>
          <a:srcRect b="0" l="0" r="0" t="0"/>
          <a:stretch/>
        </p:blipFill>
        <p:spPr>
          <a:xfrm>
            <a:off x="487362" y="1649412"/>
            <a:ext cx="6789737" cy="3781425"/>
          </a:xfrm>
          <a:prstGeom prst="rect">
            <a:avLst/>
          </a:prstGeom>
          <a:noFill/>
          <a:ln>
            <a:noFill/>
          </a:ln>
        </p:spPr>
      </p:pic>
      <p:pic>
        <p:nvPicPr>
          <p:cNvPr id="250" name="Google Shape;250;p6"/>
          <p:cNvPicPr preferRelativeResize="0"/>
          <p:nvPr/>
        </p:nvPicPr>
        <p:blipFill rotWithShape="1">
          <a:blip r:embed="rId4">
            <a:alphaModFix/>
          </a:blip>
          <a:srcRect b="0" l="0" r="0" t="0"/>
          <a:stretch/>
        </p:blipFill>
        <p:spPr>
          <a:xfrm>
            <a:off x="7510462" y="4497387"/>
            <a:ext cx="1455737" cy="1066800"/>
          </a:xfrm>
          <a:prstGeom prst="rect">
            <a:avLst/>
          </a:prstGeom>
          <a:noFill/>
          <a:ln>
            <a:noFill/>
          </a:ln>
        </p:spPr>
      </p:pic>
      <p:pic>
        <p:nvPicPr>
          <p:cNvPr id="251" name="Google Shape;251;p6"/>
          <p:cNvPicPr preferRelativeResize="0"/>
          <p:nvPr/>
        </p:nvPicPr>
        <p:blipFill rotWithShape="1">
          <a:blip r:embed="rId5">
            <a:alphaModFix/>
          </a:blip>
          <a:srcRect b="0" l="0" r="0" t="0"/>
          <a:stretch/>
        </p:blipFill>
        <p:spPr>
          <a:xfrm>
            <a:off x="495300" y="1679575"/>
            <a:ext cx="2844800" cy="495300"/>
          </a:xfrm>
          <a:prstGeom prst="rect">
            <a:avLst/>
          </a:prstGeom>
          <a:noFill/>
          <a:ln>
            <a:noFill/>
          </a:ln>
        </p:spPr>
      </p:pic>
      <p:pic>
        <p:nvPicPr>
          <p:cNvPr id="252" name="Google Shape;252;p6"/>
          <p:cNvPicPr preferRelativeResize="0"/>
          <p:nvPr/>
        </p:nvPicPr>
        <p:blipFill rotWithShape="1">
          <a:blip r:embed="rId6">
            <a:alphaModFix/>
          </a:blip>
          <a:srcRect b="0" l="0" r="0" t="0"/>
          <a:stretch/>
        </p:blipFill>
        <p:spPr>
          <a:xfrm>
            <a:off x="7443787" y="5462587"/>
            <a:ext cx="1522412" cy="765175"/>
          </a:xfrm>
          <a:prstGeom prst="rect">
            <a:avLst/>
          </a:prstGeom>
          <a:noFill/>
          <a:ln>
            <a:noFill/>
          </a:ln>
        </p:spPr>
      </p:pic>
      <p:sp>
        <p:nvSpPr>
          <p:cNvPr id="253" name="Google Shape;253;p6"/>
          <p:cNvSpPr txBox="1"/>
          <p:nvPr/>
        </p:nvSpPr>
        <p:spPr>
          <a:xfrm>
            <a:off x="3803650" y="1206500"/>
            <a:ext cx="4468812" cy="2100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3366"/>
              </a:buClr>
              <a:buSzPts val="1200"/>
              <a:buFont typeface="Comic Sans MS"/>
              <a:buNone/>
            </a:pPr>
            <a:r>
              <a:rPr b="1" i="0" lang="en-US" sz="1200" u="none">
                <a:solidFill>
                  <a:srgbClr val="003366"/>
                </a:solidFill>
                <a:latin typeface="Comic Sans MS"/>
                <a:ea typeface="Comic Sans MS"/>
                <a:cs typeface="Comic Sans MS"/>
                <a:sym typeface="Comic Sans MS"/>
              </a:rPr>
              <a:t>La définition du formalisme UML ne résulte pas</a:t>
            </a:r>
            <a:endParaRPr/>
          </a:p>
          <a:p>
            <a:pPr indent="0" lvl="0" marL="0" marR="0" rtl="0" algn="l">
              <a:lnSpc>
                <a:spcPct val="100000"/>
              </a:lnSpc>
              <a:spcBef>
                <a:spcPts val="0"/>
              </a:spcBef>
              <a:spcAft>
                <a:spcPts val="0"/>
              </a:spcAft>
              <a:buClr>
                <a:srgbClr val="003366"/>
              </a:buClr>
              <a:buSzPts val="1200"/>
              <a:buFont typeface="Comic Sans MS"/>
              <a:buNone/>
            </a:pPr>
            <a:r>
              <a:rPr b="1" i="0" lang="en-US" sz="1200" u="none">
                <a:solidFill>
                  <a:srgbClr val="003366"/>
                </a:solidFill>
                <a:latin typeface="Comic Sans MS"/>
                <a:ea typeface="Comic Sans MS"/>
                <a:cs typeface="Comic Sans MS"/>
                <a:sym typeface="Comic Sans MS"/>
              </a:rPr>
              <a:t>d'un processus innovant de recherche mais</a:t>
            </a:r>
            <a:endParaRPr/>
          </a:p>
          <a:p>
            <a:pPr indent="0" lvl="0" marL="0" marR="0" rtl="0" algn="l">
              <a:lnSpc>
                <a:spcPct val="100000"/>
              </a:lnSpc>
              <a:spcBef>
                <a:spcPts val="0"/>
              </a:spcBef>
              <a:spcAft>
                <a:spcPts val="0"/>
              </a:spcAft>
              <a:buClr>
                <a:srgbClr val="003366"/>
              </a:buClr>
              <a:buSzPts val="1200"/>
              <a:buFont typeface="Comic Sans MS"/>
              <a:buNone/>
            </a:pPr>
            <a:r>
              <a:rPr b="1" i="0" lang="en-US" sz="1200" u="none">
                <a:solidFill>
                  <a:srgbClr val="003366"/>
                </a:solidFill>
                <a:latin typeface="Comic Sans MS"/>
                <a:ea typeface="Comic Sans MS"/>
                <a:cs typeface="Comic Sans MS"/>
                <a:sym typeface="Comic Sans MS"/>
              </a:rPr>
              <a:t>d'un processus consensuel de stabilisation des pratiques</a:t>
            </a:r>
            <a:endParaRPr/>
          </a:p>
          <a:p>
            <a:pPr indent="0" lvl="0" marL="0" marR="0" rtl="0" algn="l">
              <a:lnSpc>
                <a:spcPct val="100000"/>
              </a:lnSpc>
              <a:spcBef>
                <a:spcPts val="0"/>
              </a:spcBef>
              <a:spcAft>
                <a:spcPts val="0"/>
              </a:spcAft>
              <a:buClr>
                <a:srgbClr val="003366"/>
              </a:buClr>
              <a:buSzPts val="1200"/>
              <a:buFont typeface="Comic Sans MS"/>
              <a:buNone/>
            </a:pPr>
            <a:r>
              <a:rPr b="1" i="0" lang="en-US" sz="1200" u="none">
                <a:solidFill>
                  <a:srgbClr val="003366"/>
                </a:solidFill>
                <a:latin typeface="Comic Sans MS"/>
                <a:ea typeface="Comic Sans MS"/>
                <a:cs typeface="Comic Sans MS"/>
                <a:sym typeface="Comic Sans MS"/>
              </a:rPr>
              <a:t>Industrielles éprouvées.</a:t>
            </a:r>
            <a:endParaRPr/>
          </a:p>
          <a:p>
            <a:pPr indent="0" lvl="0" marL="0" marR="0" rtl="0" algn="l">
              <a:lnSpc>
                <a:spcPct val="100000"/>
              </a:lnSpc>
              <a:spcBef>
                <a:spcPts val="0"/>
              </a:spcBef>
              <a:spcAft>
                <a:spcPts val="0"/>
              </a:spcAft>
              <a:buClr>
                <a:schemeClr val="dk1"/>
              </a:buClr>
              <a:buSzPts val="1200"/>
              <a:buFont typeface="Arial"/>
              <a:buNone/>
            </a:pPr>
            <a:r>
              <a:t/>
            </a:r>
            <a:endParaRPr b="1" i="0" sz="1200" u="none">
              <a:solidFill>
                <a:srgbClr val="003366"/>
              </a:solidFill>
              <a:latin typeface="Comic Sans MS"/>
              <a:ea typeface="Comic Sans MS"/>
              <a:cs typeface="Comic Sans MS"/>
              <a:sym typeface="Comic Sans MS"/>
            </a:endParaRPr>
          </a:p>
          <a:p>
            <a:pPr indent="0" lvl="0" marL="0" marR="0" rtl="0" algn="l">
              <a:lnSpc>
                <a:spcPct val="100000"/>
              </a:lnSpc>
              <a:spcBef>
                <a:spcPts val="0"/>
              </a:spcBef>
              <a:spcAft>
                <a:spcPts val="0"/>
              </a:spcAft>
              <a:buClr>
                <a:srgbClr val="003366"/>
              </a:buClr>
              <a:buSzPts val="1200"/>
              <a:buFont typeface="Comic Sans MS"/>
              <a:buNone/>
            </a:pPr>
            <a:r>
              <a:rPr b="1" i="0" lang="en-US" sz="1200" u="none">
                <a:solidFill>
                  <a:srgbClr val="003366"/>
                </a:solidFill>
                <a:latin typeface="Comic Sans MS"/>
                <a:ea typeface="Comic Sans MS"/>
                <a:cs typeface="Comic Sans MS"/>
                <a:sym typeface="Comic Sans MS"/>
              </a:rPr>
              <a:t>UML n'est que le reflet fidèle des pratiques majoritaires</a:t>
            </a:r>
            <a:endParaRPr/>
          </a:p>
          <a:p>
            <a:pPr indent="0" lvl="0" marL="0" marR="0" rtl="0" algn="l">
              <a:lnSpc>
                <a:spcPct val="100000"/>
              </a:lnSpc>
              <a:spcBef>
                <a:spcPts val="0"/>
              </a:spcBef>
              <a:spcAft>
                <a:spcPts val="0"/>
              </a:spcAft>
              <a:buClr>
                <a:srgbClr val="003366"/>
              </a:buClr>
              <a:buSzPts val="1200"/>
              <a:buFont typeface="Comic Sans MS"/>
              <a:buNone/>
            </a:pPr>
            <a:r>
              <a:rPr b="1" i="0" lang="en-US" sz="1200" u="none">
                <a:solidFill>
                  <a:srgbClr val="003366"/>
                </a:solidFill>
                <a:latin typeface="Comic Sans MS"/>
                <a:ea typeface="Comic Sans MS"/>
                <a:cs typeface="Comic Sans MS"/>
                <a:sym typeface="Comic Sans MS"/>
              </a:rPr>
              <a:t>utilisées vers la fin des années 2000 par la profession.</a:t>
            </a:r>
            <a:endParaRPr/>
          </a:p>
          <a:p>
            <a:pPr indent="0" lvl="0" marL="0" marR="0" rtl="0" algn="l">
              <a:lnSpc>
                <a:spcPct val="100000"/>
              </a:lnSpc>
              <a:spcBef>
                <a:spcPts val="0"/>
              </a:spcBef>
              <a:spcAft>
                <a:spcPts val="0"/>
              </a:spcAft>
              <a:buClr>
                <a:schemeClr val="dk1"/>
              </a:buClr>
              <a:buSzPts val="1200"/>
              <a:buFont typeface="Arial"/>
              <a:buNone/>
            </a:pPr>
            <a:r>
              <a:t/>
            </a:r>
            <a:endParaRPr b="1" i="0" sz="1200" u="none">
              <a:solidFill>
                <a:srgbClr val="003366"/>
              </a:solidFill>
              <a:latin typeface="Comic Sans MS"/>
              <a:ea typeface="Comic Sans MS"/>
              <a:cs typeface="Comic Sans MS"/>
              <a:sym typeface="Comic Sans MS"/>
            </a:endParaRPr>
          </a:p>
          <a:p>
            <a:pPr indent="0" lvl="0" marL="0" marR="0" rtl="0" algn="l">
              <a:lnSpc>
                <a:spcPct val="100000"/>
              </a:lnSpc>
              <a:spcBef>
                <a:spcPts val="0"/>
              </a:spcBef>
              <a:spcAft>
                <a:spcPts val="0"/>
              </a:spcAft>
              <a:buClr>
                <a:srgbClr val="003366"/>
              </a:buClr>
              <a:buSzPts val="1200"/>
              <a:buFont typeface="Comic Sans MS"/>
              <a:buNone/>
            </a:pPr>
            <a:r>
              <a:rPr b="1" i="0" lang="en-US" sz="1200" u="none">
                <a:solidFill>
                  <a:srgbClr val="003366"/>
                </a:solidFill>
                <a:latin typeface="Comic Sans MS"/>
                <a:ea typeface="Comic Sans MS"/>
                <a:cs typeface="Comic Sans MS"/>
                <a:sym typeface="Comic Sans MS"/>
              </a:rPr>
              <a:t>UML ne vise pas l'innovation, mais la consensualité.</a:t>
            </a:r>
            <a:endParaRPr/>
          </a:p>
          <a:p>
            <a:pPr indent="0" lvl="0" marL="0" marR="0" rtl="0" algn="l">
              <a:lnSpc>
                <a:spcPct val="100000"/>
              </a:lnSpc>
              <a:spcBef>
                <a:spcPts val="0"/>
              </a:spcBef>
              <a:spcAft>
                <a:spcPts val="0"/>
              </a:spcAft>
              <a:buClr>
                <a:schemeClr val="dk1"/>
              </a:buClr>
              <a:buSzPts val="1200"/>
              <a:buFont typeface="Arial"/>
              <a:buNone/>
            </a:pPr>
            <a:r>
              <a:t/>
            </a:r>
            <a:endParaRPr b="1" i="0" sz="1200" u="none">
              <a:solidFill>
                <a:srgbClr val="003366"/>
              </a:solidFill>
              <a:latin typeface="Comic Sans MS"/>
              <a:ea typeface="Comic Sans MS"/>
              <a:cs typeface="Comic Sans MS"/>
              <a:sym typeface="Comic Sans MS"/>
            </a:endParaRPr>
          </a:p>
          <a:p>
            <a:pPr indent="0" lvl="0" marL="0" marR="0" rtl="0" algn="l">
              <a:lnSpc>
                <a:spcPct val="100000"/>
              </a:lnSpc>
              <a:spcBef>
                <a:spcPts val="0"/>
              </a:spcBef>
              <a:spcAft>
                <a:spcPts val="0"/>
              </a:spcAft>
              <a:buNone/>
            </a:pPr>
            <a:r>
              <a:t/>
            </a:r>
            <a:endParaRPr b="1" i="0" sz="1200" u="none">
              <a:solidFill>
                <a:srgbClr val="003366"/>
              </a:solidFill>
              <a:latin typeface="Comic Sans MS"/>
              <a:ea typeface="Comic Sans MS"/>
              <a:cs typeface="Comic Sans MS"/>
              <a:sym typeface="Comic Sans M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Evolution de la terminologie</a:t>
            </a:r>
            <a:endParaRPr/>
          </a:p>
        </p:txBody>
      </p:sp>
      <p:sp>
        <p:nvSpPr>
          <p:cNvPr id="259" name="Google Shape;259;p7"/>
          <p:cNvSpPr txBox="1"/>
          <p:nvPr/>
        </p:nvSpPr>
        <p:spPr>
          <a:xfrm>
            <a:off x="1266825" y="2133600"/>
            <a:ext cx="1195387" cy="5334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Comic Sans MS"/>
              <a:buNone/>
            </a:pPr>
            <a:r>
              <a:rPr b="1" i="0" lang="en-US" sz="2000" u="none">
                <a:solidFill>
                  <a:schemeClr val="dk2"/>
                </a:solidFill>
                <a:latin typeface="Comic Sans MS"/>
                <a:ea typeface="Comic Sans MS"/>
                <a:cs typeface="Comic Sans MS"/>
                <a:sym typeface="Comic Sans MS"/>
              </a:rPr>
              <a:t>Booch</a:t>
            </a:r>
            <a:endParaRPr/>
          </a:p>
        </p:txBody>
      </p:sp>
      <p:sp>
        <p:nvSpPr>
          <p:cNvPr id="260" name="Google Shape;260;p7"/>
          <p:cNvSpPr txBox="1"/>
          <p:nvPr/>
        </p:nvSpPr>
        <p:spPr>
          <a:xfrm>
            <a:off x="1266825" y="2743200"/>
            <a:ext cx="1195387" cy="5334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Comic Sans MS"/>
              <a:buNone/>
            </a:pPr>
            <a:r>
              <a:rPr b="1" i="0" lang="en-US" sz="2000" u="none">
                <a:solidFill>
                  <a:schemeClr val="dk2"/>
                </a:solidFill>
                <a:latin typeface="Comic Sans MS"/>
                <a:ea typeface="Comic Sans MS"/>
                <a:cs typeface="Comic Sans MS"/>
                <a:sym typeface="Comic Sans MS"/>
              </a:rPr>
              <a:t>Coad</a:t>
            </a:r>
            <a:endParaRPr/>
          </a:p>
        </p:txBody>
      </p:sp>
      <p:sp>
        <p:nvSpPr>
          <p:cNvPr id="261" name="Google Shape;261;p7"/>
          <p:cNvSpPr txBox="1"/>
          <p:nvPr/>
        </p:nvSpPr>
        <p:spPr>
          <a:xfrm>
            <a:off x="1266825" y="3352800"/>
            <a:ext cx="1195387" cy="5334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Comic Sans MS"/>
              <a:buNone/>
            </a:pPr>
            <a:r>
              <a:rPr b="1" i="0" lang="en-US" sz="2000" u="none">
                <a:solidFill>
                  <a:schemeClr val="dk2"/>
                </a:solidFill>
                <a:latin typeface="Comic Sans MS"/>
                <a:ea typeface="Comic Sans MS"/>
                <a:cs typeface="Comic Sans MS"/>
                <a:sym typeface="Comic Sans MS"/>
              </a:rPr>
              <a:t>Jacobson</a:t>
            </a:r>
            <a:endParaRPr/>
          </a:p>
        </p:txBody>
      </p:sp>
      <p:sp>
        <p:nvSpPr>
          <p:cNvPr id="262" name="Google Shape;262;p7"/>
          <p:cNvSpPr txBox="1"/>
          <p:nvPr/>
        </p:nvSpPr>
        <p:spPr>
          <a:xfrm>
            <a:off x="1266825" y="3962400"/>
            <a:ext cx="1195387" cy="5334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Comic Sans MS"/>
              <a:buNone/>
            </a:pPr>
            <a:r>
              <a:rPr b="1" i="0" lang="en-US" sz="2000" u="none">
                <a:solidFill>
                  <a:schemeClr val="dk2"/>
                </a:solidFill>
                <a:latin typeface="Comic Sans MS"/>
                <a:ea typeface="Comic Sans MS"/>
                <a:cs typeface="Comic Sans MS"/>
                <a:sym typeface="Comic Sans MS"/>
              </a:rPr>
              <a:t>Odell</a:t>
            </a:r>
            <a:endParaRPr/>
          </a:p>
        </p:txBody>
      </p:sp>
      <p:sp>
        <p:nvSpPr>
          <p:cNvPr id="263" name="Google Shape;263;p7"/>
          <p:cNvSpPr txBox="1"/>
          <p:nvPr/>
        </p:nvSpPr>
        <p:spPr>
          <a:xfrm>
            <a:off x="1055687" y="4572000"/>
            <a:ext cx="1617662" cy="5334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Comic Sans MS"/>
              <a:buNone/>
            </a:pPr>
            <a:r>
              <a:rPr b="1" i="0" lang="en-US" sz="2000" u="none">
                <a:solidFill>
                  <a:schemeClr val="dk2"/>
                </a:solidFill>
                <a:latin typeface="Comic Sans MS"/>
                <a:ea typeface="Comic Sans MS"/>
                <a:cs typeface="Comic Sans MS"/>
                <a:sym typeface="Comic Sans MS"/>
              </a:rPr>
              <a:t>Rumbaugh</a:t>
            </a:r>
            <a:endParaRPr/>
          </a:p>
        </p:txBody>
      </p:sp>
      <p:sp>
        <p:nvSpPr>
          <p:cNvPr id="264" name="Google Shape;264;p7"/>
          <p:cNvSpPr txBox="1"/>
          <p:nvPr/>
        </p:nvSpPr>
        <p:spPr>
          <a:xfrm>
            <a:off x="984250" y="5257800"/>
            <a:ext cx="1970087" cy="4572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Comic Sans MS"/>
              <a:buNone/>
            </a:pPr>
            <a:r>
              <a:rPr b="1" i="0" lang="en-US" sz="2000" u="none">
                <a:solidFill>
                  <a:schemeClr val="dk2"/>
                </a:solidFill>
                <a:latin typeface="Comic Sans MS"/>
                <a:ea typeface="Comic Sans MS"/>
                <a:cs typeface="Comic Sans MS"/>
                <a:sym typeface="Comic Sans MS"/>
              </a:rPr>
              <a:t>Shlaer/Mellor</a:t>
            </a:r>
            <a:endParaRPr/>
          </a:p>
        </p:txBody>
      </p:sp>
      <p:sp>
        <p:nvSpPr>
          <p:cNvPr id="265" name="Google Shape;265;p7"/>
          <p:cNvSpPr txBox="1"/>
          <p:nvPr/>
        </p:nvSpPr>
        <p:spPr>
          <a:xfrm>
            <a:off x="1266825" y="5791200"/>
            <a:ext cx="1195387" cy="5334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Comic Sans MS"/>
              <a:buNone/>
            </a:pPr>
            <a:r>
              <a:rPr b="1" i="0" lang="en-US" sz="2000" u="none">
                <a:solidFill>
                  <a:schemeClr val="dk2"/>
                </a:solidFill>
                <a:latin typeface="Comic Sans MS"/>
                <a:ea typeface="Comic Sans MS"/>
                <a:cs typeface="Comic Sans MS"/>
                <a:sym typeface="Comic Sans MS"/>
              </a:rPr>
              <a:t>UML</a:t>
            </a:r>
            <a:endParaRPr/>
          </a:p>
        </p:txBody>
      </p:sp>
      <p:sp>
        <p:nvSpPr>
          <p:cNvPr id="266" name="Google Shape;266;p7"/>
          <p:cNvSpPr txBox="1"/>
          <p:nvPr/>
        </p:nvSpPr>
        <p:spPr>
          <a:xfrm>
            <a:off x="3165475" y="2133600"/>
            <a:ext cx="1195387" cy="5334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Comic Sans MS"/>
              <a:buNone/>
            </a:pPr>
            <a:r>
              <a:rPr b="1" i="0" lang="en-US" sz="2000" u="none">
                <a:solidFill>
                  <a:schemeClr val="dk2"/>
                </a:solidFill>
                <a:latin typeface="Comic Sans MS"/>
                <a:ea typeface="Comic Sans MS"/>
                <a:cs typeface="Comic Sans MS"/>
                <a:sym typeface="Comic Sans MS"/>
              </a:rPr>
              <a:t>Classe</a:t>
            </a:r>
            <a:endParaRPr/>
          </a:p>
        </p:txBody>
      </p:sp>
      <p:sp>
        <p:nvSpPr>
          <p:cNvPr id="267" name="Google Shape;267;p7"/>
          <p:cNvSpPr txBox="1"/>
          <p:nvPr/>
        </p:nvSpPr>
        <p:spPr>
          <a:xfrm>
            <a:off x="3165475" y="2743200"/>
            <a:ext cx="1195387" cy="5334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400"/>
              <a:buFont typeface="Comic Sans MS"/>
              <a:buNone/>
            </a:pPr>
            <a:r>
              <a:rPr b="1" i="0" lang="en-US" sz="1400" u="none">
                <a:solidFill>
                  <a:schemeClr val="dk2"/>
                </a:solidFill>
                <a:latin typeface="Comic Sans MS"/>
                <a:ea typeface="Comic Sans MS"/>
                <a:cs typeface="Comic Sans MS"/>
                <a:sym typeface="Comic Sans MS"/>
              </a:rPr>
              <a:t>Classe/Objet</a:t>
            </a:r>
            <a:endParaRPr/>
          </a:p>
        </p:txBody>
      </p:sp>
      <p:sp>
        <p:nvSpPr>
          <p:cNvPr id="268" name="Google Shape;268;p7"/>
          <p:cNvSpPr txBox="1"/>
          <p:nvPr/>
        </p:nvSpPr>
        <p:spPr>
          <a:xfrm>
            <a:off x="3165475" y="3352800"/>
            <a:ext cx="1195387" cy="5334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Comic Sans MS"/>
              <a:buNone/>
            </a:pPr>
            <a:r>
              <a:rPr b="1" i="0" lang="en-US" sz="2000" u="none">
                <a:solidFill>
                  <a:schemeClr val="dk2"/>
                </a:solidFill>
                <a:latin typeface="Comic Sans MS"/>
                <a:ea typeface="Comic Sans MS"/>
                <a:cs typeface="Comic Sans MS"/>
                <a:sym typeface="Comic Sans MS"/>
              </a:rPr>
              <a:t>Objet</a:t>
            </a:r>
            <a:endParaRPr/>
          </a:p>
        </p:txBody>
      </p:sp>
      <p:sp>
        <p:nvSpPr>
          <p:cNvPr id="269" name="Google Shape;269;p7"/>
          <p:cNvSpPr txBox="1"/>
          <p:nvPr/>
        </p:nvSpPr>
        <p:spPr>
          <a:xfrm>
            <a:off x="3165475" y="3962400"/>
            <a:ext cx="1195387" cy="5334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400"/>
              <a:buFont typeface="Comic Sans MS"/>
              <a:buNone/>
            </a:pPr>
            <a:r>
              <a:rPr b="1" i="0" lang="en-US" sz="1400" u="none">
                <a:solidFill>
                  <a:schemeClr val="dk2"/>
                </a:solidFill>
                <a:latin typeface="Comic Sans MS"/>
                <a:ea typeface="Comic Sans MS"/>
                <a:cs typeface="Comic Sans MS"/>
                <a:sym typeface="Comic Sans MS"/>
              </a:rPr>
              <a:t>Objet/Type</a:t>
            </a:r>
            <a:endParaRPr/>
          </a:p>
        </p:txBody>
      </p:sp>
      <p:sp>
        <p:nvSpPr>
          <p:cNvPr id="270" name="Google Shape;270;p7"/>
          <p:cNvSpPr txBox="1"/>
          <p:nvPr/>
        </p:nvSpPr>
        <p:spPr>
          <a:xfrm>
            <a:off x="3165475" y="4572000"/>
            <a:ext cx="1195387" cy="5334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Comic Sans MS"/>
              <a:buNone/>
            </a:pPr>
            <a:r>
              <a:rPr b="1" i="0" lang="en-US" sz="2000" u="none">
                <a:solidFill>
                  <a:schemeClr val="dk2"/>
                </a:solidFill>
                <a:latin typeface="Comic Sans MS"/>
                <a:ea typeface="Comic Sans MS"/>
                <a:cs typeface="Comic Sans MS"/>
                <a:sym typeface="Comic Sans MS"/>
              </a:rPr>
              <a:t>Classe</a:t>
            </a:r>
            <a:endParaRPr/>
          </a:p>
        </p:txBody>
      </p:sp>
      <p:sp>
        <p:nvSpPr>
          <p:cNvPr id="271" name="Google Shape;271;p7"/>
          <p:cNvSpPr txBox="1"/>
          <p:nvPr/>
        </p:nvSpPr>
        <p:spPr>
          <a:xfrm>
            <a:off x="3165475" y="5181600"/>
            <a:ext cx="1195387" cy="5334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Comic Sans MS"/>
              <a:buNone/>
            </a:pPr>
            <a:r>
              <a:rPr b="1" i="0" lang="en-US" sz="2000" u="none">
                <a:solidFill>
                  <a:schemeClr val="dk2"/>
                </a:solidFill>
                <a:latin typeface="Comic Sans MS"/>
                <a:ea typeface="Comic Sans MS"/>
                <a:cs typeface="Comic Sans MS"/>
                <a:sym typeface="Comic Sans MS"/>
              </a:rPr>
              <a:t>Objet</a:t>
            </a:r>
            <a:endParaRPr/>
          </a:p>
        </p:txBody>
      </p:sp>
      <p:sp>
        <p:nvSpPr>
          <p:cNvPr id="272" name="Google Shape;272;p7"/>
          <p:cNvSpPr txBox="1"/>
          <p:nvPr/>
        </p:nvSpPr>
        <p:spPr>
          <a:xfrm>
            <a:off x="3165475" y="5791200"/>
            <a:ext cx="1195387" cy="5334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Comic Sans MS"/>
              <a:buNone/>
            </a:pPr>
            <a:r>
              <a:rPr b="1" i="0" lang="en-US" sz="2000" u="none">
                <a:solidFill>
                  <a:schemeClr val="dk2"/>
                </a:solidFill>
                <a:latin typeface="Comic Sans MS"/>
                <a:ea typeface="Comic Sans MS"/>
                <a:cs typeface="Comic Sans MS"/>
                <a:sym typeface="Comic Sans MS"/>
              </a:rPr>
              <a:t>Classe</a:t>
            </a:r>
            <a:endParaRPr/>
          </a:p>
        </p:txBody>
      </p:sp>
      <p:sp>
        <p:nvSpPr>
          <p:cNvPr id="273" name="Google Shape;273;p7"/>
          <p:cNvSpPr txBox="1"/>
          <p:nvPr/>
        </p:nvSpPr>
        <p:spPr>
          <a:xfrm>
            <a:off x="4572000" y="2133600"/>
            <a:ext cx="1195387" cy="5334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Comic Sans MS"/>
              <a:buNone/>
            </a:pPr>
            <a:r>
              <a:rPr b="1" i="0" lang="en-US" sz="2000" u="none">
                <a:solidFill>
                  <a:schemeClr val="dk2"/>
                </a:solidFill>
                <a:latin typeface="Comic Sans MS"/>
                <a:ea typeface="Comic Sans MS"/>
                <a:cs typeface="Comic Sans MS"/>
                <a:sym typeface="Comic Sans MS"/>
              </a:rPr>
              <a:t>Utilise</a:t>
            </a:r>
            <a:endParaRPr/>
          </a:p>
        </p:txBody>
      </p:sp>
      <p:sp>
        <p:nvSpPr>
          <p:cNvPr id="274" name="Google Shape;274;p7"/>
          <p:cNvSpPr txBox="1"/>
          <p:nvPr/>
        </p:nvSpPr>
        <p:spPr>
          <a:xfrm>
            <a:off x="4572000" y="2743200"/>
            <a:ext cx="1195387" cy="5334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400"/>
              <a:buFont typeface="Comic Sans MS"/>
              <a:buNone/>
            </a:pPr>
            <a:r>
              <a:rPr b="1" i="0" lang="en-US" sz="1400" u="none">
                <a:solidFill>
                  <a:schemeClr val="dk2"/>
                </a:solidFill>
                <a:latin typeface="Comic Sans MS"/>
                <a:ea typeface="Comic Sans MS"/>
                <a:cs typeface="Comic Sans MS"/>
                <a:sym typeface="Comic Sans MS"/>
              </a:rPr>
              <a:t>Connexion</a:t>
            </a:r>
            <a:endParaRPr/>
          </a:p>
          <a:p>
            <a:pPr indent="0" lvl="0" marL="0" marR="0" rtl="0" algn="ctr">
              <a:lnSpc>
                <a:spcPct val="100000"/>
              </a:lnSpc>
              <a:spcBef>
                <a:spcPts val="0"/>
              </a:spcBef>
              <a:spcAft>
                <a:spcPts val="0"/>
              </a:spcAft>
              <a:buClr>
                <a:schemeClr val="dk2"/>
              </a:buClr>
              <a:buSzPts val="1400"/>
              <a:buFont typeface="Comic Sans MS"/>
              <a:buNone/>
            </a:pPr>
            <a:r>
              <a:rPr b="1" i="0" lang="en-US" sz="1400" u="none">
                <a:solidFill>
                  <a:schemeClr val="dk2"/>
                </a:solidFill>
                <a:latin typeface="Comic Sans MS"/>
                <a:ea typeface="Comic Sans MS"/>
                <a:cs typeface="Comic Sans MS"/>
                <a:sym typeface="Comic Sans MS"/>
              </a:rPr>
              <a:t>d'instance</a:t>
            </a:r>
            <a:endParaRPr/>
          </a:p>
        </p:txBody>
      </p:sp>
      <p:sp>
        <p:nvSpPr>
          <p:cNvPr id="275" name="Google Shape;275;p7"/>
          <p:cNvSpPr txBox="1"/>
          <p:nvPr/>
        </p:nvSpPr>
        <p:spPr>
          <a:xfrm>
            <a:off x="4572000" y="3352800"/>
            <a:ext cx="1195387" cy="5334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400"/>
              <a:buFont typeface="Comic Sans MS"/>
              <a:buNone/>
            </a:pPr>
            <a:r>
              <a:rPr b="1" i="0" lang="en-US" sz="1400" u="none">
                <a:solidFill>
                  <a:schemeClr val="dk2"/>
                </a:solidFill>
                <a:latin typeface="Comic Sans MS"/>
                <a:ea typeface="Comic Sans MS"/>
                <a:cs typeface="Comic Sans MS"/>
                <a:sym typeface="Comic Sans MS"/>
              </a:rPr>
              <a:t>Accointance</a:t>
            </a:r>
            <a:endParaRPr/>
          </a:p>
          <a:p>
            <a:pPr indent="0" lvl="0" marL="0" marR="0" rtl="0" algn="ctr">
              <a:lnSpc>
                <a:spcPct val="100000"/>
              </a:lnSpc>
              <a:spcBef>
                <a:spcPts val="0"/>
              </a:spcBef>
              <a:spcAft>
                <a:spcPts val="0"/>
              </a:spcAft>
              <a:buClr>
                <a:schemeClr val="dk2"/>
              </a:buClr>
              <a:buSzPts val="1400"/>
              <a:buFont typeface="Comic Sans MS"/>
              <a:buNone/>
            </a:pPr>
            <a:r>
              <a:rPr b="1" i="0" lang="en-US" sz="1400" u="none">
                <a:solidFill>
                  <a:schemeClr val="dk2"/>
                </a:solidFill>
                <a:latin typeface="Comic Sans MS"/>
                <a:ea typeface="Comic Sans MS"/>
                <a:cs typeface="Comic Sans MS"/>
                <a:sym typeface="Comic Sans MS"/>
              </a:rPr>
              <a:t>Association</a:t>
            </a:r>
            <a:endParaRPr/>
          </a:p>
        </p:txBody>
      </p:sp>
      <p:sp>
        <p:nvSpPr>
          <p:cNvPr id="276" name="Google Shape;276;p7"/>
          <p:cNvSpPr txBox="1"/>
          <p:nvPr/>
        </p:nvSpPr>
        <p:spPr>
          <a:xfrm>
            <a:off x="4572000" y="3962400"/>
            <a:ext cx="1195387" cy="5334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Comic Sans MS"/>
              <a:buNone/>
            </a:pPr>
            <a:r>
              <a:rPr b="1" i="0" lang="en-US" sz="2000" u="none">
                <a:solidFill>
                  <a:schemeClr val="dk2"/>
                </a:solidFill>
                <a:latin typeface="Comic Sans MS"/>
                <a:ea typeface="Comic Sans MS"/>
                <a:cs typeface="Comic Sans MS"/>
                <a:sym typeface="Comic Sans MS"/>
              </a:rPr>
              <a:t>Relation</a:t>
            </a:r>
            <a:endParaRPr/>
          </a:p>
        </p:txBody>
      </p:sp>
      <p:sp>
        <p:nvSpPr>
          <p:cNvPr id="277" name="Google Shape;277;p7"/>
          <p:cNvSpPr txBox="1"/>
          <p:nvPr/>
        </p:nvSpPr>
        <p:spPr>
          <a:xfrm>
            <a:off x="4572000" y="4572000"/>
            <a:ext cx="1195387" cy="5334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Association</a:t>
            </a:r>
            <a:endParaRPr/>
          </a:p>
        </p:txBody>
      </p:sp>
      <p:sp>
        <p:nvSpPr>
          <p:cNvPr id="278" name="Google Shape;278;p7"/>
          <p:cNvSpPr txBox="1"/>
          <p:nvPr/>
        </p:nvSpPr>
        <p:spPr>
          <a:xfrm>
            <a:off x="4572000" y="5181600"/>
            <a:ext cx="1195387" cy="5334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Comic Sans MS"/>
              <a:buNone/>
            </a:pPr>
            <a:r>
              <a:rPr b="1" i="0" lang="en-US" sz="2000" u="none">
                <a:solidFill>
                  <a:schemeClr val="dk2"/>
                </a:solidFill>
                <a:latin typeface="Comic Sans MS"/>
                <a:ea typeface="Comic Sans MS"/>
                <a:cs typeface="Comic Sans MS"/>
                <a:sym typeface="Comic Sans MS"/>
              </a:rPr>
              <a:t>Relation</a:t>
            </a:r>
            <a:endParaRPr/>
          </a:p>
        </p:txBody>
      </p:sp>
      <p:sp>
        <p:nvSpPr>
          <p:cNvPr id="279" name="Google Shape;279;p7"/>
          <p:cNvSpPr txBox="1"/>
          <p:nvPr/>
        </p:nvSpPr>
        <p:spPr>
          <a:xfrm>
            <a:off x="4572000" y="5791200"/>
            <a:ext cx="1195387" cy="5334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400"/>
              <a:buFont typeface="Comic Sans MS"/>
              <a:buNone/>
            </a:pPr>
            <a:r>
              <a:rPr b="1" i="0" lang="en-US" sz="1400" u="none">
                <a:solidFill>
                  <a:schemeClr val="dk2"/>
                </a:solidFill>
                <a:latin typeface="Comic Sans MS"/>
                <a:ea typeface="Comic Sans MS"/>
                <a:cs typeface="Comic Sans MS"/>
                <a:sym typeface="Comic Sans MS"/>
              </a:rPr>
              <a:t>Association</a:t>
            </a:r>
            <a:endParaRPr/>
          </a:p>
        </p:txBody>
      </p:sp>
      <p:sp>
        <p:nvSpPr>
          <p:cNvPr id="280" name="Google Shape;280;p7"/>
          <p:cNvSpPr txBox="1"/>
          <p:nvPr/>
        </p:nvSpPr>
        <p:spPr>
          <a:xfrm>
            <a:off x="5978525" y="2133600"/>
            <a:ext cx="1195387" cy="5334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Comic Sans MS"/>
              <a:buNone/>
            </a:pPr>
            <a:r>
              <a:rPr b="1" i="0" lang="en-US" sz="2000" u="none">
                <a:solidFill>
                  <a:schemeClr val="dk2"/>
                </a:solidFill>
                <a:latin typeface="Comic Sans MS"/>
                <a:ea typeface="Comic Sans MS"/>
                <a:cs typeface="Comic Sans MS"/>
                <a:sym typeface="Comic Sans MS"/>
              </a:rPr>
              <a:t>Hérite</a:t>
            </a:r>
            <a:endParaRPr/>
          </a:p>
        </p:txBody>
      </p:sp>
      <p:sp>
        <p:nvSpPr>
          <p:cNvPr id="281" name="Google Shape;281;p7"/>
          <p:cNvSpPr txBox="1"/>
          <p:nvPr/>
        </p:nvSpPr>
        <p:spPr>
          <a:xfrm>
            <a:off x="5978525" y="2743200"/>
            <a:ext cx="1195387" cy="5334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Gen/Spec</a:t>
            </a:r>
            <a:endParaRPr/>
          </a:p>
        </p:txBody>
      </p:sp>
      <p:sp>
        <p:nvSpPr>
          <p:cNvPr id="282" name="Google Shape;282;p7"/>
          <p:cNvSpPr txBox="1"/>
          <p:nvPr/>
        </p:nvSpPr>
        <p:spPr>
          <a:xfrm>
            <a:off x="5978525" y="3352800"/>
            <a:ext cx="1195387" cy="5334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Comic Sans MS"/>
              <a:buNone/>
            </a:pPr>
            <a:r>
              <a:rPr b="1" i="0" lang="en-US" sz="2000" u="none">
                <a:solidFill>
                  <a:schemeClr val="dk2"/>
                </a:solidFill>
                <a:latin typeface="Comic Sans MS"/>
                <a:ea typeface="Comic Sans MS"/>
                <a:cs typeface="Comic Sans MS"/>
                <a:sym typeface="Comic Sans MS"/>
              </a:rPr>
              <a:t>Hérite</a:t>
            </a:r>
            <a:endParaRPr/>
          </a:p>
        </p:txBody>
      </p:sp>
      <p:sp>
        <p:nvSpPr>
          <p:cNvPr id="283" name="Google Shape;283;p7"/>
          <p:cNvSpPr txBox="1"/>
          <p:nvPr/>
        </p:nvSpPr>
        <p:spPr>
          <a:xfrm>
            <a:off x="5978525" y="3962400"/>
            <a:ext cx="1195387" cy="5334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800"/>
              <a:buFont typeface="Comic Sans MS"/>
              <a:buNone/>
            </a:pPr>
            <a:r>
              <a:rPr b="1" i="0" lang="en-US" sz="1800" u="none">
                <a:solidFill>
                  <a:schemeClr val="dk2"/>
                </a:solidFill>
                <a:latin typeface="Comic Sans MS"/>
                <a:ea typeface="Comic Sans MS"/>
                <a:cs typeface="Comic Sans MS"/>
                <a:sym typeface="Comic Sans MS"/>
              </a:rPr>
              <a:t>Sous-type</a:t>
            </a:r>
            <a:endParaRPr/>
          </a:p>
        </p:txBody>
      </p:sp>
      <p:sp>
        <p:nvSpPr>
          <p:cNvPr id="284" name="Google Shape;284;p7"/>
          <p:cNvSpPr txBox="1"/>
          <p:nvPr/>
        </p:nvSpPr>
        <p:spPr>
          <a:xfrm>
            <a:off x="5978525" y="4572000"/>
            <a:ext cx="1195387" cy="5334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200"/>
              <a:buFont typeface="Comic Sans MS"/>
              <a:buNone/>
            </a:pPr>
            <a:r>
              <a:rPr b="1" i="0" lang="en-US" sz="1200" u="none">
                <a:solidFill>
                  <a:schemeClr val="dk2"/>
                </a:solidFill>
                <a:latin typeface="Comic Sans MS"/>
                <a:ea typeface="Comic Sans MS"/>
                <a:cs typeface="Comic Sans MS"/>
                <a:sym typeface="Comic Sans MS"/>
              </a:rPr>
              <a:t>Généralisation</a:t>
            </a:r>
            <a:endParaRPr/>
          </a:p>
        </p:txBody>
      </p:sp>
      <p:sp>
        <p:nvSpPr>
          <p:cNvPr id="285" name="Google Shape;285;p7"/>
          <p:cNvSpPr txBox="1"/>
          <p:nvPr/>
        </p:nvSpPr>
        <p:spPr>
          <a:xfrm>
            <a:off x="5978525" y="5181600"/>
            <a:ext cx="1195387" cy="5334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800"/>
              <a:buFont typeface="Comic Sans MS"/>
              <a:buNone/>
            </a:pPr>
            <a:r>
              <a:rPr b="1" i="0" lang="en-US" sz="1800" u="none">
                <a:solidFill>
                  <a:schemeClr val="dk2"/>
                </a:solidFill>
                <a:latin typeface="Comic Sans MS"/>
                <a:ea typeface="Comic Sans MS"/>
                <a:cs typeface="Comic Sans MS"/>
                <a:sym typeface="Comic Sans MS"/>
              </a:rPr>
              <a:t>Sous-type</a:t>
            </a:r>
            <a:endParaRPr/>
          </a:p>
        </p:txBody>
      </p:sp>
      <p:sp>
        <p:nvSpPr>
          <p:cNvPr id="286" name="Google Shape;286;p7"/>
          <p:cNvSpPr txBox="1"/>
          <p:nvPr/>
        </p:nvSpPr>
        <p:spPr>
          <a:xfrm>
            <a:off x="5978525" y="5791200"/>
            <a:ext cx="1195387" cy="5334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200"/>
              <a:buFont typeface="Comic Sans MS"/>
              <a:buNone/>
            </a:pPr>
            <a:r>
              <a:rPr b="1" i="0" lang="en-US" sz="1200" u="none">
                <a:solidFill>
                  <a:schemeClr val="dk2"/>
                </a:solidFill>
                <a:latin typeface="Comic Sans MS"/>
                <a:ea typeface="Comic Sans MS"/>
                <a:cs typeface="Comic Sans MS"/>
                <a:sym typeface="Comic Sans MS"/>
              </a:rPr>
              <a:t>Généralisation</a:t>
            </a:r>
            <a:endParaRPr/>
          </a:p>
        </p:txBody>
      </p:sp>
      <p:sp>
        <p:nvSpPr>
          <p:cNvPr id="287" name="Google Shape;287;p7"/>
          <p:cNvSpPr txBox="1"/>
          <p:nvPr/>
        </p:nvSpPr>
        <p:spPr>
          <a:xfrm>
            <a:off x="7385050" y="2133600"/>
            <a:ext cx="1196975" cy="5334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800"/>
              <a:buFont typeface="Comic Sans MS"/>
              <a:buNone/>
            </a:pPr>
            <a:r>
              <a:rPr b="1" i="0" lang="en-US" sz="1800" u="none">
                <a:solidFill>
                  <a:schemeClr val="dk2"/>
                </a:solidFill>
                <a:latin typeface="Comic Sans MS"/>
                <a:ea typeface="Comic Sans MS"/>
                <a:cs typeface="Comic Sans MS"/>
                <a:sym typeface="Comic Sans MS"/>
              </a:rPr>
              <a:t>Contient</a:t>
            </a:r>
            <a:endParaRPr/>
          </a:p>
        </p:txBody>
      </p:sp>
      <p:sp>
        <p:nvSpPr>
          <p:cNvPr id="288" name="Google Shape;288;p7"/>
          <p:cNvSpPr txBox="1"/>
          <p:nvPr/>
        </p:nvSpPr>
        <p:spPr>
          <a:xfrm>
            <a:off x="7385050" y="2743200"/>
            <a:ext cx="1196975" cy="5334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Tout/Partie</a:t>
            </a:r>
            <a:endParaRPr/>
          </a:p>
        </p:txBody>
      </p:sp>
      <p:sp>
        <p:nvSpPr>
          <p:cNvPr id="289" name="Google Shape;289;p7"/>
          <p:cNvSpPr txBox="1"/>
          <p:nvPr/>
        </p:nvSpPr>
        <p:spPr>
          <a:xfrm>
            <a:off x="7385050" y="3352800"/>
            <a:ext cx="1196975" cy="5334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ConsisteEn</a:t>
            </a:r>
            <a:endParaRPr/>
          </a:p>
        </p:txBody>
      </p:sp>
      <p:sp>
        <p:nvSpPr>
          <p:cNvPr id="290" name="Google Shape;290;p7"/>
          <p:cNvSpPr txBox="1"/>
          <p:nvPr/>
        </p:nvSpPr>
        <p:spPr>
          <a:xfrm>
            <a:off x="7385050" y="3962400"/>
            <a:ext cx="1196975" cy="5334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400"/>
              <a:buFont typeface="Comic Sans MS"/>
              <a:buNone/>
            </a:pPr>
            <a:r>
              <a:rPr b="1" i="0" lang="en-US" sz="1400" u="none">
                <a:solidFill>
                  <a:schemeClr val="dk2"/>
                </a:solidFill>
                <a:latin typeface="Comic Sans MS"/>
                <a:ea typeface="Comic Sans MS"/>
                <a:cs typeface="Comic Sans MS"/>
                <a:sym typeface="Comic Sans MS"/>
              </a:rPr>
              <a:t>Composition</a:t>
            </a:r>
            <a:endParaRPr/>
          </a:p>
        </p:txBody>
      </p:sp>
      <p:sp>
        <p:nvSpPr>
          <p:cNvPr id="291" name="Google Shape;291;p7"/>
          <p:cNvSpPr txBox="1"/>
          <p:nvPr/>
        </p:nvSpPr>
        <p:spPr>
          <a:xfrm>
            <a:off x="7385050" y="4572000"/>
            <a:ext cx="1196975" cy="5334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Aggrégation</a:t>
            </a:r>
            <a:endParaRPr/>
          </a:p>
        </p:txBody>
      </p:sp>
      <p:sp>
        <p:nvSpPr>
          <p:cNvPr id="292" name="Google Shape;292;p7"/>
          <p:cNvSpPr txBox="1"/>
          <p:nvPr/>
        </p:nvSpPr>
        <p:spPr>
          <a:xfrm>
            <a:off x="7385050" y="5181600"/>
            <a:ext cx="1196975" cy="5334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Comic Sans MS"/>
              <a:buNone/>
            </a:pPr>
            <a:r>
              <a:rPr b="1" i="0" lang="en-US" sz="2000" u="none">
                <a:solidFill>
                  <a:schemeClr val="dk2"/>
                </a:solidFill>
                <a:latin typeface="Comic Sans MS"/>
                <a:ea typeface="Comic Sans MS"/>
                <a:cs typeface="Comic Sans MS"/>
                <a:sym typeface="Comic Sans MS"/>
              </a:rPr>
              <a:t>N/D</a:t>
            </a:r>
            <a:endParaRPr/>
          </a:p>
        </p:txBody>
      </p:sp>
      <p:sp>
        <p:nvSpPr>
          <p:cNvPr id="293" name="Google Shape;293;p7"/>
          <p:cNvSpPr txBox="1"/>
          <p:nvPr/>
        </p:nvSpPr>
        <p:spPr>
          <a:xfrm>
            <a:off x="7385050" y="5791200"/>
            <a:ext cx="1196975" cy="5334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400"/>
              <a:buFont typeface="Comic Sans MS"/>
              <a:buNone/>
            </a:pPr>
            <a:r>
              <a:rPr b="1" i="0" lang="en-US" sz="1400" u="none">
                <a:solidFill>
                  <a:schemeClr val="dk2"/>
                </a:solidFill>
                <a:latin typeface="Comic Sans MS"/>
                <a:ea typeface="Comic Sans MS"/>
                <a:cs typeface="Comic Sans MS"/>
                <a:sym typeface="Comic Sans MS"/>
              </a:rPr>
              <a:t>Aggrégation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Quelques notations de cardinalité</a:t>
            </a:r>
            <a:endParaRPr/>
          </a:p>
        </p:txBody>
      </p:sp>
      <p:sp>
        <p:nvSpPr>
          <p:cNvPr id="299" name="Google Shape;299;p8"/>
          <p:cNvSpPr txBox="1"/>
          <p:nvPr/>
        </p:nvSpPr>
        <p:spPr>
          <a:xfrm>
            <a:off x="1617662" y="2271712"/>
            <a:ext cx="352425" cy="3810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800"/>
              <a:buFont typeface="Comic Sans MS"/>
              <a:buNone/>
            </a:pPr>
            <a:r>
              <a:rPr b="1" i="0" lang="en-US" sz="1800" u="none">
                <a:solidFill>
                  <a:schemeClr val="dk2"/>
                </a:solidFill>
                <a:latin typeface="Comic Sans MS"/>
                <a:ea typeface="Comic Sans MS"/>
                <a:cs typeface="Comic Sans MS"/>
                <a:sym typeface="Comic Sans MS"/>
              </a:rPr>
              <a:t>A</a:t>
            </a:r>
            <a:endParaRPr/>
          </a:p>
        </p:txBody>
      </p:sp>
      <p:sp>
        <p:nvSpPr>
          <p:cNvPr id="300" name="Google Shape;300;p8"/>
          <p:cNvSpPr txBox="1"/>
          <p:nvPr/>
        </p:nvSpPr>
        <p:spPr>
          <a:xfrm>
            <a:off x="2743200" y="2271712"/>
            <a:ext cx="352425" cy="3810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800"/>
              <a:buFont typeface="Comic Sans MS"/>
              <a:buNone/>
            </a:pPr>
            <a:r>
              <a:rPr b="1" i="0" lang="en-US" sz="1800" u="none">
                <a:solidFill>
                  <a:schemeClr val="dk2"/>
                </a:solidFill>
                <a:latin typeface="Comic Sans MS"/>
                <a:ea typeface="Comic Sans MS"/>
                <a:cs typeface="Comic Sans MS"/>
                <a:sym typeface="Comic Sans MS"/>
              </a:rPr>
              <a:t>B</a:t>
            </a:r>
            <a:endParaRPr/>
          </a:p>
        </p:txBody>
      </p:sp>
      <p:cxnSp>
        <p:nvCxnSpPr>
          <p:cNvPr id="301" name="Google Shape;301;p8"/>
          <p:cNvCxnSpPr/>
          <p:nvPr/>
        </p:nvCxnSpPr>
        <p:spPr>
          <a:xfrm>
            <a:off x="1970087" y="2424112"/>
            <a:ext cx="773112" cy="0"/>
          </a:xfrm>
          <a:prstGeom prst="straightConnector1">
            <a:avLst/>
          </a:prstGeom>
          <a:noFill/>
          <a:ln cap="flat" cmpd="sng" w="12700">
            <a:solidFill>
              <a:schemeClr val="dk1"/>
            </a:solidFill>
            <a:prstDash val="solid"/>
            <a:miter lim="800000"/>
            <a:headEnd len="med" w="med" type="none"/>
            <a:tailEnd len="med" w="med" type="none"/>
          </a:ln>
        </p:spPr>
      </p:cxnSp>
      <p:sp>
        <p:nvSpPr>
          <p:cNvPr id="302" name="Google Shape;302;p8"/>
          <p:cNvSpPr txBox="1"/>
          <p:nvPr/>
        </p:nvSpPr>
        <p:spPr>
          <a:xfrm>
            <a:off x="2525712" y="2084387"/>
            <a:ext cx="287337"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800"/>
              <a:buFont typeface="Comic Sans MS"/>
              <a:buNone/>
            </a:pPr>
            <a:r>
              <a:rPr b="0" i="0" lang="en-US" sz="1800" u="none">
                <a:solidFill>
                  <a:schemeClr val="dk2"/>
                </a:solidFill>
                <a:latin typeface="Comic Sans MS"/>
                <a:ea typeface="Comic Sans MS"/>
                <a:cs typeface="Comic Sans MS"/>
                <a:sym typeface="Comic Sans MS"/>
              </a:rPr>
              <a:t>1</a:t>
            </a:r>
            <a:endParaRPr/>
          </a:p>
        </p:txBody>
      </p:sp>
      <p:sp>
        <p:nvSpPr>
          <p:cNvPr id="303" name="Google Shape;303;p8"/>
          <p:cNvSpPr txBox="1"/>
          <p:nvPr/>
        </p:nvSpPr>
        <p:spPr>
          <a:xfrm>
            <a:off x="3516312" y="2271712"/>
            <a:ext cx="352425" cy="3810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800"/>
              <a:buFont typeface="Comic Sans MS"/>
              <a:buNone/>
            </a:pPr>
            <a:r>
              <a:rPr b="1" i="0" lang="en-US" sz="1800" u="none">
                <a:solidFill>
                  <a:schemeClr val="dk2"/>
                </a:solidFill>
                <a:latin typeface="Comic Sans MS"/>
                <a:ea typeface="Comic Sans MS"/>
                <a:cs typeface="Comic Sans MS"/>
                <a:sym typeface="Comic Sans MS"/>
              </a:rPr>
              <a:t>A</a:t>
            </a:r>
            <a:endParaRPr/>
          </a:p>
        </p:txBody>
      </p:sp>
      <p:sp>
        <p:nvSpPr>
          <p:cNvPr id="304" name="Google Shape;304;p8"/>
          <p:cNvSpPr txBox="1"/>
          <p:nvPr/>
        </p:nvSpPr>
        <p:spPr>
          <a:xfrm>
            <a:off x="4641850" y="2271712"/>
            <a:ext cx="352425" cy="3810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800"/>
              <a:buFont typeface="Comic Sans MS"/>
              <a:buNone/>
            </a:pPr>
            <a:r>
              <a:rPr b="1" i="0" lang="en-US" sz="1800" u="none">
                <a:solidFill>
                  <a:schemeClr val="dk2"/>
                </a:solidFill>
                <a:latin typeface="Comic Sans MS"/>
                <a:ea typeface="Comic Sans MS"/>
                <a:cs typeface="Comic Sans MS"/>
                <a:sym typeface="Comic Sans MS"/>
              </a:rPr>
              <a:t>B</a:t>
            </a:r>
            <a:endParaRPr/>
          </a:p>
        </p:txBody>
      </p:sp>
      <p:cxnSp>
        <p:nvCxnSpPr>
          <p:cNvPr id="305" name="Google Shape;305;p8"/>
          <p:cNvCxnSpPr/>
          <p:nvPr/>
        </p:nvCxnSpPr>
        <p:spPr>
          <a:xfrm>
            <a:off x="3868737" y="2424112"/>
            <a:ext cx="773112" cy="0"/>
          </a:xfrm>
          <a:prstGeom prst="straightConnector1">
            <a:avLst/>
          </a:prstGeom>
          <a:noFill/>
          <a:ln cap="flat" cmpd="sng" w="12700">
            <a:solidFill>
              <a:schemeClr val="dk1"/>
            </a:solidFill>
            <a:prstDash val="solid"/>
            <a:miter lim="800000"/>
            <a:headEnd len="med" w="med" type="none"/>
            <a:tailEnd len="med" w="med" type="none"/>
          </a:ln>
        </p:spPr>
      </p:cxnSp>
      <p:sp>
        <p:nvSpPr>
          <p:cNvPr id="306" name="Google Shape;306;p8"/>
          <p:cNvSpPr txBox="1"/>
          <p:nvPr/>
        </p:nvSpPr>
        <p:spPr>
          <a:xfrm>
            <a:off x="4425950" y="2084387"/>
            <a:ext cx="293687"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800"/>
              <a:buFont typeface="Comic Sans MS"/>
              <a:buNone/>
            </a:pPr>
            <a:r>
              <a:rPr b="0" i="0" lang="en-US" sz="1800" u="none">
                <a:solidFill>
                  <a:schemeClr val="dk2"/>
                </a:solidFill>
                <a:latin typeface="Comic Sans MS"/>
                <a:ea typeface="Comic Sans MS"/>
                <a:cs typeface="Comic Sans MS"/>
                <a:sym typeface="Comic Sans MS"/>
              </a:rPr>
              <a:t>+</a:t>
            </a:r>
            <a:endParaRPr/>
          </a:p>
        </p:txBody>
      </p:sp>
      <p:sp>
        <p:nvSpPr>
          <p:cNvPr id="307" name="Google Shape;307;p8"/>
          <p:cNvSpPr txBox="1"/>
          <p:nvPr/>
        </p:nvSpPr>
        <p:spPr>
          <a:xfrm>
            <a:off x="5345112" y="2271712"/>
            <a:ext cx="352425" cy="3810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800"/>
              <a:buFont typeface="Comic Sans MS"/>
              <a:buNone/>
            </a:pPr>
            <a:r>
              <a:rPr b="1" i="0" lang="en-US" sz="1800" u="none">
                <a:solidFill>
                  <a:schemeClr val="dk2"/>
                </a:solidFill>
                <a:latin typeface="Comic Sans MS"/>
                <a:ea typeface="Comic Sans MS"/>
                <a:cs typeface="Comic Sans MS"/>
                <a:sym typeface="Comic Sans MS"/>
              </a:rPr>
              <a:t>A</a:t>
            </a:r>
            <a:endParaRPr/>
          </a:p>
        </p:txBody>
      </p:sp>
      <p:sp>
        <p:nvSpPr>
          <p:cNvPr id="308" name="Google Shape;308;p8"/>
          <p:cNvSpPr txBox="1"/>
          <p:nvPr/>
        </p:nvSpPr>
        <p:spPr>
          <a:xfrm>
            <a:off x="6470650" y="2271712"/>
            <a:ext cx="352425" cy="3810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800"/>
              <a:buFont typeface="Comic Sans MS"/>
              <a:buNone/>
            </a:pPr>
            <a:r>
              <a:rPr b="1" i="0" lang="en-US" sz="1800" u="none">
                <a:solidFill>
                  <a:schemeClr val="dk2"/>
                </a:solidFill>
                <a:latin typeface="Comic Sans MS"/>
                <a:ea typeface="Comic Sans MS"/>
                <a:cs typeface="Comic Sans MS"/>
                <a:sym typeface="Comic Sans MS"/>
              </a:rPr>
              <a:t>B</a:t>
            </a:r>
            <a:endParaRPr/>
          </a:p>
        </p:txBody>
      </p:sp>
      <p:cxnSp>
        <p:nvCxnSpPr>
          <p:cNvPr id="309" name="Google Shape;309;p8"/>
          <p:cNvCxnSpPr/>
          <p:nvPr/>
        </p:nvCxnSpPr>
        <p:spPr>
          <a:xfrm>
            <a:off x="5697537" y="2424112"/>
            <a:ext cx="773112" cy="0"/>
          </a:xfrm>
          <a:prstGeom prst="straightConnector1">
            <a:avLst/>
          </a:prstGeom>
          <a:noFill/>
          <a:ln cap="flat" cmpd="sng" w="12700">
            <a:solidFill>
              <a:schemeClr val="dk1"/>
            </a:solidFill>
            <a:prstDash val="solid"/>
            <a:miter lim="800000"/>
            <a:headEnd len="med" w="med" type="none"/>
            <a:tailEnd len="med" w="med" type="none"/>
          </a:ln>
        </p:spPr>
      </p:cxnSp>
      <p:sp>
        <p:nvSpPr>
          <p:cNvPr id="310" name="Google Shape;310;p8"/>
          <p:cNvSpPr txBox="1"/>
          <p:nvPr/>
        </p:nvSpPr>
        <p:spPr>
          <a:xfrm>
            <a:off x="6254750" y="2084387"/>
            <a:ext cx="303212"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800"/>
              <a:buFont typeface="Comic Sans MS"/>
              <a:buNone/>
            </a:pPr>
            <a:r>
              <a:rPr b="0" i="0" lang="en-US" sz="1800" u="none">
                <a:solidFill>
                  <a:schemeClr val="dk2"/>
                </a:solidFill>
                <a:latin typeface="Comic Sans MS"/>
                <a:ea typeface="Comic Sans MS"/>
                <a:cs typeface="Comic Sans MS"/>
                <a:sym typeface="Comic Sans MS"/>
              </a:rPr>
              <a:t>?</a:t>
            </a:r>
            <a:endParaRPr/>
          </a:p>
        </p:txBody>
      </p:sp>
      <p:sp>
        <p:nvSpPr>
          <p:cNvPr id="311" name="Google Shape;311;p8"/>
          <p:cNvSpPr txBox="1"/>
          <p:nvPr/>
        </p:nvSpPr>
        <p:spPr>
          <a:xfrm>
            <a:off x="7173912" y="2271712"/>
            <a:ext cx="352425" cy="3810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800"/>
              <a:buFont typeface="Comic Sans MS"/>
              <a:buNone/>
            </a:pPr>
            <a:r>
              <a:rPr b="1" i="0" lang="en-US" sz="1800" u="none">
                <a:solidFill>
                  <a:schemeClr val="dk2"/>
                </a:solidFill>
                <a:latin typeface="Comic Sans MS"/>
                <a:ea typeface="Comic Sans MS"/>
                <a:cs typeface="Comic Sans MS"/>
                <a:sym typeface="Comic Sans MS"/>
              </a:rPr>
              <a:t>A</a:t>
            </a:r>
            <a:endParaRPr/>
          </a:p>
        </p:txBody>
      </p:sp>
      <p:sp>
        <p:nvSpPr>
          <p:cNvPr id="312" name="Google Shape;312;p8"/>
          <p:cNvSpPr txBox="1"/>
          <p:nvPr/>
        </p:nvSpPr>
        <p:spPr>
          <a:xfrm>
            <a:off x="8299450" y="2271712"/>
            <a:ext cx="352425" cy="3810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800"/>
              <a:buFont typeface="Comic Sans MS"/>
              <a:buNone/>
            </a:pPr>
            <a:r>
              <a:rPr b="1" i="0" lang="en-US" sz="1800" u="none">
                <a:solidFill>
                  <a:schemeClr val="dk2"/>
                </a:solidFill>
                <a:latin typeface="Comic Sans MS"/>
                <a:ea typeface="Comic Sans MS"/>
                <a:cs typeface="Comic Sans MS"/>
                <a:sym typeface="Comic Sans MS"/>
              </a:rPr>
              <a:t>B</a:t>
            </a:r>
            <a:endParaRPr/>
          </a:p>
        </p:txBody>
      </p:sp>
      <p:cxnSp>
        <p:nvCxnSpPr>
          <p:cNvPr id="313" name="Google Shape;313;p8"/>
          <p:cNvCxnSpPr/>
          <p:nvPr/>
        </p:nvCxnSpPr>
        <p:spPr>
          <a:xfrm>
            <a:off x="7526337" y="2424112"/>
            <a:ext cx="773112" cy="0"/>
          </a:xfrm>
          <a:prstGeom prst="straightConnector1">
            <a:avLst/>
          </a:prstGeom>
          <a:noFill/>
          <a:ln cap="flat" cmpd="sng" w="12700">
            <a:solidFill>
              <a:schemeClr val="dk1"/>
            </a:solidFill>
            <a:prstDash val="solid"/>
            <a:miter lim="800000"/>
            <a:headEnd len="med" w="med" type="none"/>
            <a:tailEnd len="med" w="med" type="none"/>
          </a:ln>
        </p:spPr>
      </p:cxnSp>
      <p:sp>
        <p:nvSpPr>
          <p:cNvPr id="314" name="Google Shape;314;p8"/>
          <p:cNvSpPr txBox="1"/>
          <p:nvPr/>
        </p:nvSpPr>
        <p:spPr>
          <a:xfrm>
            <a:off x="8083550" y="2084387"/>
            <a:ext cx="3048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800"/>
              <a:buFont typeface="Comic Sans MS"/>
              <a:buNone/>
            </a:pPr>
            <a:r>
              <a:rPr b="0" i="0" lang="en-US" sz="1800" u="none">
                <a:solidFill>
                  <a:schemeClr val="dk2"/>
                </a:solidFill>
                <a:latin typeface="Comic Sans MS"/>
                <a:ea typeface="Comic Sans MS"/>
                <a:cs typeface="Comic Sans MS"/>
                <a:sym typeface="Comic Sans MS"/>
              </a:rPr>
              <a:t>*</a:t>
            </a:r>
            <a:endParaRPr/>
          </a:p>
        </p:txBody>
      </p:sp>
      <p:sp>
        <p:nvSpPr>
          <p:cNvPr id="315" name="Google Shape;315;p8"/>
          <p:cNvSpPr txBox="1"/>
          <p:nvPr/>
        </p:nvSpPr>
        <p:spPr>
          <a:xfrm>
            <a:off x="1617662" y="3200400"/>
            <a:ext cx="352425" cy="3810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800"/>
              <a:buFont typeface="Comic Sans MS"/>
              <a:buNone/>
            </a:pPr>
            <a:r>
              <a:rPr b="1" i="0" lang="en-US" sz="1800" u="none">
                <a:solidFill>
                  <a:schemeClr val="dk2"/>
                </a:solidFill>
                <a:latin typeface="Comic Sans MS"/>
                <a:ea typeface="Comic Sans MS"/>
                <a:cs typeface="Comic Sans MS"/>
                <a:sym typeface="Comic Sans MS"/>
              </a:rPr>
              <a:t>A</a:t>
            </a:r>
            <a:endParaRPr/>
          </a:p>
        </p:txBody>
      </p:sp>
      <p:sp>
        <p:nvSpPr>
          <p:cNvPr id="316" name="Google Shape;316;p8"/>
          <p:cNvSpPr txBox="1"/>
          <p:nvPr/>
        </p:nvSpPr>
        <p:spPr>
          <a:xfrm>
            <a:off x="2743200" y="3200400"/>
            <a:ext cx="352425" cy="3810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800"/>
              <a:buFont typeface="Comic Sans MS"/>
              <a:buNone/>
            </a:pPr>
            <a:r>
              <a:rPr b="1" i="0" lang="en-US" sz="1800" u="none">
                <a:solidFill>
                  <a:schemeClr val="dk2"/>
                </a:solidFill>
                <a:latin typeface="Comic Sans MS"/>
                <a:ea typeface="Comic Sans MS"/>
                <a:cs typeface="Comic Sans MS"/>
                <a:sym typeface="Comic Sans MS"/>
              </a:rPr>
              <a:t>B</a:t>
            </a:r>
            <a:endParaRPr/>
          </a:p>
        </p:txBody>
      </p:sp>
      <p:cxnSp>
        <p:nvCxnSpPr>
          <p:cNvPr id="317" name="Google Shape;317;p8"/>
          <p:cNvCxnSpPr/>
          <p:nvPr/>
        </p:nvCxnSpPr>
        <p:spPr>
          <a:xfrm>
            <a:off x="1970087" y="3352800"/>
            <a:ext cx="773112" cy="0"/>
          </a:xfrm>
          <a:prstGeom prst="straightConnector1">
            <a:avLst/>
          </a:prstGeom>
          <a:noFill/>
          <a:ln cap="flat" cmpd="sng" w="12700">
            <a:solidFill>
              <a:schemeClr val="dk1"/>
            </a:solidFill>
            <a:prstDash val="solid"/>
            <a:miter lim="800000"/>
            <a:headEnd len="med" w="med" type="none"/>
            <a:tailEnd len="med" w="med" type="none"/>
          </a:ln>
        </p:spPr>
      </p:cxnSp>
      <p:sp>
        <p:nvSpPr>
          <p:cNvPr id="318" name="Google Shape;318;p8"/>
          <p:cNvSpPr txBox="1"/>
          <p:nvPr/>
        </p:nvSpPr>
        <p:spPr>
          <a:xfrm>
            <a:off x="1963737" y="3013075"/>
            <a:ext cx="287337"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800"/>
              <a:buFont typeface="Comic Sans MS"/>
              <a:buNone/>
            </a:pPr>
            <a:r>
              <a:rPr b="0" i="0" lang="en-US" sz="1800" u="none">
                <a:solidFill>
                  <a:schemeClr val="dk2"/>
                </a:solidFill>
                <a:latin typeface="Comic Sans MS"/>
                <a:ea typeface="Comic Sans MS"/>
                <a:cs typeface="Comic Sans MS"/>
                <a:sym typeface="Comic Sans MS"/>
              </a:rPr>
              <a:t>1</a:t>
            </a:r>
            <a:endParaRPr/>
          </a:p>
        </p:txBody>
      </p:sp>
      <p:sp>
        <p:nvSpPr>
          <p:cNvPr id="319" name="Google Shape;319;p8"/>
          <p:cNvSpPr txBox="1"/>
          <p:nvPr/>
        </p:nvSpPr>
        <p:spPr>
          <a:xfrm>
            <a:off x="3516312" y="3200400"/>
            <a:ext cx="352425" cy="3810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800"/>
              <a:buFont typeface="Comic Sans MS"/>
              <a:buNone/>
            </a:pPr>
            <a:r>
              <a:rPr b="1" i="0" lang="en-US" sz="1800" u="none">
                <a:solidFill>
                  <a:schemeClr val="dk2"/>
                </a:solidFill>
                <a:latin typeface="Comic Sans MS"/>
                <a:ea typeface="Comic Sans MS"/>
                <a:cs typeface="Comic Sans MS"/>
                <a:sym typeface="Comic Sans MS"/>
              </a:rPr>
              <a:t>A</a:t>
            </a:r>
            <a:endParaRPr/>
          </a:p>
        </p:txBody>
      </p:sp>
      <p:sp>
        <p:nvSpPr>
          <p:cNvPr id="320" name="Google Shape;320;p8"/>
          <p:cNvSpPr txBox="1"/>
          <p:nvPr/>
        </p:nvSpPr>
        <p:spPr>
          <a:xfrm>
            <a:off x="4641850" y="3200400"/>
            <a:ext cx="352425" cy="3810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800"/>
              <a:buFont typeface="Comic Sans MS"/>
              <a:buNone/>
            </a:pPr>
            <a:r>
              <a:rPr b="1" i="0" lang="en-US" sz="1800" u="none">
                <a:solidFill>
                  <a:schemeClr val="dk2"/>
                </a:solidFill>
                <a:latin typeface="Comic Sans MS"/>
                <a:ea typeface="Comic Sans MS"/>
                <a:cs typeface="Comic Sans MS"/>
                <a:sym typeface="Comic Sans MS"/>
              </a:rPr>
              <a:t>B</a:t>
            </a:r>
            <a:endParaRPr/>
          </a:p>
        </p:txBody>
      </p:sp>
      <p:cxnSp>
        <p:nvCxnSpPr>
          <p:cNvPr id="321" name="Google Shape;321;p8"/>
          <p:cNvCxnSpPr/>
          <p:nvPr/>
        </p:nvCxnSpPr>
        <p:spPr>
          <a:xfrm>
            <a:off x="3868737" y="3352800"/>
            <a:ext cx="773112" cy="0"/>
          </a:xfrm>
          <a:prstGeom prst="straightConnector1">
            <a:avLst/>
          </a:prstGeom>
          <a:noFill/>
          <a:ln cap="flat" cmpd="sng" w="12700">
            <a:solidFill>
              <a:schemeClr val="dk1"/>
            </a:solidFill>
            <a:prstDash val="solid"/>
            <a:miter lim="800000"/>
            <a:headEnd len="med" w="med" type="none"/>
            <a:tailEnd len="med" w="med" type="none"/>
          </a:ln>
        </p:spPr>
      </p:cxnSp>
      <p:sp>
        <p:nvSpPr>
          <p:cNvPr id="322" name="Google Shape;322;p8"/>
          <p:cNvSpPr txBox="1"/>
          <p:nvPr/>
        </p:nvSpPr>
        <p:spPr>
          <a:xfrm>
            <a:off x="3798887" y="3013075"/>
            <a:ext cx="528637"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800"/>
              <a:buFont typeface="Comic Sans MS"/>
              <a:buNone/>
            </a:pPr>
            <a:r>
              <a:rPr b="0" i="0" lang="en-US" sz="1800" u="none">
                <a:solidFill>
                  <a:schemeClr val="dk2"/>
                </a:solidFill>
                <a:latin typeface="Comic Sans MS"/>
                <a:ea typeface="Comic Sans MS"/>
                <a:cs typeface="Comic Sans MS"/>
                <a:sym typeface="Comic Sans MS"/>
              </a:rPr>
              <a:t>1,m</a:t>
            </a:r>
            <a:endParaRPr/>
          </a:p>
        </p:txBody>
      </p:sp>
      <p:sp>
        <p:nvSpPr>
          <p:cNvPr id="323" name="Google Shape;323;p8"/>
          <p:cNvSpPr txBox="1"/>
          <p:nvPr/>
        </p:nvSpPr>
        <p:spPr>
          <a:xfrm>
            <a:off x="5345112" y="3200400"/>
            <a:ext cx="352425" cy="3810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800"/>
              <a:buFont typeface="Comic Sans MS"/>
              <a:buNone/>
            </a:pPr>
            <a:r>
              <a:rPr b="1" i="0" lang="en-US" sz="1800" u="none">
                <a:solidFill>
                  <a:schemeClr val="dk2"/>
                </a:solidFill>
                <a:latin typeface="Comic Sans MS"/>
                <a:ea typeface="Comic Sans MS"/>
                <a:cs typeface="Comic Sans MS"/>
                <a:sym typeface="Comic Sans MS"/>
              </a:rPr>
              <a:t>A</a:t>
            </a:r>
            <a:endParaRPr/>
          </a:p>
        </p:txBody>
      </p:sp>
      <p:sp>
        <p:nvSpPr>
          <p:cNvPr id="324" name="Google Shape;324;p8"/>
          <p:cNvSpPr txBox="1"/>
          <p:nvPr/>
        </p:nvSpPr>
        <p:spPr>
          <a:xfrm>
            <a:off x="6470650" y="3200400"/>
            <a:ext cx="352425" cy="3810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800"/>
              <a:buFont typeface="Comic Sans MS"/>
              <a:buNone/>
            </a:pPr>
            <a:r>
              <a:rPr b="1" i="0" lang="en-US" sz="1800" u="none">
                <a:solidFill>
                  <a:schemeClr val="dk2"/>
                </a:solidFill>
                <a:latin typeface="Comic Sans MS"/>
                <a:ea typeface="Comic Sans MS"/>
                <a:cs typeface="Comic Sans MS"/>
                <a:sym typeface="Comic Sans MS"/>
              </a:rPr>
              <a:t>B</a:t>
            </a:r>
            <a:endParaRPr/>
          </a:p>
        </p:txBody>
      </p:sp>
      <p:cxnSp>
        <p:nvCxnSpPr>
          <p:cNvPr id="325" name="Google Shape;325;p8"/>
          <p:cNvCxnSpPr/>
          <p:nvPr/>
        </p:nvCxnSpPr>
        <p:spPr>
          <a:xfrm>
            <a:off x="5697537" y="3352800"/>
            <a:ext cx="773112" cy="0"/>
          </a:xfrm>
          <a:prstGeom prst="straightConnector1">
            <a:avLst/>
          </a:prstGeom>
          <a:noFill/>
          <a:ln cap="flat" cmpd="sng" w="12700">
            <a:solidFill>
              <a:schemeClr val="dk1"/>
            </a:solidFill>
            <a:prstDash val="solid"/>
            <a:miter lim="800000"/>
            <a:headEnd len="med" w="med" type="none"/>
            <a:tailEnd len="med" w="med" type="none"/>
          </a:ln>
        </p:spPr>
      </p:cxnSp>
      <p:sp>
        <p:nvSpPr>
          <p:cNvPr id="326" name="Google Shape;326;p8"/>
          <p:cNvSpPr txBox="1"/>
          <p:nvPr/>
        </p:nvSpPr>
        <p:spPr>
          <a:xfrm>
            <a:off x="5697537" y="3013075"/>
            <a:ext cx="490537"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800"/>
              <a:buFont typeface="Comic Sans MS"/>
              <a:buNone/>
            </a:pPr>
            <a:r>
              <a:rPr b="0" i="0" lang="en-US" sz="1800" u="none">
                <a:solidFill>
                  <a:schemeClr val="dk2"/>
                </a:solidFill>
                <a:latin typeface="Comic Sans MS"/>
                <a:ea typeface="Comic Sans MS"/>
                <a:cs typeface="Comic Sans MS"/>
                <a:sym typeface="Comic Sans MS"/>
              </a:rPr>
              <a:t>0,1</a:t>
            </a:r>
            <a:endParaRPr/>
          </a:p>
        </p:txBody>
      </p:sp>
      <p:sp>
        <p:nvSpPr>
          <p:cNvPr id="327" name="Google Shape;327;p8"/>
          <p:cNvSpPr txBox="1"/>
          <p:nvPr/>
        </p:nvSpPr>
        <p:spPr>
          <a:xfrm>
            <a:off x="7173912" y="3200400"/>
            <a:ext cx="352425" cy="3810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800"/>
              <a:buFont typeface="Comic Sans MS"/>
              <a:buNone/>
            </a:pPr>
            <a:r>
              <a:rPr b="1" i="0" lang="en-US" sz="1800" u="none">
                <a:solidFill>
                  <a:schemeClr val="dk2"/>
                </a:solidFill>
                <a:latin typeface="Comic Sans MS"/>
                <a:ea typeface="Comic Sans MS"/>
                <a:cs typeface="Comic Sans MS"/>
                <a:sym typeface="Comic Sans MS"/>
              </a:rPr>
              <a:t>A</a:t>
            </a:r>
            <a:endParaRPr/>
          </a:p>
        </p:txBody>
      </p:sp>
      <p:sp>
        <p:nvSpPr>
          <p:cNvPr id="328" name="Google Shape;328;p8"/>
          <p:cNvSpPr txBox="1"/>
          <p:nvPr/>
        </p:nvSpPr>
        <p:spPr>
          <a:xfrm>
            <a:off x="8299450" y="3200400"/>
            <a:ext cx="352425" cy="3810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800"/>
              <a:buFont typeface="Comic Sans MS"/>
              <a:buNone/>
            </a:pPr>
            <a:r>
              <a:rPr b="1" i="0" lang="en-US" sz="1800" u="none">
                <a:solidFill>
                  <a:schemeClr val="dk2"/>
                </a:solidFill>
                <a:latin typeface="Comic Sans MS"/>
                <a:ea typeface="Comic Sans MS"/>
                <a:cs typeface="Comic Sans MS"/>
                <a:sym typeface="Comic Sans MS"/>
              </a:rPr>
              <a:t>B</a:t>
            </a:r>
            <a:endParaRPr/>
          </a:p>
        </p:txBody>
      </p:sp>
      <p:cxnSp>
        <p:nvCxnSpPr>
          <p:cNvPr id="329" name="Google Shape;329;p8"/>
          <p:cNvCxnSpPr/>
          <p:nvPr/>
        </p:nvCxnSpPr>
        <p:spPr>
          <a:xfrm>
            <a:off x="7526337" y="3352800"/>
            <a:ext cx="773112" cy="0"/>
          </a:xfrm>
          <a:prstGeom prst="straightConnector1">
            <a:avLst/>
          </a:prstGeom>
          <a:noFill/>
          <a:ln cap="flat" cmpd="sng" w="12700">
            <a:solidFill>
              <a:schemeClr val="dk1"/>
            </a:solidFill>
            <a:prstDash val="solid"/>
            <a:miter lim="800000"/>
            <a:headEnd len="med" w="med" type="none"/>
            <a:tailEnd len="med" w="med" type="none"/>
          </a:ln>
        </p:spPr>
      </p:cxnSp>
      <p:sp>
        <p:nvSpPr>
          <p:cNvPr id="330" name="Google Shape;330;p8"/>
          <p:cNvSpPr txBox="1"/>
          <p:nvPr/>
        </p:nvSpPr>
        <p:spPr>
          <a:xfrm>
            <a:off x="7526337" y="3013075"/>
            <a:ext cx="565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800"/>
              <a:buFont typeface="Comic Sans MS"/>
              <a:buNone/>
            </a:pPr>
            <a:r>
              <a:rPr b="0" i="0" lang="en-US" sz="1800" u="none">
                <a:solidFill>
                  <a:schemeClr val="dk2"/>
                </a:solidFill>
                <a:latin typeface="Comic Sans MS"/>
                <a:ea typeface="Comic Sans MS"/>
                <a:cs typeface="Comic Sans MS"/>
                <a:sym typeface="Comic Sans MS"/>
              </a:rPr>
              <a:t>0,m</a:t>
            </a:r>
            <a:endParaRPr/>
          </a:p>
        </p:txBody>
      </p:sp>
      <p:sp>
        <p:nvSpPr>
          <p:cNvPr id="331" name="Google Shape;331;p8"/>
          <p:cNvSpPr txBox="1"/>
          <p:nvPr/>
        </p:nvSpPr>
        <p:spPr>
          <a:xfrm>
            <a:off x="1617662" y="4191000"/>
            <a:ext cx="352425" cy="3810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800"/>
              <a:buFont typeface="Comic Sans MS"/>
              <a:buNone/>
            </a:pPr>
            <a:r>
              <a:rPr b="1" i="0" lang="en-US" sz="1800" u="none">
                <a:solidFill>
                  <a:schemeClr val="dk2"/>
                </a:solidFill>
                <a:latin typeface="Comic Sans MS"/>
                <a:ea typeface="Comic Sans MS"/>
                <a:cs typeface="Comic Sans MS"/>
                <a:sym typeface="Comic Sans MS"/>
              </a:rPr>
              <a:t>A</a:t>
            </a:r>
            <a:endParaRPr/>
          </a:p>
        </p:txBody>
      </p:sp>
      <p:sp>
        <p:nvSpPr>
          <p:cNvPr id="332" name="Google Shape;332;p8"/>
          <p:cNvSpPr txBox="1"/>
          <p:nvPr/>
        </p:nvSpPr>
        <p:spPr>
          <a:xfrm>
            <a:off x="2743200" y="4191000"/>
            <a:ext cx="352425" cy="3810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800"/>
              <a:buFont typeface="Comic Sans MS"/>
              <a:buNone/>
            </a:pPr>
            <a:r>
              <a:rPr b="1" i="0" lang="en-US" sz="1800" u="none">
                <a:solidFill>
                  <a:schemeClr val="dk2"/>
                </a:solidFill>
                <a:latin typeface="Comic Sans MS"/>
                <a:ea typeface="Comic Sans MS"/>
                <a:cs typeface="Comic Sans MS"/>
                <a:sym typeface="Comic Sans MS"/>
              </a:rPr>
              <a:t>B</a:t>
            </a:r>
            <a:endParaRPr/>
          </a:p>
        </p:txBody>
      </p:sp>
      <p:cxnSp>
        <p:nvCxnSpPr>
          <p:cNvPr id="333" name="Google Shape;333;p8"/>
          <p:cNvCxnSpPr/>
          <p:nvPr/>
        </p:nvCxnSpPr>
        <p:spPr>
          <a:xfrm>
            <a:off x="1970087" y="4343400"/>
            <a:ext cx="773112" cy="0"/>
          </a:xfrm>
          <a:prstGeom prst="straightConnector1">
            <a:avLst/>
          </a:prstGeom>
          <a:noFill/>
          <a:ln cap="flat" cmpd="sng" w="12700">
            <a:solidFill>
              <a:schemeClr val="dk1"/>
            </a:solidFill>
            <a:prstDash val="solid"/>
            <a:miter lim="800000"/>
            <a:headEnd len="med" w="med" type="none"/>
            <a:tailEnd len="med" w="med" type="none"/>
          </a:ln>
        </p:spPr>
      </p:cxnSp>
      <p:sp>
        <p:nvSpPr>
          <p:cNvPr id="334" name="Google Shape;334;p8"/>
          <p:cNvSpPr txBox="1"/>
          <p:nvPr/>
        </p:nvSpPr>
        <p:spPr>
          <a:xfrm>
            <a:off x="3516312" y="4191000"/>
            <a:ext cx="352425" cy="3810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800"/>
              <a:buFont typeface="Comic Sans MS"/>
              <a:buNone/>
            </a:pPr>
            <a:r>
              <a:rPr b="1" i="0" lang="en-US" sz="1800" u="none">
                <a:solidFill>
                  <a:schemeClr val="dk2"/>
                </a:solidFill>
                <a:latin typeface="Comic Sans MS"/>
                <a:ea typeface="Comic Sans MS"/>
                <a:cs typeface="Comic Sans MS"/>
                <a:sym typeface="Comic Sans MS"/>
              </a:rPr>
              <a:t>A</a:t>
            </a:r>
            <a:endParaRPr/>
          </a:p>
        </p:txBody>
      </p:sp>
      <p:sp>
        <p:nvSpPr>
          <p:cNvPr id="335" name="Google Shape;335;p8"/>
          <p:cNvSpPr txBox="1"/>
          <p:nvPr/>
        </p:nvSpPr>
        <p:spPr>
          <a:xfrm>
            <a:off x="4641850" y="4191000"/>
            <a:ext cx="352425" cy="3810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800"/>
              <a:buFont typeface="Comic Sans MS"/>
              <a:buNone/>
            </a:pPr>
            <a:r>
              <a:rPr b="1" i="0" lang="en-US" sz="1800" u="none">
                <a:solidFill>
                  <a:schemeClr val="dk2"/>
                </a:solidFill>
                <a:latin typeface="Comic Sans MS"/>
                <a:ea typeface="Comic Sans MS"/>
                <a:cs typeface="Comic Sans MS"/>
                <a:sym typeface="Comic Sans MS"/>
              </a:rPr>
              <a:t>B</a:t>
            </a:r>
            <a:endParaRPr/>
          </a:p>
        </p:txBody>
      </p:sp>
      <p:cxnSp>
        <p:nvCxnSpPr>
          <p:cNvPr id="336" name="Google Shape;336;p8"/>
          <p:cNvCxnSpPr/>
          <p:nvPr/>
        </p:nvCxnSpPr>
        <p:spPr>
          <a:xfrm>
            <a:off x="3868737" y="4343400"/>
            <a:ext cx="773112" cy="0"/>
          </a:xfrm>
          <a:prstGeom prst="straightConnector1">
            <a:avLst/>
          </a:prstGeom>
          <a:noFill/>
          <a:ln cap="flat" cmpd="sng" w="12700">
            <a:solidFill>
              <a:schemeClr val="dk1"/>
            </a:solidFill>
            <a:prstDash val="solid"/>
            <a:miter lim="800000"/>
            <a:headEnd len="med" w="med" type="none"/>
            <a:tailEnd len="med" w="med" type="none"/>
          </a:ln>
        </p:spPr>
      </p:cxnSp>
      <p:sp>
        <p:nvSpPr>
          <p:cNvPr id="337" name="Google Shape;337;p8"/>
          <p:cNvSpPr txBox="1"/>
          <p:nvPr/>
        </p:nvSpPr>
        <p:spPr>
          <a:xfrm>
            <a:off x="4219575" y="4003675"/>
            <a:ext cx="396875"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800"/>
              <a:buFont typeface="Comic Sans MS"/>
              <a:buNone/>
            </a:pPr>
            <a:r>
              <a:rPr b="0" i="0" lang="en-US" sz="1800" u="none">
                <a:solidFill>
                  <a:schemeClr val="dk2"/>
                </a:solidFill>
                <a:latin typeface="Comic Sans MS"/>
                <a:ea typeface="Comic Sans MS"/>
                <a:cs typeface="Comic Sans MS"/>
                <a:sym typeface="Comic Sans MS"/>
              </a:rPr>
              <a:t>1+</a:t>
            </a:r>
            <a:endParaRPr/>
          </a:p>
        </p:txBody>
      </p:sp>
      <p:sp>
        <p:nvSpPr>
          <p:cNvPr id="338" name="Google Shape;338;p8"/>
          <p:cNvSpPr txBox="1"/>
          <p:nvPr/>
        </p:nvSpPr>
        <p:spPr>
          <a:xfrm>
            <a:off x="5345112" y="4191000"/>
            <a:ext cx="352425" cy="3810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800"/>
              <a:buFont typeface="Comic Sans MS"/>
              <a:buNone/>
            </a:pPr>
            <a:r>
              <a:rPr b="1" i="0" lang="en-US" sz="1800" u="none">
                <a:solidFill>
                  <a:schemeClr val="dk2"/>
                </a:solidFill>
                <a:latin typeface="Comic Sans MS"/>
                <a:ea typeface="Comic Sans MS"/>
                <a:cs typeface="Comic Sans MS"/>
                <a:sym typeface="Comic Sans MS"/>
              </a:rPr>
              <a:t>A</a:t>
            </a:r>
            <a:endParaRPr/>
          </a:p>
        </p:txBody>
      </p:sp>
      <p:sp>
        <p:nvSpPr>
          <p:cNvPr id="339" name="Google Shape;339;p8"/>
          <p:cNvSpPr txBox="1"/>
          <p:nvPr/>
        </p:nvSpPr>
        <p:spPr>
          <a:xfrm>
            <a:off x="6470650" y="4191000"/>
            <a:ext cx="352425" cy="3810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800"/>
              <a:buFont typeface="Comic Sans MS"/>
              <a:buNone/>
            </a:pPr>
            <a:r>
              <a:rPr b="1" i="0" lang="en-US" sz="1800" u="none">
                <a:solidFill>
                  <a:schemeClr val="dk2"/>
                </a:solidFill>
                <a:latin typeface="Comic Sans MS"/>
                <a:ea typeface="Comic Sans MS"/>
                <a:cs typeface="Comic Sans MS"/>
                <a:sym typeface="Comic Sans MS"/>
              </a:rPr>
              <a:t>B</a:t>
            </a:r>
            <a:endParaRPr/>
          </a:p>
        </p:txBody>
      </p:sp>
      <p:cxnSp>
        <p:nvCxnSpPr>
          <p:cNvPr id="340" name="Google Shape;340;p8"/>
          <p:cNvCxnSpPr/>
          <p:nvPr/>
        </p:nvCxnSpPr>
        <p:spPr>
          <a:xfrm>
            <a:off x="5697537" y="4343400"/>
            <a:ext cx="773112" cy="0"/>
          </a:xfrm>
          <a:prstGeom prst="straightConnector1">
            <a:avLst/>
          </a:prstGeom>
          <a:noFill/>
          <a:ln cap="flat" cmpd="sng" w="12700">
            <a:solidFill>
              <a:schemeClr val="dk1"/>
            </a:solidFill>
            <a:prstDash val="solid"/>
            <a:miter lim="800000"/>
            <a:headEnd len="med" w="med" type="none"/>
            <a:tailEnd len="med" w="med" type="none"/>
          </a:ln>
        </p:spPr>
      </p:cxnSp>
      <p:sp>
        <p:nvSpPr>
          <p:cNvPr id="341" name="Google Shape;341;p8"/>
          <p:cNvSpPr txBox="1"/>
          <p:nvPr/>
        </p:nvSpPr>
        <p:spPr>
          <a:xfrm>
            <a:off x="7173912" y="4191000"/>
            <a:ext cx="352425" cy="3810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800"/>
              <a:buFont typeface="Comic Sans MS"/>
              <a:buNone/>
            </a:pPr>
            <a:r>
              <a:rPr b="1" i="0" lang="en-US" sz="1800" u="none">
                <a:solidFill>
                  <a:schemeClr val="dk2"/>
                </a:solidFill>
                <a:latin typeface="Comic Sans MS"/>
                <a:ea typeface="Comic Sans MS"/>
                <a:cs typeface="Comic Sans MS"/>
                <a:sym typeface="Comic Sans MS"/>
              </a:rPr>
              <a:t>A</a:t>
            </a:r>
            <a:endParaRPr/>
          </a:p>
        </p:txBody>
      </p:sp>
      <p:sp>
        <p:nvSpPr>
          <p:cNvPr id="342" name="Google Shape;342;p8"/>
          <p:cNvSpPr txBox="1"/>
          <p:nvPr/>
        </p:nvSpPr>
        <p:spPr>
          <a:xfrm>
            <a:off x="8299450" y="4191000"/>
            <a:ext cx="352425" cy="3810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800"/>
              <a:buFont typeface="Comic Sans MS"/>
              <a:buNone/>
            </a:pPr>
            <a:r>
              <a:rPr b="1" i="0" lang="en-US" sz="1800" u="none">
                <a:solidFill>
                  <a:schemeClr val="dk2"/>
                </a:solidFill>
                <a:latin typeface="Comic Sans MS"/>
                <a:ea typeface="Comic Sans MS"/>
                <a:cs typeface="Comic Sans MS"/>
                <a:sym typeface="Comic Sans MS"/>
              </a:rPr>
              <a:t>B</a:t>
            </a:r>
            <a:endParaRPr/>
          </a:p>
        </p:txBody>
      </p:sp>
      <p:cxnSp>
        <p:nvCxnSpPr>
          <p:cNvPr id="343" name="Google Shape;343;p8"/>
          <p:cNvCxnSpPr/>
          <p:nvPr/>
        </p:nvCxnSpPr>
        <p:spPr>
          <a:xfrm>
            <a:off x="7526337" y="4343400"/>
            <a:ext cx="773112" cy="0"/>
          </a:xfrm>
          <a:prstGeom prst="straightConnector1">
            <a:avLst/>
          </a:prstGeom>
          <a:noFill/>
          <a:ln cap="flat" cmpd="sng" w="12700">
            <a:solidFill>
              <a:schemeClr val="dk1"/>
            </a:solidFill>
            <a:prstDash val="solid"/>
            <a:miter lim="800000"/>
            <a:headEnd len="med" w="med" type="none"/>
            <a:tailEnd len="med" w="med" type="none"/>
          </a:ln>
        </p:spPr>
      </p:cxnSp>
      <p:sp>
        <p:nvSpPr>
          <p:cNvPr id="344" name="Google Shape;344;p8"/>
          <p:cNvSpPr txBox="1"/>
          <p:nvPr/>
        </p:nvSpPr>
        <p:spPr>
          <a:xfrm>
            <a:off x="1617662" y="5105400"/>
            <a:ext cx="352425" cy="3810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800"/>
              <a:buFont typeface="Comic Sans MS"/>
              <a:buNone/>
            </a:pPr>
            <a:r>
              <a:rPr b="1" i="0" lang="en-US" sz="1800" u="none">
                <a:solidFill>
                  <a:schemeClr val="dk2"/>
                </a:solidFill>
                <a:latin typeface="Comic Sans MS"/>
                <a:ea typeface="Comic Sans MS"/>
                <a:cs typeface="Comic Sans MS"/>
                <a:sym typeface="Comic Sans MS"/>
              </a:rPr>
              <a:t>A</a:t>
            </a:r>
            <a:endParaRPr/>
          </a:p>
        </p:txBody>
      </p:sp>
      <p:sp>
        <p:nvSpPr>
          <p:cNvPr id="345" name="Google Shape;345;p8"/>
          <p:cNvSpPr txBox="1"/>
          <p:nvPr/>
        </p:nvSpPr>
        <p:spPr>
          <a:xfrm>
            <a:off x="2743200" y="5105400"/>
            <a:ext cx="352425" cy="3810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800"/>
              <a:buFont typeface="Comic Sans MS"/>
              <a:buNone/>
            </a:pPr>
            <a:r>
              <a:rPr b="1" i="0" lang="en-US" sz="1800" u="none">
                <a:solidFill>
                  <a:schemeClr val="dk2"/>
                </a:solidFill>
                <a:latin typeface="Comic Sans MS"/>
                <a:ea typeface="Comic Sans MS"/>
                <a:cs typeface="Comic Sans MS"/>
                <a:sym typeface="Comic Sans MS"/>
              </a:rPr>
              <a:t>B</a:t>
            </a:r>
            <a:endParaRPr/>
          </a:p>
        </p:txBody>
      </p:sp>
      <p:cxnSp>
        <p:nvCxnSpPr>
          <p:cNvPr id="346" name="Google Shape;346;p8"/>
          <p:cNvCxnSpPr/>
          <p:nvPr/>
        </p:nvCxnSpPr>
        <p:spPr>
          <a:xfrm>
            <a:off x="1970087" y="5257800"/>
            <a:ext cx="773112" cy="0"/>
          </a:xfrm>
          <a:prstGeom prst="straightConnector1">
            <a:avLst/>
          </a:prstGeom>
          <a:noFill/>
          <a:ln cap="flat" cmpd="sng" w="12700">
            <a:solidFill>
              <a:schemeClr val="dk1"/>
            </a:solidFill>
            <a:prstDash val="solid"/>
            <a:miter lim="800000"/>
            <a:headEnd len="med" w="med" type="none"/>
            <a:tailEnd len="med" w="med" type="none"/>
          </a:ln>
        </p:spPr>
      </p:cxnSp>
      <p:sp>
        <p:nvSpPr>
          <p:cNvPr id="347" name="Google Shape;347;p8"/>
          <p:cNvSpPr txBox="1"/>
          <p:nvPr/>
        </p:nvSpPr>
        <p:spPr>
          <a:xfrm>
            <a:off x="2525712" y="4918075"/>
            <a:ext cx="287337"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800"/>
              <a:buFont typeface="Comic Sans MS"/>
              <a:buNone/>
            </a:pPr>
            <a:r>
              <a:rPr b="0" i="0" lang="en-US" sz="1800" u="none">
                <a:solidFill>
                  <a:schemeClr val="dk2"/>
                </a:solidFill>
                <a:latin typeface="Comic Sans MS"/>
                <a:ea typeface="Comic Sans MS"/>
                <a:cs typeface="Comic Sans MS"/>
                <a:sym typeface="Comic Sans MS"/>
              </a:rPr>
              <a:t>1</a:t>
            </a:r>
            <a:endParaRPr/>
          </a:p>
        </p:txBody>
      </p:sp>
      <p:sp>
        <p:nvSpPr>
          <p:cNvPr id="348" name="Google Shape;348;p8"/>
          <p:cNvSpPr txBox="1"/>
          <p:nvPr/>
        </p:nvSpPr>
        <p:spPr>
          <a:xfrm>
            <a:off x="3516312" y="5105400"/>
            <a:ext cx="352425" cy="3810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800"/>
              <a:buFont typeface="Comic Sans MS"/>
              <a:buNone/>
            </a:pPr>
            <a:r>
              <a:rPr b="1" i="0" lang="en-US" sz="1800" u="none">
                <a:solidFill>
                  <a:schemeClr val="dk2"/>
                </a:solidFill>
                <a:latin typeface="Comic Sans MS"/>
                <a:ea typeface="Comic Sans MS"/>
                <a:cs typeface="Comic Sans MS"/>
                <a:sym typeface="Comic Sans MS"/>
              </a:rPr>
              <a:t>A</a:t>
            </a:r>
            <a:endParaRPr/>
          </a:p>
        </p:txBody>
      </p:sp>
      <p:sp>
        <p:nvSpPr>
          <p:cNvPr id="349" name="Google Shape;349;p8"/>
          <p:cNvSpPr txBox="1"/>
          <p:nvPr/>
        </p:nvSpPr>
        <p:spPr>
          <a:xfrm>
            <a:off x="4641850" y="5105400"/>
            <a:ext cx="352425" cy="3810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800"/>
              <a:buFont typeface="Comic Sans MS"/>
              <a:buNone/>
            </a:pPr>
            <a:r>
              <a:rPr b="1" i="0" lang="en-US" sz="1800" u="none">
                <a:solidFill>
                  <a:schemeClr val="dk2"/>
                </a:solidFill>
                <a:latin typeface="Comic Sans MS"/>
                <a:ea typeface="Comic Sans MS"/>
                <a:cs typeface="Comic Sans MS"/>
                <a:sym typeface="Comic Sans MS"/>
              </a:rPr>
              <a:t>B</a:t>
            </a:r>
            <a:endParaRPr/>
          </a:p>
        </p:txBody>
      </p:sp>
      <p:cxnSp>
        <p:nvCxnSpPr>
          <p:cNvPr id="350" name="Google Shape;350;p8"/>
          <p:cNvCxnSpPr/>
          <p:nvPr/>
        </p:nvCxnSpPr>
        <p:spPr>
          <a:xfrm>
            <a:off x="3868737" y="5257800"/>
            <a:ext cx="773112" cy="0"/>
          </a:xfrm>
          <a:prstGeom prst="straightConnector1">
            <a:avLst/>
          </a:prstGeom>
          <a:noFill/>
          <a:ln cap="flat" cmpd="sng" w="12700">
            <a:solidFill>
              <a:schemeClr val="dk1"/>
            </a:solidFill>
            <a:prstDash val="solid"/>
            <a:miter lim="800000"/>
            <a:headEnd len="med" w="med" type="none"/>
            <a:tailEnd len="med" w="med" type="none"/>
          </a:ln>
        </p:spPr>
      </p:cxnSp>
      <p:sp>
        <p:nvSpPr>
          <p:cNvPr id="351" name="Google Shape;351;p8"/>
          <p:cNvSpPr txBox="1"/>
          <p:nvPr/>
        </p:nvSpPr>
        <p:spPr>
          <a:xfrm>
            <a:off x="4149725" y="4918075"/>
            <a:ext cx="522287"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800"/>
              <a:buFont typeface="Comic Sans MS"/>
              <a:buNone/>
            </a:pPr>
            <a:r>
              <a:rPr b="0" i="0" lang="en-US" sz="1800" u="none">
                <a:solidFill>
                  <a:schemeClr val="dk2"/>
                </a:solidFill>
                <a:latin typeface="Comic Sans MS"/>
                <a:ea typeface="Comic Sans MS"/>
                <a:cs typeface="Comic Sans MS"/>
                <a:sym typeface="Comic Sans MS"/>
              </a:rPr>
              <a:t>1..*</a:t>
            </a:r>
            <a:endParaRPr/>
          </a:p>
        </p:txBody>
      </p:sp>
      <p:sp>
        <p:nvSpPr>
          <p:cNvPr id="352" name="Google Shape;352;p8"/>
          <p:cNvSpPr txBox="1"/>
          <p:nvPr/>
        </p:nvSpPr>
        <p:spPr>
          <a:xfrm>
            <a:off x="5345112" y="5105400"/>
            <a:ext cx="352425" cy="3810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800"/>
              <a:buFont typeface="Comic Sans MS"/>
              <a:buNone/>
            </a:pPr>
            <a:r>
              <a:rPr b="1" i="0" lang="en-US" sz="1800" u="none">
                <a:solidFill>
                  <a:schemeClr val="dk2"/>
                </a:solidFill>
                <a:latin typeface="Comic Sans MS"/>
                <a:ea typeface="Comic Sans MS"/>
                <a:cs typeface="Comic Sans MS"/>
                <a:sym typeface="Comic Sans MS"/>
              </a:rPr>
              <a:t>A</a:t>
            </a:r>
            <a:endParaRPr/>
          </a:p>
        </p:txBody>
      </p:sp>
      <p:sp>
        <p:nvSpPr>
          <p:cNvPr id="353" name="Google Shape;353;p8"/>
          <p:cNvSpPr txBox="1"/>
          <p:nvPr/>
        </p:nvSpPr>
        <p:spPr>
          <a:xfrm>
            <a:off x="6470650" y="5105400"/>
            <a:ext cx="352425" cy="3810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800"/>
              <a:buFont typeface="Comic Sans MS"/>
              <a:buNone/>
            </a:pPr>
            <a:r>
              <a:rPr b="1" i="0" lang="en-US" sz="1800" u="none">
                <a:solidFill>
                  <a:schemeClr val="dk2"/>
                </a:solidFill>
                <a:latin typeface="Comic Sans MS"/>
                <a:ea typeface="Comic Sans MS"/>
                <a:cs typeface="Comic Sans MS"/>
                <a:sym typeface="Comic Sans MS"/>
              </a:rPr>
              <a:t>B</a:t>
            </a:r>
            <a:endParaRPr/>
          </a:p>
        </p:txBody>
      </p:sp>
      <p:cxnSp>
        <p:nvCxnSpPr>
          <p:cNvPr id="354" name="Google Shape;354;p8"/>
          <p:cNvCxnSpPr/>
          <p:nvPr/>
        </p:nvCxnSpPr>
        <p:spPr>
          <a:xfrm>
            <a:off x="5697537" y="5257800"/>
            <a:ext cx="773112" cy="0"/>
          </a:xfrm>
          <a:prstGeom prst="straightConnector1">
            <a:avLst/>
          </a:prstGeom>
          <a:noFill/>
          <a:ln cap="flat" cmpd="sng" w="12700">
            <a:solidFill>
              <a:schemeClr val="dk1"/>
            </a:solidFill>
            <a:prstDash val="solid"/>
            <a:miter lim="800000"/>
            <a:headEnd len="med" w="med" type="none"/>
            <a:tailEnd len="med" w="med" type="none"/>
          </a:ln>
        </p:spPr>
      </p:cxnSp>
      <p:sp>
        <p:nvSpPr>
          <p:cNvPr id="355" name="Google Shape;355;p8"/>
          <p:cNvSpPr txBox="1"/>
          <p:nvPr/>
        </p:nvSpPr>
        <p:spPr>
          <a:xfrm>
            <a:off x="5978525" y="4918075"/>
            <a:ext cx="541337"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800"/>
              <a:buFont typeface="Comic Sans MS"/>
              <a:buNone/>
            </a:pPr>
            <a:r>
              <a:rPr b="0" i="0" lang="en-US" sz="1800" u="none">
                <a:solidFill>
                  <a:schemeClr val="dk2"/>
                </a:solidFill>
                <a:latin typeface="Comic Sans MS"/>
                <a:ea typeface="Comic Sans MS"/>
                <a:cs typeface="Comic Sans MS"/>
                <a:sym typeface="Comic Sans MS"/>
              </a:rPr>
              <a:t>0..1</a:t>
            </a:r>
            <a:endParaRPr/>
          </a:p>
        </p:txBody>
      </p:sp>
      <p:sp>
        <p:nvSpPr>
          <p:cNvPr id="356" name="Google Shape;356;p8"/>
          <p:cNvSpPr txBox="1"/>
          <p:nvPr/>
        </p:nvSpPr>
        <p:spPr>
          <a:xfrm>
            <a:off x="7173912" y="5105400"/>
            <a:ext cx="352425" cy="3810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800"/>
              <a:buFont typeface="Comic Sans MS"/>
              <a:buNone/>
            </a:pPr>
            <a:r>
              <a:rPr b="1" i="0" lang="en-US" sz="1800" u="none">
                <a:solidFill>
                  <a:schemeClr val="dk2"/>
                </a:solidFill>
                <a:latin typeface="Comic Sans MS"/>
                <a:ea typeface="Comic Sans MS"/>
                <a:cs typeface="Comic Sans MS"/>
                <a:sym typeface="Comic Sans MS"/>
              </a:rPr>
              <a:t>A</a:t>
            </a:r>
            <a:endParaRPr/>
          </a:p>
        </p:txBody>
      </p:sp>
      <p:sp>
        <p:nvSpPr>
          <p:cNvPr id="357" name="Google Shape;357;p8"/>
          <p:cNvSpPr txBox="1"/>
          <p:nvPr/>
        </p:nvSpPr>
        <p:spPr>
          <a:xfrm>
            <a:off x="8299450" y="5105400"/>
            <a:ext cx="352425" cy="3810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800"/>
              <a:buFont typeface="Comic Sans MS"/>
              <a:buNone/>
            </a:pPr>
            <a:r>
              <a:rPr b="1" i="0" lang="en-US" sz="1800" u="none">
                <a:solidFill>
                  <a:schemeClr val="dk2"/>
                </a:solidFill>
                <a:latin typeface="Comic Sans MS"/>
                <a:ea typeface="Comic Sans MS"/>
                <a:cs typeface="Comic Sans MS"/>
                <a:sym typeface="Comic Sans MS"/>
              </a:rPr>
              <a:t>B</a:t>
            </a:r>
            <a:endParaRPr/>
          </a:p>
        </p:txBody>
      </p:sp>
      <p:cxnSp>
        <p:nvCxnSpPr>
          <p:cNvPr id="358" name="Google Shape;358;p8"/>
          <p:cNvCxnSpPr/>
          <p:nvPr/>
        </p:nvCxnSpPr>
        <p:spPr>
          <a:xfrm>
            <a:off x="7526337" y="5257800"/>
            <a:ext cx="773112" cy="0"/>
          </a:xfrm>
          <a:prstGeom prst="straightConnector1">
            <a:avLst/>
          </a:prstGeom>
          <a:noFill/>
          <a:ln cap="flat" cmpd="sng" w="12700">
            <a:solidFill>
              <a:schemeClr val="dk1"/>
            </a:solidFill>
            <a:prstDash val="solid"/>
            <a:miter lim="800000"/>
            <a:headEnd len="med" w="med" type="none"/>
            <a:tailEnd len="med" w="med" type="none"/>
          </a:ln>
        </p:spPr>
      </p:cxnSp>
      <p:sp>
        <p:nvSpPr>
          <p:cNvPr id="359" name="Google Shape;359;p8"/>
          <p:cNvSpPr txBox="1"/>
          <p:nvPr/>
        </p:nvSpPr>
        <p:spPr>
          <a:xfrm>
            <a:off x="8083550" y="4918075"/>
            <a:ext cx="3048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800"/>
              <a:buFont typeface="Comic Sans MS"/>
              <a:buNone/>
            </a:pPr>
            <a:r>
              <a:rPr b="0" i="0" lang="en-US" sz="1800" u="none">
                <a:solidFill>
                  <a:schemeClr val="dk2"/>
                </a:solidFill>
                <a:latin typeface="Comic Sans MS"/>
                <a:ea typeface="Comic Sans MS"/>
                <a:cs typeface="Comic Sans MS"/>
                <a:sym typeface="Comic Sans MS"/>
              </a:rPr>
              <a:t>*</a:t>
            </a:r>
            <a:endParaRPr/>
          </a:p>
        </p:txBody>
      </p:sp>
      <p:sp>
        <p:nvSpPr>
          <p:cNvPr id="360" name="Google Shape;360;p8"/>
          <p:cNvSpPr txBox="1"/>
          <p:nvPr/>
        </p:nvSpPr>
        <p:spPr>
          <a:xfrm>
            <a:off x="407987" y="5075237"/>
            <a:ext cx="8461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400"/>
              <a:buFont typeface="Comic Sans MS"/>
              <a:buNone/>
            </a:pPr>
            <a:r>
              <a:rPr b="1" i="0" lang="en-US" sz="2400" u="none">
                <a:solidFill>
                  <a:schemeClr val="dk2"/>
                </a:solidFill>
                <a:latin typeface="Comic Sans MS"/>
                <a:ea typeface="Comic Sans MS"/>
                <a:cs typeface="Comic Sans MS"/>
                <a:sym typeface="Comic Sans MS"/>
              </a:rPr>
              <a:t>UML</a:t>
            </a:r>
            <a:endParaRPr/>
          </a:p>
        </p:txBody>
      </p:sp>
      <p:sp>
        <p:nvSpPr>
          <p:cNvPr id="361" name="Google Shape;361;p8"/>
          <p:cNvSpPr txBox="1"/>
          <p:nvPr/>
        </p:nvSpPr>
        <p:spPr>
          <a:xfrm>
            <a:off x="422275" y="4203700"/>
            <a:ext cx="114300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Rumbaugh</a:t>
            </a:r>
            <a:endParaRPr/>
          </a:p>
        </p:txBody>
      </p:sp>
      <p:sp>
        <p:nvSpPr>
          <p:cNvPr id="362" name="Google Shape;362;p8"/>
          <p:cNvSpPr txBox="1"/>
          <p:nvPr/>
        </p:nvSpPr>
        <p:spPr>
          <a:xfrm>
            <a:off x="422275" y="3165475"/>
            <a:ext cx="765175"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Comic Sans MS"/>
              <a:buNone/>
            </a:pPr>
            <a:r>
              <a:rPr b="1" i="0" lang="en-US" sz="2000" u="none">
                <a:solidFill>
                  <a:schemeClr val="dk2"/>
                </a:solidFill>
                <a:latin typeface="Comic Sans MS"/>
                <a:ea typeface="Comic Sans MS"/>
                <a:cs typeface="Comic Sans MS"/>
                <a:sym typeface="Comic Sans MS"/>
              </a:rPr>
              <a:t>Coad</a:t>
            </a:r>
            <a:endParaRPr/>
          </a:p>
        </p:txBody>
      </p:sp>
      <p:sp>
        <p:nvSpPr>
          <p:cNvPr id="363" name="Google Shape;363;p8"/>
          <p:cNvSpPr txBox="1"/>
          <p:nvPr/>
        </p:nvSpPr>
        <p:spPr>
          <a:xfrm>
            <a:off x="422275" y="2284412"/>
            <a:ext cx="960437"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Booch.1</a:t>
            </a:r>
            <a:endParaRPr/>
          </a:p>
        </p:txBody>
      </p:sp>
      <p:sp>
        <p:nvSpPr>
          <p:cNvPr id="364" name="Google Shape;364;p8"/>
          <p:cNvSpPr/>
          <p:nvPr/>
        </p:nvSpPr>
        <p:spPr>
          <a:xfrm>
            <a:off x="4548187" y="4305300"/>
            <a:ext cx="71437" cy="76200"/>
          </a:xfrm>
          <a:prstGeom prst="ellipse">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65" name="Google Shape;365;p8"/>
          <p:cNvSpPr/>
          <p:nvPr/>
        </p:nvSpPr>
        <p:spPr>
          <a:xfrm>
            <a:off x="6389687" y="4308475"/>
            <a:ext cx="69850" cy="76200"/>
          </a:xfrm>
          <a:prstGeom prst="ellipse">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66" name="Google Shape;366;p8"/>
          <p:cNvSpPr/>
          <p:nvPr/>
        </p:nvSpPr>
        <p:spPr>
          <a:xfrm>
            <a:off x="8212137" y="4302125"/>
            <a:ext cx="69850" cy="76200"/>
          </a:xfrm>
          <a:prstGeom prst="ellipse">
            <a:avLst/>
          </a:prstGeom>
          <a:solidFill>
            <a:schemeClr val="dk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67" name="Google Shape;367;p8"/>
          <p:cNvSpPr txBox="1"/>
          <p:nvPr/>
        </p:nvSpPr>
        <p:spPr>
          <a:xfrm>
            <a:off x="1617662" y="5589587"/>
            <a:ext cx="1625600" cy="9159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33"/>
              </a:buClr>
              <a:buSzPts val="1800"/>
              <a:buFont typeface="Comic Sans MS"/>
              <a:buNone/>
            </a:pPr>
            <a:r>
              <a:rPr b="0" i="0" lang="en-US" sz="1800" u="none">
                <a:solidFill>
                  <a:srgbClr val="FF0033"/>
                </a:solidFill>
                <a:latin typeface="Comic Sans MS"/>
                <a:ea typeface="Comic Sans MS"/>
                <a:cs typeface="Comic Sans MS"/>
                <a:sym typeface="Comic Sans MS"/>
              </a:rPr>
              <a:t>un A toujours</a:t>
            </a:r>
            <a:endParaRPr/>
          </a:p>
          <a:p>
            <a:pPr indent="0" lvl="0" marL="0" marR="0" rtl="0" algn="l">
              <a:lnSpc>
                <a:spcPct val="100000"/>
              </a:lnSpc>
              <a:spcBef>
                <a:spcPts val="0"/>
              </a:spcBef>
              <a:spcAft>
                <a:spcPts val="0"/>
              </a:spcAft>
              <a:buClr>
                <a:srgbClr val="FF0033"/>
              </a:buClr>
              <a:buSzPts val="1800"/>
              <a:buFont typeface="Comic Sans MS"/>
              <a:buNone/>
            </a:pPr>
            <a:r>
              <a:rPr b="0" i="0" lang="en-US" sz="1800" u="none">
                <a:solidFill>
                  <a:srgbClr val="FF0033"/>
                </a:solidFill>
                <a:latin typeface="Comic Sans MS"/>
                <a:ea typeface="Comic Sans MS"/>
                <a:cs typeface="Comic Sans MS"/>
                <a:sym typeface="Comic Sans MS"/>
              </a:rPr>
              <a:t>associé avec</a:t>
            </a:r>
            <a:endParaRPr/>
          </a:p>
          <a:p>
            <a:pPr indent="0" lvl="0" marL="0" marR="0" rtl="0" algn="l">
              <a:lnSpc>
                <a:spcPct val="100000"/>
              </a:lnSpc>
              <a:spcBef>
                <a:spcPts val="0"/>
              </a:spcBef>
              <a:spcAft>
                <a:spcPts val="0"/>
              </a:spcAft>
              <a:buClr>
                <a:srgbClr val="FF0033"/>
              </a:buClr>
              <a:buSzPts val="1800"/>
              <a:buFont typeface="Comic Sans MS"/>
              <a:buNone/>
            </a:pPr>
            <a:r>
              <a:rPr b="0" i="0" lang="en-US" sz="1800" u="none">
                <a:solidFill>
                  <a:srgbClr val="FF0033"/>
                </a:solidFill>
                <a:latin typeface="Comic Sans MS"/>
                <a:ea typeface="Comic Sans MS"/>
                <a:cs typeface="Comic Sans MS"/>
                <a:sym typeface="Comic Sans MS"/>
              </a:rPr>
              <a:t> un B.</a:t>
            </a:r>
            <a:endParaRPr/>
          </a:p>
        </p:txBody>
      </p:sp>
      <p:sp>
        <p:nvSpPr>
          <p:cNvPr id="368" name="Google Shape;368;p8"/>
          <p:cNvSpPr txBox="1"/>
          <p:nvPr/>
        </p:nvSpPr>
        <p:spPr>
          <a:xfrm>
            <a:off x="3376612" y="5589587"/>
            <a:ext cx="2079625" cy="9159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33"/>
              </a:buClr>
              <a:buSzPts val="1800"/>
              <a:buFont typeface="Comic Sans MS"/>
              <a:buNone/>
            </a:pPr>
            <a:r>
              <a:rPr b="0" i="0" lang="en-US" sz="1800" u="none">
                <a:solidFill>
                  <a:srgbClr val="FF0033"/>
                </a:solidFill>
                <a:latin typeface="Comic Sans MS"/>
                <a:ea typeface="Comic Sans MS"/>
                <a:cs typeface="Comic Sans MS"/>
                <a:sym typeface="Comic Sans MS"/>
              </a:rPr>
              <a:t>un A toujours</a:t>
            </a:r>
            <a:endParaRPr/>
          </a:p>
          <a:p>
            <a:pPr indent="0" lvl="0" marL="0" marR="0" rtl="0" algn="l">
              <a:lnSpc>
                <a:spcPct val="100000"/>
              </a:lnSpc>
              <a:spcBef>
                <a:spcPts val="0"/>
              </a:spcBef>
              <a:spcAft>
                <a:spcPts val="0"/>
              </a:spcAft>
              <a:buClr>
                <a:srgbClr val="FF0033"/>
              </a:buClr>
              <a:buSzPts val="1800"/>
              <a:buFont typeface="Comic Sans MS"/>
              <a:buNone/>
            </a:pPr>
            <a:r>
              <a:rPr b="0" i="0" lang="en-US" sz="1800" u="none">
                <a:solidFill>
                  <a:srgbClr val="FF0033"/>
                </a:solidFill>
                <a:latin typeface="Comic Sans MS"/>
                <a:ea typeface="Comic Sans MS"/>
                <a:cs typeface="Comic Sans MS"/>
                <a:sym typeface="Comic Sans MS"/>
              </a:rPr>
              <a:t>associé avec</a:t>
            </a:r>
            <a:endParaRPr/>
          </a:p>
          <a:p>
            <a:pPr indent="0" lvl="0" marL="0" marR="0" rtl="0" algn="l">
              <a:lnSpc>
                <a:spcPct val="100000"/>
              </a:lnSpc>
              <a:spcBef>
                <a:spcPts val="0"/>
              </a:spcBef>
              <a:spcAft>
                <a:spcPts val="0"/>
              </a:spcAft>
              <a:buClr>
                <a:srgbClr val="FF0033"/>
              </a:buClr>
              <a:buSzPts val="1800"/>
              <a:buFont typeface="Comic Sans MS"/>
              <a:buNone/>
            </a:pPr>
            <a:r>
              <a:rPr b="0" i="0" lang="en-US" sz="1800" u="none">
                <a:solidFill>
                  <a:srgbClr val="FF0033"/>
                </a:solidFill>
                <a:latin typeface="Comic Sans MS"/>
                <a:ea typeface="Comic Sans MS"/>
                <a:cs typeface="Comic Sans MS"/>
                <a:sym typeface="Comic Sans MS"/>
              </a:rPr>
              <a:t> un ou plusieurs B.</a:t>
            </a:r>
            <a:endParaRPr/>
          </a:p>
        </p:txBody>
      </p:sp>
      <p:sp>
        <p:nvSpPr>
          <p:cNvPr id="369" name="Google Shape;369;p8"/>
          <p:cNvSpPr txBox="1"/>
          <p:nvPr/>
        </p:nvSpPr>
        <p:spPr>
          <a:xfrm>
            <a:off x="5364162" y="5589587"/>
            <a:ext cx="1577975" cy="9159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33"/>
              </a:buClr>
              <a:buSzPts val="1800"/>
              <a:buFont typeface="Comic Sans MS"/>
              <a:buNone/>
            </a:pPr>
            <a:r>
              <a:rPr b="0" i="0" lang="en-US" sz="1800" u="none">
                <a:solidFill>
                  <a:srgbClr val="FF0033"/>
                </a:solidFill>
                <a:latin typeface="Comic Sans MS"/>
                <a:ea typeface="Comic Sans MS"/>
                <a:cs typeface="Comic Sans MS"/>
                <a:sym typeface="Comic Sans MS"/>
              </a:rPr>
              <a:t>un A associé </a:t>
            </a:r>
            <a:endParaRPr/>
          </a:p>
          <a:p>
            <a:pPr indent="0" lvl="0" marL="0" marR="0" rtl="0" algn="l">
              <a:lnSpc>
                <a:spcPct val="100000"/>
              </a:lnSpc>
              <a:spcBef>
                <a:spcPts val="0"/>
              </a:spcBef>
              <a:spcAft>
                <a:spcPts val="0"/>
              </a:spcAft>
              <a:buClr>
                <a:srgbClr val="FF0033"/>
              </a:buClr>
              <a:buSzPts val="1800"/>
              <a:buFont typeface="Comic Sans MS"/>
              <a:buNone/>
            </a:pPr>
            <a:r>
              <a:rPr b="0" i="0" lang="en-US" sz="1800" u="none">
                <a:solidFill>
                  <a:srgbClr val="FF0033"/>
                </a:solidFill>
                <a:latin typeface="Comic Sans MS"/>
                <a:ea typeface="Comic Sans MS"/>
                <a:cs typeface="Comic Sans MS"/>
                <a:sym typeface="Comic Sans MS"/>
              </a:rPr>
              <a:t>avec zéro ou </a:t>
            </a:r>
            <a:endParaRPr/>
          </a:p>
          <a:p>
            <a:pPr indent="0" lvl="0" marL="0" marR="0" rtl="0" algn="l">
              <a:lnSpc>
                <a:spcPct val="100000"/>
              </a:lnSpc>
              <a:spcBef>
                <a:spcPts val="0"/>
              </a:spcBef>
              <a:spcAft>
                <a:spcPts val="0"/>
              </a:spcAft>
              <a:buClr>
                <a:srgbClr val="FF0033"/>
              </a:buClr>
              <a:buSzPts val="1800"/>
              <a:buFont typeface="Comic Sans MS"/>
              <a:buNone/>
            </a:pPr>
            <a:r>
              <a:rPr b="0" i="0" lang="en-US" sz="1800" u="none">
                <a:solidFill>
                  <a:srgbClr val="FF0033"/>
                </a:solidFill>
                <a:latin typeface="Comic Sans MS"/>
                <a:ea typeface="Comic Sans MS"/>
                <a:cs typeface="Comic Sans MS"/>
                <a:sym typeface="Comic Sans MS"/>
              </a:rPr>
              <a:t>un B.</a:t>
            </a:r>
            <a:endParaRPr/>
          </a:p>
        </p:txBody>
      </p:sp>
      <p:sp>
        <p:nvSpPr>
          <p:cNvPr id="370" name="Google Shape;370;p8"/>
          <p:cNvSpPr txBox="1"/>
          <p:nvPr/>
        </p:nvSpPr>
        <p:spPr>
          <a:xfrm>
            <a:off x="7245350" y="5589587"/>
            <a:ext cx="1773237" cy="9159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33"/>
              </a:buClr>
              <a:buSzPts val="1800"/>
              <a:buFont typeface="Comic Sans MS"/>
              <a:buNone/>
            </a:pPr>
            <a:r>
              <a:rPr b="0" i="0" lang="en-US" sz="1800" u="none">
                <a:solidFill>
                  <a:srgbClr val="FF0033"/>
                </a:solidFill>
                <a:latin typeface="Comic Sans MS"/>
                <a:ea typeface="Comic Sans MS"/>
                <a:cs typeface="Comic Sans MS"/>
                <a:sym typeface="Comic Sans MS"/>
              </a:rPr>
              <a:t>un A associé </a:t>
            </a:r>
            <a:endParaRPr/>
          </a:p>
          <a:p>
            <a:pPr indent="0" lvl="0" marL="0" marR="0" rtl="0" algn="l">
              <a:lnSpc>
                <a:spcPct val="100000"/>
              </a:lnSpc>
              <a:spcBef>
                <a:spcPts val="0"/>
              </a:spcBef>
              <a:spcAft>
                <a:spcPts val="0"/>
              </a:spcAft>
              <a:buClr>
                <a:srgbClr val="FF0033"/>
              </a:buClr>
              <a:buSzPts val="1800"/>
              <a:buFont typeface="Comic Sans MS"/>
              <a:buNone/>
            </a:pPr>
            <a:r>
              <a:rPr b="0" i="0" lang="en-US" sz="1800" u="none">
                <a:solidFill>
                  <a:srgbClr val="FF0033"/>
                </a:solidFill>
                <a:latin typeface="Comic Sans MS"/>
                <a:ea typeface="Comic Sans MS"/>
                <a:cs typeface="Comic Sans MS"/>
                <a:sym typeface="Comic Sans MS"/>
              </a:rPr>
              <a:t>avec zéro, un</a:t>
            </a:r>
            <a:endParaRPr/>
          </a:p>
          <a:p>
            <a:pPr indent="0" lvl="0" marL="0" marR="0" rtl="0" algn="l">
              <a:lnSpc>
                <a:spcPct val="100000"/>
              </a:lnSpc>
              <a:spcBef>
                <a:spcPts val="0"/>
              </a:spcBef>
              <a:spcAft>
                <a:spcPts val="0"/>
              </a:spcAft>
              <a:buClr>
                <a:srgbClr val="FF0033"/>
              </a:buClr>
              <a:buSzPts val="1800"/>
              <a:buFont typeface="Comic Sans MS"/>
              <a:buNone/>
            </a:pPr>
            <a:r>
              <a:rPr b="0" i="0" lang="en-US" sz="1800" u="none">
                <a:solidFill>
                  <a:srgbClr val="FF0033"/>
                </a:solidFill>
                <a:latin typeface="Comic Sans MS"/>
                <a:ea typeface="Comic Sans MS"/>
                <a:cs typeface="Comic Sans MS"/>
                <a:sym typeface="Comic Sans MS"/>
              </a:rPr>
              <a:t> ou plusieurs B.</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Vues multiples (aspects d'un système logiciel)</a:t>
            </a:r>
            <a:endParaRPr/>
          </a:p>
        </p:txBody>
      </p:sp>
      <p:graphicFrame>
        <p:nvGraphicFramePr>
          <p:cNvPr id="376" name="Google Shape;376;p9"/>
          <p:cNvGraphicFramePr/>
          <p:nvPr/>
        </p:nvGraphicFramePr>
        <p:xfrm>
          <a:off x="3759200" y="2667000"/>
          <a:ext cx="1265237" cy="1524000"/>
        </p:xfrm>
        <a:graphic>
          <a:graphicData uri="http://schemas.openxmlformats.org/presentationml/2006/ole">
            <mc:AlternateContent>
              <mc:Choice Requires="v">
                <p:oleObj r:id="rId4" imgH="1524000" imgW="1265237" progId="MS_ClipArt_Gallery.2" spid="_x0000_s1">
                  <p:embed/>
                </p:oleObj>
              </mc:Choice>
              <mc:Fallback>
                <p:oleObj r:id="rId5" imgH="1524000" imgW="1265237" progId="MS_ClipArt_Gallery.2">
                  <p:embed/>
                  <p:pic>
                    <p:nvPicPr>
                      <p:cNvPr id="376" name="Google Shape;376;p9"/>
                      <p:cNvPicPr preferRelativeResize="0"/>
                      <p:nvPr/>
                    </p:nvPicPr>
                    <p:blipFill rotWithShape="1">
                      <a:blip r:embed="rId6">
                        <a:alphaModFix/>
                      </a:blip>
                      <a:srcRect b="0" l="0" r="0" t="0"/>
                      <a:stretch/>
                    </p:blipFill>
                    <p:spPr>
                      <a:xfrm>
                        <a:off x="3759200" y="2667000"/>
                        <a:ext cx="1265237" cy="1524000"/>
                      </a:xfrm>
                      <a:prstGeom prst="rect">
                        <a:avLst/>
                      </a:prstGeom>
                      <a:noFill/>
                      <a:ln>
                        <a:noFill/>
                      </a:ln>
                    </p:spPr>
                  </p:pic>
                </p:oleObj>
              </mc:Fallback>
            </mc:AlternateContent>
          </a:graphicData>
        </a:graphic>
      </p:graphicFrame>
      <p:sp>
        <p:nvSpPr>
          <p:cNvPr id="377" name="Google Shape;377;p9"/>
          <p:cNvSpPr/>
          <p:nvPr/>
        </p:nvSpPr>
        <p:spPr>
          <a:xfrm>
            <a:off x="735012" y="4572000"/>
            <a:ext cx="1546225" cy="762000"/>
          </a:xfrm>
          <a:prstGeom prst="bevel">
            <a:avLst>
              <a:gd fmla="val 1620" name="adj"/>
            </a:avLst>
          </a:prstGeom>
          <a:solidFill>
            <a:schemeClr val="lt1"/>
          </a:solidFill>
          <a:ln cap="flat" cmpd="sng" w="12700">
            <a:solidFill>
              <a:srgbClr val="FF00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Vue du </a:t>
            </a:r>
            <a:endParaRPr/>
          </a:p>
          <a:p>
            <a:pPr indent="0" lvl="0" marL="0" marR="0" rtl="0" algn="ctr">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notaire</a:t>
            </a:r>
            <a:endParaRPr/>
          </a:p>
        </p:txBody>
      </p:sp>
      <p:sp>
        <p:nvSpPr>
          <p:cNvPr id="378" name="Google Shape;378;p9"/>
          <p:cNvSpPr/>
          <p:nvPr/>
        </p:nvSpPr>
        <p:spPr>
          <a:xfrm>
            <a:off x="663575" y="3048000"/>
            <a:ext cx="1547812" cy="762000"/>
          </a:xfrm>
          <a:prstGeom prst="bevel">
            <a:avLst>
              <a:gd fmla="val 1620" name="adj"/>
            </a:avLst>
          </a:prstGeom>
          <a:solidFill>
            <a:schemeClr val="lt1"/>
          </a:solidFill>
          <a:ln cap="flat" cmpd="sng" w="12700">
            <a:solidFill>
              <a:srgbClr val="FF00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Vue du </a:t>
            </a:r>
            <a:endParaRPr/>
          </a:p>
          <a:p>
            <a:pPr indent="0" lvl="0" marL="0" marR="0" rtl="0" algn="ctr">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maçon</a:t>
            </a:r>
            <a:endParaRPr/>
          </a:p>
        </p:txBody>
      </p:sp>
      <p:sp>
        <p:nvSpPr>
          <p:cNvPr id="379" name="Google Shape;379;p9"/>
          <p:cNvSpPr/>
          <p:nvPr/>
        </p:nvSpPr>
        <p:spPr>
          <a:xfrm>
            <a:off x="1508125" y="1676400"/>
            <a:ext cx="1547812" cy="762000"/>
          </a:xfrm>
          <a:prstGeom prst="bevel">
            <a:avLst>
              <a:gd fmla="val 1620" name="adj"/>
            </a:avLst>
          </a:prstGeom>
          <a:solidFill>
            <a:schemeClr val="lt1"/>
          </a:solidFill>
          <a:ln cap="flat" cmpd="sng" w="12700">
            <a:solidFill>
              <a:srgbClr val="FF00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Vue du </a:t>
            </a:r>
            <a:endParaRPr/>
          </a:p>
          <a:p>
            <a:pPr indent="0" lvl="0" marL="0" marR="0" rtl="0" algn="ctr">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plombier</a:t>
            </a:r>
            <a:endParaRPr/>
          </a:p>
        </p:txBody>
      </p:sp>
      <p:sp>
        <p:nvSpPr>
          <p:cNvPr id="380" name="Google Shape;380;p9"/>
          <p:cNvSpPr/>
          <p:nvPr/>
        </p:nvSpPr>
        <p:spPr>
          <a:xfrm>
            <a:off x="3759200" y="1676400"/>
            <a:ext cx="1547812" cy="762000"/>
          </a:xfrm>
          <a:prstGeom prst="bevel">
            <a:avLst>
              <a:gd fmla="val 1620" name="adj"/>
            </a:avLst>
          </a:prstGeom>
          <a:solidFill>
            <a:schemeClr val="lt1"/>
          </a:solidFill>
          <a:ln cap="flat" cmpd="sng" w="12700">
            <a:solidFill>
              <a:srgbClr val="FF00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Vue de </a:t>
            </a:r>
            <a:endParaRPr/>
          </a:p>
          <a:p>
            <a:pPr indent="0" lvl="0" marL="0" marR="0" rtl="0" algn="ctr">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l'électricien</a:t>
            </a:r>
            <a:endParaRPr/>
          </a:p>
        </p:txBody>
      </p:sp>
      <p:sp>
        <p:nvSpPr>
          <p:cNvPr id="381" name="Google Shape;381;p9"/>
          <p:cNvSpPr/>
          <p:nvPr/>
        </p:nvSpPr>
        <p:spPr>
          <a:xfrm>
            <a:off x="5729287" y="1676400"/>
            <a:ext cx="1546225" cy="762000"/>
          </a:xfrm>
          <a:prstGeom prst="bevel">
            <a:avLst>
              <a:gd fmla="val 1620" name="adj"/>
            </a:avLst>
          </a:prstGeom>
          <a:solidFill>
            <a:schemeClr val="lt1"/>
          </a:solidFill>
          <a:ln cap="flat" cmpd="sng" w="12700">
            <a:solidFill>
              <a:srgbClr val="FF00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Vue du </a:t>
            </a:r>
            <a:endParaRPr/>
          </a:p>
          <a:p>
            <a:pPr indent="0" lvl="0" marL="0" marR="0" rtl="0" algn="ctr">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locataire</a:t>
            </a:r>
            <a:endParaRPr/>
          </a:p>
        </p:txBody>
      </p:sp>
      <p:sp>
        <p:nvSpPr>
          <p:cNvPr id="382" name="Google Shape;382;p9"/>
          <p:cNvSpPr/>
          <p:nvPr/>
        </p:nvSpPr>
        <p:spPr>
          <a:xfrm>
            <a:off x="7064375" y="2743200"/>
            <a:ext cx="1547812" cy="762000"/>
          </a:xfrm>
          <a:prstGeom prst="bevel">
            <a:avLst>
              <a:gd fmla="val 1620" name="adj"/>
            </a:avLst>
          </a:prstGeom>
          <a:solidFill>
            <a:schemeClr val="lt1"/>
          </a:solidFill>
          <a:ln cap="flat" cmpd="sng" w="12700">
            <a:solidFill>
              <a:srgbClr val="FF00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Vue du</a:t>
            </a:r>
            <a:endParaRPr/>
          </a:p>
          <a:p>
            <a:pPr indent="0" lvl="0" marL="0" marR="0" rtl="0" algn="ctr">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propriétaire</a:t>
            </a:r>
            <a:endParaRPr/>
          </a:p>
        </p:txBody>
      </p:sp>
      <p:sp>
        <p:nvSpPr>
          <p:cNvPr id="383" name="Google Shape;383;p9"/>
          <p:cNvSpPr/>
          <p:nvPr/>
        </p:nvSpPr>
        <p:spPr>
          <a:xfrm>
            <a:off x="6432550" y="3733800"/>
            <a:ext cx="1546225" cy="762000"/>
          </a:xfrm>
          <a:prstGeom prst="bevel">
            <a:avLst>
              <a:gd fmla="val 1620" name="adj"/>
            </a:avLst>
          </a:prstGeom>
          <a:solidFill>
            <a:schemeClr val="lt1"/>
          </a:solidFill>
          <a:ln cap="flat" cmpd="sng" w="12700">
            <a:solidFill>
              <a:srgbClr val="FF00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Vue de </a:t>
            </a:r>
            <a:endParaRPr/>
          </a:p>
          <a:p>
            <a:pPr indent="0" lvl="0" marL="0" marR="0" rtl="0" algn="ctr">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l'architecte</a:t>
            </a:r>
            <a:endParaRPr/>
          </a:p>
        </p:txBody>
      </p:sp>
      <p:sp>
        <p:nvSpPr>
          <p:cNvPr id="384" name="Google Shape;384;p9"/>
          <p:cNvSpPr/>
          <p:nvPr/>
        </p:nvSpPr>
        <p:spPr>
          <a:xfrm>
            <a:off x="5799137" y="4800600"/>
            <a:ext cx="2039937" cy="990600"/>
          </a:xfrm>
          <a:prstGeom prst="bevel">
            <a:avLst>
              <a:gd fmla="val 1620" name="adj"/>
            </a:avLst>
          </a:prstGeom>
          <a:solidFill>
            <a:schemeClr val="lt1"/>
          </a:solidFill>
          <a:ln cap="flat" cmpd="sng" w="12700">
            <a:solidFill>
              <a:srgbClr val="FF00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Vue du service </a:t>
            </a:r>
            <a:endParaRPr/>
          </a:p>
          <a:p>
            <a:pPr indent="0" lvl="0" marL="0" marR="0" rtl="0" algn="ctr">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des impots locaux</a:t>
            </a:r>
            <a:endParaRPr/>
          </a:p>
        </p:txBody>
      </p:sp>
      <p:sp>
        <p:nvSpPr>
          <p:cNvPr id="385" name="Google Shape;385;p9"/>
          <p:cNvSpPr/>
          <p:nvPr/>
        </p:nvSpPr>
        <p:spPr>
          <a:xfrm>
            <a:off x="3478212" y="4876800"/>
            <a:ext cx="1546225" cy="762000"/>
          </a:xfrm>
          <a:prstGeom prst="bevel">
            <a:avLst>
              <a:gd fmla="val 1620" name="adj"/>
            </a:avLst>
          </a:prstGeom>
          <a:solidFill>
            <a:schemeClr val="lt1"/>
          </a:solidFill>
          <a:ln cap="flat" cmpd="sng" w="12700">
            <a:solidFill>
              <a:srgbClr val="FF00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Vue du</a:t>
            </a:r>
            <a:endParaRPr/>
          </a:p>
          <a:p>
            <a:pPr indent="0" lvl="0" marL="0" marR="0" rtl="0" algn="ctr">
              <a:lnSpc>
                <a:spcPct val="100000"/>
              </a:lnSpc>
              <a:spcBef>
                <a:spcPts val="0"/>
              </a:spcBef>
              <a:spcAft>
                <a:spcPts val="0"/>
              </a:spcAft>
              <a:buClr>
                <a:schemeClr val="dk2"/>
              </a:buClr>
              <a:buSzPts val="1600"/>
              <a:buFont typeface="Comic Sans MS"/>
              <a:buNone/>
            </a:pPr>
            <a:r>
              <a:rPr b="1" i="0" lang="en-US" sz="1600" u="none">
                <a:solidFill>
                  <a:schemeClr val="dk2"/>
                </a:solidFill>
                <a:latin typeface="Comic Sans MS"/>
                <a:ea typeface="Comic Sans MS"/>
                <a:cs typeface="Comic Sans MS"/>
                <a:sym typeface="Comic Sans MS"/>
              </a:rPr>
              <a:t>cadastre</a:t>
            </a:r>
            <a:endParaRPr/>
          </a:p>
        </p:txBody>
      </p:sp>
      <p:cxnSp>
        <p:nvCxnSpPr>
          <p:cNvPr id="386" name="Google Shape;386;p9"/>
          <p:cNvCxnSpPr/>
          <p:nvPr/>
        </p:nvCxnSpPr>
        <p:spPr>
          <a:xfrm>
            <a:off x="2211387" y="3429000"/>
            <a:ext cx="1547812" cy="0"/>
          </a:xfrm>
          <a:prstGeom prst="straightConnector1">
            <a:avLst/>
          </a:prstGeom>
          <a:noFill/>
          <a:ln cap="flat" cmpd="sng" w="12700">
            <a:solidFill>
              <a:schemeClr val="dk1"/>
            </a:solidFill>
            <a:prstDash val="solid"/>
            <a:miter lim="800000"/>
            <a:headEnd len="med" w="med" type="none"/>
            <a:tailEnd len="sm" w="sm" type="triangle"/>
          </a:ln>
        </p:spPr>
      </p:cxnSp>
      <p:cxnSp>
        <p:nvCxnSpPr>
          <p:cNvPr id="387" name="Google Shape;387;p9"/>
          <p:cNvCxnSpPr/>
          <p:nvPr/>
        </p:nvCxnSpPr>
        <p:spPr>
          <a:xfrm flipH="1" rot="10800000">
            <a:off x="2281237" y="4038600"/>
            <a:ext cx="1547812" cy="914400"/>
          </a:xfrm>
          <a:prstGeom prst="straightConnector1">
            <a:avLst/>
          </a:prstGeom>
          <a:noFill/>
          <a:ln cap="flat" cmpd="sng" w="12700">
            <a:solidFill>
              <a:schemeClr val="dk1"/>
            </a:solidFill>
            <a:prstDash val="solid"/>
            <a:miter lim="800000"/>
            <a:headEnd len="med" w="med" type="none"/>
            <a:tailEnd len="sm" w="sm" type="triangle"/>
          </a:ln>
        </p:spPr>
      </p:cxnSp>
      <p:cxnSp>
        <p:nvCxnSpPr>
          <p:cNvPr id="388" name="Google Shape;388;p9"/>
          <p:cNvCxnSpPr/>
          <p:nvPr/>
        </p:nvCxnSpPr>
        <p:spPr>
          <a:xfrm rot="10800000">
            <a:off x="4181475" y="4191000"/>
            <a:ext cx="0" cy="609600"/>
          </a:xfrm>
          <a:prstGeom prst="straightConnector1">
            <a:avLst/>
          </a:prstGeom>
          <a:noFill/>
          <a:ln cap="flat" cmpd="sng" w="12700">
            <a:solidFill>
              <a:schemeClr val="dk1"/>
            </a:solidFill>
            <a:prstDash val="solid"/>
            <a:miter lim="800000"/>
            <a:headEnd len="med" w="med" type="none"/>
            <a:tailEnd len="sm" w="sm" type="triangle"/>
          </a:ln>
        </p:spPr>
      </p:cxnSp>
      <p:cxnSp>
        <p:nvCxnSpPr>
          <p:cNvPr id="389" name="Google Shape;389;p9"/>
          <p:cNvCxnSpPr/>
          <p:nvPr/>
        </p:nvCxnSpPr>
        <p:spPr>
          <a:xfrm rot="10800000">
            <a:off x="4814887" y="4114800"/>
            <a:ext cx="984250" cy="1143000"/>
          </a:xfrm>
          <a:prstGeom prst="straightConnector1">
            <a:avLst/>
          </a:prstGeom>
          <a:noFill/>
          <a:ln cap="flat" cmpd="sng" w="12700">
            <a:solidFill>
              <a:schemeClr val="dk1"/>
            </a:solidFill>
            <a:prstDash val="solid"/>
            <a:miter lim="800000"/>
            <a:headEnd len="med" w="med" type="none"/>
            <a:tailEnd len="sm" w="sm" type="triangle"/>
          </a:ln>
        </p:spPr>
      </p:cxnSp>
      <p:cxnSp>
        <p:nvCxnSpPr>
          <p:cNvPr id="390" name="Google Shape;390;p9"/>
          <p:cNvCxnSpPr/>
          <p:nvPr/>
        </p:nvCxnSpPr>
        <p:spPr>
          <a:xfrm rot="10800000">
            <a:off x="5024437" y="3657600"/>
            <a:ext cx="1408112" cy="457200"/>
          </a:xfrm>
          <a:prstGeom prst="straightConnector1">
            <a:avLst/>
          </a:prstGeom>
          <a:noFill/>
          <a:ln cap="flat" cmpd="sng" w="12700">
            <a:solidFill>
              <a:schemeClr val="dk1"/>
            </a:solidFill>
            <a:prstDash val="solid"/>
            <a:miter lim="800000"/>
            <a:headEnd len="med" w="med" type="none"/>
            <a:tailEnd len="sm" w="sm" type="triangle"/>
          </a:ln>
        </p:spPr>
      </p:cxnSp>
      <p:cxnSp>
        <p:nvCxnSpPr>
          <p:cNvPr id="391" name="Google Shape;391;p9"/>
          <p:cNvCxnSpPr/>
          <p:nvPr/>
        </p:nvCxnSpPr>
        <p:spPr>
          <a:xfrm flipH="1">
            <a:off x="5024437" y="3124200"/>
            <a:ext cx="2039937" cy="381000"/>
          </a:xfrm>
          <a:prstGeom prst="straightConnector1">
            <a:avLst/>
          </a:prstGeom>
          <a:noFill/>
          <a:ln cap="flat" cmpd="sng" w="12700">
            <a:solidFill>
              <a:schemeClr val="dk1"/>
            </a:solidFill>
            <a:prstDash val="solid"/>
            <a:miter lim="800000"/>
            <a:headEnd len="med" w="med" type="none"/>
            <a:tailEnd len="sm" w="sm" type="triangle"/>
          </a:ln>
        </p:spPr>
      </p:cxnSp>
      <p:cxnSp>
        <p:nvCxnSpPr>
          <p:cNvPr id="392" name="Google Shape;392;p9"/>
          <p:cNvCxnSpPr/>
          <p:nvPr/>
        </p:nvCxnSpPr>
        <p:spPr>
          <a:xfrm flipH="1">
            <a:off x="4954587" y="2438400"/>
            <a:ext cx="1266825" cy="685800"/>
          </a:xfrm>
          <a:prstGeom prst="straightConnector1">
            <a:avLst/>
          </a:prstGeom>
          <a:noFill/>
          <a:ln cap="flat" cmpd="sng" w="12700">
            <a:solidFill>
              <a:schemeClr val="dk1"/>
            </a:solidFill>
            <a:prstDash val="solid"/>
            <a:miter lim="800000"/>
            <a:headEnd len="med" w="med" type="none"/>
            <a:tailEnd len="sm" w="sm" type="triangle"/>
          </a:ln>
        </p:spPr>
      </p:cxnSp>
      <p:cxnSp>
        <p:nvCxnSpPr>
          <p:cNvPr id="393" name="Google Shape;393;p9"/>
          <p:cNvCxnSpPr/>
          <p:nvPr/>
        </p:nvCxnSpPr>
        <p:spPr>
          <a:xfrm>
            <a:off x="3970337" y="2438400"/>
            <a:ext cx="139700" cy="457200"/>
          </a:xfrm>
          <a:prstGeom prst="straightConnector1">
            <a:avLst/>
          </a:prstGeom>
          <a:noFill/>
          <a:ln cap="flat" cmpd="sng" w="12700">
            <a:solidFill>
              <a:schemeClr val="dk1"/>
            </a:solidFill>
            <a:prstDash val="solid"/>
            <a:miter lim="800000"/>
            <a:headEnd len="med" w="med" type="none"/>
            <a:tailEnd len="sm" w="sm" type="triangle"/>
          </a:ln>
        </p:spPr>
      </p:cxnSp>
      <p:cxnSp>
        <p:nvCxnSpPr>
          <p:cNvPr id="394" name="Google Shape;394;p9"/>
          <p:cNvCxnSpPr/>
          <p:nvPr/>
        </p:nvCxnSpPr>
        <p:spPr>
          <a:xfrm>
            <a:off x="2774950" y="2438400"/>
            <a:ext cx="1054100" cy="685800"/>
          </a:xfrm>
          <a:prstGeom prst="straightConnector1">
            <a:avLst/>
          </a:prstGeom>
          <a:noFill/>
          <a:ln cap="flat" cmpd="sng" w="12700">
            <a:solidFill>
              <a:schemeClr val="dk1"/>
            </a:solidFill>
            <a:prstDash val="solid"/>
            <a:miter lim="800000"/>
            <a:headEnd len="med" w="med" type="none"/>
            <a:tailEnd len="sm" w="sm"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10"/>
          <p:cNvSpPr txBox="1"/>
          <p:nvPr>
            <p:ph type="title"/>
          </p:nvPr>
        </p:nvSpPr>
        <p:spPr>
          <a:xfrm>
            <a:off x="457200" y="274637"/>
            <a:ext cx="8229600" cy="1143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Vues multiples (aspects d'un système logiciel)</a:t>
            </a:r>
            <a:endParaRPr/>
          </a:p>
        </p:txBody>
      </p:sp>
      <p:pic>
        <p:nvPicPr>
          <p:cNvPr id="400" name="Google Shape;400;p10"/>
          <p:cNvPicPr preferRelativeResize="0"/>
          <p:nvPr/>
        </p:nvPicPr>
        <p:blipFill rotWithShape="1">
          <a:blip r:embed="rId3">
            <a:alphaModFix/>
          </a:blip>
          <a:srcRect b="0" l="0" r="0" t="9898"/>
          <a:stretch/>
        </p:blipFill>
        <p:spPr>
          <a:xfrm>
            <a:off x="1819275" y="1243012"/>
            <a:ext cx="5302250" cy="2489200"/>
          </a:xfrm>
          <a:prstGeom prst="rect">
            <a:avLst/>
          </a:prstGeom>
          <a:noFill/>
          <a:ln>
            <a:noFill/>
          </a:ln>
        </p:spPr>
      </p:pic>
      <p:sp>
        <p:nvSpPr>
          <p:cNvPr id="401" name="Google Shape;401;p10"/>
          <p:cNvSpPr txBox="1"/>
          <p:nvPr/>
        </p:nvSpPr>
        <p:spPr>
          <a:xfrm>
            <a:off x="203200" y="1244600"/>
            <a:ext cx="1824037" cy="639762"/>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336600"/>
              </a:buClr>
              <a:buSzPts val="1200"/>
              <a:buFont typeface="Comic Sans MS"/>
              <a:buNone/>
            </a:pPr>
            <a:r>
              <a:rPr b="1" i="0" lang="en-US" sz="1200" u="none">
                <a:solidFill>
                  <a:srgbClr val="336600"/>
                </a:solidFill>
                <a:latin typeface="Comic Sans MS"/>
                <a:ea typeface="Comic Sans MS"/>
                <a:cs typeface="Comic Sans MS"/>
                <a:sym typeface="Comic Sans MS"/>
              </a:rPr>
              <a:t>Fonctions du système </a:t>
            </a:r>
            <a:endParaRPr/>
          </a:p>
          <a:p>
            <a:pPr indent="0" lvl="0" marL="0" marR="0" rtl="0" algn="l">
              <a:lnSpc>
                <a:spcPct val="100000"/>
              </a:lnSpc>
              <a:spcBef>
                <a:spcPts val="0"/>
              </a:spcBef>
              <a:spcAft>
                <a:spcPts val="0"/>
              </a:spcAft>
              <a:buClr>
                <a:srgbClr val="336600"/>
              </a:buClr>
              <a:buSzPts val="1200"/>
              <a:buFont typeface="Comic Sans MS"/>
              <a:buNone/>
            </a:pPr>
            <a:r>
              <a:rPr b="1" i="0" lang="en-US" sz="1200" u="none">
                <a:solidFill>
                  <a:srgbClr val="336600"/>
                </a:solidFill>
                <a:latin typeface="Comic Sans MS"/>
                <a:ea typeface="Comic Sans MS"/>
                <a:cs typeface="Comic Sans MS"/>
                <a:sym typeface="Comic Sans MS"/>
              </a:rPr>
              <a:t>du point de vue </a:t>
            </a:r>
            <a:endParaRPr/>
          </a:p>
          <a:p>
            <a:pPr indent="0" lvl="0" marL="0" marR="0" rtl="0" algn="l">
              <a:lnSpc>
                <a:spcPct val="100000"/>
              </a:lnSpc>
              <a:spcBef>
                <a:spcPts val="0"/>
              </a:spcBef>
              <a:spcAft>
                <a:spcPts val="0"/>
              </a:spcAft>
              <a:buClr>
                <a:srgbClr val="336600"/>
              </a:buClr>
              <a:buSzPts val="1200"/>
              <a:buFont typeface="Comic Sans MS"/>
              <a:buNone/>
            </a:pPr>
            <a:r>
              <a:rPr b="1" i="0" lang="en-US" sz="1200" u="none">
                <a:solidFill>
                  <a:srgbClr val="336600"/>
                </a:solidFill>
                <a:latin typeface="Comic Sans MS"/>
                <a:ea typeface="Comic Sans MS"/>
                <a:cs typeface="Comic Sans MS"/>
                <a:sym typeface="Comic Sans MS"/>
              </a:rPr>
              <a:t>de l’utilisateur.</a:t>
            </a:r>
            <a:endParaRPr/>
          </a:p>
        </p:txBody>
      </p:sp>
      <p:cxnSp>
        <p:nvCxnSpPr>
          <p:cNvPr id="402" name="Google Shape;402;p10"/>
          <p:cNvCxnSpPr/>
          <p:nvPr/>
        </p:nvCxnSpPr>
        <p:spPr>
          <a:xfrm rot="10800000">
            <a:off x="1008062" y="1828800"/>
            <a:ext cx="981075" cy="1346200"/>
          </a:xfrm>
          <a:prstGeom prst="straightConnector1">
            <a:avLst/>
          </a:prstGeom>
          <a:noFill/>
          <a:ln cap="flat" cmpd="sng" w="12700">
            <a:solidFill>
              <a:srgbClr val="336600"/>
            </a:solidFill>
            <a:prstDash val="solid"/>
            <a:miter lim="800000"/>
            <a:headEnd len="med" w="med" type="stealth"/>
            <a:tailEnd len="med" w="med" type="none"/>
          </a:ln>
        </p:spPr>
      </p:cxnSp>
      <p:sp>
        <p:nvSpPr>
          <p:cNvPr id="403" name="Google Shape;403;p10"/>
          <p:cNvSpPr txBox="1"/>
          <p:nvPr/>
        </p:nvSpPr>
        <p:spPr>
          <a:xfrm>
            <a:off x="863600" y="3708400"/>
            <a:ext cx="1087437" cy="822325"/>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336600"/>
              </a:buClr>
              <a:buSzPts val="1200"/>
              <a:buFont typeface="Comic Sans MS"/>
              <a:buNone/>
            </a:pPr>
            <a:r>
              <a:rPr b="1" i="0" lang="en-US" sz="1200" u="none">
                <a:solidFill>
                  <a:srgbClr val="336600"/>
                </a:solidFill>
                <a:latin typeface="Comic Sans MS"/>
                <a:ea typeface="Comic Sans MS"/>
                <a:cs typeface="Comic Sans MS"/>
                <a:sym typeface="Comic Sans MS"/>
              </a:rPr>
              <a:t>Composants </a:t>
            </a:r>
            <a:endParaRPr/>
          </a:p>
          <a:p>
            <a:pPr indent="0" lvl="0" marL="0" marR="0" rtl="0" algn="l">
              <a:lnSpc>
                <a:spcPct val="100000"/>
              </a:lnSpc>
              <a:spcBef>
                <a:spcPts val="0"/>
              </a:spcBef>
              <a:spcAft>
                <a:spcPts val="0"/>
              </a:spcAft>
              <a:buClr>
                <a:srgbClr val="336600"/>
              </a:buClr>
              <a:buSzPts val="1200"/>
              <a:buFont typeface="Comic Sans MS"/>
              <a:buNone/>
            </a:pPr>
            <a:r>
              <a:rPr b="1" i="0" lang="en-US" sz="1200" u="none">
                <a:solidFill>
                  <a:srgbClr val="336600"/>
                </a:solidFill>
                <a:latin typeface="Comic Sans MS"/>
                <a:ea typeface="Comic Sans MS"/>
                <a:cs typeface="Comic Sans MS"/>
                <a:sym typeface="Comic Sans MS"/>
              </a:rPr>
              <a:t>physiques </a:t>
            </a:r>
            <a:endParaRPr/>
          </a:p>
          <a:p>
            <a:pPr indent="0" lvl="0" marL="0" marR="0" rtl="0" algn="l">
              <a:lnSpc>
                <a:spcPct val="100000"/>
              </a:lnSpc>
              <a:spcBef>
                <a:spcPts val="0"/>
              </a:spcBef>
              <a:spcAft>
                <a:spcPts val="0"/>
              </a:spcAft>
              <a:buClr>
                <a:srgbClr val="336600"/>
              </a:buClr>
              <a:buSzPts val="1200"/>
              <a:buFont typeface="Comic Sans MS"/>
              <a:buNone/>
            </a:pPr>
            <a:r>
              <a:rPr b="1" i="0" lang="en-US" sz="1200" u="none">
                <a:solidFill>
                  <a:srgbClr val="336600"/>
                </a:solidFill>
                <a:latin typeface="Comic Sans MS"/>
                <a:ea typeface="Comic Sans MS"/>
                <a:cs typeface="Comic Sans MS"/>
                <a:sym typeface="Comic Sans MS"/>
              </a:rPr>
              <a:t>d’une </a:t>
            </a:r>
            <a:endParaRPr/>
          </a:p>
          <a:p>
            <a:pPr indent="0" lvl="0" marL="0" marR="0" rtl="0" algn="l">
              <a:lnSpc>
                <a:spcPct val="100000"/>
              </a:lnSpc>
              <a:spcBef>
                <a:spcPts val="0"/>
              </a:spcBef>
              <a:spcAft>
                <a:spcPts val="0"/>
              </a:spcAft>
              <a:buClr>
                <a:srgbClr val="336600"/>
              </a:buClr>
              <a:buSzPts val="1200"/>
              <a:buFont typeface="Comic Sans MS"/>
              <a:buNone/>
            </a:pPr>
            <a:r>
              <a:rPr b="1" i="0" lang="en-US" sz="1200" u="none">
                <a:solidFill>
                  <a:srgbClr val="336600"/>
                </a:solidFill>
                <a:latin typeface="Comic Sans MS"/>
                <a:ea typeface="Comic Sans MS"/>
                <a:cs typeface="Comic Sans MS"/>
                <a:sym typeface="Comic Sans MS"/>
              </a:rPr>
              <a:t>application.</a:t>
            </a:r>
            <a:endParaRPr/>
          </a:p>
        </p:txBody>
      </p:sp>
      <p:cxnSp>
        <p:nvCxnSpPr>
          <p:cNvPr id="404" name="Google Shape;404;p10"/>
          <p:cNvCxnSpPr/>
          <p:nvPr/>
        </p:nvCxnSpPr>
        <p:spPr>
          <a:xfrm flipH="1">
            <a:off x="1636712" y="3632200"/>
            <a:ext cx="642937" cy="381000"/>
          </a:xfrm>
          <a:prstGeom prst="straightConnector1">
            <a:avLst/>
          </a:prstGeom>
          <a:noFill/>
          <a:ln cap="flat" cmpd="sng" w="12700">
            <a:solidFill>
              <a:srgbClr val="336600"/>
            </a:solidFill>
            <a:prstDash val="solid"/>
            <a:miter lim="800000"/>
            <a:headEnd len="med" w="med" type="stealth"/>
            <a:tailEnd len="med" w="med" type="none"/>
          </a:ln>
        </p:spPr>
      </p:cxnSp>
      <p:sp>
        <p:nvSpPr>
          <p:cNvPr id="405" name="Google Shape;405;p10"/>
          <p:cNvSpPr txBox="1"/>
          <p:nvPr/>
        </p:nvSpPr>
        <p:spPr>
          <a:xfrm>
            <a:off x="3987800" y="3751262"/>
            <a:ext cx="1570037" cy="639762"/>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336600"/>
              </a:buClr>
              <a:buSzPts val="1200"/>
              <a:buFont typeface="Comic Sans MS"/>
              <a:buNone/>
            </a:pPr>
            <a:r>
              <a:rPr b="1" i="0" lang="en-US" sz="1200" u="none">
                <a:solidFill>
                  <a:srgbClr val="336600"/>
                </a:solidFill>
                <a:latin typeface="Comic Sans MS"/>
                <a:ea typeface="Comic Sans MS"/>
                <a:cs typeface="Comic Sans MS"/>
                <a:sym typeface="Comic Sans MS"/>
              </a:rPr>
              <a:t>Représentation</a:t>
            </a:r>
            <a:endParaRPr/>
          </a:p>
          <a:p>
            <a:pPr indent="0" lvl="0" marL="0" marR="0" rtl="0" algn="l">
              <a:lnSpc>
                <a:spcPct val="100000"/>
              </a:lnSpc>
              <a:spcBef>
                <a:spcPts val="0"/>
              </a:spcBef>
              <a:spcAft>
                <a:spcPts val="0"/>
              </a:spcAft>
              <a:buClr>
                <a:srgbClr val="336600"/>
              </a:buClr>
              <a:buSzPts val="1200"/>
              <a:buFont typeface="Comic Sans MS"/>
              <a:buNone/>
            </a:pPr>
            <a:r>
              <a:rPr b="1" i="0" lang="en-US" sz="1200" u="none">
                <a:solidFill>
                  <a:srgbClr val="336600"/>
                </a:solidFill>
                <a:latin typeface="Comic Sans MS"/>
                <a:ea typeface="Comic Sans MS"/>
                <a:cs typeface="Comic Sans MS"/>
                <a:sym typeface="Comic Sans MS"/>
              </a:rPr>
              <a:t>du comportement</a:t>
            </a:r>
            <a:endParaRPr/>
          </a:p>
          <a:p>
            <a:pPr indent="0" lvl="0" marL="0" marR="0" rtl="0" algn="l">
              <a:lnSpc>
                <a:spcPct val="100000"/>
              </a:lnSpc>
              <a:spcBef>
                <a:spcPts val="0"/>
              </a:spcBef>
              <a:spcAft>
                <a:spcPts val="0"/>
              </a:spcAft>
              <a:buClr>
                <a:srgbClr val="336600"/>
              </a:buClr>
              <a:buSzPts val="1200"/>
              <a:buFont typeface="Comic Sans MS"/>
              <a:buNone/>
            </a:pPr>
            <a:r>
              <a:rPr b="1" i="0" lang="en-US" sz="1200" u="none">
                <a:solidFill>
                  <a:srgbClr val="336600"/>
                </a:solidFill>
                <a:latin typeface="Comic Sans MS"/>
                <a:ea typeface="Comic Sans MS"/>
                <a:cs typeface="Comic Sans MS"/>
                <a:sym typeface="Comic Sans MS"/>
              </a:rPr>
              <a:t>en termes d’états.</a:t>
            </a:r>
            <a:endParaRPr/>
          </a:p>
        </p:txBody>
      </p:sp>
      <p:cxnSp>
        <p:nvCxnSpPr>
          <p:cNvPr id="406" name="Google Shape;406;p10"/>
          <p:cNvCxnSpPr/>
          <p:nvPr/>
        </p:nvCxnSpPr>
        <p:spPr>
          <a:xfrm>
            <a:off x="4484687" y="3359150"/>
            <a:ext cx="0" cy="458787"/>
          </a:xfrm>
          <a:prstGeom prst="straightConnector1">
            <a:avLst/>
          </a:prstGeom>
          <a:noFill/>
          <a:ln cap="flat" cmpd="sng" w="12700">
            <a:solidFill>
              <a:srgbClr val="336600"/>
            </a:solidFill>
            <a:prstDash val="solid"/>
            <a:miter lim="800000"/>
            <a:headEnd len="med" w="med" type="stealth"/>
            <a:tailEnd len="med" w="med" type="none"/>
          </a:ln>
        </p:spPr>
      </p:cxnSp>
      <p:sp>
        <p:nvSpPr>
          <p:cNvPr id="407" name="Google Shape;407;p10"/>
          <p:cNvSpPr txBox="1"/>
          <p:nvPr/>
        </p:nvSpPr>
        <p:spPr>
          <a:xfrm>
            <a:off x="0" y="5638800"/>
            <a:ext cx="5103812" cy="274637"/>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336600"/>
              </a:buClr>
              <a:buSzPts val="1200"/>
              <a:buFont typeface="Comic Sans MS"/>
              <a:buNone/>
            </a:pPr>
            <a:r>
              <a:rPr b="1" i="0" lang="en-US" sz="1200" u="none">
                <a:solidFill>
                  <a:srgbClr val="336600"/>
                </a:solidFill>
                <a:latin typeface="Comic Sans MS"/>
                <a:ea typeface="Comic Sans MS"/>
                <a:cs typeface="Comic Sans MS"/>
                <a:sym typeface="Comic Sans MS"/>
              </a:rPr>
              <a:t>Structure statique des classes et des relations entre ces classes.</a:t>
            </a:r>
            <a:endParaRPr/>
          </a:p>
        </p:txBody>
      </p:sp>
      <p:cxnSp>
        <p:nvCxnSpPr>
          <p:cNvPr id="408" name="Google Shape;408;p10"/>
          <p:cNvCxnSpPr/>
          <p:nvPr/>
        </p:nvCxnSpPr>
        <p:spPr>
          <a:xfrm flipH="1">
            <a:off x="2071687" y="3371850"/>
            <a:ext cx="1163637" cy="2370137"/>
          </a:xfrm>
          <a:prstGeom prst="straightConnector1">
            <a:avLst/>
          </a:prstGeom>
          <a:noFill/>
          <a:ln cap="flat" cmpd="sng" w="12700">
            <a:solidFill>
              <a:srgbClr val="336600"/>
            </a:solidFill>
            <a:prstDash val="solid"/>
            <a:miter lim="800000"/>
            <a:headEnd len="med" w="med" type="stealth"/>
            <a:tailEnd len="med" w="med" type="none"/>
          </a:ln>
        </p:spPr>
      </p:cxnSp>
      <p:sp>
        <p:nvSpPr>
          <p:cNvPr id="409" name="Google Shape;409;p10"/>
          <p:cNvSpPr txBox="1"/>
          <p:nvPr/>
        </p:nvSpPr>
        <p:spPr>
          <a:xfrm>
            <a:off x="2876550" y="4773612"/>
            <a:ext cx="2062162" cy="639762"/>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336600"/>
              </a:buClr>
              <a:buSzPts val="1200"/>
              <a:buFont typeface="Comic Sans MS"/>
              <a:buNone/>
            </a:pPr>
            <a:r>
              <a:rPr b="1" i="0" lang="en-US" sz="1200" u="none">
                <a:solidFill>
                  <a:srgbClr val="336600"/>
                </a:solidFill>
                <a:latin typeface="Comic Sans MS"/>
                <a:ea typeface="Comic Sans MS"/>
                <a:cs typeface="Comic Sans MS"/>
                <a:sym typeface="Comic Sans MS"/>
              </a:rPr>
              <a:t>Schémas de l’installation </a:t>
            </a:r>
            <a:endParaRPr/>
          </a:p>
          <a:p>
            <a:pPr indent="0" lvl="0" marL="0" marR="0" rtl="0" algn="l">
              <a:lnSpc>
                <a:spcPct val="100000"/>
              </a:lnSpc>
              <a:spcBef>
                <a:spcPts val="0"/>
              </a:spcBef>
              <a:spcAft>
                <a:spcPts val="0"/>
              </a:spcAft>
              <a:buClr>
                <a:srgbClr val="336600"/>
              </a:buClr>
              <a:buSzPts val="1200"/>
              <a:buFont typeface="Comic Sans MS"/>
              <a:buNone/>
            </a:pPr>
            <a:r>
              <a:rPr b="1" i="0" lang="en-US" sz="1200" u="none">
                <a:solidFill>
                  <a:srgbClr val="336600"/>
                </a:solidFill>
                <a:latin typeface="Comic Sans MS"/>
                <a:ea typeface="Comic Sans MS"/>
                <a:cs typeface="Comic Sans MS"/>
                <a:sym typeface="Comic Sans MS"/>
              </a:rPr>
              <a:t>des composants sur les </a:t>
            </a:r>
            <a:endParaRPr/>
          </a:p>
          <a:p>
            <a:pPr indent="0" lvl="0" marL="0" marR="0" rtl="0" algn="l">
              <a:lnSpc>
                <a:spcPct val="100000"/>
              </a:lnSpc>
              <a:spcBef>
                <a:spcPts val="0"/>
              </a:spcBef>
              <a:spcAft>
                <a:spcPts val="0"/>
              </a:spcAft>
              <a:buClr>
                <a:srgbClr val="336600"/>
              </a:buClr>
              <a:buSzPts val="1200"/>
              <a:buFont typeface="Comic Sans MS"/>
              <a:buNone/>
            </a:pPr>
            <a:r>
              <a:rPr b="1" i="0" lang="en-US" sz="1200" u="none">
                <a:solidFill>
                  <a:srgbClr val="336600"/>
                </a:solidFill>
                <a:latin typeface="Comic Sans MS"/>
                <a:ea typeface="Comic Sans MS"/>
                <a:cs typeface="Comic Sans MS"/>
                <a:sym typeface="Comic Sans MS"/>
              </a:rPr>
              <a:t>dispositifs matériels.</a:t>
            </a:r>
            <a:endParaRPr/>
          </a:p>
        </p:txBody>
      </p:sp>
      <p:cxnSp>
        <p:nvCxnSpPr>
          <p:cNvPr id="410" name="Google Shape;410;p10"/>
          <p:cNvCxnSpPr/>
          <p:nvPr/>
        </p:nvCxnSpPr>
        <p:spPr>
          <a:xfrm>
            <a:off x="3754437" y="3721100"/>
            <a:ext cx="109537" cy="1047750"/>
          </a:xfrm>
          <a:prstGeom prst="straightConnector1">
            <a:avLst/>
          </a:prstGeom>
          <a:noFill/>
          <a:ln cap="flat" cmpd="sng" w="12700">
            <a:solidFill>
              <a:srgbClr val="336600"/>
            </a:solidFill>
            <a:prstDash val="solid"/>
            <a:miter lim="800000"/>
            <a:headEnd len="med" w="med" type="stealth"/>
            <a:tailEnd len="med" w="med" type="none"/>
          </a:ln>
        </p:spPr>
      </p:cxnSp>
      <p:sp>
        <p:nvSpPr>
          <p:cNvPr id="411" name="Google Shape;411;p10"/>
          <p:cNvSpPr txBox="1"/>
          <p:nvPr/>
        </p:nvSpPr>
        <p:spPr>
          <a:xfrm>
            <a:off x="5189537" y="5287962"/>
            <a:ext cx="1692275" cy="822325"/>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336600"/>
              </a:buClr>
              <a:buSzPts val="1200"/>
              <a:buFont typeface="Comic Sans MS"/>
              <a:buNone/>
            </a:pPr>
            <a:r>
              <a:rPr b="1" i="0" lang="en-US" sz="1200" u="none">
                <a:solidFill>
                  <a:srgbClr val="336600"/>
                </a:solidFill>
                <a:latin typeface="Comic Sans MS"/>
                <a:ea typeface="Comic Sans MS"/>
                <a:cs typeface="Comic Sans MS"/>
                <a:sym typeface="Comic Sans MS"/>
              </a:rPr>
              <a:t>Représentation</a:t>
            </a:r>
            <a:endParaRPr/>
          </a:p>
          <a:p>
            <a:pPr indent="0" lvl="0" marL="0" marR="0" rtl="0" algn="l">
              <a:lnSpc>
                <a:spcPct val="100000"/>
              </a:lnSpc>
              <a:spcBef>
                <a:spcPts val="0"/>
              </a:spcBef>
              <a:spcAft>
                <a:spcPts val="0"/>
              </a:spcAft>
              <a:buClr>
                <a:srgbClr val="336600"/>
              </a:buClr>
              <a:buSzPts val="1200"/>
              <a:buFont typeface="Comic Sans MS"/>
              <a:buNone/>
            </a:pPr>
            <a:r>
              <a:rPr b="1" i="0" lang="en-US" sz="1200" u="none">
                <a:solidFill>
                  <a:srgbClr val="336600"/>
                </a:solidFill>
                <a:latin typeface="Comic Sans MS"/>
                <a:ea typeface="Comic Sans MS"/>
                <a:cs typeface="Comic Sans MS"/>
                <a:sym typeface="Comic Sans MS"/>
              </a:rPr>
              <a:t>du comportement </a:t>
            </a:r>
            <a:endParaRPr/>
          </a:p>
          <a:p>
            <a:pPr indent="0" lvl="0" marL="0" marR="0" rtl="0" algn="l">
              <a:lnSpc>
                <a:spcPct val="100000"/>
              </a:lnSpc>
              <a:spcBef>
                <a:spcPts val="0"/>
              </a:spcBef>
              <a:spcAft>
                <a:spcPts val="0"/>
              </a:spcAft>
              <a:buClr>
                <a:srgbClr val="336600"/>
              </a:buClr>
              <a:buSzPts val="1200"/>
              <a:buFont typeface="Comic Sans MS"/>
              <a:buNone/>
            </a:pPr>
            <a:r>
              <a:rPr b="1" i="0" lang="en-US" sz="1200" u="none">
                <a:solidFill>
                  <a:srgbClr val="336600"/>
                </a:solidFill>
                <a:latin typeface="Comic Sans MS"/>
                <a:ea typeface="Comic Sans MS"/>
                <a:cs typeface="Comic Sans MS"/>
                <a:sym typeface="Comic Sans MS"/>
              </a:rPr>
              <a:t>des opérations</a:t>
            </a:r>
            <a:endParaRPr/>
          </a:p>
          <a:p>
            <a:pPr indent="0" lvl="0" marL="0" marR="0" rtl="0" algn="l">
              <a:lnSpc>
                <a:spcPct val="100000"/>
              </a:lnSpc>
              <a:spcBef>
                <a:spcPts val="0"/>
              </a:spcBef>
              <a:spcAft>
                <a:spcPts val="0"/>
              </a:spcAft>
              <a:buClr>
                <a:srgbClr val="336600"/>
              </a:buClr>
              <a:buSzPts val="1200"/>
              <a:buFont typeface="Comic Sans MS"/>
              <a:buNone/>
            </a:pPr>
            <a:r>
              <a:rPr b="1" i="0" lang="en-US" sz="1200" u="none">
                <a:solidFill>
                  <a:srgbClr val="336600"/>
                </a:solidFill>
                <a:latin typeface="Comic Sans MS"/>
                <a:ea typeface="Comic Sans MS"/>
                <a:cs typeface="Comic Sans MS"/>
                <a:sym typeface="Comic Sans MS"/>
              </a:rPr>
              <a:t>en termes d’actions.</a:t>
            </a:r>
            <a:endParaRPr/>
          </a:p>
        </p:txBody>
      </p:sp>
      <p:cxnSp>
        <p:nvCxnSpPr>
          <p:cNvPr id="412" name="Google Shape;412;p10"/>
          <p:cNvCxnSpPr/>
          <p:nvPr/>
        </p:nvCxnSpPr>
        <p:spPr>
          <a:xfrm>
            <a:off x="5287962" y="3743325"/>
            <a:ext cx="774700" cy="1593850"/>
          </a:xfrm>
          <a:prstGeom prst="straightConnector1">
            <a:avLst/>
          </a:prstGeom>
          <a:noFill/>
          <a:ln cap="flat" cmpd="sng" w="12700">
            <a:solidFill>
              <a:srgbClr val="336600"/>
            </a:solidFill>
            <a:prstDash val="solid"/>
            <a:miter lim="800000"/>
            <a:headEnd len="med" w="med" type="stealth"/>
            <a:tailEnd len="med" w="med" type="none"/>
          </a:ln>
        </p:spPr>
      </p:cxnSp>
      <p:sp>
        <p:nvSpPr>
          <p:cNvPr id="413" name="Google Shape;413;p10"/>
          <p:cNvSpPr txBox="1"/>
          <p:nvPr/>
        </p:nvSpPr>
        <p:spPr>
          <a:xfrm>
            <a:off x="6224587" y="4686300"/>
            <a:ext cx="2903537"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336600"/>
              </a:buClr>
              <a:buSzPts val="1200"/>
              <a:buFont typeface="Comic Sans MS"/>
              <a:buNone/>
            </a:pPr>
            <a:r>
              <a:rPr b="1" i="0" lang="en-US" sz="1200" u="none">
                <a:solidFill>
                  <a:srgbClr val="336600"/>
                </a:solidFill>
                <a:latin typeface="Comic Sans MS"/>
                <a:ea typeface="Comic Sans MS"/>
                <a:cs typeface="Comic Sans MS"/>
                <a:sym typeface="Comic Sans MS"/>
              </a:rPr>
              <a:t>Représentation des objets </a:t>
            </a:r>
            <a:endParaRPr/>
          </a:p>
          <a:p>
            <a:pPr indent="0" lvl="0" marL="0" marR="0" rtl="0" algn="l">
              <a:lnSpc>
                <a:spcPct val="100000"/>
              </a:lnSpc>
              <a:spcBef>
                <a:spcPts val="0"/>
              </a:spcBef>
              <a:spcAft>
                <a:spcPts val="0"/>
              </a:spcAft>
              <a:buClr>
                <a:srgbClr val="336600"/>
              </a:buClr>
              <a:buSzPts val="1200"/>
              <a:buFont typeface="Comic Sans MS"/>
              <a:buNone/>
            </a:pPr>
            <a:r>
              <a:rPr b="1" i="0" lang="en-US" sz="1200" u="none">
                <a:solidFill>
                  <a:srgbClr val="336600"/>
                </a:solidFill>
                <a:latin typeface="Comic Sans MS"/>
                <a:ea typeface="Comic Sans MS"/>
                <a:cs typeface="Comic Sans MS"/>
                <a:sym typeface="Comic Sans MS"/>
              </a:rPr>
              <a:t>et de leurs interactions temporelles.</a:t>
            </a:r>
            <a:endParaRPr/>
          </a:p>
        </p:txBody>
      </p:sp>
      <p:cxnSp>
        <p:nvCxnSpPr>
          <p:cNvPr id="414" name="Google Shape;414;p10"/>
          <p:cNvCxnSpPr/>
          <p:nvPr/>
        </p:nvCxnSpPr>
        <p:spPr>
          <a:xfrm>
            <a:off x="6584950" y="3759200"/>
            <a:ext cx="334962" cy="466725"/>
          </a:xfrm>
          <a:prstGeom prst="straightConnector1">
            <a:avLst/>
          </a:prstGeom>
          <a:noFill/>
          <a:ln cap="flat" cmpd="sng" w="12700">
            <a:solidFill>
              <a:srgbClr val="336600"/>
            </a:solidFill>
            <a:prstDash val="solid"/>
            <a:miter lim="800000"/>
            <a:headEnd len="med" w="med" type="stealth"/>
            <a:tailEnd len="med" w="med" type="none"/>
          </a:ln>
        </p:spPr>
      </p:cxnSp>
      <p:sp>
        <p:nvSpPr>
          <p:cNvPr id="415" name="Google Shape;415;p10"/>
          <p:cNvSpPr txBox="1"/>
          <p:nvPr/>
        </p:nvSpPr>
        <p:spPr>
          <a:xfrm>
            <a:off x="6861175" y="3911600"/>
            <a:ext cx="2254250" cy="639762"/>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336600"/>
              </a:buClr>
              <a:buSzPts val="1200"/>
              <a:buFont typeface="Comic Sans MS"/>
              <a:buNone/>
            </a:pPr>
            <a:r>
              <a:rPr b="1" i="0" lang="en-US" sz="1200" u="none">
                <a:solidFill>
                  <a:srgbClr val="336600"/>
                </a:solidFill>
                <a:latin typeface="Comic Sans MS"/>
                <a:ea typeface="Comic Sans MS"/>
                <a:cs typeface="Comic Sans MS"/>
                <a:sym typeface="Comic Sans MS"/>
              </a:rPr>
              <a:t>Représentation des objets, </a:t>
            </a:r>
            <a:endParaRPr/>
          </a:p>
          <a:p>
            <a:pPr indent="0" lvl="0" marL="0" marR="0" rtl="0" algn="l">
              <a:lnSpc>
                <a:spcPct val="100000"/>
              </a:lnSpc>
              <a:spcBef>
                <a:spcPts val="0"/>
              </a:spcBef>
              <a:spcAft>
                <a:spcPts val="0"/>
              </a:spcAft>
              <a:buClr>
                <a:srgbClr val="336600"/>
              </a:buClr>
              <a:buSzPts val="1200"/>
              <a:buFont typeface="Comic Sans MS"/>
              <a:buNone/>
            </a:pPr>
            <a:r>
              <a:rPr b="1" i="0" lang="en-US" sz="1200" u="none">
                <a:solidFill>
                  <a:srgbClr val="336600"/>
                </a:solidFill>
                <a:latin typeface="Comic Sans MS"/>
                <a:ea typeface="Comic Sans MS"/>
                <a:cs typeface="Comic Sans MS"/>
                <a:sym typeface="Comic Sans MS"/>
              </a:rPr>
              <a:t>des liens mutuels et des </a:t>
            </a:r>
            <a:endParaRPr/>
          </a:p>
          <a:p>
            <a:pPr indent="0" lvl="0" marL="0" marR="0" rtl="0" algn="l">
              <a:lnSpc>
                <a:spcPct val="100000"/>
              </a:lnSpc>
              <a:spcBef>
                <a:spcPts val="0"/>
              </a:spcBef>
              <a:spcAft>
                <a:spcPts val="0"/>
              </a:spcAft>
              <a:buClr>
                <a:srgbClr val="336600"/>
              </a:buClr>
              <a:buSzPts val="1200"/>
              <a:buFont typeface="Comic Sans MS"/>
              <a:buNone/>
            </a:pPr>
            <a:r>
              <a:rPr b="1" i="0" lang="en-US" sz="1200" u="none">
                <a:solidFill>
                  <a:srgbClr val="336600"/>
                </a:solidFill>
                <a:latin typeface="Comic Sans MS"/>
                <a:ea typeface="Comic Sans MS"/>
                <a:cs typeface="Comic Sans MS"/>
                <a:sym typeface="Comic Sans MS"/>
              </a:rPr>
              <a:t>interactions potentielles.</a:t>
            </a:r>
            <a:endParaRPr/>
          </a:p>
        </p:txBody>
      </p:sp>
      <p:cxnSp>
        <p:nvCxnSpPr>
          <p:cNvPr id="416" name="Google Shape;416;p10"/>
          <p:cNvCxnSpPr/>
          <p:nvPr/>
        </p:nvCxnSpPr>
        <p:spPr>
          <a:xfrm>
            <a:off x="5559425" y="3335337"/>
            <a:ext cx="779462" cy="1397000"/>
          </a:xfrm>
          <a:prstGeom prst="straightConnector1">
            <a:avLst/>
          </a:prstGeom>
          <a:noFill/>
          <a:ln cap="flat" cmpd="sng" w="12700">
            <a:solidFill>
              <a:srgbClr val="336600"/>
            </a:solidFill>
            <a:prstDash val="solid"/>
            <a:miter lim="800000"/>
            <a:headEnd len="med" w="med" type="stealth"/>
            <a:tailEnd len="med" w="med" type="none"/>
          </a:ln>
        </p:spPr>
      </p:cxnSp>
      <p:sp>
        <p:nvSpPr>
          <p:cNvPr id="417" name="Google Shape;417;p10"/>
          <p:cNvSpPr txBox="1"/>
          <p:nvPr/>
        </p:nvSpPr>
        <p:spPr>
          <a:xfrm>
            <a:off x="6113462" y="1574800"/>
            <a:ext cx="2859087"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336600"/>
              </a:buClr>
              <a:buSzPts val="1200"/>
              <a:buFont typeface="Comic Sans MS"/>
              <a:buNone/>
            </a:pPr>
            <a:r>
              <a:rPr b="1" i="0" lang="en-US" sz="1200" u="none">
                <a:solidFill>
                  <a:srgbClr val="336600"/>
                </a:solidFill>
                <a:latin typeface="Comic Sans MS"/>
                <a:ea typeface="Comic Sans MS"/>
                <a:cs typeface="Comic Sans MS"/>
                <a:sym typeface="Comic Sans MS"/>
              </a:rPr>
              <a:t>Les objets et les relations de base </a:t>
            </a:r>
            <a:endParaRPr/>
          </a:p>
          <a:p>
            <a:pPr indent="0" lvl="0" marL="0" marR="0" rtl="0" algn="l">
              <a:lnSpc>
                <a:spcPct val="100000"/>
              </a:lnSpc>
              <a:spcBef>
                <a:spcPts val="0"/>
              </a:spcBef>
              <a:spcAft>
                <a:spcPts val="0"/>
              </a:spcAft>
              <a:buClr>
                <a:srgbClr val="336600"/>
              </a:buClr>
              <a:buSzPts val="1200"/>
              <a:buFont typeface="Comic Sans MS"/>
              <a:buNone/>
            </a:pPr>
            <a:r>
              <a:rPr b="1" i="0" lang="en-US" sz="1200" u="none">
                <a:solidFill>
                  <a:srgbClr val="336600"/>
                </a:solidFill>
                <a:latin typeface="Comic Sans MS"/>
                <a:ea typeface="Comic Sans MS"/>
                <a:cs typeface="Comic Sans MS"/>
                <a:sym typeface="Comic Sans MS"/>
              </a:rPr>
              <a:t>entre ces objets.</a:t>
            </a:r>
            <a:endParaRPr/>
          </a:p>
        </p:txBody>
      </p:sp>
      <p:cxnSp>
        <p:nvCxnSpPr>
          <p:cNvPr id="418" name="Google Shape;418;p10"/>
          <p:cNvCxnSpPr/>
          <p:nvPr/>
        </p:nvCxnSpPr>
        <p:spPr>
          <a:xfrm flipH="1" rot="10800000">
            <a:off x="6911975" y="1962150"/>
            <a:ext cx="242887" cy="1289050"/>
          </a:xfrm>
          <a:prstGeom prst="straightConnector1">
            <a:avLst/>
          </a:prstGeom>
          <a:noFill/>
          <a:ln cap="flat" cmpd="sng" w="12700">
            <a:solidFill>
              <a:srgbClr val="336600"/>
            </a:solidFill>
            <a:prstDash val="solid"/>
            <a:miter lim="800000"/>
            <a:headEnd len="med" w="med" type="stealth"/>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1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Les cas d’utilisation</a:t>
            </a:r>
            <a:endParaRPr/>
          </a:p>
        </p:txBody>
      </p:sp>
      <p:sp>
        <p:nvSpPr>
          <p:cNvPr id="425" name="Google Shape;425;p11"/>
          <p:cNvSpPr txBox="1"/>
          <p:nvPr>
            <p:ph idx="1" type="body"/>
          </p:nvPr>
        </p:nvSpPr>
        <p:spPr>
          <a:xfrm>
            <a:off x="468312" y="1341437"/>
            <a:ext cx="8229600" cy="45259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3200"/>
              <a:buFont typeface="Arial"/>
              <a:buNone/>
            </a:pPr>
            <a:r>
              <a:rPr b="0" i="1" lang="en-US" sz="3200" u="none">
                <a:solidFill>
                  <a:schemeClr val="dk1"/>
                </a:solidFill>
                <a:latin typeface="Arial"/>
                <a:ea typeface="Arial"/>
                <a:cs typeface="Arial"/>
                <a:sym typeface="Arial"/>
              </a:rPr>
              <a:t>Les cas d’utilisation (use cases) ont été formalisés par Ivar Jacobson. Les cas d’utilisation décrivent, sous la forme d’actions et de réactions, </a:t>
            </a:r>
            <a:r>
              <a:rPr b="0" i="1" lang="en-US" sz="3200" u="none">
                <a:solidFill>
                  <a:srgbClr val="FF0000"/>
                </a:solidFill>
                <a:latin typeface="Arial"/>
                <a:ea typeface="Arial"/>
                <a:cs typeface="Arial"/>
                <a:sym typeface="Arial"/>
              </a:rPr>
              <a:t>le comportement d’un système du point de vue d’un utilisateur</a:t>
            </a:r>
            <a:r>
              <a:rPr b="0" i="1" lang="en-US" sz="3200" u="none">
                <a:solidFill>
                  <a:schemeClr val="dk1"/>
                </a:solidFill>
                <a:latin typeface="Arial"/>
                <a:ea typeface="Arial"/>
                <a:cs typeface="Arial"/>
                <a:sym typeface="Arial"/>
              </a:rPr>
              <a:t>.</a:t>
            </a:r>
            <a:endParaRPr/>
          </a:p>
          <a:p>
            <a:pPr indent="0" lvl="0" marL="0" rtl="0" algn="l">
              <a:lnSpc>
                <a:spcPct val="100000"/>
              </a:lnSpc>
              <a:spcBef>
                <a:spcPts val="640"/>
              </a:spcBef>
              <a:spcAft>
                <a:spcPts val="0"/>
              </a:spcAft>
              <a:buClr>
                <a:schemeClr val="dk1"/>
              </a:buClr>
              <a:buSzPts val="3200"/>
              <a:buFont typeface="Arial"/>
              <a:buNone/>
            </a:pPr>
            <a:r>
              <a:rPr b="0" i="1" lang="en-US" sz="3200" u="none">
                <a:solidFill>
                  <a:schemeClr val="dk1"/>
                </a:solidFill>
                <a:latin typeface="Arial"/>
                <a:ea typeface="Arial"/>
                <a:cs typeface="Arial"/>
                <a:sym typeface="Arial"/>
              </a:rPr>
              <a:t>Un cas d’utilisation est une manière spécifique d’utiliser un système. </a:t>
            </a:r>
            <a:r>
              <a:rPr b="0" i="1" lang="en-US" sz="3200" u="none">
                <a:solidFill>
                  <a:srgbClr val="FF0000"/>
                </a:solidFill>
                <a:latin typeface="Arial"/>
                <a:ea typeface="Arial"/>
                <a:cs typeface="Arial"/>
                <a:sym typeface="Arial"/>
              </a:rPr>
              <a:t>C’est l’image d’une fonctionnalité du système, déclenchée en réponse à la stimulation d’un acteur externe</a:t>
            </a:r>
            <a:r>
              <a:rPr b="0" i="1" lang="en-US" sz="3200" u="none">
                <a:solidFill>
                  <a:schemeClr val="dk1"/>
                </a:solidFill>
                <a:latin typeface="Arial"/>
                <a:ea typeface="Arial"/>
                <a:cs typeface="Arial"/>
                <a:sym typeface="Arial"/>
              </a:rPr>
              <a: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1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Intérêt des cas d’utilisation</a:t>
            </a:r>
            <a:endParaRPr/>
          </a:p>
        </p:txBody>
      </p:sp>
      <p:pic>
        <p:nvPicPr>
          <p:cNvPr id="432" name="Google Shape;432;p12"/>
          <p:cNvPicPr preferRelativeResize="0"/>
          <p:nvPr/>
        </p:nvPicPr>
        <p:blipFill rotWithShape="1">
          <a:blip r:embed="rId3">
            <a:alphaModFix/>
          </a:blip>
          <a:srcRect b="0" l="0" r="0" t="0"/>
          <a:stretch/>
        </p:blipFill>
        <p:spPr>
          <a:xfrm>
            <a:off x="6019800" y="1981200"/>
            <a:ext cx="2819400" cy="2514600"/>
          </a:xfrm>
          <a:prstGeom prst="rect">
            <a:avLst/>
          </a:prstGeom>
          <a:noFill/>
          <a:ln>
            <a:noFill/>
          </a:ln>
        </p:spPr>
      </p:pic>
      <p:grpSp>
        <p:nvGrpSpPr>
          <p:cNvPr id="433" name="Google Shape;433;p12"/>
          <p:cNvGrpSpPr/>
          <p:nvPr/>
        </p:nvGrpSpPr>
        <p:grpSpPr>
          <a:xfrm>
            <a:off x="304800" y="1219200"/>
            <a:ext cx="4267200" cy="3414712"/>
            <a:chOff x="192" y="1008"/>
            <a:chExt cx="2688" cy="2151"/>
          </a:xfrm>
        </p:grpSpPr>
        <p:sp>
          <p:nvSpPr>
            <p:cNvPr id="434" name="Google Shape;434;p12"/>
            <p:cNvSpPr/>
            <p:nvPr/>
          </p:nvSpPr>
          <p:spPr>
            <a:xfrm>
              <a:off x="192" y="1368"/>
              <a:ext cx="2688" cy="1584"/>
            </a:xfrm>
            <a:prstGeom prst="ellipse">
              <a:avLst/>
            </a:prstGeom>
            <a:solidFill>
              <a:srgbClr val="CCE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435" name="Google Shape;435;p12"/>
            <p:cNvCxnSpPr/>
            <p:nvPr/>
          </p:nvCxnSpPr>
          <p:spPr>
            <a:xfrm flipH="1" rot="-5400000">
              <a:off x="385" y="1801"/>
              <a:ext cx="1352" cy="950"/>
            </a:xfrm>
            <a:prstGeom prst="curvedConnector5">
              <a:avLst>
                <a:gd fmla="val -100514" name="adj1"/>
                <a:gd fmla="val -61640" name="adj2"/>
                <a:gd fmla="val -100508" name="adj3"/>
              </a:avLst>
            </a:prstGeom>
            <a:noFill/>
            <a:ln cap="flat" cmpd="sng" w="9525">
              <a:solidFill>
                <a:schemeClr val="dk1"/>
              </a:solidFill>
              <a:prstDash val="solid"/>
              <a:miter lim="800000"/>
              <a:headEnd len="med" w="med" type="none"/>
              <a:tailEnd len="med" w="med" type="none"/>
            </a:ln>
          </p:spPr>
        </p:cxnSp>
        <p:cxnSp>
          <p:nvCxnSpPr>
            <p:cNvPr id="436" name="Google Shape;436;p12"/>
            <p:cNvCxnSpPr/>
            <p:nvPr/>
          </p:nvCxnSpPr>
          <p:spPr>
            <a:xfrm flipH="1" rot="-5400000">
              <a:off x="807" y="1685"/>
              <a:ext cx="1352" cy="950"/>
            </a:xfrm>
            <a:prstGeom prst="curvedConnector5">
              <a:avLst>
                <a:gd fmla="val -91939" name="adj1"/>
                <a:gd fmla="val -106029" name="adj2"/>
                <a:gd fmla="val -91933" name="adj3"/>
              </a:avLst>
            </a:prstGeom>
            <a:noFill/>
            <a:ln cap="flat" cmpd="sng" w="9525">
              <a:solidFill>
                <a:schemeClr val="dk1"/>
              </a:solidFill>
              <a:prstDash val="solid"/>
              <a:miter lim="800000"/>
              <a:headEnd len="med" w="med" type="none"/>
              <a:tailEnd len="med" w="med" type="none"/>
            </a:ln>
          </p:spPr>
        </p:cxnSp>
        <p:cxnSp>
          <p:nvCxnSpPr>
            <p:cNvPr id="437" name="Google Shape;437;p12"/>
            <p:cNvCxnSpPr/>
            <p:nvPr/>
          </p:nvCxnSpPr>
          <p:spPr>
            <a:xfrm flipH="1" rot="-5400000">
              <a:off x="1347" y="1581"/>
              <a:ext cx="1328" cy="950"/>
            </a:xfrm>
            <a:prstGeom prst="curvedConnector3">
              <a:avLst>
                <a:gd fmla="val -86676" name="adj1"/>
              </a:avLst>
            </a:prstGeom>
            <a:noFill/>
            <a:ln cap="flat" cmpd="sng" w="9525">
              <a:solidFill>
                <a:schemeClr val="dk1"/>
              </a:solidFill>
              <a:prstDash val="solid"/>
              <a:miter lim="800000"/>
              <a:headEnd len="med" w="med" type="none"/>
              <a:tailEnd len="med" w="med" type="none"/>
            </a:ln>
          </p:spPr>
        </p:cxnSp>
        <p:sp>
          <p:nvSpPr>
            <p:cNvPr id="438" name="Google Shape;438;p12"/>
            <p:cNvSpPr txBox="1"/>
            <p:nvPr/>
          </p:nvSpPr>
          <p:spPr>
            <a:xfrm>
              <a:off x="768" y="2047"/>
              <a:ext cx="1518" cy="250"/>
            </a:xfrm>
            <a:prstGeom prst="rect">
              <a:avLst/>
            </a:prstGeom>
            <a:solidFill>
              <a:srgbClr val="CCECFF"/>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Ensemble des besoins</a:t>
              </a:r>
              <a:endParaRPr/>
            </a:p>
          </p:txBody>
        </p:sp>
        <p:cxnSp>
          <p:nvCxnSpPr>
            <p:cNvPr id="439" name="Google Shape;439;p12"/>
            <p:cNvCxnSpPr/>
            <p:nvPr/>
          </p:nvCxnSpPr>
          <p:spPr>
            <a:xfrm flipH="1">
              <a:off x="384" y="2496"/>
              <a:ext cx="384" cy="384"/>
            </a:xfrm>
            <a:prstGeom prst="straightConnector1">
              <a:avLst/>
            </a:prstGeom>
            <a:noFill/>
            <a:ln cap="flat" cmpd="sng" w="19050">
              <a:solidFill>
                <a:schemeClr val="dk1"/>
              </a:solidFill>
              <a:prstDash val="solid"/>
              <a:miter lim="800000"/>
              <a:headEnd len="med" w="med" type="triangle"/>
              <a:tailEnd len="med" w="med" type="none"/>
            </a:ln>
          </p:spPr>
        </p:cxnSp>
        <p:sp>
          <p:nvSpPr>
            <p:cNvPr id="440" name="Google Shape;440;p12"/>
            <p:cNvSpPr txBox="1"/>
            <p:nvPr/>
          </p:nvSpPr>
          <p:spPr>
            <a:xfrm>
              <a:off x="192" y="2880"/>
              <a:ext cx="864"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Utilisateur A</a:t>
              </a:r>
              <a:endParaRPr/>
            </a:p>
          </p:txBody>
        </p:sp>
        <p:cxnSp>
          <p:nvCxnSpPr>
            <p:cNvPr id="441" name="Google Shape;441;p12"/>
            <p:cNvCxnSpPr/>
            <p:nvPr/>
          </p:nvCxnSpPr>
          <p:spPr>
            <a:xfrm>
              <a:off x="2592" y="2448"/>
              <a:ext cx="0" cy="480"/>
            </a:xfrm>
            <a:prstGeom prst="straightConnector1">
              <a:avLst/>
            </a:prstGeom>
            <a:noFill/>
            <a:ln cap="flat" cmpd="sng" w="19050">
              <a:solidFill>
                <a:schemeClr val="dk1"/>
              </a:solidFill>
              <a:prstDash val="solid"/>
              <a:miter lim="800000"/>
              <a:headEnd len="med" w="med" type="triangle"/>
              <a:tailEnd len="med" w="med" type="none"/>
            </a:ln>
          </p:spPr>
        </p:cxnSp>
        <p:sp>
          <p:nvSpPr>
            <p:cNvPr id="442" name="Google Shape;442;p12"/>
            <p:cNvSpPr txBox="1"/>
            <p:nvPr/>
          </p:nvSpPr>
          <p:spPr>
            <a:xfrm>
              <a:off x="2016" y="2928"/>
              <a:ext cx="856"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Utilisateur B</a:t>
              </a:r>
              <a:endParaRPr/>
            </a:p>
          </p:txBody>
        </p:sp>
        <p:cxnSp>
          <p:nvCxnSpPr>
            <p:cNvPr id="443" name="Google Shape;443;p12"/>
            <p:cNvCxnSpPr/>
            <p:nvPr/>
          </p:nvCxnSpPr>
          <p:spPr>
            <a:xfrm flipH="1" rot="10800000">
              <a:off x="1200" y="1152"/>
              <a:ext cx="288" cy="480"/>
            </a:xfrm>
            <a:prstGeom prst="straightConnector1">
              <a:avLst/>
            </a:prstGeom>
            <a:noFill/>
            <a:ln cap="flat" cmpd="sng" w="19050">
              <a:solidFill>
                <a:schemeClr val="dk1"/>
              </a:solidFill>
              <a:prstDash val="solid"/>
              <a:miter lim="800000"/>
              <a:headEnd len="med" w="med" type="triangle"/>
              <a:tailEnd len="med" w="med" type="none"/>
            </a:ln>
          </p:spPr>
        </p:cxnSp>
        <p:sp>
          <p:nvSpPr>
            <p:cNvPr id="444" name="Google Shape;444;p12"/>
            <p:cNvSpPr txBox="1"/>
            <p:nvPr/>
          </p:nvSpPr>
          <p:spPr>
            <a:xfrm>
              <a:off x="1488" y="1008"/>
              <a:ext cx="856"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Utilisateur C</a:t>
              </a:r>
              <a:endParaRPr/>
            </a:p>
          </p:txBody>
        </p:sp>
      </p:grpSp>
      <p:sp>
        <p:nvSpPr>
          <p:cNvPr id="445" name="Google Shape;445;p12"/>
          <p:cNvSpPr txBox="1"/>
          <p:nvPr/>
        </p:nvSpPr>
        <p:spPr>
          <a:xfrm>
            <a:off x="228600" y="5029200"/>
            <a:ext cx="4511675" cy="11874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Times New Roman"/>
              <a:buNone/>
            </a:pPr>
            <a:r>
              <a:rPr b="0" i="0" lang="en-US" sz="2400" u="none">
                <a:solidFill>
                  <a:srgbClr val="FF0000"/>
                </a:solidFill>
                <a:latin typeface="Times New Roman"/>
                <a:ea typeface="Times New Roman"/>
                <a:cs typeface="Times New Roman"/>
                <a:sym typeface="Times New Roman"/>
              </a:rPr>
              <a:t>Les cas d’utilisation partitionnent l’ensemble des besoins d’un système</a:t>
            </a:r>
            <a:endParaRPr/>
          </a:p>
        </p:txBody>
      </p:sp>
      <p:sp>
        <p:nvSpPr>
          <p:cNvPr id="446" name="Google Shape;446;p12"/>
          <p:cNvSpPr txBox="1"/>
          <p:nvPr/>
        </p:nvSpPr>
        <p:spPr>
          <a:xfrm>
            <a:off x="6172200" y="5105400"/>
            <a:ext cx="2590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Times New Roman"/>
              <a:buNone/>
            </a:pPr>
            <a:r>
              <a:rPr b="0" i="0" lang="en-US" sz="2400" u="none">
                <a:solidFill>
                  <a:srgbClr val="FF0000"/>
                </a:solidFill>
                <a:latin typeface="Times New Roman"/>
                <a:ea typeface="Times New Roman"/>
                <a:cs typeface="Times New Roman"/>
                <a:sym typeface="Times New Roman"/>
              </a:rPr>
              <a:t>Cahier des charges</a:t>
            </a:r>
            <a:endParaRPr/>
          </a:p>
        </p:txBody>
      </p:sp>
      <p:sp>
        <p:nvSpPr>
          <p:cNvPr id="447" name="Google Shape;447;p12"/>
          <p:cNvSpPr/>
          <p:nvPr/>
        </p:nvSpPr>
        <p:spPr>
          <a:xfrm>
            <a:off x="4876800" y="2971800"/>
            <a:ext cx="838200" cy="609600"/>
          </a:xfrm>
          <a:prstGeom prst="rightArrow">
            <a:avLst>
              <a:gd fmla="val 50000" name="adj1"/>
              <a:gd fmla="val 50000" name="adj2"/>
            </a:avLst>
          </a:prstGeom>
          <a:solidFill>
            <a:srgbClr val="FF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Le modèle des cas d’utilisation</a:t>
            </a:r>
            <a:endParaRPr/>
          </a:p>
        </p:txBody>
      </p:sp>
      <p:sp>
        <p:nvSpPr>
          <p:cNvPr id="454" name="Google Shape;454;p13"/>
          <p:cNvSpPr txBox="1"/>
          <p:nvPr>
            <p:ph idx="1" type="body"/>
          </p:nvPr>
        </p:nvSpPr>
        <p:spPr>
          <a:xfrm>
            <a:off x="304800" y="5257800"/>
            <a:ext cx="8534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3000"/>
              <a:buFont typeface="Arial"/>
              <a:buNone/>
            </a:pPr>
            <a:r>
              <a:rPr b="0" i="1" lang="en-US" sz="3000" u="none">
                <a:solidFill>
                  <a:schemeClr val="dk1"/>
                </a:solidFill>
                <a:latin typeface="Arial"/>
                <a:ea typeface="Arial"/>
                <a:cs typeface="Arial"/>
                <a:sym typeface="Arial"/>
              </a:rPr>
              <a:t>Un acteur représente </a:t>
            </a:r>
            <a:r>
              <a:rPr b="0" i="1" lang="en-US" sz="3000" u="none">
                <a:solidFill>
                  <a:srgbClr val="FF0000"/>
                </a:solidFill>
                <a:latin typeface="Arial"/>
                <a:ea typeface="Arial"/>
                <a:cs typeface="Arial"/>
                <a:sym typeface="Arial"/>
              </a:rPr>
              <a:t>un rôle</a:t>
            </a:r>
            <a:r>
              <a:rPr b="0" i="1" lang="en-US" sz="3000" u="none">
                <a:solidFill>
                  <a:schemeClr val="dk1"/>
                </a:solidFill>
                <a:latin typeface="Arial"/>
                <a:ea typeface="Arial"/>
                <a:cs typeface="Arial"/>
                <a:sym typeface="Arial"/>
              </a:rPr>
              <a:t>  joué par une personne ou une chose  qui </a:t>
            </a:r>
            <a:r>
              <a:rPr b="0" i="1" lang="en-US" sz="3000" u="none">
                <a:solidFill>
                  <a:srgbClr val="FF0000"/>
                </a:solidFill>
                <a:latin typeface="Arial"/>
                <a:ea typeface="Arial"/>
                <a:cs typeface="Arial"/>
                <a:sym typeface="Arial"/>
              </a:rPr>
              <a:t>interagit</a:t>
            </a:r>
            <a:r>
              <a:rPr b="0" i="1" lang="en-US" sz="3000" u="none">
                <a:solidFill>
                  <a:schemeClr val="dk1"/>
                </a:solidFill>
                <a:latin typeface="Arial"/>
                <a:ea typeface="Arial"/>
                <a:cs typeface="Arial"/>
                <a:sym typeface="Arial"/>
              </a:rPr>
              <a:t> avec un système.</a:t>
            </a:r>
            <a:endParaRPr/>
          </a:p>
          <a:p>
            <a:pPr indent="-152400" lvl="0" marL="342900" rtl="0" algn="l">
              <a:spcBef>
                <a:spcPts val="600"/>
              </a:spcBef>
              <a:spcAft>
                <a:spcPts val="0"/>
              </a:spcAft>
              <a:buClr>
                <a:schemeClr val="dk1"/>
              </a:buClr>
              <a:buSzPts val="3000"/>
              <a:buFont typeface="Arial"/>
              <a:buNone/>
            </a:pPr>
            <a:r>
              <a:t/>
            </a:r>
            <a:endParaRPr b="0" i="1" sz="3000" u="none">
              <a:solidFill>
                <a:schemeClr val="dk1"/>
              </a:solidFill>
              <a:latin typeface="Arial"/>
              <a:ea typeface="Arial"/>
              <a:cs typeface="Arial"/>
              <a:sym typeface="Arial"/>
            </a:endParaRPr>
          </a:p>
        </p:txBody>
      </p:sp>
      <p:grpSp>
        <p:nvGrpSpPr>
          <p:cNvPr id="455" name="Google Shape;455;p13"/>
          <p:cNvGrpSpPr/>
          <p:nvPr/>
        </p:nvGrpSpPr>
        <p:grpSpPr>
          <a:xfrm>
            <a:off x="1619250" y="1125537"/>
            <a:ext cx="5884862" cy="4198937"/>
            <a:chOff x="1026" y="528"/>
            <a:chExt cx="3707" cy="2645"/>
          </a:xfrm>
        </p:grpSpPr>
        <p:graphicFrame>
          <p:nvGraphicFramePr>
            <p:cNvPr id="456" name="Google Shape;456;p13"/>
            <p:cNvGraphicFramePr/>
            <p:nvPr/>
          </p:nvGraphicFramePr>
          <p:xfrm>
            <a:off x="1026" y="528"/>
            <a:ext cx="3707" cy="2645"/>
          </p:xfrm>
          <a:graphic>
            <a:graphicData uri="http://schemas.openxmlformats.org/presentationml/2006/ole">
              <mc:AlternateContent>
                <mc:Choice Requires="v">
                  <p:oleObj r:id="rId4" imgH="2645" imgW="3707" progId="MSPhotoEd.3" spid="_x0000_s1">
                    <p:embed/>
                  </p:oleObj>
                </mc:Choice>
                <mc:Fallback>
                  <p:oleObj r:id="rId5" imgH="2645" imgW="3707" progId="MSPhotoEd.3">
                    <p:embed/>
                    <p:pic>
                      <p:nvPicPr>
                        <p:cNvPr id="456" name="Google Shape;456;p13"/>
                        <p:cNvPicPr preferRelativeResize="0"/>
                        <p:nvPr/>
                      </p:nvPicPr>
                      <p:blipFill rotWithShape="1">
                        <a:blip r:embed="rId6">
                          <a:alphaModFix/>
                        </a:blip>
                        <a:srcRect b="0" l="0" r="0" t="0"/>
                        <a:stretch/>
                      </p:blipFill>
                      <p:spPr>
                        <a:xfrm>
                          <a:off x="1026" y="528"/>
                          <a:ext cx="3707" cy="2645"/>
                        </a:xfrm>
                        <a:prstGeom prst="rect">
                          <a:avLst/>
                        </a:prstGeom>
                        <a:noFill/>
                        <a:ln>
                          <a:noFill/>
                        </a:ln>
                      </p:spPr>
                    </p:pic>
                  </p:oleObj>
                </mc:Fallback>
              </mc:AlternateContent>
            </a:graphicData>
          </a:graphic>
        </p:graphicFrame>
        <p:sp>
          <p:nvSpPr>
            <p:cNvPr id="457" name="Google Shape;457;p13"/>
            <p:cNvSpPr txBox="1"/>
            <p:nvPr/>
          </p:nvSpPr>
          <p:spPr>
            <a:xfrm>
              <a:off x="1824" y="816"/>
              <a:ext cx="1728" cy="2064"/>
            </a:xfrm>
            <a:prstGeom prst="rect">
              <a:avLst/>
            </a:prstGeom>
            <a:noFill/>
            <a:ln cap="flat" cmpd="sng" w="28575">
              <a:solidFill>
                <a:srgbClr val="33996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58" name="Google Shape;458;p13"/>
            <p:cNvSpPr txBox="1"/>
            <p:nvPr/>
          </p:nvSpPr>
          <p:spPr>
            <a:xfrm>
              <a:off x="2784" y="816"/>
              <a:ext cx="766"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39966"/>
                </a:buClr>
                <a:buSzPts val="2400"/>
                <a:buFont typeface="Times New Roman"/>
                <a:buNone/>
              </a:pPr>
              <a:r>
                <a:rPr b="0" i="0" lang="en-US" sz="2400" u="none">
                  <a:solidFill>
                    <a:srgbClr val="339966"/>
                  </a:solidFill>
                  <a:latin typeface="Times New Roman"/>
                  <a:ea typeface="Times New Roman"/>
                  <a:cs typeface="Times New Roman"/>
                  <a:sym typeface="Times New Roman"/>
                </a:rPr>
                <a:t>Système</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1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Exercice </a:t>
            </a:r>
            <a:endParaRPr/>
          </a:p>
        </p:txBody>
      </p:sp>
      <p:graphicFrame>
        <p:nvGraphicFramePr>
          <p:cNvPr id="473" name="Google Shape;473;p14"/>
          <p:cNvGraphicFramePr/>
          <p:nvPr/>
        </p:nvGraphicFramePr>
        <p:xfrm>
          <a:off x="1163637" y="1069975"/>
          <a:ext cx="6816725" cy="4716462"/>
        </p:xfrm>
        <a:graphic>
          <a:graphicData uri="http://schemas.openxmlformats.org/presentationml/2006/ole">
            <mc:AlternateContent>
              <mc:Choice Requires="v">
                <p:oleObj r:id="rId4" imgH="4716462" imgW="6816725" progId="MSPhotoEd.3" spid="_x0000_s3">
                  <p:embed/>
                </p:oleObj>
              </mc:Choice>
              <mc:Fallback>
                <p:oleObj r:id="rId5" imgH="4716462" imgW="6816725" progId="MSPhotoEd.3">
                  <p:embed/>
                  <p:pic>
                    <p:nvPicPr>
                      <p:cNvPr id="473" name="Google Shape;473;p14"/>
                      <p:cNvPicPr preferRelativeResize="0"/>
                      <p:nvPr/>
                    </p:nvPicPr>
                    <p:blipFill rotWithShape="1">
                      <a:blip r:embed="rId6">
                        <a:alphaModFix/>
                      </a:blip>
                      <a:srcRect b="0" l="0" r="0" t="0"/>
                      <a:stretch/>
                    </p:blipFill>
                    <p:spPr>
                      <a:xfrm>
                        <a:off x="1163637" y="1069975"/>
                        <a:ext cx="6816725" cy="4716462"/>
                      </a:xfrm>
                      <a:prstGeom prst="rect">
                        <a:avLst/>
                      </a:prstGeom>
                      <a:noFill/>
                      <a:ln>
                        <a:noFill/>
                      </a:ln>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1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4 grandes catégories d’acteurs</a:t>
            </a:r>
            <a:endParaRPr/>
          </a:p>
        </p:txBody>
      </p:sp>
      <p:sp>
        <p:nvSpPr>
          <p:cNvPr id="480" name="Google Shape;480;p1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FF0000"/>
              </a:buClr>
              <a:buSzPts val="2800"/>
              <a:buFont typeface="Arial"/>
              <a:buChar char="•"/>
            </a:pPr>
            <a:r>
              <a:rPr b="0" i="1" lang="en-US" sz="2800" u="none">
                <a:solidFill>
                  <a:srgbClr val="FF0000"/>
                </a:solidFill>
                <a:latin typeface="Arial"/>
                <a:ea typeface="Arial"/>
                <a:cs typeface="Arial"/>
                <a:sym typeface="Arial"/>
              </a:rPr>
              <a:t>Les acteurs principaux</a:t>
            </a:r>
            <a:r>
              <a:rPr b="0" i="1" lang="en-US" sz="2800" u="none">
                <a:solidFill>
                  <a:schemeClr val="dk1"/>
                </a:solidFill>
                <a:latin typeface="Arial"/>
                <a:ea typeface="Arial"/>
                <a:cs typeface="Arial"/>
                <a:sym typeface="Arial"/>
              </a:rPr>
              <a:t>…les personnes qui </a:t>
            </a:r>
            <a:r>
              <a:rPr b="0" i="1" lang="en-US" sz="2800" u="none">
                <a:solidFill>
                  <a:srgbClr val="FF0000"/>
                </a:solidFill>
                <a:latin typeface="Arial"/>
                <a:ea typeface="Arial"/>
                <a:cs typeface="Arial"/>
                <a:sym typeface="Arial"/>
              </a:rPr>
              <a:t>utilisent les fonctions principales</a:t>
            </a:r>
            <a:r>
              <a:rPr b="0" i="1" lang="en-US" sz="2800" u="none">
                <a:solidFill>
                  <a:schemeClr val="dk1"/>
                </a:solidFill>
                <a:latin typeface="Arial"/>
                <a:ea typeface="Arial"/>
                <a:cs typeface="Arial"/>
                <a:sym typeface="Arial"/>
              </a:rPr>
              <a:t> du système.</a:t>
            </a:r>
            <a:endParaRPr/>
          </a:p>
          <a:p>
            <a:pPr indent="-342900" lvl="0" marL="342900" rtl="0" algn="l">
              <a:lnSpc>
                <a:spcPct val="100000"/>
              </a:lnSpc>
              <a:spcBef>
                <a:spcPts val="560"/>
              </a:spcBef>
              <a:spcAft>
                <a:spcPts val="0"/>
              </a:spcAft>
              <a:buClr>
                <a:srgbClr val="FF0000"/>
              </a:buClr>
              <a:buSzPts val="2800"/>
              <a:buFont typeface="Arial"/>
              <a:buChar char="•"/>
            </a:pPr>
            <a:r>
              <a:rPr b="0" i="1" lang="en-US" sz="2800" u="none">
                <a:solidFill>
                  <a:srgbClr val="FF0000"/>
                </a:solidFill>
                <a:latin typeface="Arial"/>
                <a:ea typeface="Arial"/>
                <a:cs typeface="Arial"/>
                <a:sym typeface="Arial"/>
              </a:rPr>
              <a:t>Les acteurs secondaires</a:t>
            </a:r>
            <a:r>
              <a:rPr b="0" i="1" lang="en-US" sz="2800" u="none">
                <a:solidFill>
                  <a:schemeClr val="dk1"/>
                </a:solidFill>
                <a:latin typeface="Arial"/>
                <a:ea typeface="Arial"/>
                <a:cs typeface="Arial"/>
                <a:sym typeface="Arial"/>
              </a:rPr>
              <a:t>…les personnes qui </a:t>
            </a:r>
            <a:r>
              <a:rPr b="0" i="1" lang="en-US" sz="2800" u="none">
                <a:solidFill>
                  <a:srgbClr val="FF0000"/>
                </a:solidFill>
                <a:latin typeface="Arial"/>
                <a:ea typeface="Arial"/>
                <a:cs typeface="Arial"/>
                <a:sym typeface="Arial"/>
              </a:rPr>
              <a:t>effectuent des tâches administratives</a:t>
            </a:r>
            <a:r>
              <a:rPr b="0" i="1" lang="en-US" sz="2800" u="none">
                <a:solidFill>
                  <a:schemeClr val="dk1"/>
                </a:solidFill>
                <a:latin typeface="Arial"/>
                <a:ea typeface="Arial"/>
                <a:cs typeface="Arial"/>
                <a:sym typeface="Arial"/>
              </a:rPr>
              <a:t> ou de maintenance.</a:t>
            </a:r>
            <a:endParaRPr/>
          </a:p>
          <a:p>
            <a:pPr indent="-342900" lvl="0" marL="342900" rtl="0" algn="l">
              <a:lnSpc>
                <a:spcPct val="100000"/>
              </a:lnSpc>
              <a:spcBef>
                <a:spcPts val="560"/>
              </a:spcBef>
              <a:spcAft>
                <a:spcPts val="0"/>
              </a:spcAft>
              <a:buClr>
                <a:srgbClr val="FF0000"/>
              </a:buClr>
              <a:buSzPts val="2800"/>
              <a:buFont typeface="Arial"/>
              <a:buChar char="•"/>
            </a:pPr>
            <a:r>
              <a:rPr b="0" i="1" lang="en-US" sz="2800" u="none">
                <a:solidFill>
                  <a:srgbClr val="FF0000"/>
                </a:solidFill>
                <a:latin typeface="Arial"/>
                <a:ea typeface="Arial"/>
                <a:cs typeface="Arial"/>
                <a:sym typeface="Arial"/>
              </a:rPr>
              <a:t>Le matériel externe</a:t>
            </a:r>
            <a:r>
              <a:rPr b="0" i="1" lang="en-US" sz="2800" u="none">
                <a:solidFill>
                  <a:schemeClr val="dk1"/>
                </a:solidFill>
                <a:latin typeface="Arial"/>
                <a:ea typeface="Arial"/>
                <a:cs typeface="Arial"/>
                <a:sym typeface="Arial"/>
              </a:rPr>
              <a:t>…les dispositifs matériels incontournables qui </a:t>
            </a:r>
            <a:r>
              <a:rPr b="0" i="1" lang="en-US" sz="2800" u="none">
                <a:solidFill>
                  <a:srgbClr val="FF0000"/>
                </a:solidFill>
                <a:latin typeface="Arial"/>
                <a:ea typeface="Arial"/>
                <a:cs typeface="Arial"/>
                <a:sym typeface="Arial"/>
              </a:rPr>
              <a:t>font partie  du domaine</a:t>
            </a:r>
            <a:r>
              <a:rPr b="0" i="1" lang="en-US" sz="2800" u="none">
                <a:solidFill>
                  <a:schemeClr val="dk1"/>
                </a:solidFill>
                <a:latin typeface="Arial"/>
                <a:ea typeface="Arial"/>
                <a:cs typeface="Arial"/>
                <a:sym typeface="Arial"/>
              </a:rPr>
              <a:t> de l’application et qui doivent être </a:t>
            </a:r>
            <a:r>
              <a:rPr b="0" i="1" lang="en-US" sz="2800" u="none">
                <a:solidFill>
                  <a:srgbClr val="FF0000"/>
                </a:solidFill>
                <a:latin typeface="Arial"/>
                <a:ea typeface="Arial"/>
                <a:cs typeface="Arial"/>
                <a:sym typeface="Arial"/>
              </a:rPr>
              <a:t>utilisés</a:t>
            </a:r>
            <a:r>
              <a:rPr b="0" i="1" lang="en-US" sz="2800" u="none">
                <a:solidFill>
                  <a:schemeClr val="dk1"/>
                </a:solidFill>
                <a:latin typeface="Arial"/>
                <a:ea typeface="Arial"/>
                <a:cs typeface="Arial"/>
                <a:sym typeface="Arial"/>
              </a:rPr>
              <a:t>.</a:t>
            </a:r>
            <a:endParaRPr/>
          </a:p>
          <a:p>
            <a:pPr indent="-342900" lvl="0" marL="342900" rtl="0" algn="l">
              <a:lnSpc>
                <a:spcPct val="100000"/>
              </a:lnSpc>
              <a:spcBef>
                <a:spcPts val="560"/>
              </a:spcBef>
              <a:spcAft>
                <a:spcPts val="0"/>
              </a:spcAft>
              <a:buClr>
                <a:srgbClr val="FF0000"/>
              </a:buClr>
              <a:buSzPts val="2800"/>
              <a:buFont typeface="Arial"/>
              <a:buChar char="•"/>
            </a:pPr>
            <a:r>
              <a:rPr b="0" i="1" lang="en-US" sz="2800" u="none">
                <a:solidFill>
                  <a:srgbClr val="FF0000"/>
                </a:solidFill>
                <a:latin typeface="Arial"/>
                <a:ea typeface="Arial"/>
                <a:cs typeface="Arial"/>
                <a:sym typeface="Arial"/>
              </a:rPr>
              <a:t>Les autres systèmes</a:t>
            </a:r>
            <a:r>
              <a:rPr b="0" i="1" lang="en-US" sz="2800" u="none">
                <a:solidFill>
                  <a:schemeClr val="dk1"/>
                </a:solidFill>
                <a:latin typeface="Arial"/>
                <a:ea typeface="Arial"/>
                <a:cs typeface="Arial"/>
                <a:sym typeface="Arial"/>
              </a:rPr>
              <a:t>… les systèmes avec lesquels le système doit </a:t>
            </a:r>
            <a:r>
              <a:rPr b="0" i="1" lang="en-US" sz="2800" u="none">
                <a:solidFill>
                  <a:srgbClr val="FF0000"/>
                </a:solidFill>
                <a:latin typeface="Arial"/>
                <a:ea typeface="Arial"/>
                <a:cs typeface="Arial"/>
                <a:sym typeface="Arial"/>
              </a:rPr>
              <a:t>interagir</a:t>
            </a:r>
            <a:r>
              <a:rPr b="0" i="1" lang="en-US" sz="2800" u="none">
                <a:solidFill>
                  <a:schemeClr val="dk1"/>
                </a:solidFill>
                <a:latin typeface="Arial"/>
                <a:ea typeface="Arial"/>
                <a:cs typeface="Arial"/>
                <a:sym typeface="Arial"/>
              </a:rPr>
              <a:t>.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1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Les scénarios (1)</a:t>
            </a:r>
            <a:endParaRPr/>
          </a:p>
        </p:txBody>
      </p:sp>
      <p:sp>
        <p:nvSpPr>
          <p:cNvPr id="487" name="Google Shape;487;p1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3200"/>
              <a:buFont typeface="Arial"/>
              <a:buNone/>
            </a:pPr>
            <a:r>
              <a:rPr b="0" i="1" lang="en-US" sz="3200" u="none">
                <a:solidFill>
                  <a:schemeClr val="dk1"/>
                </a:solidFill>
                <a:latin typeface="Arial"/>
                <a:ea typeface="Arial"/>
                <a:cs typeface="Arial"/>
                <a:sym typeface="Arial"/>
              </a:rPr>
              <a:t>Les cas d’utilisation se déterminent en observant  et en précisant, acteur par acteur, </a:t>
            </a:r>
            <a:r>
              <a:rPr b="0" i="1" lang="en-US" sz="3200" u="none">
                <a:solidFill>
                  <a:srgbClr val="FF0000"/>
                </a:solidFill>
                <a:latin typeface="Arial"/>
                <a:ea typeface="Arial"/>
                <a:cs typeface="Arial"/>
                <a:sym typeface="Arial"/>
              </a:rPr>
              <a:t>les séquences  d’interaction -les scénarios-</a:t>
            </a:r>
            <a:r>
              <a:rPr b="0" i="1" lang="en-US" sz="3200" u="none">
                <a:solidFill>
                  <a:schemeClr val="dk1"/>
                </a:solidFill>
                <a:latin typeface="Arial"/>
                <a:ea typeface="Arial"/>
                <a:cs typeface="Arial"/>
                <a:sym typeface="Arial"/>
              </a:rPr>
              <a:t> du point de vue de l’utilisateur.</a:t>
            </a:r>
            <a:endParaRPr/>
          </a:p>
          <a:p>
            <a:pPr indent="0" lvl="0" marL="0" rtl="0" algn="l">
              <a:lnSpc>
                <a:spcPct val="100000"/>
              </a:lnSpc>
              <a:spcBef>
                <a:spcPts val="640"/>
              </a:spcBef>
              <a:spcAft>
                <a:spcPts val="0"/>
              </a:spcAft>
              <a:buClr>
                <a:schemeClr val="dk1"/>
              </a:buClr>
              <a:buSzPts val="3200"/>
              <a:buFont typeface="Arial"/>
              <a:buNone/>
            </a:pPr>
            <a:r>
              <a:rPr b="0" i="1" lang="en-US" sz="3200" u="none">
                <a:solidFill>
                  <a:schemeClr val="dk1"/>
                </a:solidFill>
                <a:latin typeface="Arial"/>
                <a:ea typeface="Arial"/>
                <a:cs typeface="Arial"/>
                <a:sym typeface="Arial"/>
              </a:rPr>
              <a:t>Un cas d’utilisation regroupe </a:t>
            </a:r>
            <a:r>
              <a:rPr b="0" i="1" lang="en-US" sz="3200" u="none">
                <a:solidFill>
                  <a:srgbClr val="FF0000"/>
                </a:solidFill>
                <a:latin typeface="Arial"/>
                <a:ea typeface="Arial"/>
                <a:cs typeface="Arial"/>
                <a:sym typeface="Arial"/>
              </a:rPr>
              <a:t>une famille de scénarios</a:t>
            </a:r>
            <a:r>
              <a:rPr b="0" i="1" lang="en-US" sz="3200" u="none">
                <a:solidFill>
                  <a:schemeClr val="dk1"/>
                </a:solidFill>
                <a:latin typeface="Arial"/>
                <a:ea typeface="Arial"/>
                <a:cs typeface="Arial"/>
                <a:sym typeface="Arial"/>
              </a:rPr>
              <a:t> d’utilisation selon un critère fonctionnel.</a:t>
            </a:r>
            <a:endParaRPr/>
          </a:p>
          <a:p>
            <a:pPr indent="0" lvl="0" marL="0" rtl="0" algn="l">
              <a:lnSpc>
                <a:spcPct val="100000"/>
              </a:lnSpc>
              <a:spcBef>
                <a:spcPts val="640"/>
              </a:spcBef>
              <a:spcAft>
                <a:spcPts val="0"/>
              </a:spcAft>
              <a:buClr>
                <a:schemeClr val="dk1"/>
              </a:buClr>
              <a:buSzPts val="3200"/>
              <a:buFont typeface="Arial"/>
              <a:buNone/>
            </a:pPr>
            <a:r>
              <a:rPr b="0" i="1" lang="en-US" sz="3200" u="none">
                <a:solidFill>
                  <a:schemeClr val="dk1"/>
                </a:solidFill>
                <a:latin typeface="Arial"/>
                <a:ea typeface="Arial"/>
                <a:cs typeface="Arial"/>
                <a:sym typeface="Arial"/>
              </a:rPr>
              <a:t>Les cas d’utilisation sont des </a:t>
            </a:r>
            <a:r>
              <a:rPr b="0" i="1" lang="en-US" sz="3200" u="none">
                <a:solidFill>
                  <a:srgbClr val="FF0000"/>
                </a:solidFill>
                <a:latin typeface="Arial"/>
                <a:ea typeface="Arial"/>
                <a:cs typeface="Arial"/>
                <a:sym typeface="Arial"/>
              </a:rPr>
              <a:t>abstractions</a:t>
            </a:r>
            <a:r>
              <a:rPr b="0" i="1" lang="en-US" sz="3200" u="none">
                <a:solidFill>
                  <a:schemeClr val="dk1"/>
                </a:solidFill>
                <a:latin typeface="Arial"/>
                <a:ea typeface="Arial"/>
                <a:cs typeface="Arial"/>
                <a:sym typeface="Arial"/>
              </a:rPr>
              <a:t> du dialogue entre les acteurs et le système: </a:t>
            </a:r>
            <a:r>
              <a:rPr b="0" i="1" lang="en-US" sz="3200" u="none">
                <a:solidFill>
                  <a:srgbClr val="FF0000"/>
                </a:solidFill>
                <a:latin typeface="Arial"/>
                <a:ea typeface="Arial"/>
                <a:cs typeface="Arial"/>
                <a:sym typeface="Arial"/>
              </a:rPr>
              <a:t>ils décrivent des interactions potentielles</a:t>
            </a:r>
            <a:r>
              <a:rPr b="0" i="1" lang="en-US" sz="3200" u="none">
                <a:solidFill>
                  <a:schemeClr val="dk1"/>
                </a:solidFill>
                <a:latin typeface="Arial"/>
                <a:ea typeface="Arial"/>
                <a:cs typeface="Arial"/>
                <a:sym typeface="Arial"/>
              </a:rPr>
              <a:t>, sans entrer dans le détail de chaque scénario.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Les scénarios (2)</a:t>
            </a:r>
            <a:endParaRPr/>
          </a:p>
        </p:txBody>
      </p:sp>
      <p:grpSp>
        <p:nvGrpSpPr>
          <p:cNvPr id="494" name="Google Shape;494;p17"/>
          <p:cNvGrpSpPr/>
          <p:nvPr/>
        </p:nvGrpSpPr>
        <p:grpSpPr>
          <a:xfrm>
            <a:off x="179387" y="1163637"/>
            <a:ext cx="8763000" cy="5694362"/>
            <a:chOff x="120" y="528"/>
            <a:chExt cx="5520" cy="3587"/>
          </a:xfrm>
        </p:grpSpPr>
        <p:pic>
          <p:nvPicPr>
            <p:cNvPr id="495" name="Google Shape;495;p17"/>
            <p:cNvPicPr preferRelativeResize="0"/>
            <p:nvPr/>
          </p:nvPicPr>
          <p:blipFill rotWithShape="1">
            <a:blip r:embed="rId3">
              <a:alphaModFix/>
            </a:blip>
            <a:srcRect b="0" l="0" r="0" t="0"/>
            <a:stretch/>
          </p:blipFill>
          <p:spPr>
            <a:xfrm>
              <a:off x="120" y="528"/>
              <a:ext cx="5520" cy="3587"/>
            </a:xfrm>
            <a:prstGeom prst="rect">
              <a:avLst/>
            </a:prstGeom>
            <a:noFill/>
            <a:ln>
              <a:noFill/>
            </a:ln>
          </p:spPr>
        </p:pic>
        <p:sp>
          <p:nvSpPr>
            <p:cNvPr id="496" name="Google Shape;496;p17"/>
            <p:cNvSpPr txBox="1"/>
            <p:nvPr/>
          </p:nvSpPr>
          <p:spPr>
            <a:xfrm>
              <a:off x="912" y="1344"/>
              <a:ext cx="4157" cy="238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700"/>
                <a:buFont typeface="Times New Roman"/>
                <a:buNone/>
              </a:pPr>
              <a:r>
                <a:rPr b="0" i="1" lang="en-US" sz="2700" u="none">
                  <a:solidFill>
                    <a:srgbClr val="FF0000"/>
                  </a:solidFill>
                  <a:latin typeface="Times New Roman"/>
                  <a:ea typeface="Times New Roman"/>
                  <a:cs typeface="Times New Roman"/>
                  <a:sym typeface="Times New Roman"/>
                </a:rPr>
                <a:t>Les cas d’utilisation doivent être vus comme des classes dont les instances sont les scénarios</a:t>
              </a:r>
              <a:r>
                <a:rPr b="0" i="1" lang="en-US" sz="2700" u="none">
                  <a:solidFill>
                    <a:schemeClr val="dk1"/>
                  </a:solidFill>
                  <a:latin typeface="Times New Roman"/>
                  <a:ea typeface="Times New Roman"/>
                  <a:cs typeface="Times New Roman"/>
                  <a:sym typeface="Times New Roman"/>
                </a:rPr>
                <a:t>. Chaque fois qu’un acteur interagit avec le système, </a:t>
              </a:r>
              <a:r>
                <a:rPr b="0" i="1" lang="en-US" sz="2700" u="none">
                  <a:solidFill>
                    <a:srgbClr val="FF0000"/>
                  </a:solidFill>
                  <a:latin typeface="Times New Roman"/>
                  <a:ea typeface="Times New Roman"/>
                  <a:cs typeface="Times New Roman"/>
                  <a:sym typeface="Times New Roman"/>
                </a:rPr>
                <a:t>le cas d’utilisation instantie un scénario</a:t>
              </a:r>
              <a:r>
                <a:rPr b="0" i="1" lang="en-US" sz="2700" u="none">
                  <a:solidFill>
                    <a:schemeClr val="dk1"/>
                  </a:solidFill>
                  <a:latin typeface="Times New Roman"/>
                  <a:ea typeface="Times New Roman"/>
                  <a:cs typeface="Times New Roman"/>
                  <a:sym typeface="Times New Roman"/>
                </a:rPr>
                <a:t>; ce scénario correspond au flot de messages échangés par les objets durant </a:t>
              </a:r>
              <a:r>
                <a:rPr b="0" i="1" lang="en-US" sz="2700" u="none">
                  <a:solidFill>
                    <a:srgbClr val="FF0000"/>
                  </a:solidFill>
                  <a:latin typeface="Times New Roman"/>
                  <a:ea typeface="Times New Roman"/>
                  <a:cs typeface="Times New Roman"/>
                  <a:sym typeface="Times New Roman"/>
                </a:rPr>
                <a:t>l’interaction particulière</a:t>
              </a:r>
              <a:r>
                <a:rPr b="0" i="1" lang="en-US" sz="2700" u="none">
                  <a:solidFill>
                    <a:schemeClr val="dk1"/>
                  </a:solidFill>
                  <a:latin typeface="Times New Roman"/>
                  <a:ea typeface="Times New Roman"/>
                  <a:cs typeface="Times New Roman"/>
                  <a:sym typeface="Times New Roman"/>
                </a:rPr>
                <a:t> qui correspond au scénario.</a:t>
              </a:r>
              <a:endParaRPr/>
            </a:p>
            <a:p>
              <a:pPr indent="0" lvl="0" marL="0" marR="0" rtl="0" algn="l">
                <a:lnSpc>
                  <a:spcPct val="100000"/>
                </a:lnSpc>
                <a:spcBef>
                  <a:spcPts val="0"/>
                </a:spcBef>
                <a:spcAft>
                  <a:spcPts val="0"/>
                </a:spcAft>
                <a:buNone/>
              </a:pPr>
              <a:r>
                <a:t/>
              </a:r>
              <a:endParaRPr b="0" i="1" sz="2700" u="none">
                <a:solidFill>
                  <a:schemeClr val="dk1"/>
                </a:solidFill>
                <a:latin typeface="Times New Roman"/>
                <a:ea typeface="Times New Roman"/>
                <a:cs typeface="Times New Roman"/>
                <a:sym typeface="Times New Roman"/>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1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Les relations dans un diagramme cas d’utilisation</a:t>
            </a:r>
            <a:endParaRPr/>
          </a:p>
        </p:txBody>
      </p:sp>
      <p:sp>
        <p:nvSpPr>
          <p:cNvPr id="503" name="Google Shape;503;p18"/>
          <p:cNvSpPr txBox="1"/>
          <p:nvPr>
            <p:ph idx="1" type="body"/>
          </p:nvPr>
        </p:nvSpPr>
        <p:spPr>
          <a:xfrm>
            <a:off x="457200" y="1600200"/>
            <a:ext cx="8229600" cy="17367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La relation de communication</a:t>
            </a:r>
            <a:endParaRPr/>
          </a:p>
          <a:p>
            <a:pPr indent="-342900" lvl="0" marL="342900" rtl="0" algn="l">
              <a:lnSpc>
                <a:spcPct val="100000"/>
              </a:lnSpc>
              <a:spcBef>
                <a:spcPts val="56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La relation de généralisation</a:t>
            </a:r>
            <a:endParaRPr/>
          </a:p>
          <a:p>
            <a:pPr indent="-342900" lvl="0" marL="342900" rtl="0" algn="l">
              <a:lnSpc>
                <a:spcPct val="100000"/>
              </a:lnSpc>
              <a:spcBef>
                <a:spcPts val="56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La relation d’inclusion</a:t>
            </a:r>
            <a:endParaRPr/>
          </a:p>
          <a:p>
            <a:pPr indent="-342900" lvl="0" marL="342900" rtl="0" algn="l">
              <a:lnSpc>
                <a:spcPct val="100000"/>
              </a:lnSpc>
              <a:spcBef>
                <a:spcPts val="56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La relation d’extension</a:t>
            </a:r>
            <a:endParaRPr/>
          </a:p>
        </p:txBody>
      </p:sp>
      <p:pic>
        <p:nvPicPr>
          <p:cNvPr id="504" name="Google Shape;504;p18"/>
          <p:cNvPicPr preferRelativeResize="0"/>
          <p:nvPr/>
        </p:nvPicPr>
        <p:blipFill rotWithShape="1">
          <a:blip r:embed="rId3">
            <a:alphaModFix/>
          </a:blip>
          <a:srcRect b="0" l="0" r="0" t="0"/>
          <a:stretch/>
        </p:blipFill>
        <p:spPr>
          <a:xfrm>
            <a:off x="609600" y="2971800"/>
            <a:ext cx="8237537" cy="35941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1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La relation d’inclusion</a:t>
            </a:r>
            <a:endParaRPr/>
          </a:p>
        </p:txBody>
      </p:sp>
      <p:sp>
        <p:nvSpPr>
          <p:cNvPr id="511" name="Google Shape;511;p19"/>
          <p:cNvSpPr txBox="1"/>
          <p:nvPr>
            <p:ph idx="1" type="body"/>
          </p:nvPr>
        </p:nvSpPr>
        <p:spPr>
          <a:xfrm>
            <a:off x="457200" y="1600200"/>
            <a:ext cx="8229600" cy="17367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2800"/>
              <a:buFont typeface="Arial"/>
              <a:buNone/>
            </a:pPr>
            <a:r>
              <a:rPr b="0" i="1" lang="en-US" sz="2800" u="none">
                <a:solidFill>
                  <a:schemeClr val="dk1"/>
                </a:solidFill>
                <a:latin typeface="Arial"/>
                <a:ea typeface="Arial"/>
                <a:cs typeface="Arial"/>
                <a:sym typeface="Arial"/>
              </a:rPr>
              <a:t>La relation d’inclusion a un caractère obligatoire, la source spécifiant à quel endroit le cas d’utilisation cible doit être inclus.</a:t>
            </a:r>
            <a:endParaRPr/>
          </a:p>
        </p:txBody>
      </p:sp>
      <p:pic>
        <p:nvPicPr>
          <p:cNvPr id="512" name="Google Shape;512;p19"/>
          <p:cNvPicPr preferRelativeResize="0"/>
          <p:nvPr/>
        </p:nvPicPr>
        <p:blipFill rotWithShape="1">
          <a:blip r:embed="rId3">
            <a:alphaModFix/>
          </a:blip>
          <a:srcRect b="0" l="0" r="0" t="0"/>
          <a:stretch/>
        </p:blipFill>
        <p:spPr>
          <a:xfrm>
            <a:off x="609600" y="2971800"/>
            <a:ext cx="8237537" cy="35941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2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La relation d’extension</a:t>
            </a:r>
            <a:endParaRPr/>
          </a:p>
        </p:txBody>
      </p:sp>
      <p:sp>
        <p:nvSpPr>
          <p:cNvPr id="519" name="Google Shape;519;p20"/>
          <p:cNvSpPr txBox="1"/>
          <p:nvPr>
            <p:ph idx="1" type="body"/>
          </p:nvPr>
        </p:nvSpPr>
        <p:spPr>
          <a:xfrm>
            <a:off x="457200" y="1600200"/>
            <a:ext cx="8229600" cy="17367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2800"/>
              <a:buFont typeface="Arial"/>
              <a:buNone/>
            </a:pPr>
            <a:r>
              <a:rPr b="0" i="1" lang="en-US" sz="2800" u="none">
                <a:solidFill>
                  <a:schemeClr val="dk1"/>
                </a:solidFill>
                <a:latin typeface="Arial"/>
                <a:ea typeface="Arial"/>
                <a:cs typeface="Arial"/>
                <a:sym typeface="Arial"/>
              </a:rPr>
              <a:t>Dans une relation d’extension entre cas d’utilisation, le cas d’utilisation source ajoute son comportement au cas d’utilisation destination (cible). L’extension peut être soumise à une condition.</a:t>
            </a:r>
            <a:endParaRPr/>
          </a:p>
        </p:txBody>
      </p:sp>
      <p:pic>
        <p:nvPicPr>
          <p:cNvPr id="520" name="Google Shape;520;p20"/>
          <p:cNvPicPr preferRelativeResize="0"/>
          <p:nvPr/>
        </p:nvPicPr>
        <p:blipFill rotWithShape="1">
          <a:blip r:embed="rId3">
            <a:alphaModFix/>
          </a:blip>
          <a:srcRect b="0" l="0" r="0" t="0"/>
          <a:stretch/>
        </p:blipFill>
        <p:spPr>
          <a:xfrm>
            <a:off x="609600" y="2971800"/>
            <a:ext cx="8237537" cy="35941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2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Exemple de Diagramme de cas</a:t>
            </a:r>
            <a:br>
              <a:rPr b="0" i="0" lang="en-US" sz="4000" u="none">
                <a:solidFill>
                  <a:schemeClr val="dk2"/>
                </a:solidFill>
                <a:latin typeface="Arial"/>
                <a:ea typeface="Arial"/>
                <a:cs typeface="Arial"/>
                <a:sym typeface="Arial"/>
              </a:rPr>
            </a:br>
            <a:r>
              <a:rPr b="0" i="0" lang="en-US" sz="4000" u="none">
                <a:solidFill>
                  <a:schemeClr val="dk2"/>
                </a:solidFill>
                <a:latin typeface="Arial"/>
                <a:ea typeface="Arial"/>
                <a:cs typeface="Arial"/>
                <a:sym typeface="Arial"/>
              </a:rPr>
              <a:t>d’utilisation</a:t>
            </a:r>
            <a:endParaRPr/>
          </a:p>
        </p:txBody>
      </p:sp>
      <p:pic>
        <p:nvPicPr>
          <p:cNvPr id="526" name="Google Shape;526;p21"/>
          <p:cNvPicPr preferRelativeResize="0"/>
          <p:nvPr>
            <p:ph idx="1" type="body"/>
          </p:nvPr>
        </p:nvPicPr>
        <p:blipFill rotWithShape="1">
          <a:blip r:embed="rId3">
            <a:alphaModFix/>
          </a:blip>
          <a:srcRect b="0" l="0" r="0" t="0"/>
          <a:stretch/>
        </p:blipFill>
        <p:spPr>
          <a:xfrm>
            <a:off x="457200" y="1600200"/>
            <a:ext cx="8229600" cy="452596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2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Exercice</a:t>
            </a:r>
            <a:endParaRPr/>
          </a:p>
        </p:txBody>
      </p:sp>
      <p:graphicFrame>
        <p:nvGraphicFramePr>
          <p:cNvPr id="535" name="Google Shape;535;p22"/>
          <p:cNvGraphicFramePr/>
          <p:nvPr/>
        </p:nvGraphicFramePr>
        <p:xfrm>
          <a:off x="984250" y="1449387"/>
          <a:ext cx="7175500" cy="3959225"/>
        </p:xfrm>
        <a:graphic>
          <a:graphicData uri="http://schemas.openxmlformats.org/presentationml/2006/ole">
            <mc:AlternateContent>
              <mc:Choice Requires="v">
                <p:oleObj r:id="rId4" imgH="3959225" imgW="7175500" progId="Paint.Picture" spid="_x0000_s1">
                  <p:embed/>
                </p:oleObj>
              </mc:Choice>
              <mc:Fallback>
                <p:oleObj r:id="rId5" imgH="3959225" imgW="7175500" progId="Paint.Picture">
                  <p:embed/>
                  <p:pic>
                    <p:nvPicPr>
                      <p:cNvPr id="535" name="Google Shape;535;p22"/>
                      <p:cNvPicPr preferRelativeResize="0"/>
                      <p:nvPr/>
                    </p:nvPicPr>
                    <p:blipFill rotWithShape="1">
                      <a:blip r:embed="rId6">
                        <a:alphaModFix/>
                      </a:blip>
                      <a:srcRect b="0" l="0" r="0" t="0"/>
                      <a:stretch/>
                    </p:blipFill>
                    <p:spPr>
                      <a:xfrm>
                        <a:off x="984250" y="1449387"/>
                        <a:ext cx="7175500" cy="3959225"/>
                      </a:xfrm>
                      <a:prstGeom prst="rect">
                        <a:avLst/>
                      </a:prstGeom>
                      <a:noFill/>
                      <a:ln>
                        <a:noFill/>
                      </a:ln>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2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200"/>
              <a:buFont typeface="Arial"/>
              <a:buNone/>
            </a:pPr>
            <a:r>
              <a:rPr b="0" i="0" lang="en-US" sz="4200" u="none">
                <a:solidFill>
                  <a:schemeClr val="dk2"/>
                </a:solidFill>
                <a:latin typeface="Arial"/>
                <a:ea typeface="Arial"/>
                <a:cs typeface="Arial"/>
                <a:sym typeface="Arial"/>
              </a:rPr>
              <a:t>Règles de mise en œuvre des cas d’utilisation</a:t>
            </a:r>
            <a:endParaRPr/>
          </a:p>
        </p:txBody>
      </p:sp>
      <p:sp>
        <p:nvSpPr>
          <p:cNvPr id="542" name="Google Shape;542;p2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3200"/>
              <a:buFont typeface="Arial"/>
              <a:buNone/>
            </a:pPr>
            <a:r>
              <a:rPr b="0" i="1" lang="en-US" sz="3200" u="none">
                <a:solidFill>
                  <a:schemeClr val="dk1"/>
                </a:solidFill>
                <a:latin typeface="Arial"/>
                <a:ea typeface="Arial"/>
                <a:cs typeface="Arial"/>
                <a:sym typeface="Arial"/>
              </a:rPr>
              <a:t>La description des cas d’utilisation comprend:</a:t>
            </a:r>
            <a:endParaRPr/>
          </a:p>
          <a:p>
            <a:pPr indent="-292100" lvl="1" marL="482600" rtl="0" algn="l">
              <a:lnSpc>
                <a:spcPct val="100000"/>
              </a:lnSpc>
              <a:spcBef>
                <a:spcPts val="56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Le début du cas d’utilisation.</a:t>
            </a:r>
            <a:endParaRPr/>
          </a:p>
          <a:p>
            <a:pPr indent="-292100" lvl="1" marL="482600" rtl="0" algn="l">
              <a:lnSpc>
                <a:spcPct val="100000"/>
              </a:lnSpc>
              <a:spcBef>
                <a:spcPts val="56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La fin du cas d’utilisation.</a:t>
            </a:r>
            <a:endParaRPr/>
          </a:p>
          <a:p>
            <a:pPr indent="-292100" lvl="1" marL="482600" rtl="0" algn="l">
              <a:lnSpc>
                <a:spcPct val="100000"/>
              </a:lnSpc>
              <a:spcBef>
                <a:spcPts val="56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L’interaction entre le cas d’utilisation et les acteurs.</a:t>
            </a:r>
            <a:endParaRPr/>
          </a:p>
          <a:p>
            <a:pPr indent="-292100" lvl="1" marL="482600" rtl="0" algn="l">
              <a:lnSpc>
                <a:spcPct val="100000"/>
              </a:lnSpc>
              <a:spcBef>
                <a:spcPts val="56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Les échanges d’informations (paramètres des interactions).</a:t>
            </a:r>
            <a:endParaRPr/>
          </a:p>
          <a:p>
            <a:pPr indent="-292100" lvl="1" marL="482600" rtl="0" algn="l">
              <a:lnSpc>
                <a:spcPct val="100000"/>
              </a:lnSpc>
              <a:spcBef>
                <a:spcPts val="56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La chronologie et l’origine des informations.</a:t>
            </a:r>
            <a:endParaRPr/>
          </a:p>
          <a:p>
            <a:pPr indent="-292100" lvl="1" marL="482600" rtl="0" algn="l">
              <a:lnSpc>
                <a:spcPct val="100000"/>
              </a:lnSpc>
              <a:spcBef>
                <a:spcPts val="56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Les répétitions de comportement.</a:t>
            </a:r>
            <a:endParaRPr/>
          </a:p>
          <a:p>
            <a:pPr indent="-292100" lvl="1" marL="482600" rtl="0" algn="l">
              <a:lnSpc>
                <a:spcPct val="100000"/>
              </a:lnSpc>
              <a:spcBef>
                <a:spcPts val="56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Les situations optionnelles.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2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300"/>
              <a:buFont typeface="Arial"/>
              <a:buNone/>
            </a:pPr>
            <a:r>
              <a:rPr b="0" i="0" lang="en-US" sz="4300" u="none">
                <a:solidFill>
                  <a:schemeClr val="dk2"/>
                </a:solidFill>
                <a:latin typeface="Arial"/>
                <a:ea typeface="Arial"/>
                <a:cs typeface="Arial"/>
                <a:sym typeface="Arial"/>
              </a:rPr>
              <a:t>Cas d’utilisation et scénarios</a:t>
            </a:r>
            <a:endParaRPr/>
          </a:p>
        </p:txBody>
      </p:sp>
      <p:sp>
        <p:nvSpPr>
          <p:cNvPr id="549" name="Google Shape;549;p24"/>
          <p:cNvSpPr txBox="1"/>
          <p:nvPr>
            <p:ph idx="1" type="body"/>
          </p:nvPr>
        </p:nvSpPr>
        <p:spPr>
          <a:xfrm>
            <a:off x="457200" y="5195887"/>
            <a:ext cx="8229600" cy="93027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Un cas d’utilisation décrit, de manière abstraite, une famille de scénarios.</a:t>
            </a:r>
            <a:endParaRPr/>
          </a:p>
        </p:txBody>
      </p:sp>
      <p:sp>
        <p:nvSpPr>
          <p:cNvPr id="550" name="Google Shape;550;p24"/>
          <p:cNvSpPr txBox="1"/>
          <p:nvPr/>
        </p:nvSpPr>
        <p:spPr>
          <a:xfrm>
            <a:off x="3048000" y="1371600"/>
            <a:ext cx="3048000" cy="3276600"/>
          </a:xfrm>
          <a:prstGeom prst="rect">
            <a:avLst/>
          </a:prstGeom>
          <a:solidFill>
            <a:srgbClr val="CCE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51" name="Google Shape;551;p24"/>
          <p:cNvSpPr txBox="1"/>
          <p:nvPr/>
        </p:nvSpPr>
        <p:spPr>
          <a:xfrm>
            <a:off x="3744912" y="1447800"/>
            <a:ext cx="1817687" cy="822325"/>
          </a:xfrm>
          <a:prstGeom prst="rect">
            <a:avLst/>
          </a:prstGeom>
          <a:solidFill>
            <a:srgbClr val="CCEC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Cas </a:t>
            </a:r>
            <a:endParaRPr/>
          </a:p>
          <a:p>
            <a:pPr indent="0" lvl="0" marL="0" marR="0" rtl="0" algn="ctr">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d’utilisation</a:t>
            </a:r>
            <a:endParaRPr/>
          </a:p>
        </p:txBody>
      </p:sp>
      <p:sp>
        <p:nvSpPr>
          <p:cNvPr id="552" name="Google Shape;552;p24"/>
          <p:cNvSpPr/>
          <p:nvPr/>
        </p:nvSpPr>
        <p:spPr>
          <a:xfrm>
            <a:off x="3225800" y="1181100"/>
            <a:ext cx="1574800" cy="3924300"/>
          </a:xfrm>
          <a:custGeom>
            <a:rect b="b" l="l" r="r" t="t"/>
            <a:pathLst>
              <a:path extrusionOk="0" h="2472" w="992">
                <a:moveTo>
                  <a:pt x="0" y="0"/>
                </a:moveTo>
                <a:lnTo>
                  <a:pt x="120" y="688"/>
                </a:lnTo>
                <a:lnTo>
                  <a:pt x="568" y="1056"/>
                </a:lnTo>
                <a:lnTo>
                  <a:pt x="496" y="1904"/>
                </a:lnTo>
                <a:lnTo>
                  <a:pt x="992" y="2472"/>
                </a:lnTo>
              </a:path>
            </a:pathLst>
          </a:custGeom>
          <a:noFill/>
          <a:ln cap="flat" cmpd="sng" w="28575">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53" name="Google Shape;553;p24"/>
          <p:cNvSpPr/>
          <p:nvPr/>
        </p:nvSpPr>
        <p:spPr>
          <a:xfrm>
            <a:off x="2438400" y="1168400"/>
            <a:ext cx="3365500" cy="3454400"/>
          </a:xfrm>
          <a:custGeom>
            <a:rect b="b" l="l" r="r" t="t"/>
            <a:pathLst>
              <a:path extrusionOk="0" h="2176" w="2120">
                <a:moveTo>
                  <a:pt x="1944" y="0"/>
                </a:moveTo>
                <a:lnTo>
                  <a:pt x="2120" y="480"/>
                </a:lnTo>
                <a:lnTo>
                  <a:pt x="1592" y="1064"/>
                </a:lnTo>
                <a:lnTo>
                  <a:pt x="1560" y="1608"/>
                </a:lnTo>
                <a:lnTo>
                  <a:pt x="0" y="2176"/>
                </a:lnTo>
              </a:path>
            </a:pathLst>
          </a:custGeom>
          <a:noFill/>
          <a:ln cap="flat" cmpd="sng" w="28575">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54" name="Google Shape;554;p24"/>
          <p:cNvSpPr/>
          <p:nvPr/>
        </p:nvSpPr>
        <p:spPr>
          <a:xfrm>
            <a:off x="3619500" y="1206500"/>
            <a:ext cx="2857500" cy="3898900"/>
          </a:xfrm>
          <a:custGeom>
            <a:rect b="b" l="l" r="r" t="t"/>
            <a:pathLst>
              <a:path extrusionOk="0" h="2456" w="1800">
                <a:moveTo>
                  <a:pt x="520" y="0"/>
                </a:moveTo>
                <a:lnTo>
                  <a:pt x="0" y="1424"/>
                </a:lnTo>
                <a:lnTo>
                  <a:pt x="1376" y="1040"/>
                </a:lnTo>
                <a:lnTo>
                  <a:pt x="1304" y="1888"/>
                </a:lnTo>
                <a:lnTo>
                  <a:pt x="1800" y="2456"/>
                </a:lnTo>
              </a:path>
            </a:pathLst>
          </a:custGeom>
          <a:noFill/>
          <a:ln cap="flat" cmpd="sng" w="28575">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55" name="Google Shape;555;p24"/>
          <p:cNvSpPr txBox="1"/>
          <p:nvPr/>
        </p:nvSpPr>
        <p:spPr>
          <a:xfrm>
            <a:off x="2362200" y="762000"/>
            <a:ext cx="11557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Times New Roman"/>
              <a:buNone/>
            </a:pPr>
            <a:r>
              <a:rPr b="0" i="0" lang="en-US" sz="1800" u="none">
                <a:solidFill>
                  <a:srgbClr val="FF0000"/>
                </a:solidFill>
                <a:latin typeface="Times New Roman"/>
                <a:ea typeface="Times New Roman"/>
                <a:cs typeface="Times New Roman"/>
                <a:sym typeface="Times New Roman"/>
              </a:rPr>
              <a:t>Scénario 1</a:t>
            </a:r>
            <a:endParaRPr/>
          </a:p>
        </p:txBody>
      </p:sp>
      <p:sp>
        <p:nvSpPr>
          <p:cNvPr id="556" name="Google Shape;556;p24"/>
          <p:cNvSpPr txBox="1"/>
          <p:nvPr/>
        </p:nvSpPr>
        <p:spPr>
          <a:xfrm>
            <a:off x="5334000" y="762000"/>
            <a:ext cx="11557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Times New Roman"/>
              <a:buNone/>
            </a:pPr>
            <a:r>
              <a:rPr b="0" i="0" lang="en-US" sz="1800" u="none">
                <a:solidFill>
                  <a:srgbClr val="FF0000"/>
                </a:solidFill>
                <a:latin typeface="Times New Roman"/>
                <a:ea typeface="Times New Roman"/>
                <a:cs typeface="Times New Roman"/>
                <a:sym typeface="Times New Roman"/>
              </a:rPr>
              <a:t>Scénario 3</a:t>
            </a:r>
            <a:endParaRPr/>
          </a:p>
        </p:txBody>
      </p:sp>
      <p:sp>
        <p:nvSpPr>
          <p:cNvPr id="557" name="Google Shape;557;p24"/>
          <p:cNvSpPr txBox="1"/>
          <p:nvPr/>
        </p:nvSpPr>
        <p:spPr>
          <a:xfrm>
            <a:off x="3994150" y="762000"/>
            <a:ext cx="11557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Times New Roman"/>
              <a:buNone/>
            </a:pPr>
            <a:r>
              <a:rPr b="0" i="0" lang="en-US" sz="1800" u="none">
                <a:solidFill>
                  <a:srgbClr val="FF0000"/>
                </a:solidFill>
                <a:latin typeface="Times New Roman"/>
                <a:ea typeface="Times New Roman"/>
                <a:cs typeface="Times New Roman"/>
                <a:sym typeface="Times New Roman"/>
              </a:rPr>
              <a:t>Scénario 2</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2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1" i="0" lang="en-US" sz="4400" u="none">
                <a:solidFill>
                  <a:schemeClr val="dk2"/>
                </a:solidFill>
                <a:latin typeface="Arial"/>
                <a:ea typeface="Arial"/>
                <a:cs typeface="Arial"/>
                <a:sym typeface="Arial"/>
              </a:rPr>
              <a:t>Scénario</a:t>
            </a:r>
            <a:endParaRPr/>
          </a:p>
        </p:txBody>
      </p:sp>
      <p:sp>
        <p:nvSpPr>
          <p:cNvPr id="563" name="Google Shape;563;p2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Scénario </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Un scénario est une description dynamique d’un cas d’utilisation ou encore un exemple d’exécution d’un  Cas  d’utilisation. Dans UML on représente les scénarios par un diagramme de communication  (par intermédiaire de message) entre acteur et le système.</a:t>
            </a:r>
            <a:endParaRPr b="1" i="0" sz="3200" u="sng">
              <a:solidFill>
                <a:schemeClr val="dk1"/>
              </a:solidFill>
              <a:latin typeface="Arial"/>
              <a:ea typeface="Arial"/>
              <a:cs typeface="Arial"/>
              <a:sym typeface="Arial"/>
            </a:endParaRPr>
          </a:p>
          <a:p>
            <a:pPr indent="-139700" lvl="0" marL="342900" rtl="0" algn="l">
              <a:spcBef>
                <a:spcPts val="640"/>
              </a:spcBef>
              <a:spcAft>
                <a:spcPts val="0"/>
              </a:spcAft>
              <a:buClr>
                <a:schemeClr val="dk1"/>
              </a:buClr>
              <a:buSzPts val="3200"/>
              <a:buFont typeface="Arial"/>
              <a:buNone/>
            </a:pPr>
            <a:r>
              <a:t/>
            </a:r>
            <a:endParaRPr b="1" i="0" sz="3200" u="sng">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2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r>
              <a:rPr b="1" i="0" lang="en-US" sz="4000" u="none">
                <a:solidFill>
                  <a:schemeClr val="dk2"/>
                </a:solidFill>
                <a:latin typeface="Arial"/>
                <a:ea typeface="Arial"/>
                <a:cs typeface="Arial"/>
                <a:sym typeface="Arial"/>
              </a:rPr>
              <a:t>Exemple de représentation d’un scénario</a:t>
            </a:r>
            <a:endParaRPr/>
          </a:p>
        </p:txBody>
      </p:sp>
      <p:pic>
        <p:nvPicPr>
          <p:cNvPr id="569" name="Google Shape;569;p26"/>
          <p:cNvPicPr preferRelativeResize="0"/>
          <p:nvPr>
            <p:ph idx="1" type="body"/>
          </p:nvPr>
        </p:nvPicPr>
        <p:blipFill rotWithShape="1">
          <a:blip r:embed="rId3">
            <a:alphaModFix/>
          </a:blip>
          <a:srcRect b="0" l="0" r="0" t="0"/>
          <a:stretch/>
        </p:blipFill>
        <p:spPr>
          <a:xfrm>
            <a:off x="755650" y="2133600"/>
            <a:ext cx="7345362" cy="410368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2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r>
              <a:rPr b="1" i="0" lang="en-US" sz="4000" u="sng">
                <a:solidFill>
                  <a:schemeClr val="dk2"/>
                </a:solidFill>
                <a:latin typeface="Arial"/>
                <a:ea typeface="Arial"/>
                <a:cs typeface="Arial"/>
                <a:sym typeface="Arial"/>
              </a:rPr>
              <a:t>Exemple cas gestion commande :</a:t>
            </a:r>
            <a:endParaRPr/>
          </a:p>
        </p:txBody>
      </p:sp>
      <p:pic>
        <p:nvPicPr>
          <p:cNvPr id="575" name="Google Shape;575;p27"/>
          <p:cNvPicPr preferRelativeResize="0"/>
          <p:nvPr>
            <p:ph idx="1" type="body"/>
          </p:nvPr>
        </p:nvPicPr>
        <p:blipFill rotWithShape="1">
          <a:blip r:embed="rId3">
            <a:alphaModFix/>
          </a:blip>
          <a:srcRect b="0" l="0" r="0" t="0"/>
          <a:stretch/>
        </p:blipFill>
        <p:spPr>
          <a:xfrm>
            <a:off x="900112" y="2757487"/>
            <a:ext cx="7200900" cy="297656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28"/>
          <p:cNvSpPr txBox="1"/>
          <p:nvPr/>
        </p:nvSpPr>
        <p:spPr>
          <a:xfrm>
            <a:off x="6457950" y="6424612"/>
            <a:ext cx="2057400" cy="36512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8C9CA6"/>
              </a:buClr>
              <a:buSzPts val="1400"/>
              <a:buFont typeface="Arial"/>
              <a:buNone/>
            </a:pPr>
            <a:fld id="{00000000-1234-1234-1234-123412341234}" type="slidenum">
              <a:rPr b="0" i="0" lang="en-US" sz="1400" u="none">
                <a:solidFill>
                  <a:srgbClr val="8C9CA6"/>
                </a:solidFill>
                <a:latin typeface="Arial"/>
                <a:ea typeface="Arial"/>
                <a:cs typeface="Arial"/>
                <a:sym typeface="Arial"/>
              </a:rPr>
              <a:t>‹#›</a:t>
            </a:fld>
            <a:endParaRPr/>
          </a:p>
        </p:txBody>
      </p:sp>
      <p:sp>
        <p:nvSpPr>
          <p:cNvPr id="581" name="Google Shape;581;p28"/>
          <p:cNvSpPr txBox="1"/>
          <p:nvPr>
            <p:ph type="ctrTitle"/>
          </p:nvPr>
        </p:nvSpPr>
        <p:spPr>
          <a:xfrm>
            <a:off x="1143000" y="1343025"/>
            <a:ext cx="6858000" cy="115093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lt1"/>
              </a:buClr>
              <a:buSzPts val="3000"/>
              <a:buFont typeface="Arial"/>
              <a:buNone/>
            </a:pPr>
            <a:r>
              <a:rPr b="1" i="0" lang="en-US" sz="3000" u="none">
                <a:solidFill>
                  <a:schemeClr val="lt1"/>
                </a:solidFill>
                <a:latin typeface="Arial"/>
                <a:ea typeface="Arial"/>
                <a:cs typeface="Arial"/>
                <a:sym typeface="Arial"/>
              </a:rPr>
              <a:t>Architecture d’un système interactif</a:t>
            </a:r>
            <a:br>
              <a:rPr b="1" i="0" lang="en-US" sz="3000" u="none">
                <a:solidFill>
                  <a:schemeClr val="lt1"/>
                </a:solidFill>
                <a:latin typeface="Arial"/>
                <a:ea typeface="Arial"/>
                <a:cs typeface="Arial"/>
                <a:sym typeface="Arial"/>
              </a:rPr>
            </a:br>
            <a:r>
              <a:rPr b="1" i="0" lang="en-US" sz="3000" u="none">
                <a:solidFill>
                  <a:schemeClr val="lt1"/>
                </a:solidFill>
                <a:latin typeface="Arial"/>
                <a:ea typeface="Arial"/>
                <a:cs typeface="Arial"/>
                <a:sym typeface="Arial"/>
              </a:rPr>
              <a:t>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29"/>
          <p:cNvSpPr/>
          <p:nvPr/>
        </p:nvSpPr>
        <p:spPr>
          <a:xfrm>
            <a:off x="241300" y="1096962"/>
            <a:ext cx="8661400" cy="4664075"/>
          </a:xfrm>
          <a:prstGeom prst="rect">
            <a:avLst/>
          </a:prstGeom>
          <a:solidFill>
            <a:schemeClr val="dk1">
              <a:alpha val="7450"/>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87" name="Google Shape;587;p29"/>
          <p:cNvSpPr txBox="1"/>
          <p:nvPr>
            <p:ph type="title"/>
          </p:nvPr>
        </p:nvSpPr>
        <p:spPr>
          <a:xfrm>
            <a:off x="628650" y="1579562"/>
            <a:ext cx="2620962" cy="3698875"/>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Clr>
                <a:schemeClr val="accent1"/>
              </a:buClr>
              <a:buSzPts val="4400"/>
              <a:buFont typeface="Times New Roman"/>
              <a:buNone/>
            </a:pPr>
            <a:br>
              <a:rPr b="1" i="0" lang="en-US" sz="4400" u="none">
                <a:solidFill>
                  <a:schemeClr val="accent1"/>
                </a:solidFill>
                <a:latin typeface="Times New Roman"/>
                <a:ea typeface="Times New Roman"/>
                <a:cs typeface="Times New Roman"/>
                <a:sym typeface="Times New Roman"/>
              </a:rPr>
            </a:br>
            <a:br>
              <a:rPr b="1" i="0" lang="en-US" sz="4400" u="none">
                <a:solidFill>
                  <a:schemeClr val="accent1"/>
                </a:solidFill>
                <a:latin typeface="Times New Roman"/>
                <a:ea typeface="Times New Roman"/>
                <a:cs typeface="Times New Roman"/>
                <a:sym typeface="Times New Roman"/>
              </a:rPr>
            </a:br>
            <a:r>
              <a:rPr b="1" i="0" lang="en-US" sz="4400" u="none">
                <a:solidFill>
                  <a:schemeClr val="accent1"/>
                </a:solidFill>
                <a:latin typeface="Times New Roman"/>
                <a:ea typeface="Times New Roman"/>
                <a:cs typeface="Times New Roman"/>
                <a:sym typeface="Times New Roman"/>
              </a:rPr>
              <a:t>Définition </a:t>
            </a:r>
            <a:br>
              <a:rPr b="1" i="0" lang="en-US" sz="4400" u="none">
                <a:solidFill>
                  <a:schemeClr val="accent1"/>
                </a:solidFill>
                <a:latin typeface="Arial"/>
                <a:ea typeface="Arial"/>
                <a:cs typeface="Arial"/>
                <a:sym typeface="Arial"/>
              </a:rPr>
            </a:br>
            <a:br>
              <a:rPr b="1" i="0" lang="en-US" sz="4400" u="none">
                <a:solidFill>
                  <a:schemeClr val="accent1"/>
                </a:solidFill>
                <a:latin typeface="Times New Roman"/>
                <a:ea typeface="Times New Roman"/>
                <a:cs typeface="Times New Roman"/>
                <a:sym typeface="Times New Roman"/>
              </a:rPr>
            </a:br>
            <a:endParaRPr/>
          </a:p>
        </p:txBody>
      </p:sp>
      <p:cxnSp>
        <p:nvCxnSpPr>
          <p:cNvPr id="588" name="Google Shape;588;p29"/>
          <p:cNvCxnSpPr/>
          <p:nvPr/>
        </p:nvCxnSpPr>
        <p:spPr>
          <a:xfrm>
            <a:off x="3490912" y="2400300"/>
            <a:ext cx="0" cy="2057400"/>
          </a:xfrm>
          <a:prstGeom prst="straightConnector1">
            <a:avLst/>
          </a:prstGeom>
          <a:noFill/>
          <a:ln cap="flat" cmpd="sng" w="19050">
            <a:solidFill>
              <a:srgbClr val="262626"/>
            </a:solidFill>
            <a:prstDash val="solid"/>
            <a:miter lim="800000"/>
            <a:headEnd len="med" w="med" type="none"/>
            <a:tailEnd len="med" w="med" type="none"/>
          </a:ln>
        </p:spPr>
      </p:cxnSp>
      <p:sp>
        <p:nvSpPr>
          <p:cNvPr id="589" name="Google Shape;589;p29"/>
          <p:cNvSpPr txBox="1"/>
          <p:nvPr>
            <p:ph idx="1" type="body"/>
          </p:nvPr>
        </p:nvSpPr>
        <p:spPr>
          <a:xfrm>
            <a:off x="3732212" y="1579562"/>
            <a:ext cx="4783137" cy="3698875"/>
          </a:xfrm>
          <a:prstGeom prst="rect">
            <a:avLst/>
          </a:prstGeom>
          <a:noFill/>
          <a:ln>
            <a:noFill/>
          </a:ln>
        </p:spPr>
        <p:txBody>
          <a:bodyPr anchorCtr="0" anchor="ctr" bIns="45700" lIns="91425" spcFirstLastPara="1" rIns="91425" wrap="square" tIns="45700">
            <a:noAutofit/>
          </a:bodyPr>
          <a:lstStyle/>
          <a:p>
            <a:pPr indent="0" lvl="0" marL="0" marR="0" rtl="0" algn="just">
              <a:lnSpc>
                <a:spcPct val="150000"/>
              </a:lnSpc>
              <a:spcBef>
                <a:spcPts val="0"/>
              </a:spcBef>
              <a:spcAft>
                <a:spcPts val="0"/>
              </a:spcAft>
              <a:buClr>
                <a:schemeClr val="dk1"/>
              </a:buClr>
              <a:buSzPts val="1500"/>
              <a:buFont typeface="Times New Roman"/>
              <a:buNone/>
            </a:pPr>
            <a:r>
              <a:rPr b="0" i="0" lang="en-US" sz="1500" u="none" cap="none" strike="noStrike">
                <a:solidFill>
                  <a:schemeClr val="dk1"/>
                </a:solidFill>
                <a:latin typeface="Times New Roman"/>
                <a:ea typeface="Times New Roman"/>
                <a:cs typeface="Times New Roman"/>
                <a:sym typeface="Times New Roman"/>
              </a:rPr>
              <a:t>Un </a:t>
            </a:r>
            <a:r>
              <a:rPr b="1" i="1" lang="en-US" sz="1500" u="none" cap="none" strike="noStrike">
                <a:solidFill>
                  <a:schemeClr val="dk1"/>
                </a:solidFill>
                <a:latin typeface="Times New Roman"/>
                <a:ea typeface="Times New Roman"/>
                <a:cs typeface="Times New Roman"/>
                <a:sym typeface="Times New Roman"/>
              </a:rPr>
              <a:t>système interactif</a:t>
            </a:r>
            <a:r>
              <a:rPr b="0" i="0" lang="en-US" sz="1500" u="none" cap="none" strike="noStrike">
                <a:solidFill>
                  <a:schemeClr val="dk1"/>
                </a:solidFill>
                <a:latin typeface="Times New Roman"/>
                <a:ea typeface="Times New Roman"/>
                <a:cs typeface="Times New Roman"/>
                <a:sym typeface="Times New Roman"/>
              </a:rPr>
              <a:t> est une application informatique qui prend en compte, au cours de son exécution, les informations communiquées par le ou les utilisateurs du système, et qui produit, au cours de son exécution, une représentation perceptible de son état interne. </a:t>
            </a:r>
            <a:endParaRPr/>
          </a:p>
        </p:txBody>
      </p:sp>
      <p:sp>
        <p:nvSpPr>
          <p:cNvPr id="590" name="Google Shape;590;p29"/>
          <p:cNvSpPr txBox="1"/>
          <p:nvPr/>
        </p:nvSpPr>
        <p:spPr>
          <a:xfrm>
            <a:off x="260350" y="960437"/>
            <a:ext cx="4572000" cy="576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100"/>
              <a:buFont typeface="Arial"/>
              <a:buNone/>
            </a:pPr>
            <a:r>
              <a:rPr b="0" i="0" lang="en-US" sz="3100" u="none">
                <a:solidFill>
                  <a:schemeClr val="lt1"/>
                </a:solidFill>
                <a:latin typeface="Arial"/>
                <a:ea typeface="Arial"/>
                <a:cs typeface="Arial"/>
                <a:sym typeface="Arial"/>
              </a:rPr>
              <a:t>un système interactif</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pic>
        <p:nvPicPr>
          <p:cNvPr id="595" name="Google Shape;595;p30"/>
          <p:cNvPicPr preferRelativeResize="0"/>
          <p:nvPr/>
        </p:nvPicPr>
        <p:blipFill rotWithShape="1">
          <a:blip r:embed="rId3">
            <a:alphaModFix/>
          </a:blip>
          <a:srcRect b="0" l="0" r="0" t="0"/>
          <a:stretch/>
        </p:blipFill>
        <p:spPr>
          <a:xfrm>
            <a:off x="1439862" y="1790700"/>
            <a:ext cx="6264275" cy="2484437"/>
          </a:xfrm>
          <a:prstGeom prst="rect">
            <a:avLst/>
          </a:prstGeom>
          <a:noFill/>
          <a:ln>
            <a:noFill/>
          </a:ln>
        </p:spPr>
      </p:pic>
      <p:sp>
        <p:nvSpPr>
          <p:cNvPr id="596" name="Google Shape;596;p30"/>
          <p:cNvSpPr txBox="1"/>
          <p:nvPr/>
        </p:nvSpPr>
        <p:spPr>
          <a:xfrm>
            <a:off x="511175" y="4445000"/>
            <a:ext cx="8023225" cy="11303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rgbClr val="FFFFFF"/>
              </a:buClr>
              <a:buSzPts val="1500"/>
              <a:buFont typeface="Noto Sans Symbols"/>
              <a:buChar char="⮚"/>
            </a:pPr>
            <a:r>
              <a:rPr b="1" i="0" lang="en-US" sz="1500" u="none">
                <a:solidFill>
                  <a:srgbClr val="FFFFFF"/>
                </a:solidFill>
                <a:latin typeface="Times New Roman"/>
                <a:ea typeface="Times New Roman"/>
                <a:cs typeface="Times New Roman"/>
                <a:sym typeface="Times New Roman"/>
              </a:rPr>
              <a:t>Noyau fonctionnel </a:t>
            </a:r>
            <a:r>
              <a:rPr b="0" i="0" lang="en-US" sz="1500" u="none">
                <a:solidFill>
                  <a:srgbClr val="FFFFFF"/>
                </a:solidFill>
                <a:latin typeface="Times New Roman"/>
                <a:ea typeface="Times New Roman"/>
                <a:cs typeface="Times New Roman"/>
                <a:sym typeface="Times New Roman"/>
              </a:rPr>
              <a:t>(</a:t>
            </a:r>
            <a:r>
              <a:rPr b="1" i="0" lang="en-US" sz="1500" u="none">
                <a:solidFill>
                  <a:srgbClr val="FFFFFF"/>
                </a:solidFill>
                <a:latin typeface="Times New Roman"/>
                <a:ea typeface="Times New Roman"/>
                <a:cs typeface="Times New Roman"/>
                <a:sym typeface="Times New Roman"/>
              </a:rPr>
              <a:t>NF</a:t>
            </a:r>
            <a:r>
              <a:rPr b="0" i="0" lang="en-US" sz="1500" u="none">
                <a:solidFill>
                  <a:srgbClr val="FFFFFF"/>
                </a:solidFill>
                <a:latin typeface="Times New Roman"/>
                <a:ea typeface="Times New Roman"/>
                <a:cs typeface="Times New Roman"/>
                <a:sym typeface="Times New Roman"/>
              </a:rPr>
              <a:t>)</a:t>
            </a:r>
            <a:r>
              <a:rPr b="0" i="0" lang="en-US" sz="1500" u="none">
                <a:solidFill>
                  <a:schemeClr val="dk1"/>
                </a:solidFill>
                <a:latin typeface="Times New Roman"/>
                <a:ea typeface="Times New Roman"/>
                <a:cs typeface="Times New Roman"/>
                <a:sym typeface="Times New Roman"/>
              </a:rPr>
              <a:t> ou noyau applicatif : regroupe les données et traitements de l'application.</a:t>
            </a:r>
            <a:endParaRPr/>
          </a:p>
          <a:p>
            <a:pPr indent="-285750" lvl="0" marL="285750" marR="0" rtl="0" algn="l">
              <a:lnSpc>
                <a:spcPct val="150000"/>
              </a:lnSpc>
              <a:spcBef>
                <a:spcPts val="0"/>
              </a:spcBef>
              <a:spcAft>
                <a:spcPts val="0"/>
              </a:spcAft>
              <a:buClr>
                <a:schemeClr val="dk1"/>
              </a:buClr>
              <a:buSzPts val="1500"/>
              <a:buFont typeface="Noto Sans Symbols"/>
              <a:buChar char="⮚"/>
            </a:pPr>
            <a:r>
              <a:rPr b="0" i="0" lang="en-US" sz="1500" u="none">
                <a:solidFill>
                  <a:schemeClr val="dk1"/>
                </a:solidFill>
                <a:latin typeface="Times New Roman"/>
                <a:ea typeface="Times New Roman"/>
                <a:cs typeface="Times New Roman"/>
                <a:sym typeface="Times New Roman"/>
              </a:rPr>
              <a:t> </a:t>
            </a:r>
            <a:r>
              <a:rPr b="1" i="0" lang="en-US" sz="1500" u="none">
                <a:solidFill>
                  <a:srgbClr val="FFFFFF"/>
                </a:solidFill>
                <a:latin typeface="Times New Roman"/>
                <a:ea typeface="Times New Roman"/>
                <a:cs typeface="Times New Roman"/>
                <a:sym typeface="Times New Roman"/>
              </a:rPr>
              <a:t>Interface Homme-Machine(IHM) </a:t>
            </a:r>
            <a:r>
              <a:rPr b="0" i="0" lang="en-US" sz="1500" u="none">
                <a:solidFill>
                  <a:schemeClr val="dk1"/>
                </a:solidFill>
                <a:latin typeface="Times New Roman"/>
                <a:ea typeface="Times New Roman"/>
                <a:cs typeface="Times New Roman"/>
                <a:sym typeface="Times New Roman"/>
              </a:rPr>
              <a:t>: filtre entre l'utilisateur et le noyau fonctionnel,  représente à l’utilisateur les informations sources de l’interaction et d’ordonnance les échanges d’information.</a:t>
            </a:r>
            <a:endParaRPr/>
          </a:p>
        </p:txBody>
      </p:sp>
      <p:sp>
        <p:nvSpPr>
          <p:cNvPr id="597" name="Google Shape;597;p30"/>
          <p:cNvSpPr txBox="1"/>
          <p:nvPr/>
        </p:nvSpPr>
        <p:spPr>
          <a:xfrm>
            <a:off x="260350" y="409737"/>
            <a:ext cx="4572000" cy="554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000"/>
              <a:buFont typeface="Arial"/>
              <a:buNone/>
            </a:pPr>
            <a:r>
              <a:rPr b="1" i="0" lang="en-US" sz="3000" u="none">
                <a:solidFill>
                  <a:schemeClr val="lt1"/>
                </a:solidFill>
                <a:latin typeface="Arial"/>
                <a:ea typeface="Arial"/>
                <a:cs typeface="Arial"/>
                <a:sym typeface="Arial"/>
              </a:rPr>
              <a:t>un système interactif</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31"/>
          <p:cNvSpPr txBox="1"/>
          <p:nvPr/>
        </p:nvSpPr>
        <p:spPr>
          <a:xfrm>
            <a:off x="12" y="83562"/>
            <a:ext cx="68262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000"/>
              <a:buFont typeface="Arial"/>
              <a:buNone/>
            </a:pPr>
            <a:r>
              <a:rPr b="1" i="0" lang="en-US" sz="3000" u="none">
                <a:solidFill>
                  <a:schemeClr val="lt1"/>
                </a:solidFill>
                <a:latin typeface="Arial"/>
                <a:ea typeface="Arial"/>
                <a:cs typeface="Arial"/>
                <a:sym typeface="Arial"/>
              </a:rPr>
              <a:t>Les modèles de spécification de l’IHM</a:t>
            </a:r>
            <a:endParaRPr/>
          </a:p>
        </p:txBody>
      </p:sp>
      <p:pic>
        <p:nvPicPr>
          <p:cNvPr id="603" name="Google Shape;603;p31"/>
          <p:cNvPicPr preferRelativeResize="0"/>
          <p:nvPr/>
        </p:nvPicPr>
        <p:blipFill rotWithShape="1">
          <a:blip r:embed="rId3">
            <a:alphaModFix/>
          </a:blip>
          <a:srcRect b="0" l="0" r="0" t="0"/>
          <a:stretch/>
        </p:blipFill>
        <p:spPr>
          <a:xfrm>
            <a:off x="3751262" y="1908175"/>
            <a:ext cx="5392737" cy="3078162"/>
          </a:xfrm>
          <a:prstGeom prst="rect">
            <a:avLst/>
          </a:prstGeom>
          <a:noFill/>
          <a:ln>
            <a:noFill/>
          </a:ln>
        </p:spPr>
      </p:pic>
      <p:cxnSp>
        <p:nvCxnSpPr>
          <p:cNvPr id="604" name="Google Shape;604;p31"/>
          <p:cNvCxnSpPr/>
          <p:nvPr/>
        </p:nvCxnSpPr>
        <p:spPr>
          <a:xfrm>
            <a:off x="6351587" y="3943350"/>
            <a:ext cx="7937" cy="822325"/>
          </a:xfrm>
          <a:prstGeom prst="straightConnector1">
            <a:avLst/>
          </a:prstGeom>
          <a:noFill/>
          <a:ln cap="flat" cmpd="sng" w="19050">
            <a:solidFill>
              <a:srgbClr val="FFFFFF"/>
            </a:solidFill>
            <a:prstDash val="solid"/>
            <a:miter lim="800000"/>
            <a:headEnd len="med" w="med" type="none"/>
            <a:tailEnd len="med" w="med" type="none"/>
          </a:ln>
        </p:spPr>
      </p:cxnSp>
      <p:cxnSp>
        <p:nvCxnSpPr>
          <p:cNvPr id="605" name="Google Shape;605;p31"/>
          <p:cNvCxnSpPr/>
          <p:nvPr/>
        </p:nvCxnSpPr>
        <p:spPr>
          <a:xfrm>
            <a:off x="7589837" y="3943350"/>
            <a:ext cx="7937" cy="822325"/>
          </a:xfrm>
          <a:prstGeom prst="straightConnector1">
            <a:avLst/>
          </a:prstGeom>
          <a:noFill/>
          <a:ln cap="flat" cmpd="sng" w="19050">
            <a:solidFill>
              <a:srgbClr val="FFFFFF"/>
            </a:solidFill>
            <a:prstDash val="solid"/>
            <a:miter lim="800000"/>
            <a:headEnd len="med" w="med" type="none"/>
            <a:tailEnd len="med" w="med" type="none"/>
          </a:ln>
        </p:spPr>
      </p:cxnSp>
      <p:cxnSp>
        <p:nvCxnSpPr>
          <p:cNvPr id="606" name="Google Shape;606;p31"/>
          <p:cNvCxnSpPr/>
          <p:nvPr/>
        </p:nvCxnSpPr>
        <p:spPr>
          <a:xfrm rot="10800000">
            <a:off x="6359525" y="4765675"/>
            <a:ext cx="1238250" cy="0"/>
          </a:xfrm>
          <a:prstGeom prst="straightConnector1">
            <a:avLst/>
          </a:prstGeom>
          <a:noFill/>
          <a:ln cap="flat" cmpd="sng" w="19050">
            <a:solidFill>
              <a:srgbClr val="FFFFFF"/>
            </a:solidFill>
            <a:prstDash val="solid"/>
            <a:miter lim="800000"/>
            <a:headEnd len="med" w="med" type="none"/>
            <a:tailEnd len="med" w="med" type="none"/>
          </a:ln>
        </p:spPr>
      </p:cxnSp>
      <p:cxnSp>
        <p:nvCxnSpPr>
          <p:cNvPr id="607" name="Google Shape;607;p31"/>
          <p:cNvCxnSpPr/>
          <p:nvPr/>
        </p:nvCxnSpPr>
        <p:spPr>
          <a:xfrm>
            <a:off x="6351587" y="3943350"/>
            <a:ext cx="1246187" cy="0"/>
          </a:xfrm>
          <a:prstGeom prst="straightConnector1">
            <a:avLst/>
          </a:prstGeom>
          <a:noFill/>
          <a:ln cap="flat" cmpd="sng" w="19050">
            <a:solidFill>
              <a:srgbClr val="FFFFFF"/>
            </a:solidFill>
            <a:prstDash val="solid"/>
            <a:miter lim="800000"/>
            <a:headEnd len="med" w="med" type="none"/>
            <a:tailEnd len="med" w="med" type="none"/>
          </a:ln>
        </p:spPr>
      </p:cxnSp>
      <p:cxnSp>
        <p:nvCxnSpPr>
          <p:cNvPr id="608" name="Google Shape;608;p31"/>
          <p:cNvCxnSpPr/>
          <p:nvPr/>
        </p:nvCxnSpPr>
        <p:spPr>
          <a:xfrm>
            <a:off x="4052887" y="3943350"/>
            <a:ext cx="7937" cy="822325"/>
          </a:xfrm>
          <a:prstGeom prst="straightConnector1">
            <a:avLst/>
          </a:prstGeom>
          <a:noFill/>
          <a:ln cap="flat" cmpd="sng" w="19050">
            <a:solidFill>
              <a:srgbClr val="000000"/>
            </a:solidFill>
            <a:prstDash val="solid"/>
            <a:miter lim="800000"/>
            <a:headEnd len="med" w="med" type="none"/>
            <a:tailEnd len="med" w="med" type="none"/>
          </a:ln>
        </p:spPr>
      </p:cxnSp>
      <p:cxnSp>
        <p:nvCxnSpPr>
          <p:cNvPr id="609" name="Google Shape;609;p31"/>
          <p:cNvCxnSpPr/>
          <p:nvPr/>
        </p:nvCxnSpPr>
        <p:spPr>
          <a:xfrm>
            <a:off x="5514975" y="3943350"/>
            <a:ext cx="7937" cy="822325"/>
          </a:xfrm>
          <a:prstGeom prst="straightConnector1">
            <a:avLst/>
          </a:prstGeom>
          <a:noFill/>
          <a:ln cap="flat" cmpd="sng" w="19050">
            <a:solidFill>
              <a:srgbClr val="000000"/>
            </a:solidFill>
            <a:prstDash val="solid"/>
            <a:miter lim="800000"/>
            <a:headEnd len="med" w="med" type="none"/>
            <a:tailEnd len="med" w="med" type="none"/>
          </a:ln>
        </p:spPr>
      </p:cxnSp>
      <p:cxnSp>
        <p:nvCxnSpPr>
          <p:cNvPr id="610" name="Google Shape;610;p31"/>
          <p:cNvCxnSpPr/>
          <p:nvPr/>
        </p:nvCxnSpPr>
        <p:spPr>
          <a:xfrm>
            <a:off x="4052887" y="3943350"/>
            <a:ext cx="1462087" cy="0"/>
          </a:xfrm>
          <a:prstGeom prst="straightConnector1">
            <a:avLst/>
          </a:prstGeom>
          <a:noFill/>
          <a:ln cap="flat" cmpd="sng" w="19050">
            <a:solidFill>
              <a:srgbClr val="000000"/>
            </a:solidFill>
            <a:prstDash val="solid"/>
            <a:miter lim="800000"/>
            <a:headEnd len="med" w="med" type="none"/>
            <a:tailEnd len="med" w="med" type="none"/>
          </a:ln>
        </p:spPr>
      </p:cxnSp>
      <p:cxnSp>
        <p:nvCxnSpPr>
          <p:cNvPr id="611" name="Google Shape;611;p31"/>
          <p:cNvCxnSpPr/>
          <p:nvPr/>
        </p:nvCxnSpPr>
        <p:spPr>
          <a:xfrm>
            <a:off x="4052887" y="4765675"/>
            <a:ext cx="1454150" cy="0"/>
          </a:xfrm>
          <a:prstGeom prst="straightConnector1">
            <a:avLst/>
          </a:prstGeom>
          <a:noFill/>
          <a:ln cap="flat" cmpd="sng" w="19050">
            <a:solidFill>
              <a:srgbClr val="000000"/>
            </a:solidFill>
            <a:prstDash val="solid"/>
            <a:miter lim="800000"/>
            <a:headEnd len="med" w="med" type="none"/>
            <a:tailEnd len="med" w="med" type="none"/>
          </a:ln>
        </p:spPr>
      </p:cxnSp>
      <p:sp>
        <p:nvSpPr>
          <p:cNvPr id="612" name="Google Shape;612;p31"/>
          <p:cNvSpPr txBox="1"/>
          <p:nvPr/>
        </p:nvSpPr>
        <p:spPr>
          <a:xfrm>
            <a:off x="255587" y="1830387"/>
            <a:ext cx="3486150" cy="300355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200"/>
              <a:buFont typeface="Arial"/>
              <a:buNone/>
            </a:pPr>
            <a:r>
              <a:t/>
            </a:r>
            <a:endParaRPr b="1" i="0" sz="1200" u="none">
              <a:solidFill>
                <a:schemeClr val="dk1"/>
              </a:solidFill>
              <a:latin typeface="Times New Roman"/>
              <a:ea typeface="Times New Roman"/>
              <a:cs typeface="Times New Roman"/>
              <a:sym typeface="Times New Roman"/>
            </a:endParaRPr>
          </a:p>
          <a:p>
            <a:pPr indent="0" lvl="0" marL="0" marR="0" rtl="0" algn="l">
              <a:lnSpc>
                <a:spcPct val="150000"/>
              </a:lnSpc>
              <a:spcBef>
                <a:spcPts val="1000"/>
              </a:spcBef>
              <a:spcAft>
                <a:spcPts val="0"/>
              </a:spcAft>
              <a:buClr>
                <a:srgbClr val="FFFFFF"/>
              </a:buClr>
              <a:buSzPts val="1200"/>
              <a:buFont typeface="Times New Roman"/>
              <a:buNone/>
            </a:pPr>
            <a:r>
              <a:rPr b="1" i="0" lang="en-US" sz="1200" u="none">
                <a:solidFill>
                  <a:srgbClr val="FFFFFF"/>
                </a:solidFill>
                <a:latin typeface="Times New Roman"/>
                <a:ea typeface="Times New Roman"/>
                <a:cs typeface="Times New Roman"/>
                <a:sym typeface="Times New Roman"/>
              </a:rPr>
              <a:t>Composant de dialogue: </a:t>
            </a:r>
            <a:r>
              <a:rPr b="0" i="0" lang="en-US" sz="1200" u="none">
                <a:solidFill>
                  <a:schemeClr val="dk1"/>
                </a:solidFill>
                <a:latin typeface="Times New Roman"/>
                <a:ea typeface="Times New Roman"/>
                <a:cs typeface="Times New Roman"/>
                <a:sym typeface="Times New Roman"/>
              </a:rPr>
              <a:t>représente l'abstraction de composants graphiques en terme de besoin (saisie, affichage, commande) indépendamment de l’environnement physique.</a:t>
            </a:r>
            <a:endParaRPr/>
          </a:p>
          <a:p>
            <a:pPr indent="0" lvl="0" marL="0" marR="0" rtl="0" algn="l">
              <a:lnSpc>
                <a:spcPct val="150000"/>
              </a:lnSpc>
              <a:spcBef>
                <a:spcPts val="1000"/>
              </a:spcBef>
              <a:spcAft>
                <a:spcPts val="0"/>
              </a:spcAft>
              <a:buClr>
                <a:schemeClr val="dk1"/>
              </a:buClr>
              <a:buSzPts val="1200"/>
              <a:buFont typeface="Arial"/>
              <a:buNone/>
            </a:pPr>
            <a:r>
              <a:t/>
            </a:r>
            <a:endParaRPr b="1" i="0" sz="1200" u="none">
              <a:solidFill>
                <a:schemeClr val="dk1"/>
              </a:solidFill>
              <a:latin typeface="Times New Roman"/>
              <a:ea typeface="Times New Roman"/>
              <a:cs typeface="Times New Roman"/>
              <a:sym typeface="Times New Roman"/>
            </a:endParaRPr>
          </a:p>
          <a:p>
            <a:pPr indent="0" lvl="0" marL="0" marR="0" rtl="0" algn="l">
              <a:lnSpc>
                <a:spcPct val="150000"/>
              </a:lnSpc>
              <a:spcBef>
                <a:spcPts val="1000"/>
              </a:spcBef>
              <a:spcAft>
                <a:spcPts val="0"/>
              </a:spcAft>
              <a:buClr>
                <a:srgbClr val="000000"/>
              </a:buClr>
              <a:buSzPts val="1200"/>
              <a:buFont typeface="Times New Roman"/>
              <a:buNone/>
            </a:pPr>
            <a:r>
              <a:rPr b="1" i="0" lang="en-US" sz="1200" u="none">
                <a:solidFill>
                  <a:srgbClr val="000000"/>
                </a:solidFill>
                <a:latin typeface="Times New Roman"/>
                <a:ea typeface="Times New Roman"/>
                <a:cs typeface="Times New Roman"/>
                <a:sym typeface="Times New Roman"/>
              </a:rPr>
              <a:t>Unité de présentation, UP:  </a:t>
            </a:r>
            <a:r>
              <a:rPr b="0" i="0" lang="en-US" sz="1200" u="none">
                <a:solidFill>
                  <a:schemeClr val="dk1"/>
                </a:solidFill>
                <a:latin typeface="Times New Roman"/>
                <a:ea typeface="Times New Roman"/>
                <a:cs typeface="Times New Roman"/>
                <a:sym typeface="Times New Roman"/>
              </a:rPr>
              <a:t>regroupement des composants de dialogue de la présentation. Elle peut être composée de plusieurs sous-unités .</a:t>
            </a:r>
            <a:endParaRPr/>
          </a:p>
          <a:p>
            <a:pPr indent="0" lvl="0" marL="0" marR="0" rtl="0" algn="l">
              <a:lnSpc>
                <a:spcPct val="150000"/>
              </a:lnSpc>
              <a:spcBef>
                <a:spcPts val="1000"/>
              </a:spcBef>
              <a:spcAft>
                <a:spcPts val="0"/>
              </a:spcAft>
              <a:buClr>
                <a:schemeClr val="dk1"/>
              </a:buClr>
              <a:buSzPts val="1200"/>
              <a:buFont typeface="Arial"/>
              <a:buNone/>
            </a:pPr>
            <a:r>
              <a:t/>
            </a:r>
            <a:endParaRPr b="0" i="0" sz="12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1200" u="none">
              <a:solidFill>
                <a:schemeClr val="dk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32"/>
          <p:cNvSpPr txBox="1"/>
          <p:nvPr/>
        </p:nvSpPr>
        <p:spPr>
          <a:xfrm>
            <a:off x="176212" y="2263775"/>
            <a:ext cx="4005262" cy="784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500"/>
              <a:buFont typeface="Times New Roman"/>
              <a:buNone/>
            </a:pPr>
            <a:r>
              <a:rPr b="0" i="0" lang="en-US" sz="1500" u="none">
                <a:solidFill>
                  <a:schemeClr val="dk1"/>
                </a:solidFill>
                <a:latin typeface="Times New Roman"/>
                <a:ea typeface="Times New Roman"/>
                <a:cs typeface="Times New Roman"/>
                <a:sym typeface="Times New Roman"/>
              </a:rPr>
              <a:t>les messages de l'interaction correspondent à :</a:t>
            </a:r>
            <a:endParaRPr/>
          </a:p>
          <a:p>
            <a:pPr indent="-95250" lvl="0" marL="0" marR="0" rtl="0" algn="l">
              <a:lnSpc>
                <a:spcPct val="100000"/>
              </a:lnSpc>
              <a:spcBef>
                <a:spcPts val="0"/>
              </a:spcBef>
              <a:spcAft>
                <a:spcPts val="0"/>
              </a:spcAft>
              <a:buClr>
                <a:schemeClr val="dk1"/>
              </a:buClr>
              <a:buSzPts val="1500"/>
              <a:buFont typeface="Arial"/>
              <a:buChar char="•"/>
            </a:pPr>
            <a:r>
              <a:rPr b="0" i="0" lang="en-US" sz="1500" u="none">
                <a:solidFill>
                  <a:schemeClr val="dk1"/>
                </a:solidFill>
                <a:latin typeface="Times New Roman"/>
                <a:ea typeface="Times New Roman"/>
                <a:cs typeface="Times New Roman"/>
                <a:sym typeface="Times New Roman"/>
              </a:rPr>
              <a:t>des flots de contrôle (commandes) </a:t>
            </a:r>
            <a:endParaRPr/>
          </a:p>
          <a:p>
            <a:pPr indent="-95250" lvl="0" marL="0" marR="0" rtl="0" algn="l">
              <a:lnSpc>
                <a:spcPct val="100000"/>
              </a:lnSpc>
              <a:spcBef>
                <a:spcPts val="0"/>
              </a:spcBef>
              <a:spcAft>
                <a:spcPts val="0"/>
              </a:spcAft>
              <a:buClr>
                <a:schemeClr val="dk1"/>
              </a:buClr>
              <a:buSzPts val="1500"/>
              <a:buFont typeface="Arial"/>
              <a:buChar char="•"/>
            </a:pPr>
            <a:r>
              <a:rPr b="0" i="0" lang="en-US" sz="1500" u="none">
                <a:solidFill>
                  <a:schemeClr val="dk1"/>
                </a:solidFill>
                <a:latin typeface="Times New Roman"/>
                <a:ea typeface="Times New Roman"/>
                <a:cs typeface="Times New Roman"/>
                <a:sym typeface="Times New Roman"/>
              </a:rPr>
              <a:t>des flots de données.</a:t>
            </a:r>
            <a:endParaRPr/>
          </a:p>
        </p:txBody>
      </p:sp>
      <p:pic>
        <p:nvPicPr>
          <p:cNvPr id="618" name="Google Shape;618;p32"/>
          <p:cNvPicPr preferRelativeResize="0"/>
          <p:nvPr/>
        </p:nvPicPr>
        <p:blipFill rotWithShape="1">
          <a:blip r:embed="rId3">
            <a:alphaModFix/>
          </a:blip>
          <a:srcRect b="0" l="0" r="0" t="0"/>
          <a:stretch/>
        </p:blipFill>
        <p:spPr>
          <a:xfrm>
            <a:off x="3736975" y="1839912"/>
            <a:ext cx="5208587" cy="3251200"/>
          </a:xfrm>
          <a:prstGeom prst="rect">
            <a:avLst/>
          </a:prstGeom>
          <a:noFill/>
          <a:ln>
            <a:noFill/>
          </a:ln>
        </p:spPr>
      </p:pic>
      <p:sp>
        <p:nvSpPr>
          <p:cNvPr id="619" name="Google Shape;619;p32"/>
          <p:cNvSpPr txBox="1"/>
          <p:nvPr/>
        </p:nvSpPr>
        <p:spPr>
          <a:xfrm>
            <a:off x="354587" y="1252537"/>
            <a:ext cx="7886700" cy="5049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Scénario</a:t>
            </a:r>
            <a:endParaRPr/>
          </a:p>
        </p:txBody>
      </p:sp>
      <p:sp>
        <p:nvSpPr>
          <p:cNvPr id="620" name="Google Shape;620;p32"/>
          <p:cNvSpPr txBox="1"/>
          <p:nvPr/>
        </p:nvSpPr>
        <p:spPr>
          <a:xfrm>
            <a:off x="-22225" y="1757362"/>
            <a:ext cx="2354262" cy="369887"/>
          </a:xfrm>
          <a:prstGeom prst="rect">
            <a:avLst/>
          </a:prstGeom>
          <a:noFill/>
          <a:ln>
            <a:noFill/>
          </a:ln>
        </p:spPr>
        <p:txBody>
          <a:bodyPr anchorCtr="0" anchor="t" bIns="45700" lIns="91425" spcFirstLastPara="1" rIns="91425" wrap="square" tIns="45700">
            <a:spAutoFit/>
          </a:bodyPr>
          <a:lstStyle/>
          <a:p>
            <a:pPr indent="-257175" lvl="0" marL="257175" marR="0" rtl="0" algn="ctr">
              <a:lnSpc>
                <a:spcPct val="100000"/>
              </a:lnSpc>
              <a:spcBef>
                <a:spcPts val="0"/>
              </a:spcBef>
              <a:spcAft>
                <a:spcPts val="0"/>
              </a:spcAft>
              <a:buClr>
                <a:srgbClr val="FFFFFF"/>
              </a:buClr>
              <a:buSzPts val="1800"/>
              <a:buFont typeface="Noto Sans Symbols"/>
              <a:buChar char="⮚"/>
            </a:pPr>
            <a:r>
              <a:rPr b="1" i="0" lang="en-US" sz="1800" u="sng">
                <a:solidFill>
                  <a:srgbClr val="FFFFFF"/>
                </a:solidFill>
                <a:latin typeface="Times New Roman"/>
                <a:ea typeface="Times New Roman"/>
                <a:cs typeface="Times New Roman"/>
                <a:sym typeface="Times New Roman"/>
              </a:rPr>
              <a:t>Modèle de dialogue</a:t>
            </a:r>
            <a:endParaRPr/>
          </a:p>
        </p:txBody>
      </p:sp>
      <p:sp>
        <p:nvSpPr>
          <p:cNvPr id="621" name="Google Shape;621;p32"/>
          <p:cNvSpPr txBox="1"/>
          <p:nvPr/>
        </p:nvSpPr>
        <p:spPr>
          <a:xfrm>
            <a:off x="0" y="331187"/>
            <a:ext cx="7113600" cy="554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000"/>
              <a:buFont typeface="Arial"/>
              <a:buNone/>
            </a:pPr>
            <a:r>
              <a:rPr b="1" i="0" lang="en-US" sz="3000" u="none">
                <a:solidFill>
                  <a:schemeClr val="lt1"/>
                </a:solidFill>
                <a:latin typeface="Arial"/>
                <a:ea typeface="Arial"/>
                <a:cs typeface="Arial"/>
                <a:sym typeface="Arial"/>
              </a:rPr>
              <a:t>Les modèles de spécification de l’IHM</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33"/>
          <p:cNvSpPr txBox="1"/>
          <p:nvPr/>
        </p:nvSpPr>
        <p:spPr>
          <a:xfrm>
            <a:off x="139700" y="3841750"/>
            <a:ext cx="2160587" cy="369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imes New Roman"/>
              <a:buNone/>
            </a:pPr>
            <a:r>
              <a:rPr b="0" i="0" lang="en-US" sz="1800" u="none">
                <a:solidFill>
                  <a:srgbClr val="000000"/>
                </a:solidFill>
                <a:latin typeface="Times New Roman"/>
                <a:ea typeface="Times New Roman"/>
                <a:cs typeface="Times New Roman"/>
                <a:sym typeface="Times New Roman"/>
              </a:rPr>
              <a:t>Blocs d’interaction</a:t>
            </a:r>
            <a:endParaRPr/>
          </a:p>
        </p:txBody>
      </p:sp>
      <p:pic>
        <p:nvPicPr>
          <p:cNvPr id="627" name="Google Shape;627;p33"/>
          <p:cNvPicPr preferRelativeResize="0"/>
          <p:nvPr/>
        </p:nvPicPr>
        <p:blipFill rotWithShape="1">
          <a:blip r:embed="rId3">
            <a:alphaModFix/>
          </a:blip>
          <a:srcRect b="0" l="0" r="0" t="0"/>
          <a:stretch/>
        </p:blipFill>
        <p:spPr>
          <a:xfrm>
            <a:off x="5849937" y="1798637"/>
            <a:ext cx="3024187" cy="3976687"/>
          </a:xfrm>
          <a:prstGeom prst="rect">
            <a:avLst/>
          </a:prstGeom>
          <a:noFill/>
          <a:ln>
            <a:noFill/>
          </a:ln>
        </p:spPr>
      </p:pic>
      <p:sp>
        <p:nvSpPr>
          <p:cNvPr id="628" name="Google Shape;628;p33"/>
          <p:cNvSpPr txBox="1"/>
          <p:nvPr/>
        </p:nvSpPr>
        <p:spPr>
          <a:xfrm>
            <a:off x="2373312" y="2387600"/>
            <a:ext cx="3609975" cy="554037"/>
          </a:xfrm>
          <a:prstGeom prst="rect">
            <a:avLst/>
          </a:prstGeom>
          <a:noFill/>
          <a:ln>
            <a:noFill/>
          </a:ln>
        </p:spPr>
        <p:txBody>
          <a:bodyPr anchorCtr="0" anchor="t" bIns="45700" lIns="91425" spcFirstLastPara="1" rIns="91425" wrap="square" tIns="45700">
            <a:spAutoFit/>
          </a:bodyPr>
          <a:lstStyle/>
          <a:p>
            <a:pPr indent="-214311" lvl="0" marL="214311" marR="0" rtl="0" algn="l">
              <a:lnSpc>
                <a:spcPct val="100000"/>
              </a:lnSpc>
              <a:spcBef>
                <a:spcPts val="0"/>
              </a:spcBef>
              <a:spcAft>
                <a:spcPts val="0"/>
              </a:spcAft>
              <a:buClr>
                <a:schemeClr val="dk1"/>
              </a:buClr>
              <a:buSzPts val="1500"/>
              <a:buFont typeface="Noto Sans Symbols"/>
              <a:buChar char="⮚"/>
            </a:pPr>
            <a:r>
              <a:rPr b="0" i="0" lang="en-US" sz="1500" u="none">
                <a:solidFill>
                  <a:schemeClr val="dk1"/>
                </a:solidFill>
                <a:latin typeface="Times New Roman"/>
                <a:ea typeface="Times New Roman"/>
                <a:cs typeface="Times New Roman"/>
                <a:sym typeface="Times New Roman"/>
              </a:rPr>
              <a:t>Alternative de séquence de messages : </a:t>
            </a:r>
            <a:r>
              <a:rPr b="1" i="0" lang="en-US" sz="1500" u="none">
                <a:solidFill>
                  <a:schemeClr val="dk1"/>
                </a:solidFill>
                <a:latin typeface="Times New Roman"/>
                <a:ea typeface="Times New Roman"/>
                <a:cs typeface="Times New Roman"/>
                <a:sym typeface="Times New Roman"/>
              </a:rPr>
              <a:t>alt</a:t>
            </a:r>
            <a:endParaRPr/>
          </a:p>
          <a:p>
            <a:pPr indent="-214311" lvl="0" marL="214311" marR="0" rtl="0" algn="l">
              <a:lnSpc>
                <a:spcPct val="100000"/>
              </a:lnSpc>
              <a:spcBef>
                <a:spcPts val="0"/>
              </a:spcBef>
              <a:spcAft>
                <a:spcPts val="0"/>
              </a:spcAft>
              <a:buClr>
                <a:schemeClr val="dk1"/>
              </a:buClr>
              <a:buSzPts val="1500"/>
              <a:buFont typeface="Times New Roman"/>
              <a:buNone/>
            </a:pPr>
            <a:r>
              <a:rPr b="0" i="0" lang="en-US" sz="1500" u="none">
                <a:solidFill>
                  <a:schemeClr val="dk1"/>
                </a:solidFill>
                <a:latin typeface="Times New Roman"/>
                <a:ea typeface="Times New Roman"/>
                <a:cs typeface="Times New Roman"/>
                <a:sym typeface="Times New Roman"/>
              </a:rPr>
              <a:t>si [cond] alors …. sinon …..</a:t>
            </a:r>
            <a:endParaRPr/>
          </a:p>
        </p:txBody>
      </p:sp>
      <p:sp>
        <p:nvSpPr>
          <p:cNvPr id="629" name="Google Shape;629;p33"/>
          <p:cNvSpPr txBox="1"/>
          <p:nvPr/>
        </p:nvSpPr>
        <p:spPr>
          <a:xfrm>
            <a:off x="2536825" y="3521075"/>
            <a:ext cx="3446462" cy="600075"/>
          </a:xfrm>
          <a:prstGeom prst="rect">
            <a:avLst/>
          </a:prstGeom>
          <a:noFill/>
          <a:ln>
            <a:noFill/>
          </a:ln>
        </p:spPr>
        <p:txBody>
          <a:bodyPr anchorCtr="0" anchor="t" bIns="45700" lIns="91425" spcFirstLastPara="1" rIns="91425" wrap="square" tIns="45700">
            <a:spAutoFit/>
          </a:bodyPr>
          <a:lstStyle/>
          <a:p>
            <a:pPr indent="-214311" lvl="0" marL="214311" marR="0" rtl="0" algn="l">
              <a:lnSpc>
                <a:spcPct val="100000"/>
              </a:lnSpc>
              <a:spcBef>
                <a:spcPts val="0"/>
              </a:spcBef>
              <a:spcAft>
                <a:spcPts val="0"/>
              </a:spcAft>
              <a:buClr>
                <a:schemeClr val="dk1"/>
              </a:buClr>
              <a:buSzPts val="1500"/>
              <a:buFont typeface="Noto Sans Symbols"/>
              <a:buChar char="⮚"/>
            </a:pPr>
            <a:r>
              <a:rPr b="0" i="0" lang="en-US" sz="1500" u="none">
                <a:solidFill>
                  <a:schemeClr val="dk1"/>
                </a:solidFill>
                <a:latin typeface="Times New Roman"/>
                <a:ea typeface="Times New Roman"/>
                <a:cs typeface="Times New Roman"/>
                <a:sym typeface="Times New Roman"/>
              </a:rPr>
              <a:t>Séquence de messages optionnelle : opt</a:t>
            </a:r>
            <a:endParaRPr/>
          </a:p>
          <a:p>
            <a:pPr indent="-214311" lvl="0" marL="214311" marR="0" rtl="0" algn="l">
              <a:lnSpc>
                <a:spcPct val="100000"/>
              </a:lnSpc>
              <a:spcBef>
                <a:spcPts val="0"/>
              </a:spcBef>
              <a:spcAft>
                <a:spcPts val="0"/>
              </a:spcAft>
              <a:buClr>
                <a:schemeClr val="dk1"/>
              </a:buClr>
              <a:buSzPts val="1500"/>
              <a:buFont typeface="Times New Roman"/>
              <a:buNone/>
            </a:pPr>
            <a:r>
              <a:rPr b="0" i="0" lang="en-US" sz="1500" u="none">
                <a:solidFill>
                  <a:schemeClr val="dk1"/>
                </a:solidFill>
                <a:latin typeface="Times New Roman"/>
                <a:ea typeface="Times New Roman"/>
                <a:cs typeface="Times New Roman"/>
                <a:sym typeface="Times New Roman"/>
              </a:rPr>
              <a:t>si [cond] alors</a:t>
            </a:r>
            <a:r>
              <a:rPr b="0" i="0" lang="en-US" sz="1800" u="none">
                <a:solidFill>
                  <a:schemeClr val="dk1"/>
                </a:solidFill>
                <a:latin typeface="Arial"/>
                <a:ea typeface="Arial"/>
                <a:cs typeface="Arial"/>
                <a:sym typeface="Arial"/>
              </a:rPr>
              <a:t> ….</a:t>
            </a:r>
            <a:endParaRPr/>
          </a:p>
        </p:txBody>
      </p:sp>
      <p:sp>
        <p:nvSpPr>
          <p:cNvPr id="630" name="Google Shape;630;p33"/>
          <p:cNvSpPr txBox="1"/>
          <p:nvPr/>
        </p:nvSpPr>
        <p:spPr>
          <a:xfrm>
            <a:off x="2644775" y="4811712"/>
            <a:ext cx="3340100" cy="785812"/>
          </a:xfrm>
          <a:prstGeom prst="rect">
            <a:avLst/>
          </a:prstGeom>
          <a:noFill/>
          <a:ln>
            <a:noFill/>
          </a:ln>
        </p:spPr>
        <p:txBody>
          <a:bodyPr anchorCtr="0" anchor="t" bIns="45700" lIns="91425" spcFirstLastPara="1" rIns="91425" wrap="square" tIns="45700">
            <a:spAutoFit/>
          </a:bodyPr>
          <a:lstStyle/>
          <a:p>
            <a:pPr indent="-214311" lvl="0" marL="214311" marR="0" rtl="0" algn="l">
              <a:lnSpc>
                <a:spcPct val="100000"/>
              </a:lnSpc>
              <a:spcBef>
                <a:spcPts val="0"/>
              </a:spcBef>
              <a:spcAft>
                <a:spcPts val="0"/>
              </a:spcAft>
              <a:buClr>
                <a:schemeClr val="dk1"/>
              </a:buClr>
              <a:buSzPts val="1500"/>
              <a:buFont typeface="Noto Sans Symbols"/>
              <a:buChar char="⮚"/>
            </a:pPr>
            <a:r>
              <a:rPr b="0" i="0" lang="en-US" sz="1500" u="none">
                <a:solidFill>
                  <a:schemeClr val="dk1"/>
                </a:solidFill>
                <a:latin typeface="Times New Roman"/>
                <a:ea typeface="Times New Roman"/>
                <a:cs typeface="Times New Roman"/>
                <a:sym typeface="Times New Roman"/>
              </a:rPr>
              <a:t>Itération d’une séquence de messages </a:t>
            </a:r>
            <a:endParaRPr/>
          </a:p>
          <a:p>
            <a:pPr indent="-214311" lvl="0" marL="214311" marR="0" rtl="0" algn="l">
              <a:lnSpc>
                <a:spcPct val="100000"/>
              </a:lnSpc>
              <a:spcBef>
                <a:spcPts val="0"/>
              </a:spcBef>
              <a:spcAft>
                <a:spcPts val="0"/>
              </a:spcAft>
              <a:buClr>
                <a:schemeClr val="dk1"/>
              </a:buClr>
              <a:buSzPts val="1500"/>
              <a:buFont typeface="Times New Roman"/>
              <a:buNone/>
            </a:pPr>
            <a:r>
              <a:rPr b="0" i="0" lang="en-US" sz="1500" u="none">
                <a:solidFill>
                  <a:schemeClr val="dk1"/>
                </a:solidFill>
                <a:latin typeface="Times New Roman"/>
                <a:ea typeface="Times New Roman"/>
                <a:cs typeface="Times New Roman"/>
                <a:sym typeface="Times New Roman"/>
              </a:rPr>
              <a:t>Avec appel de procédure : loop</a:t>
            </a:r>
            <a:endParaRPr/>
          </a:p>
          <a:p>
            <a:pPr indent="-214311" lvl="0" marL="214311" marR="0" rtl="0" algn="l">
              <a:lnSpc>
                <a:spcPct val="100000"/>
              </a:lnSpc>
              <a:spcBef>
                <a:spcPts val="0"/>
              </a:spcBef>
              <a:spcAft>
                <a:spcPts val="0"/>
              </a:spcAft>
              <a:buClr>
                <a:schemeClr val="dk1"/>
              </a:buClr>
              <a:buSzPts val="1500"/>
              <a:buFont typeface="Times New Roman"/>
              <a:buNone/>
            </a:pPr>
            <a:r>
              <a:rPr b="0" i="0" lang="en-US" sz="1500" u="none">
                <a:solidFill>
                  <a:schemeClr val="dk1"/>
                </a:solidFill>
                <a:latin typeface="Times New Roman"/>
                <a:ea typeface="Times New Roman"/>
                <a:cs typeface="Times New Roman"/>
                <a:sym typeface="Times New Roman"/>
              </a:rPr>
              <a:t>tant que [cond] faire … fin faire</a:t>
            </a:r>
            <a:endParaRPr/>
          </a:p>
        </p:txBody>
      </p:sp>
      <p:sp>
        <p:nvSpPr>
          <p:cNvPr id="631" name="Google Shape;631;p33"/>
          <p:cNvSpPr txBox="1"/>
          <p:nvPr/>
        </p:nvSpPr>
        <p:spPr>
          <a:xfrm>
            <a:off x="576675" y="1252537"/>
            <a:ext cx="7886700" cy="5049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Scénario</a:t>
            </a:r>
            <a:endParaRPr/>
          </a:p>
        </p:txBody>
      </p:sp>
      <p:sp>
        <p:nvSpPr>
          <p:cNvPr id="632" name="Google Shape;632;p33"/>
          <p:cNvSpPr/>
          <p:nvPr/>
        </p:nvSpPr>
        <p:spPr>
          <a:xfrm>
            <a:off x="2181225" y="2314575"/>
            <a:ext cx="249237" cy="3460750"/>
          </a:xfrm>
          <a:prstGeom prst="leftBrace">
            <a:avLst>
              <a:gd fmla="val 130" name="adj1"/>
              <a:gd fmla="val 50000" name="adj2"/>
            </a:avLst>
          </a:prstGeom>
          <a:noFill/>
          <a:ln cap="flat" cmpd="sng" w="1905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33" name="Google Shape;633;p33"/>
          <p:cNvSpPr txBox="1"/>
          <p:nvPr/>
        </p:nvSpPr>
        <p:spPr>
          <a:xfrm>
            <a:off x="-22225" y="1757362"/>
            <a:ext cx="2354262" cy="369887"/>
          </a:xfrm>
          <a:prstGeom prst="rect">
            <a:avLst/>
          </a:prstGeom>
          <a:noFill/>
          <a:ln>
            <a:noFill/>
          </a:ln>
        </p:spPr>
        <p:txBody>
          <a:bodyPr anchorCtr="0" anchor="t" bIns="45700" lIns="91425" spcFirstLastPara="1" rIns="91425" wrap="square" tIns="45700">
            <a:spAutoFit/>
          </a:bodyPr>
          <a:lstStyle/>
          <a:p>
            <a:pPr indent="-257175" lvl="0" marL="257175" marR="0" rtl="0" algn="ctr">
              <a:lnSpc>
                <a:spcPct val="100000"/>
              </a:lnSpc>
              <a:spcBef>
                <a:spcPts val="0"/>
              </a:spcBef>
              <a:spcAft>
                <a:spcPts val="0"/>
              </a:spcAft>
              <a:buClr>
                <a:srgbClr val="FFFFFF"/>
              </a:buClr>
              <a:buSzPts val="1800"/>
              <a:buFont typeface="Noto Sans Symbols"/>
              <a:buChar char="⮚"/>
            </a:pPr>
            <a:r>
              <a:rPr b="1" i="0" lang="en-US" sz="1800" u="sng">
                <a:solidFill>
                  <a:srgbClr val="FFFFFF"/>
                </a:solidFill>
                <a:latin typeface="Times New Roman"/>
                <a:ea typeface="Times New Roman"/>
                <a:cs typeface="Times New Roman"/>
                <a:sym typeface="Times New Roman"/>
              </a:rPr>
              <a:t>Modèle de dialogue</a:t>
            </a:r>
            <a:endParaRPr/>
          </a:p>
        </p:txBody>
      </p:sp>
      <p:sp>
        <p:nvSpPr>
          <p:cNvPr id="634" name="Google Shape;634;p33"/>
          <p:cNvSpPr txBox="1"/>
          <p:nvPr/>
        </p:nvSpPr>
        <p:spPr>
          <a:xfrm>
            <a:off x="0" y="383162"/>
            <a:ext cx="7113600" cy="554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000"/>
              <a:buFont typeface="Arial"/>
              <a:buNone/>
            </a:pPr>
            <a:r>
              <a:rPr b="1" i="0" lang="en-US" sz="3000" u="none">
                <a:solidFill>
                  <a:schemeClr val="lt1"/>
                </a:solidFill>
                <a:latin typeface="Arial"/>
                <a:ea typeface="Arial"/>
                <a:cs typeface="Arial"/>
                <a:sym typeface="Arial"/>
              </a:rPr>
              <a:t>Les modèles de spécification de l’IHM</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pic>
        <p:nvPicPr>
          <p:cNvPr id="639" name="Google Shape;639;p34"/>
          <p:cNvPicPr preferRelativeResize="0"/>
          <p:nvPr/>
        </p:nvPicPr>
        <p:blipFill rotWithShape="1">
          <a:blip r:embed="rId3">
            <a:alphaModFix/>
          </a:blip>
          <a:srcRect b="0" l="0" r="0" t="0"/>
          <a:stretch/>
        </p:blipFill>
        <p:spPr>
          <a:xfrm>
            <a:off x="2970212" y="1930400"/>
            <a:ext cx="5505450" cy="3754437"/>
          </a:xfrm>
          <a:prstGeom prst="rect">
            <a:avLst/>
          </a:prstGeom>
          <a:noFill/>
          <a:ln>
            <a:noFill/>
          </a:ln>
        </p:spPr>
      </p:pic>
      <p:sp>
        <p:nvSpPr>
          <p:cNvPr id="640" name="Google Shape;640;p34"/>
          <p:cNvSpPr txBox="1"/>
          <p:nvPr/>
        </p:nvSpPr>
        <p:spPr>
          <a:xfrm>
            <a:off x="628650" y="1039812"/>
            <a:ext cx="7886700" cy="504825"/>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Scénario</a:t>
            </a:r>
            <a:endParaRPr/>
          </a:p>
        </p:txBody>
      </p:sp>
      <p:sp>
        <p:nvSpPr>
          <p:cNvPr id="641" name="Google Shape;641;p34"/>
          <p:cNvSpPr txBox="1"/>
          <p:nvPr/>
        </p:nvSpPr>
        <p:spPr>
          <a:xfrm>
            <a:off x="-22225" y="1757362"/>
            <a:ext cx="2354262" cy="369887"/>
          </a:xfrm>
          <a:prstGeom prst="rect">
            <a:avLst/>
          </a:prstGeom>
          <a:noFill/>
          <a:ln>
            <a:noFill/>
          </a:ln>
        </p:spPr>
        <p:txBody>
          <a:bodyPr anchorCtr="0" anchor="t" bIns="45700" lIns="91425" spcFirstLastPara="1" rIns="91425" wrap="square" tIns="45700">
            <a:spAutoFit/>
          </a:bodyPr>
          <a:lstStyle/>
          <a:p>
            <a:pPr indent="-257175" lvl="0" marL="257175" marR="0" rtl="0" algn="ctr">
              <a:lnSpc>
                <a:spcPct val="100000"/>
              </a:lnSpc>
              <a:spcBef>
                <a:spcPts val="0"/>
              </a:spcBef>
              <a:spcAft>
                <a:spcPts val="0"/>
              </a:spcAft>
              <a:buClr>
                <a:srgbClr val="FFFFFF"/>
              </a:buClr>
              <a:buSzPts val="1800"/>
              <a:buFont typeface="Noto Sans Symbols"/>
              <a:buChar char="⮚"/>
            </a:pPr>
            <a:r>
              <a:rPr b="1" i="0" lang="en-US" sz="1800" u="sng">
                <a:solidFill>
                  <a:srgbClr val="FFFFFF"/>
                </a:solidFill>
                <a:latin typeface="Times New Roman"/>
                <a:ea typeface="Times New Roman"/>
                <a:cs typeface="Times New Roman"/>
                <a:sym typeface="Times New Roman"/>
              </a:rPr>
              <a:t>Modèle de dialogue</a:t>
            </a:r>
            <a:endParaRPr/>
          </a:p>
        </p:txBody>
      </p:sp>
      <p:sp>
        <p:nvSpPr>
          <p:cNvPr id="642" name="Google Shape;642;p34"/>
          <p:cNvSpPr txBox="1"/>
          <p:nvPr/>
        </p:nvSpPr>
        <p:spPr>
          <a:xfrm>
            <a:off x="0" y="985837"/>
            <a:ext cx="7113587"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000"/>
              <a:buFont typeface="Arial"/>
              <a:buNone/>
            </a:pPr>
            <a:r>
              <a:rPr b="1" i="0" lang="en-US" sz="3000" u="none">
                <a:solidFill>
                  <a:schemeClr val="lt1"/>
                </a:solidFill>
                <a:latin typeface="Arial"/>
                <a:ea typeface="Arial"/>
                <a:cs typeface="Arial"/>
                <a:sym typeface="Arial"/>
              </a:rPr>
              <a:t>Les modèles de spécification de l’IHM</a:t>
            </a:r>
            <a:endParaRPr/>
          </a:p>
        </p:txBody>
      </p:sp>
      <p:sp>
        <p:nvSpPr>
          <p:cNvPr id="643" name="Google Shape;643;p34"/>
          <p:cNvSpPr txBox="1"/>
          <p:nvPr/>
        </p:nvSpPr>
        <p:spPr>
          <a:xfrm>
            <a:off x="152400" y="2195512"/>
            <a:ext cx="2963862" cy="322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500"/>
              <a:buFont typeface="Times New Roman"/>
              <a:buNone/>
            </a:pPr>
            <a:r>
              <a:rPr b="0" i="0" lang="en-US" sz="1500" u="none">
                <a:solidFill>
                  <a:schemeClr val="dk1"/>
                </a:solidFill>
                <a:latin typeface="Times New Roman"/>
                <a:ea typeface="Times New Roman"/>
                <a:cs typeface="Times New Roman"/>
                <a:sym typeface="Times New Roman"/>
              </a:rPr>
              <a:t>Exemple :Consultation d’ouvrage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pic>
        <p:nvPicPr>
          <p:cNvPr id="648" name="Google Shape;648;p35"/>
          <p:cNvPicPr preferRelativeResize="0"/>
          <p:nvPr/>
        </p:nvPicPr>
        <p:blipFill rotWithShape="1">
          <a:blip r:embed="rId3">
            <a:alphaModFix/>
          </a:blip>
          <a:srcRect b="0" l="0" r="0" t="0"/>
          <a:stretch/>
        </p:blipFill>
        <p:spPr>
          <a:xfrm>
            <a:off x="2767012" y="1768475"/>
            <a:ext cx="6149975" cy="4076700"/>
          </a:xfrm>
          <a:prstGeom prst="rect">
            <a:avLst/>
          </a:prstGeom>
          <a:noFill/>
          <a:ln>
            <a:noFill/>
          </a:ln>
        </p:spPr>
      </p:pic>
      <p:sp>
        <p:nvSpPr>
          <p:cNvPr id="649" name="Google Shape;649;p35"/>
          <p:cNvSpPr txBox="1"/>
          <p:nvPr/>
        </p:nvSpPr>
        <p:spPr>
          <a:xfrm>
            <a:off x="628650" y="1039812"/>
            <a:ext cx="7886700" cy="504825"/>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Scénario</a:t>
            </a:r>
            <a:endParaRPr/>
          </a:p>
        </p:txBody>
      </p:sp>
      <p:sp>
        <p:nvSpPr>
          <p:cNvPr id="650" name="Google Shape;650;p35"/>
          <p:cNvSpPr txBox="1"/>
          <p:nvPr/>
        </p:nvSpPr>
        <p:spPr>
          <a:xfrm>
            <a:off x="-22225" y="1757362"/>
            <a:ext cx="2354262" cy="369887"/>
          </a:xfrm>
          <a:prstGeom prst="rect">
            <a:avLst/>
          </a:prstGeom>
          <a:noFill/>
          <a:ln>
            <a:noFill/>
          </a:ln>
        </p:spPr>
        <p:txBody>
          <a:bodyPr anchorCtr="0" anchor="t" bIns="45700" lIns="91425" spcFirstLastPara="1" rIns="91425" wrap="square" tIns="45700">
            <a:spAutoFit/>
          </a:bodyPr>
          <a:lstStyle/>
          <a:p>
            <a:pPr indent="-257175" lvl="0" marL="257175" marR="0" rtl="0" algn="ctr">
              <a:lnSpc>
                <a:spcPct val="100000"/>
              </a:lnSpc>
              <a:spcBef>
                <a:spcPts val="0"/>
              </a:spcBef>
              <a:spcAft>
                <a:spcPts val="0"/>
              </a:spcAft>
              <a:buClr>
                <a:srgbClr val="FFFFFF"/>
              </a:buClr>
              <a:buSzPts val="1800"/>
              <a:buFont typeface="Noto Sans Symbols"/>
              <a:buChar char="⮚"/>
            </a:pPr>
            <a:r>
              <a:rPr b="1" i="0" lang="en-US" sz="1800" u="sng">
                <a:solidFill>
                  <a:srgbClr val="FFFFFF"/>
                </a:solidFill>
                <a:latin typeface="Times New Roman"/>
                <a:ea typeface="Times New Roman"/>
                <a:cs typeface="Times New Roman"/>
                <a:sym typeface="Times New Roman"/>
              </a:rPr>
              <a:t>Modèle de dialogue</a:t>
            </a:r>
            <a:endParaRPr/>
          </a:p>
        </p:txBody>
      </p:sp>
      <p:sp>
        <p:nvSpPr>
          <p:cNvPr id="651" name="Google Shape;651;p35"/>
          <p:cNvSpPr txBox="1"/>
          <p:nvPr/>
        </p:nvSpPr>
        <p:spPr>
          <a:xfrm>
            <a:off x="0" y="985837"/>
            <a:ext cx="7113587"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000"/>
              <a:buFont typeface="Arial"/>
              <a:buNone/>
            </a:pPr>
            <a:r>
              <a:rPr b="1" i="0" lang="en-US" sz="3000" u="none">
                <a:solidFill>
                  <a:schemeClr val="lt1"/>
                </a:solidFill>
                <a:latin typeface="Arial"/>
                <a:ea typeface="Arial"/>
                <a:cs typeface="Arial"/>
                <a:sym typeface="Arial"/>
              </a:rPr>
              <a:t>Les modèles de spécification de l’IHM</a:t>
            </a:r>
            <a:endParaRPr/>
          </a:p>
        </p:txBody>
      </p:sp>
      <p:sp>
        <p:nvSpPr>
          <p:cNvPr id="652" name="Google Shape;652;p35"/>
          <p:cNvSpPr txBox="1"/>
          <p:nvPr/>
        </p:nvSpPr>
        <p:spPr>
          <a:xfrm>
            <a:off x="152400" y="2195512"/>
            <a:ext cx="2963862"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500"/>
              <a:buFont typeface="Times New Roman"/>
              <a:buNone/>
            </a:pPr>
            <a:r>
              <a:rPr b="0" i="0" lang="en-US" sz="1500" u="none">
                <a:solidFill>
                  <a:schemeClr val="dk1"/>
                </a:solidFill>
                <a:latin typeface="Times New Roman"/>
                <a:ea typeface="Times New Roman"/>
                <a:cs typeface="Times New Roman"/>
                <a:sym typeface="Times New Roman"/>
              </a:rPr>
              <a:t>Exemple :Enregistrement d’un adhérent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36"/>
          <p:cNvSpPr txBox="1"/>
          <p:nvPr>
            <p:ph type="title"/>
          </p:nvPr>
        </p:nvSpPr>
        <p:spPr>
          <a:xfrm>
            <a:off x="112712" y="1763712"/>
            <a:ext cx="5888037" cy="603250"/>
          </a:xfrm>
          <a:prstGeom prst="rect">
            <a:avLst/>
          </a:prstGeom>
          <a:noFill/>
          <a:ln>
            <a:noFill/>
          </a:ln>
        </p:spPr>
        <p:txBody>
          <a:bodyPr anchorCtr="0" anchor="ctr" bIns="45700" lIns="91425" spcFirstLastPara="1" rIns="91425" wrap="square" tIns="45700">
            <a:normAutofit/>
          </a:bodyPr>
          <a:lstStyle/>
          <a:p>
            <a:pPr indent="-257175" lvl="0" marL="257175" rtl="0" algn="ctr">
              <a:lnSpc>
                <a:spcPct val="100000"/>
              </a:lnSpc>
              <a:spcBef>
                <a:spcPts val="0"/>
              </a:spcBef>
              <a:spcAft>
                <a:spcPts val="0"/>
              </a:spcAft>
              <a:buClr>
                <a:srgbClr val="000000"/>
              </a:buClr>
              <a:buSzPts val="1800"/>
              <a:buFont typeface="Noto Sans Symbols"/>
              <a:buChar char="⮚"/>
            </a:pPr>
            <a:r>
              <a:rPr b="1" i="0" lang="en-US" sz="1800" u="sng">
                <a:solidFill>
                  <a:srgbClr val="000000"/>
                </a:solidFill>
                <a:latin typeface="Times New Roman"/>
                <a:ea typeface="Times New Roman"/>
                <a:cs typeface="Times New Roman"/>
                <a:sym typeface="Times New Roman"/>
              </a:rPr>
              <a:t>Modélisation de la présentation</a:t>
            </a:r>
            <a:endParaRPr/>
          </a:p>
        </p:txBody>
      </p:sp>
      <p:sp>
        <p:nvSpPr>
          <p:cNvPr id="658" name="Google Shape;658;p36"/>
          <p:cNvSpPr txBox="1"/>
          <p:nvPr>
            <p:ph idx="1" type="body"/>
          </p:nvPr>
        </p:nvSpPr>
        <p:spPr>
          <a:xfrm>
            <a:off x="265112" y="2405062"/>
            <a:ext cx="3575050" cy="1606550"/>
          </a:xfrm>
          <a:prstGeom prst="rect">
            <a:avLst/>
          </a:prstGeom>
          <a:noFill/>
          <a:ln>
            <a:noFill/>
          </a:ln>
        </p:spPr>
        <p:txBody>
          <a:bodyPr anchorCtr="0" anchor="t" bIns="45700" lIns="91425" spcFirstLastPara="1" rIns="91425" wrap="square" tIns="45700">
            <a:noAutofit/>
          </a:bodyPr>
          <a:lstStyle/>
          <a:p>
            <a:pPr indent="0" lvl="0" marL="0" marR="0" rtl="0" algn="just">
              <a:lnSpc>
                <a:spcPct val="170000"/>
              </a:lnSpc>
              <a:spcBef>
                <a:spcPts val="0"/>
              </a:spcBef>
              <a:spcAft>
                <a:spcPts val="0"/>
              </a:spcAft>
              <a:buClr>
                <a:schemeClr val="dk1"/>
              </a:buClr>
              <a:buSzPts val="1500"/>
              <a:buFont typeface="Times New Roman"/>
              <a:buNone/>
            </a:pPr>
            <a:r>
              <a:rPr b="0" i="0" lang="en-US" sz="1500" u="none" cap="none" strike="noStrike">
                <a:solidFill>
                  <a:schemeClr val="dk1"/>
                </a:solidFill>
                <a:latin typeface="Times New Roman"/>
                <a:ea typeface="Times New Roman"/>
                <a:cs typeface="Times New Roman"/>
                <a:sym typeface="Times New Roman"/>
              </a:rPr>
              <a:t>La présentation permet de spécifier la vue statique abstraite de l’IHM correspondant au modèle du dialogue en utilisant des composants de dialogue.</a:t>
            </a:r>
            <a:endParaRPr/>
          </a:p>
        </p:txBody>
      </p:sp>
      <p:pic>
        <p:nvPicPr>
          <p:cNvPr id="659" name="Google Shape;659;p36"/>
          <p:cNvPicPr preferRelativeResize="0"/>
          <p:nvPr/>
        </p:nvPicPr>
        <p:blipFill rotWithShape="1">
          <a:blip r:embed="rId3">
            <a:alphaModFix/>
          </a:blip>
          <a:srcRect b="0" l="0" r="0" t="0"/>
          <a:stretch/>
        </p:blipFill>
        <p:spPr>
          <a:xfrm>
            <a:off x="4064000" y="1763712"/>
            <a:ext cx="4926012" cy="3894137"/>
          </a:xfrm>
          <a:prstGeom prst="rect">
            <a:avLst/>
          </a:prstGeom>
          <a:noFill/>
          <a:ln>
            <a:noFill/>
          </a:ln>
        </p:spPr>
      </p:pic>
      <p:sp>
        <p:nvSpPr>
          <p:cNvPr id="660" name="Google Shape;660;p36"/>
          <p:cNvSpPr txBox="1"/>
          <p:nvPr/>
        </p:nvSpPr>
        <p:spPr>
          <a:xfrm>
            <a:off x="0" y="985837"/>
            <a:ext cx="7113587"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000"/>
              <a:buFont typeface="Arial"/>
              <a:buNone/>
            </a:pPr>
            <a:r>
              <a:rPr b="1" i="0" lang="en-US" sz="3000" u="none">
                <a:solidFill>
                  <a:schemeClr val="lt1"/>
                </a:solidFill>
                <a:latin typeface="Arial"/>
                <a:ea typeface="Arial"/>
                <a:cs typeface="Arial"/>
                <a:sym typeface="Arial"/>
              </a:rPr>
              <a:t>Les modèles de spécification de l’IHM</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37"/>
          <p:cNvSpPr txBox="1"/>
          <p:nvPr>
            <p:ph type="title"/>
          </p:nvPr>
        </p:nvSpPr>
        <p:spPr>
          <a:xfrm>
            <a:off x="473075" y="2184400"/>
            <a:ext cx="7886700" cy="5048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500"/>
              <a:buFont typeface="Times New Roman"/>
              <a:buNone/>
            </a:pPr>
            <a:r>
              <a:rPr b="0" i="0" lang="en-US" sz="1500" u="none">
                <a:solidFill>
                  <a:schemeClr val="dk1"/>
                </a:solidFill>
                <a:latin typeface="Times New Roman"/>
                <a:ea typeface="Times New Roman"/>
                <a:cs typeface="Times New Roman"/>
                <a:sym typeface="Times New Roman"/>
              </a:rPr>
              <a:t>Unité de présentation</a:t>
            </a:r>
            <a:endParaRPr/>
          </a:p>
        </p:txBody>
      </p:sp>
      <p:pic>
        <p:nvPicPr>
          <p:cNvPr id="666" name="Google Shape;666;p37"/>
          <p:cNvPicPr preferRelativeResize="0"/>
          <p:nvPr>
            <p:ph idx="1" type="body"/>
          </p:nvPr>
        </p:nvPicPr>
        <p:blipFill rotWithShape="1">
          <a:blip r:embed="rId3">
            <a:alphaModFix/>
          </a:blip>
          <a:srcRect b="0" l="0" r="0" t="0"/>
          <a:stretch/>
        </p:blipFill>
        <p:spPr>
          <a:xfrm>
            <a:off x="2000250" y="2705100"/>
            <a:ext cx="4527550" cy="2960687"/>
          </a:xfrm>
          <a:prstGeom prst="rect">
            <a:avLst/>
          </a:prstGeom>
          <a:noFill/>
          <a:ln>
            <a:noFill/>
          </a:ln>
        </p:spPr>
      </p:pic>
      <p:sp>
        <p:nvSpPr>
          <p:cNvPr id="667" name="Google Shape;667;p37"/>
          <p:cNvSpPr txBox="1"/>
          <p:nvPr/>
        </p:nvSpPr>
        <p:spPr>
          <a:xfrm>
            <a:off x="112712" y="1763712"/>
            <a:ext cx="5888037" cy="603250"/>
          </a:xfrm>
          <a:prstGeom prst="rect">
            <a:avLst/>
          </a:prstGeom>
          <a:noFill/>
          <a:ln>
            <a:noFill/>
          </a:ln>
        </p:spPr>
        <p:txBody>
          <a:bodyPr anchorCtr="0" anchor="ctr" bIns="34275" lIns="68575" spcFirstLastPara="1" rIns="68575" wrap="square" tIns="34275">
            <a:normAutofit/>
          </a:bodyPr>
          <a:lstStyle/>
          <a:p>
            <a:pPr indent="-257175" lvl="0" marL="257175" marR="0" rtl="0" algn="l">
              <a:lnSpc>
                <a:spcPct val="90000"/>
              </a:lnSpc>
              <a:spcBef>
                <a:spcPts val="0"/>
              </a:spcBef>
              <a:spcAft>
                <a:spcPts val="0"/>
              </a:spcAft>
              <a:buClr>
                <a:srgbClr val="000000"/>
              </a:buClr>
              <a:buSzPts val="1800"/>
              <a:buFont typeface="Noto Sans Symbols"/>
              <a:buChar char="⮚"/>
            </a:pPr>
            <a:r>
              <a:rPr b="1" i="0" lang="en-US" sz="1800" u="sng">
                <a:solidFill>
                  <a:srgbClr val="000000"/>
                </a:solidFill>
                <a:latin typeface="Times New Roman"/>
                <a:ea typeface="Times New Roman"/>
                <a:cs typeface="Times New Roman"/>
                <a:sym typeface="Times New Roman"/>
              </a:rPr>
              <a:t>Modélisation de la présentation</a:t>
            </a:r>
            <a:endParaRPr/>
          </a:p>
        </p:txBody>
      </p:sp>
      <p:sp>
        <p:nvSpPr>
          <p:cNvPr id="668" name="Google Shape;668;p37"/>
          <p:cNvSpPr txBox="1"/>
          <p:nvPr/>
        </p:nvSpPr>
        <p:spPr>
          <a:xfrm>
            <a:off x="0" y="985837"/>
            <a:ext cx="7113587"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000"/>
              <a:buFont typeface="Arial"/>
              <a:buNone/>
            </a:pPr>
            <a:r>
              <a:rPr b="1" i="0" lang="en-US" sz="3000" u="none">
                <a:solidFill>
                  <a:schemeClr val="lt1"/>
                </a:solidFill>
                <a:latin typeface="Arial"/>
                <a:ea typeface="Arial"/>
                <a:cs typeface="Arial"/>
                <a:sym typeface="Arial"/>
              </a:rPr>
              <a:t>Les modèles de spécification de l’IHM</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38"/>
          <p:cNvSpPr txBox="1"/>
          <p:nvPr>
            <p:ph type="title"/>
          </p:nvPr>
        </p:nvSpPr>
        <p:spPr>
          <a:xfrm>
            <a:off x="373062" y="2270125"/>
            <a:ext cx="3138487" cy="5048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Détermination des sous-unités</a:t>
            </a:r>
            <a:endParaRPr/>
          </a:p>
        </p:txBody>
      </p:sp>
      <p:pic>
        <p:nvPicPr>
          <p:cNvPr id="674" name="Google Shape;674;p38"/>
          <p:cNvPicPr preferRelativeResize="0"/>
          <p:nvPr/>
        </p:nvPicPr>
        <p:blipFill rotWithShape="1">
          <a:blip r:embed="rId3">
            <a:alphaModFix/>
          </a:blip>
          <a:srcRect b="0" l="0" r="0" t="0"/>
          <a:stretch/>
        </p:blipFill>
        <p:spPr>
          <a:xfrm>
            <a:off x="3676650" y="1828800"/>
            <a:ext cx="5087937" cy="3844925"/>
          </a:xfrm>
          <a:prstGeom prst="rect">
            <a:avLst/>
          </a:prstGeom>
          <a:noFill/>
          <a:ln>
            <a:noFill/>
          </a:ln>
        </p:spPr>
      </p:pic>
      <p:sp>
        <p:nvSpPr>
          <p:cNvPr id="675" name="Google Shape;675;p38"/>
          <p:cNvSpPr txBox="1"/>
          <p:nvPr/>
        </p:nvSpPr>
        <p:spPr>
          <a:xfrm>
            <a:off x="0" y="1660525"/>
            <a:ext cx="5888037" cy="603250"/>
          </a:xfrm>
          <a:prstGeom prst="rect">
            <a:avLst/>
          </a:prstGeom>
          <a:noFill/>
          <a:ln>
            <a:noFill/>
          </a:ln>
        </p:spPr>
        <p:txBody>
          <a:bodyPr anchorCtr="0" anchor="ctr" bIns="34275" lIns="68575" spcFirstLastPara="1" rIns="68575" wrap="square" tIns="34275">
            <a:normAutofit/>
          </a:bodyPr>
          <a:lstStyle/>
          <a:p>
            <a:pPr indent="-257175" lvl="0" marL="257175" marR="0" rtl="0" algn="l">
              <a:lnSpc>
                <a:spcPct val="90000"/>
              </a:lnSpc>
              <a:spcBef>
                <a:spcPts val="0"/>
              </a:spcBef>
              <a:spcAft>
                <a:spcPts val="0"/>
              </a:spcAft>
              <a:buClr>
                <a:srgbClr val="000000"/>
              </a:buClr>
              <a:buSzPts val="1800"/>
              <a:buFont typeface="Noto Sans Symbols"/>
              <a:buChar char="⮚"/>
            </a:pPr>
            <a:r>
              <a:rPr b="1" i="0" lang="en-US" sz="1800" u="sng">
                <a:solidFill>
                  <a:srgbClr val="000000"/>
                </a:solidFill>
                <a:latin typeface="Times New Roman"/>
                <a:ea typeface="Times New Roman"/>
                <a:cs typeface="Times New Roman"/>
                <a:sym typeface="Times New Roman"/>
              </a:rPr>
              <a:t>Modélisation de la présentation</a:t>
            </a:r>
            <a:endParaRPr/>
          </a:p>
        </p:txBody>
      </p:sp>
      <p:sp>
        <p:nvSpPr>
          <p:cNvPr id="676" name="Google Shape;676;p38"/>
          <p:cNvSpPr txBox="1"/>
          <p:nvPr/>
        </p:nvSpPr>
        <p:spPr>
          <a:xfrm>
            <a:off x="0" y="985837"/>
            <a:ext cx="7113587"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000"/>
              <a:buFont typeface="Arial"/>
              <a:buNone/>
            </a:pPr>
            <a:r>
              <a:rPr b="1" i="0" lang="en-US" sz="3000" u="none">
                <a:solidFill>
                  <a:schemeClr val="lt1"/>
                </a:solidFill>
                <a:latin typeface="Arial"/>
                <a:ea typeface="Arial"/>
                <a:cs typeface="Arial"/>
                <a:sym typeface="Arial"/>
              </a:rPr>
              <a:t>Les modèles de spécification de l’IHM</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39"/>
          <p:cNvSpPr txBox="1"/>
          <p:nvPr>
            <p:ph type="title"/>
          </p:nvPr>
        </p:nvSpPr>
        <p:spPr>
          <a:xfrm>
            <a:off x="166687" y="1862137"/>
            <a:ext cx="7886700" cy="504825"/>
          </a:xfrm>
          <a:prstGeom prst="rect">
            <a:avLst/>
          </a:prstGeom>
          <a:noFill/>
          <a:ln>
            <a:noFill/>
          </a:ln>
        </p:spPr>
        <p:txBody>
          <a:bodyPr anchorCtr="0" anchor="ctr" bIns="45700" lIns="91425" spcFirstLastPara="1" rIns="91425" wrap="square" tIns="45700">
            <a:normAutofit/>
          </a:bodyPr>
          <a:lstStyle/>
          <a:p>
            <a:pPr indent="-257175" lvl="0" marL="257175" rtl="0" algn="ctr">
              <a:lnSpc>
                <a:spcPct val="100000"/>
              </a:lnSpc>
              <a:spcBef>
                <a:spcPts val="0"/>
              </a:spcBef>
              <a:spcAft>
                <a:spcPts val="0"/>
              </a:spcAft>
              <a:buClr>
                <a:srgbClr val="000000"/>
              </a:buClr>
              <a:buSzPts val="1800"/>
              <a:buFont typeface="Noto Sans Symbols"/>
              <a:buChar char="⮚"/>
            </a:pPr>
            <a:r>
              <a:rPr b="1" i="0" lang="en-US" sz="1800" u="sng">
                <a:solidFill>
                  <a:srgbClr val="000000"/>
                </a:solidFill>
                <a:latin typeface="Times New Roman"/>
                <a:ea typeface="Times New Roman"/>
                <a:cs typeface="Times New Roman"/>
                <a:sym typeface="Times New Roman"/>
              </a:rPr>
              <a:t>Composant de dialogue: Les composants de commande</a:t>
            </a:r>
            <a:endParaRPr/>
          </a:p>
        </p:txBody>
      </p:sp>
      <p:sp>
        <p:nvSpPr>
          <p:cNvPr id="682" name="Google Shape;682;p39"/>
          <p:cNvSpPr txBox="1"/>
          <p:nvPr>
            <p:ph idx="1" type="body"/>
          </p:nvPr>
        </p:nvSpPr>
        <p:spPr>
          <a:xfrm>
            <a:off x="463550" y="2497137"/>
            <a:ext cx="7886700" cy="7651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500"/>
              <a:buFont typeface="Times New Roman"/>
              <a:buNone/>
            </a:pPr>
            <a:r>
              <a:rPr b="0" i="0" lang="en-US" sz="1500" u="none" cap="none" strike="noStrike">
                <a:solidFill>
                  <a:schemeClr val="dk1"/>
                </a:solidFill>
                <a:latin typeface="Times New Roman"/>
                <a:ea typeface="Times New Roman"/>
                <a:cs typeface="Times New Roman"/>
                <a:sym typeface="Times New Roman"/>
              </a:rPr>
              <a:t>Un composant de commande exprime le besoin de fournir à l’utilisateur un moyen de déclencher explicitement une procédure du noyau fonctionnel.</a:t>
            </a:r>
            <a:endParaRPr/>
          </a:p>
          <a:p>
            <a:pPr indent="-247650" lvl="0" marL="342900" marR="0" rtl="0" algn="l">
              <a:spcBef>
                <a:spcPts val="300"/>
              </a:spcBef>
              <a:spcAft>
                <a:spcPts val="0"/>
              </a:spcAft>
              <a:buClr>
                <a:schemeClr val="dk1"/>
              </a:buClr>
              <a:buSzPts val="1500"/>
              <a:buFont typeface="Arial"/>
              <a:buNone/>
            </a:pPr>
            <a:r>
              <a:t/>
            </a:r>
            <a:endParaRPr b="0" i="0" sz="1500" u="none">
              <a:solidFill>
                <a:schemeClr val="dk1"/>
              </a:solidFill>
              <a:latin typeface="Times New Roman"/>
              <a:ea typeface="Times New Roman"/>
              <a:cs typeface="Times New Roman"/>
              <a:sym typeface="Times New Roman"/>
            </a:endParaRPr>
          </a:p>
        </p:txBody>
      </p:sp>
      <p:pic>
        <p:nvPicPr>
          <p:cNvPr id="683" name="Google Shape;683;p39"/>
          <p:cNvPicPr preferRelativeResize="0"/>
          <p:nvPr/>
        </p:nvPicPr>
        <p:blipFill rotWithShape="1">
          <a:blip r:embed="rId3">
            <a:alphaModFix/>
          </a:blip>
          <a:srcRect b="0" l="0" r="0" t="0"/>
          <a:stretch/>
        </p:blipFill>
        <p:spPr>
          <a:xfrm>
            <a:off x="1919287" y="3262312"/>
            <a:ext cx="4608512" cy="2130425"/>
          </a:xfrm>
          <a:prstGeom prst="rect">
            <a:avLst/>
          </a:prstGeom>
          <a:noFill/>
          <a:ln>
            <a:noFill/>
          </a:ln>
        </p:spPr>
      </p:pic>
      <p:sp>
        <p:nvSpPr>
          <p:cNvPr id="684" name="Google Shape;684;p39"/>
          <p:cNvSpPr txBox="1"/>
          <p:nvPr/>
        </p:nvSpPr>
        <p:spPr>
          <a:xfrm>
            <a:off x="66675" y="1001712"/>
            <a:ext cx="7112000"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000"/>
              <a:buFont typeface="Arial"/>
              <a:buNone/>
            </a:pPr>
            <a:r>
              <a:rPr b="1" i="0" lang="en-US" sz="3000" u="none">
                <a:solidFill>
                  <a:schemeClr val="lt1"/>
                </a:solidFill>
                <a:latin typeface="Arial"/>
                <a:ea typeface="Arial"/>
                <a:cs typeface="Arial"/>
                <a:sym typeface="Arial"/>
              </a:rPr>
              <a:t>Les modèles de spécification de l’IHM</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40"/>
          <p:cNvSpPr txBox="1"/>
          <p:nvPr>
            <p:ph type="title"/>
          </p:nvPr>
        </p:nvSpPr>
        <p:spPr>
          <a:xfrm>
            <a:off x="247650" y="1766887"/>
            <a:ext cx="7886700" cy="504825"/>
          </a:xfrm>
          <a:prstGeom prst="rect">
            <a:avLst/>
          </a:prstGeom>
          <a:noFill/>
          <a:ln>
            <a:noFill/>
          </a:ln>
        </p:spPr>
        <p:txBody>
          <a:bodyPr anchorCtr="0" anchor="ctr" bIns="45700" lIns="91425" spcFirstLastPara="1" rIns="91425" wrap="square" tIns="45700">
            <a:normAutofit/>
          </a:bodyPr>
          <a:lstStyle/>
          <a:p>
            <a:pPr indent="-257175" lvl="0" marL="257175" rtl="0" algn="ctr">
              <a:lnSpc>
                <a:spcPct val="100000"/>
              </a:lnSpc>
              <a:spcBef>
                <a:spcPts val="0"/>
              </a:spcBef>
              <a:spcAft>
                <a:spcPts val="0"/>
              </a:spcAft>
              <a:buClr>
                <a:srgbClr val="000000"/>
              </a:buClr>
              <a:buSzPts val="1800"/>
              <a:buFont typeface="Noto Sans Symbols"/>
              <a:buChar char="⮚"/>
            </a:pPr>
            <a:r>
              <a:rPr b="1" i="0" lang="en-US" sz="1800" u="sng">
                <a:solidFill>
                  <a:srgbClr val="000000"/>
                </a:solidFill>
                <a:latin typeface="Times New Roman"/>
                <a:ea typeface="Times New Roman"/>
                <a:cs typeface="Times New Roman"/>
                <a:sym typeface="Times New Roman"/>
              </a:rPr>
              <a:t>Composant de dialogue: Le composant point d’entrée</a:t>
            </a:r>
            <a:endParaRPr/>
          </a:p>
        </p:txBody>
      </p:sp>
      <p:sp>
        <p:nvSpPr>
          <p:cNvPr id="690" name="Google Shape;690;p40"/>
          <p:cNvSpPr txBox="1"/>
          <p:nvPr>
            <p:ph idx="1" type="body"/>
          </p:nvPr>
        </p:nvSpPr>
        <p:spPr>
          <a:xfrm>
            <a:off x="446087" y="2505075"/>
            <a:ext cx="7886700" cy="19542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500"/>
              <a:buFont typeface="Times New Roman"/>
              <a:buNone/>
            </a:pPr>
            <a:r>
              <a:rPr b="0" i="0" lang="en-US" sz="1500" u="none">
                <a:solidFill>
                  <a:schemeClr val="dk1"/>
                </a:solidFill>
                <a:latin typeface="Times New Roman"/>
                <a:ea typeface="Times New Roman"/>
                <a:cs typeface="Times New Roman"/>
                <a:sym typeface="Times New Roman"/>
              </a:rPr>
              <a:t>Il permet de:</a:t>
            </a:r>
            <a:endParaRPr/>
          </a:p>
          <a:p>
            <a:pPr indent="-285750" lvl="1" marL="742950" marR="0" rtl="0" algn="l">
              <a:lnSpc>
                <a:spcPct val="150000"/>
              </a:lnSpc>
              <a:spcBef>
                <a:spcPts val="300"/>
              </a:spcBef>
              <a:spcAft>
                <a:spcPts val="0"/>
              </a:spcAft>
              <a:buClr>
                <a:schemeClr val="dk1"/>
              </a:buClr>
              <a:buSzPts val="1500"/>
              <a:buFont typeface="Noto Sans Symbols"/>
              <a:buChar char="⮚"/>
            </a:pPr>
            <a:r>
              <a:rPr b="0" i="0" lang="en-US" sz="1500" u="none" cap="none" strike="noStrike">
                <a:solidFill>
                  <a:schemeClr val="dk1"/>
                </a:solidFill>
                <a:latin typeface="Times New Roman"/>
                <a:ea typeface="Times New Roman"/>
                <a:cs typeface="Times New Roman"/>
                <a:sym typeface="Times New Roman"/>
              </a:rPr>
              <a:t>exprimer le besoin de fournir à l’utilisateur un moyen d’accès à une unité de présentation correspondant à un cas d’utilisation de l'application</a:t>
            </a:r>
            <a:endParaRPr/>
          </a:p>
          <a:p>
            <a:pPr indent="-285750" lvl="1" marL="742950" marR="0" rtl="0" algn="l">
              <a:lnSpc>
                <a:spcPct val="150000"/>
              </a:lnSpc>
              <a:spcBef>
                <a:spcPts val="300"/>
              </a:spcBef>
              <a:spcAft>
                <a:spcPts val="0"/>
              </a:spcAft>
              <a:buClr>
                <a:schemeClr val="dk1"/>
              </a:buClr>
              <a:buSzPts val="1500"/>
              <a:buFont typeface="Noto Sans Symbols"/>
              <a:buChar char="⮚"/>
            </a:pPr>
            <a:r>
              <a:rPr b="0" i="0" lang="en-US" sz="1500" u="none" cap="none" strike="noStrike">
                <a:solidFill>
                  <a:schemeClr val="dk1"/>
                </a:solidFill>
                <a:latin typeface="Times New Roman"/>
                <a:ea typeface="Times New Roman"/>
                <a:cs typeface="Times New Roman"/>
                <a:sym typeface="Times New Roman"/>
              </a:rPr>
              <a:t> correspond à un premier message d’un modèle de dialogue</a:t>
            </a:r>
            <a:endParaRPr/>
          </a:p>
          <a:p>
            <a:pPr indent="-285750" lvl="1" marL="742950" marR="0" rtl="0" algn="l">
              <a:lnSpc>
                <a:spcPct val="150000"/>
              </a:lnSpc>
              <a:spcBef>
                <a:spcPts val="300"/>
              </a:spcBef>
              <a:spcAft>
                <a:spcPts val="0"/>
              </a:spcAft>
              <a:buClr>
                <a:schemeClr val="dk1"/>
              </a:buClr>
              <a:buSzPts val="1500"/>
              <a:buFont typeface="Noto Sans Symbols"/>
              <a:buChar char="⮚"/>
            </a:pPr>
            <a:r>
              <a:rPr b="0" i="0" lang="en-US" sz="1500" u="none" cap="none" strike="noStrike">
                <a:solidFill>
                  <a:schemeClr val="dk1"/>
                </a:solidFill>
                <a:latin typeface="Times New Roman"/>
                <a:ea typeface="Times New Roman"/>
                <a:cs typeface="Times New Roman"/>
                <a:sym typeface="Times New Roman"/>
              </a:rPr>
              <a:t> déclenche éventuellement une procédure du noyau fonctionnel.</a:t>
            </a:r>
            <a:endParaRPr/>
          </a:p>
        </p:txBody>
      </p:sp>
      <p:sp>
        <p:nvSpPr>
          <p:cNvPr id="691" name="Google Shape;691;p40"/>
          <p:cNvSpPr txBox="1"/>
          <p:nvPr/>
        </p:nvSpPr>
        <p:spPr>
          <a:xfrm>
            <a:off x="66675" y="1001712"/>
            <a:ext cx="7112000"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000"/>
              <a:buFont typeface="Arial"/>
              <a:buNone/>
            </a:pPr>
            <a:r>
              <a:rPr b="1" i="0" lang="en-US" sz="3000" u="none">
                <a:solidFill>
                  <a:schemeClr val="lt1"/>
                </a:solidFill>
                <a:latin typeface="Arial"/>
                <a:ea typeface="Arial"/>
                <a:cs typeface="Arial"/>
                <a:sym typeface="Arial"/>
              </a:rPr>
              <a:t>Les modèles de spécification de l’IHM</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41"/>
          <p:cNvSpPr txBox="1"/>
          <p:nvPr>
            <p:ph type="title"/>
          </p:nvPr>
        </p:nvSpPr>
        <p:spPr>
          <a:xfrm>
            <a:off x="320675" y="1727200"/>
            <a:ext cx="7886700" cy="504825"/>
          </a:xfrm>
          <a:prstGeom prst="rect">
            <a:avLst/>
          </a:prstGeom>
          <a:noFill/>
          <a:ln>
            <a:noFill/>
          </a:ln>
        </p:spPr>
        <p:txBody>
          <a:bodyPr anchorCtr="0" anchor="ctr" bIns="45700" lIns="91425" spcFirstLastPara="1" rIns="91425" wrap="square" tIns="45700">
            <a:normAutofit/>
          </a:bodyPr>
          <a:lstStyle/>
          <a:p>
            <a:pPr indent="-257175" lvl="0" marL="257175" rtl="0" algn="ctr">
              <a:lnSpc>
                <a:spcPct val="100000"/>
              </a:lnSpc>
              <a:spcBef>
                <a:spcPts val="0"/>
              </a:spcBef>
              <a:spcAft>
                <a:spcPts val="0"/>
              </a:spcAft>
              <a:buClr>
                <a:srgbClr val="000000"/>
              </a:buClr>
              <a:buSzPts val="1800"/>
              <a:buFont typeface="Noto Sans Symbols"/>
              <a:buChar char="⮚"/>
            </a:pPr>
            <a:r>
              <a:rPr b="1" i="0" lang="en-US" sz="1800" u="sng">
                <a:solidFill>
                  <a:srgbClr val="000000"/>
                </a:solidFill>
                <a:latin typeface="Times New Roman"/>
                <a:ea typeface="Times New Roman"/>
                <a:cs typeface="Times New Roman"/>
                <a:sym typeface="Times New Roman"/>
              </a:rPr>
              <a:t>Composant de dialogue: Les composants d'affichage</a:t>
            </a:r>
            <a:endParaRPr/>
          </a:p>
        </p:txBody>
      </p:sp>
      <p:sp>
        <p:nvSpPr>
          <p:cNvPr id="697" name="Google Shape;697;p41"/>
          <p:cNvSpPr txBox="1"/>
          <p:nvPr>
            <p:ph idx="1" type="body"/>
          </p:nvPr>
        </p:nvSpPr>
        <p:spPr>
          <a:xfrm>
            <a:off x="396875" y="2159000"/>
            <a:ext cx="7270750" cy="698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500"/>
              <a:buFont typeface="Times New Roman"/>
              <a:buNone/>
            </a:pPr>
            <a:r>
              <a:rPr b="0" i="0" lang="en-US" sz="1500" u="none">
                <a:solidFill>
                  <a:schemeClr val="dk1"/>
                </a:solidFill>
                <a:latin typeface="Times New Roman"/>
                <a:ea typeface="Times New Roman"/>
                <a:cs typeface="Times New Roman"/>
                <a:sym typeface="Times New Roman"/>
              </a:rPr>
              <a:t>Un composant d’affichage exprime le besoin d’afficher a l’utilisateur des libelles, des valeurs textuelles ou numériques et des messages</a:t>
            </a:r>
            <a:r>
              <a:rPr b="0" i="0" lang="en-US" sz="1500" u="none">
                <a:solidFill>
                  <a:schemeClr val="dk1"/>
                </a:solidFill>
                <a:latin typeface="Arial"/>
                <a:ea typeface="Arial"/>
                <a:cs typeface="Arial"/>
                <a:sym typeface="Arial"/>
              </a:rPr>
              <a:t>.</a:t>
            </a:r>
            <a:endParaRPr/>
          </a:p>
          <a:p>
            <a:pPr indent="-247650" lvl="0" marL="342900" marR="0" rtl="0" algn="l">
              <a:spcBef>
                <a:spcPts val="300"/>
              </a:spcBef>
              <a:spcAft>
                <a:spcPts val="0"/>
              </a:spcAft>
              <a:buClr>
                <a:schemeClr val="dk1"/>
              </a:buClr>
              <a:buSzPts val="1500"/>
              <a:buFont typeface="Arial"/>
              <a:buNone/>
            </a:pPr>
            <a:r>
              <a:t/>
            </a:r>
            <a:endParaRPr b="0" i="0" sz="1500" u="none">
              <a:solidFill>
                <a:schemeClr val="dk1"/>
              </a:solidFill>
              <a:latin typeface="Arial"/>
              <a:ea typeface="Arial"/>
              <a:cs typeface="Arial"/>
              <a:sym typeface="Arial"/>
            </a:endParaRPr>
          </a:p>
        </p:txBody>
      </p:sp>
      <p:pic>
        <p:nvPicPr>
          <p:cNvPr id="698" name="Google Shape;698;p41"/>
          <p:cNvPicPr preferRelativeResize="0"/>
          <p:nvPr/>
        </p:nvPicPr>
        <p:blipFill rotWithShape="1">
          <a:blip r:embed="rId3">
            <a:alphaModFix/>
          </a:blip>
          <a:srcRect b="0" l="0" r="0" t="0"/>
          <a:stretch/>
        </p:blipFill>
        <p:spPr>
          <a:xfrm>
            <a:off x="1882775" y="2782887"/>
            <a:ext cx="4762500" cy="2538412"/>
          </a:xfrm>
          <a:prstGeom prst="rect">
            <a:avLst/>
          </a:prstGeom>
          <a:noFill/>
          <a:ln>
            <a:noFill/>
          </a:ln>
        </p:spPr>
      </p:pic>
      <p:sp>
        <p:nvSpPr>
          <p:cNvPr id="699" name="Google Shape;699;p41"/>
          <p:cNvSpPr txBox="1"/>
          <p:nvPr/>
        </p:nvSpPr>
        <p:spPr>
          <a:xfrm>
            <a:off x="66675" y="1001712"/>
            <a:ext cx="7112000"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000"/>
              <a:buFont typeface="Arial"/>
              <a:buNone/>
            </a:pPr>
            <a:r>
              <a:rPr b="1" i="0" lang="en-US" sz="3000" u="none">
                <a:solidFill>
                  <a:schemeClr val="lt1"/>
                </a:solidFill>
                <a:latin typeface="Arial"/>
                <a:ea typeface="Arial"/>
                <a:cs typeface="Arial"/>
                <a:sym typeface="Arial"/>
              </a:rPr>
              <a:t>Les modèles de spécification de l’IHM</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42"/>
          <p:cNvSpPr txBox="1"/>
          <p:nvPr>
            <p:ph type="title"/>
          </p:nvPr>
        </p:nvSpPr>
        <p:spPr>
          <a:xfrm>
            <a:off x="312737" y="1662112"/>
            <a:ext cx="7886700" cy="504825"/>
          </a:xfrm>
          <a:prstGeom prst="rect">
            <a:avLst/>
          </a:prstGeom>
          <a:noFill/>
          <a:ln>
            <a:noFill/>
          </a:ln>
        </p:spPr>
        <p:txBody>
          <a:bodyPr anchorCtr="0" anchor="ctr" bIns="45700" lIns="91425" spcFirstLastPara="1" rIns="91425" wrap="square" tIns="45700">
            <a:normAutofit/>
          </a:bodyPr>
          <a:lstStyle/>
          <a:p>
            <a:pPr indent="-257175" lvl="0" marL="257175" rtl="0" algn="ctr">
              <a:lnSpc>
                <a:spcPct val="100000"/>
              </a:lnSpc>
              <a:spcBef>
                <a:spcPts val="0"/>
              </a:spcBef>
              <a:spcAft>
                <a:spcPts val="0"/>
              </a:spcAft>
              <a:buClr>
                <a:srgbClr val="000000"/>
              </a:buClr>
              <a:buSzPts val="1800"/>
              <a:buFont typeface="Noto Sans Symbols"/>
              <a:buChar char="⮚"/>
            </a:pPr>
            <a:r>
              <a:rPr b="1" i="0" lang="en-US" sz="1800" u="sng">
                <a:solidFill>
                  <a:srgbClr val="000000"/>
                </a:solidFill>
                <a:latin typeface="Times New Roman"/>
                <a:ea typeface="Times New Roman"/>
                <a:cs typeface="Times New Roman"/>
                <a:sym typeface="Times New Roman"/>
              </a:rPr>
              <a:t>Composant de dialogue:  composants de saisie</a:t>
            </a:r>
            <a:endParaRPr/>
          </a:p>
        </p:txBody>
      </p:sp>
      <p:sp>
        <p:nvSpPr>
          <p:cNvPr id="705" name="Google Shape;705;p42"/>
          <p:cNvSpPr txBox="1"/>
          <p:nvPr>
            <p:ph idx="1" type="body"/>
          </p:nvPr>
        </p:nvSpPr>
        <p:spPr>
          <a:xfrm>
            <a:off x="312737" y="2114550"/>
            <a:ext cx="8437562" cy="784225"/>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500"/>
              <a:buFont typeface="Times New Roman"/>
              <a:buNone/>
            </a:pPr>
            <a:r>
              <a:rPr b="0" i="0" lang="en-US" sz="1500" u="none">
                <a:solidFill>
                  <a:schemeClr val="dk1"/>
                </a:solidFill>
                <a:latin typeface="Times New Roman"/>
                <a:ea typeface="Times New Roman"/>
                <a:cs typeface="Times New Roman"/>
                <a:sym typeface="Times New Roman"/>
              </a:rPr>
              <a:t>Un composant de saisie exprime le besoin de fournir à l’utilisateur un moyen de saisir des valeurs textuelles ou numériques.</a:t>
            </a:r>
            <a:endParaRPr/>
          </a:p>
          <a:p>
            <a:pPr indent="-247650" lvl="0" marL="342900" marR="0" rtl="0" algn="l">
              <a:spcBef>
                <a:spcPts val="300"/>
              </a:spcBef>
              <a:spcAft>
                <a:spcPts val="0"/>
              </a:spcAft>
              <a:buClr>
                <a:schemeClr val="dk1"/>
              </a:buClr>
              <a:buSzPts val="1500"/>
              <a:buFont typeface="Arial"/>
              <a:buNone/>
            </a:pPr>
            <a:r>
              <a:t/>
            </a:r>
            <a:endParaRPr b="0" i="0" sz="1500" u="none">
              <a:solidFill>
                <a:schemeClr val="dk1"/>
              </a:solidFill>
              <a:latin typeface="Times New Roman"/>
              <a:ea typeface="Times New Roman"/>
              <a:cs typeface="Times New Roman"/>
              <a:sym typeface="Times New Roman"/>
            </a:endParaRPr>
          </a:p>
        </p:txBody>
      </p:sp>
      <p:pic>
        <p:nvPicPr>
          <p:cNvPr id="706" name="Google Shape;706;p42"/>
          <p:cNvPicPr preferRelativeResize="0"/>
          <p:nvPr/>
        </p:nvPicPr>
        <p:blipFill rotWithShape="1">
          <a:blip r:embed="rId3">
            <a:alphaModFix/>
          </a:blip>
          <a:srcRect b="0" l="0" r="0" t="0"/>
          <a:stretch/>
        </p:blipFill>
        <p:spPr>
          <a:xfrm>
            <a:off x="1468437" y="2898775"/>
            <a:ext cx="6272212" cy="2538412"/>
          </a:xfrm>
          <a:prstGeom prst="rect">
            <a:avLst/>
          </a:prstGeom>
          <a:noFill/>
          <a:ln>
            <a:noFill/>
          </a:ln>
        </p:spPr>
      </p:pic>
      <p:sp>
        <p:nvSpPr>
          <p:cNvPr id="707" name="Google Shape;707;p42"/>
          <p:cNvSpPr txBox="1"/>
          <p:nvPr/>
        </p:nvSpPr>
        <p:spPr>
          <a:xfrm>
            <a:off x="66675" y="1001712"/>
            <a:ext cx="7112000"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000"/>
              <a:buFont typeface="Arial"/>
              <a:buNone/>
            </a:pPr>
            <a:r>
              <a:rPr b="1" i="0" lang="en-US" sz="3000" u="none">
                <a:solidFill>
                  <a:schemeClr val="lt1"/>
                </a:solidFill>
                <a:latin typeface="Arial"/>
                <a:ea typeface="Arial"/>
                <a:cs typeface="Arial"/>
                <a:sym typeface="Arial"/>
              </a:rPr>
              <a:t>Les modèles de spécification de l’IHM</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43"/>
          <p:cNvSpPr txBox="1"/>
          <p:nvPr>
            <p:ph idx="1" type="body"/>
          </p:nvPr>
        </p:nvSpPr>
        <p:spPr>
          <a:xfrm>
            <a:off x="347662" y="2208212"/>
            <a:ext cx="7886700" cy="4587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500"/>
              <a:buFont typeface="Times New Roman"/>
              <a:buNone/>
            </a:pPr>
            <a:r>
              <a:rPr b="0" i="0" lang="en-US" sz="1500" u="none">
                <a:solidFill>
                  <a:schemeClr val="dk1"/>
                </a:solidFill>
                <a:latin typeface="Times New Roman"/>
                <a:ea typeface="Times New Roman"/>
                <a:cs typeface="Times New Roman"/>
                <a:sym typeface="Times New Roman"/>
              </a:rPr>
              <a:t>L’astérisque </a:t>
            </a:r>
            <a:r>
              <a:rPr b="1" i="0" lang="en-US" sz="1500" u="none">
                <a:solidFill>
                  <a:schemeClr val="dk1"/>
                </a:solidFill>
                <a:latin typeface="Times New Roman"/>
                <a:ea typeface="Times New Roman"/>
                <a:cs typeface="Times New Roman"/>
                <a:sym typeface="Times New Roman"/>
              </a:rPr>
              <a:t>* </a:t>
            </a:r>
            <a:r>
              <a:rPr b="0" i="0" lang="en-US" sz="1500" u="none">
                <a:solidFill>
                  <a:schemeClr val="dk1"/>
                </a:solidFill>
                <a:latin typeface="Times New Roman"/>
                <a:ea typeface="Times New Roman"/>
                <a:cs typeface="Times New Roman"/>
                <a:sym typeface="Times New Roman"/>
              </a:rPr>
              <a:t>est accolé à un composant de saisie, si une valeur est obligatoire</a:t>
            </a:r>
            <a:r>
              <a:rPr b="0" i="0" lang="en-US" sz="1500" u="none">
                <a:solidFill>
                  <a:schemeClr val="dk1"/>
                </a:solidFill>
                <a:latin typeface="Arial"/>
                <a:ea typeface="Arial"/>
                <a:cs typeface="Arial"/>
                <a:sym typeface="Arial"/>
              </a:rPr>
              <a:t>.</a:t>
            </a:r>
            <a:endParaRPr/>
          </a:p>
          <a:p>
            <a:pPr indent="-247650" lvl="0" marL="342900" marR="0" rtl="0" algn="l">
              <a:spcBef>
                <a:spcPts val="300"/>
              </a:spcBef>
              <a:spcAft>
                <a:spcPts val="0"/>
              </a:spcAft>
              <a:buClr>
                <a:schemeClr val="dk1"/>
              </a:buClr>
              <a:buSzPts val="1500"/>
              <a:buFont typeface="Arial"/>
              <a:buNone/>
            </a:pPr>
            <a:r>
              <a:t/>
            </a:r>
            <a:endParaRPr b="0" i="0" sz="1500" u="none">
              <a:solidFill>
                <a:schemeClr val="dk1"/>
              </a:solidFill>
              <a:latin typeface="Arial"/>
              <a:ea typeface="Arial"/>
              <a:cs typeface="Arial"/>
              <a:sym typeface="Arial"/>
            </a:endParaRPr>
          </a:p>
        </p:txBody>
      </p:sp>
      <p:sp>
        <p:nvSpPr>
          <p:cNvPr id="713" name="Google Shape;713;p43"/>
          <p:cNvSpPr txBox="1"/>
          <p:nvPr>
            <p:ph type="title"/>
          </p:nvPr>
        </p:nvSpPr>
        <p:spPr>
          <a:xfrm>
            <a:off x="249237" y="1776412"/>
            <a:ext cx="7886700" cy="50482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000000"/>
              </a:buClr>
              <a:buSzPts val="1800"/>
              <a:buFont typeface="Times New Roman"/>
              <a:buNone/>
            </a:pPr>
            <a:r>
              <a:rPr b="1" i="0" lang="en-US" sz="1800" u="sng">
                <a:solidFill>
                  <a:srgbClr val="000000"/>
                </a:solidFill>
                <a:latin typeface="Times New Roman"/>
                <a:ea typeface="Times New Roman"/>
                <a:cs typeface="Times New Roman"/>
                <a:sym typeface="Times New Roman"/>
              </a:rPr>
              <a:t>Composant de dialogue: Saisie obligatoire</a:t>
            </a:r>
            <a:endParaRPr/>
          </a:p>
        </p:txBody>
      </p:sp>
      <p:pic>
        <p:nvPicPr>
          <p:cNvPr id="714" name="Google Shape;714;p43"/>
          <p:cNvPicPr preferRelativeResize="0"/>
          <p:nvPr/>
        </p:nvPicPr>
        <p:blipFill rotWithShape="1">
          <a:blip r:embed="rId3">
            <a:alphaModFix/>
          </a:blip>
          <a:srcRect b="0" l="0" r="0" t="0"/>
          <a:stretch/>
        </p:blipFill>
        <p:spPr>
          <a:xfrm>
            <a:off x="1219200" y="2667000"/>
            <a:ext cx="5764212" cy="1835150"/>
          </a:xfrm>
          <a:prstGeom prst="rect">
            <a:avLst/>
          </a:prstGeom>
          <a:noFill/>
          <a:ln>
            <a:noFill/>
          </a:ln>
        </p:spPr>
      </p:pic>
      <p:sp>
        <p:nvSpPr>
          <p:cNvPr id="715" name="Google Shape;715;p43"/>
          <p:cNvSpPr txBox="1"/>
          <p:nvPr/>
        </p:nvSpPr>
        <p:spPr>
          <a:xfrm>
            <a:off x="190500" y="979487"/>
            <a:ext cx="7112000"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000"/>
              <a:buFont typeface="Arial"/>
              <a:buNone/>
            </a:pPr>
            <a:r>
              <a:rPr b="1" i="0" lang="en-US" sz="3000" u="none">
                <a:solidFill>
                  <a:schemeClr val="lt1"/>
                </a:solidFill>
                <a:latin typeface="Arial"/>
                <a:ea typeface="Arial"/>
                <a:cs typeface="Arial"/>
                <a:sym typeface="Arial"/>
              </a:rPr>
              <a:t>Les modèles de spécification de l’IHM</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44"/>
          <p:cNvSpPr txBox="1"/>
          <p:nvPr>
            <p:ph type="title"/>
          </p:nvPr>
        </p:nvSpPr>
        <p:spPr>
          <a:xfrm>
            <a:off x="190500" y="1824037"/>
            <a:ext cx="3328987" cy="536575"/>
          </a:xfrm>
          <a:prstGeom prst="rect">
            <a:avLst/>
          </a:prstGeom>
          <a:noFill/>
          <a:ln>
            <a:noFill/>
          </a:ln>
        </p:spPr>
        <p:txBody>
          <a:bodyPr anchorCtr="0" anchor="ctr" bIns="45700" lIns="91425" spcFirstLastPara="1" rIns="91425" wrap="square" tIns="45700">
            <a:normAutofit/>
          </a:bodyPr>
          <a:lstStyle/>
          <a:p>
            <a:pPr indent="-257175" lvl="0" marL="257175" rtl="0" algn="ctr">
              <a:lnSpc>
                <a:spcPct val="100000"/>
              </a:lnSpc>
              <a:spcBef>
                <a:spcPts val="0"/>
              </a:spcBef>
              <a:spcAft>
                <a:spcPts val="0"/>
              </a:spcAft>
              <a:buClr>
                <a:srgbClr val="000000"/>
              </a:buClr>
              <a:buSzPts val="1800"/>
              <a:buFont typeface="Noto Sans Symbols"/>
              <a:buChar char="⮚"/>
            </a:pPr>
            <a:r>
              <a:rPr b="1" i="0" lang="en-US" sz="1800" u="sng">
                <a:solidFill>
                  <a:srgbClr val="000000"/>
                </a:solidFill>
                <a:latin typeface="Times New Roman"/>
                <a:ea typeface="Times New Roman"/>
                <a:cs typeface="Times New Roman"/>
                <a:sym typeface="Times New Roman"/>
              </a:rPr>
              <a:t>Modèle de présentation</a:t>
            </a:r>
            <a:endParaRPr/>
          </a:p>
        </p:txBody>
      </p:sp>
      <p:pic>
        <p:nvPicPr>
          <p:cNvPr id="721" name="Google Shape;721;p44"/>
          <p:cNvPicPr preferRelativeResize="0"/>
          <p:nvPr/>
        </p:nvPicPr>
        <p:blipFill rotWithShape="1">
          <a:blip r:embed="rId3">
            <a:alphaModFix/>
          </a:blip>
          <a:srcRect b="0" l="0" r="0" t="0"/>
          <a:stretch/>
        </p:blipFill>
        <p:spPr>
          <a:xfrm>
            <a:off x="3519487" y="1882775"/>
            <a:ext cx="5476875" cy="3897312"/>
          </a:xfrm>
          <a:prstGeom prst="rect">
            <a:avLst/>
          </a:prstGeom>
          <a:noFill/>
          <a:ln>
            <a:noFill/>
          </a:ln>
        </p:spPr>
      </p:pic>
      <p:sp>
        <p:nvSpPr>
          <p:cNvPr id="722" name="Google Shape;722;p44"/>
          <p:cNvSpPr txBox="1"/>
          <p:nvPr/>
        </p:nvSpPr>
        <p:spPr>
          <a:xfrm>
            <a:off x="190500" y="979487"/>
            <a:ext cx="7112000"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000"/>
              <a:buFont typeface="Arial"/>
              <a:buNone/>
            </a:pPr>
            <a:r>
              <a:rPr b="1" i="0" lang="en-US" sz="3000" u="none">
                <a:solidFill>
                  <a:schemeClr val="lt1"/>
                </a:solidFill>
                <a:latin typeface="Arial"/>
                <a:ea typeface="Arial"/>
                <a:cs typeface="Arial"/>
                <a:sym typeface="Arial"/>
              </a:rPr>
              <a:t>Les modèles de spécification de l’IHM</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pic>
        <p:nvPicPr>
          <p:cNvPr id="727" name="Google Shape;727;p45"/>
          <p:cNvPicPr preferRelativeResize="0"/>
          <p:nvPr/>
        </p:nvPicPr>
        <p:blipFill rotWithShape="1">
          <a:blip r:embed="rId3">
            <a:alphaModFix/>
          </a:blip>
          <a:srcRect b="0" l="0" r="0" t="0"/>
          <a:stretch/>
        </p:blipFill>
        <p:spPr>
          <a:xfrm>
            <a:off x="3132137" y="1790700"/>
            <a:ext cx="6011862" cy="4078287"/>
          </a:xfrm>
          <a:prstGeom prst="rect">
            <a:avLst/>
          </a:prstGeom>
          <a:noFill/>
          <a:ln>
            <a:noFill/>
          </a:ln>
        </p:spPr>
      </p:pic>
      <p:sp>
        <p:nvSpPr>
          <p:cNvPr id="728" name="Google Shape;728;p45"/>
          <p:cNvSpPr txBox="1"/>
          <p:nvPr>
            <p:ph type="title"/>
          </p:nvPr>
        </p:nvSpPr>
        <p:spPr>
          <a:xfrm>
            <a:off x="82550" y="1790700"/>
            <a:ext cx="3330575" cy="536575"/>
          </a:xfrm>
          <a:prstGeom prst="rect">
            <a:avLst/>
          </a:prstGeom>
          <a:noFill/>
          <a:ln>
            <a:noFill/>
          </a:ln>
        </p:spPr>
        <p:txBody>
          <a:bodyPr anchorCtr="0" anchor="ctr" bIns="45700" lIns="91425" spcFirstLastPara="1" rIns="91425" wrap="square" tIns="45700">
            <a:normAutofit/>
          </a:bodyPr>
          <a:lstStyle/>
          <a:p>
            <a:pPr indent="-257175" lvl="0" marL="257175" rtl="0" algn="ctr">
              <a:lnSpc>
                <a:spcPct val="100000"/>
              </a:lnSpc>
              <a:spcBef>
                <a:spcPts val="0"/>
              </a:spcBef>
              <a:spcAft>
                <a:spcPts val="0"/>
              </a:spcAft>
              <a:buClr>
                <a:srgbClr val="000000"/>
              </a:buClr>
              <a:buSzPts val="1800"/>
              <a:buFont typeface="Noto Sans Symbols"/>
              <a:buChar char="⮚"/>
            </a:pPr>
            <a:r>
              <a:rPr b="1" i="0" lang="en-US" sz="1800" u="sng">
                <a:solidFill>
                  <a:srgbClr val="000000"/>
                </a:solidFill>
                <a:latin typeface="Times New Roman"/>
                <a:ea typeface="Times New Roman"/>
                <a:cs typeface="Times New Roman"/>
                <a:sym typeface="Times New Roman"/>
              </a:rPr>
              <a:t>Modèle de présentation</a:t>
            </a:r>
            <a:endParaRPr/>
          </a:p>
        </p:txBody>
      </p:sp>
      <p:sp>
        <p:nvSpPr>
          <p:cNvPr id="729" name="Google Shape;729;p45"/>
          <p:cNvSpPr txBox="1"/>
          <p:nvPr/>
        </p:nvSpPr>
        <p:spPr>
          <a:xfrm>
            <a:off x="20637" y="933450"/>
            <a:ext cx="7113587"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000"/>
              <a:buFont typeface="Arial"/>
              <a:buNone/>
            </a:pPr>
            <a:r>
              <a:rPr b="1" i="0" lang="en-US" sz="3000" u="none">
                <a:solidFill>
                  <a:schemeClr val="lt1"/>
                </a:solidFill>
                <a:latin typeface="Arial"/>
                <a:ea typeface="Arial"/>
                <a:cs typeface="Arial"/>
                <a:sym typeface="Arial"/>
              </a:rPr>
              <a:t>Les modèles de spécification de l’IHM</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pic>
        <p:nvPicPr>
          <p:cNvPr id="734" name="Google Shape;734;p46"/>
          <p:cNvPicPr preferRelativeResize="0"/>
          <p:nvPr/>
        </p:nvPicPr>
        <p:blipFill rotWithShape="1">
          <a:blip r:embed="rId3">
            <a:alphaModFix/>
          </a:blip>
          <a:srcRect b="0" l="0" r="0" t="0"/>
          <a:stretch/>
        </p:blipFill>
        <p:spPr>
          <a:xfrm>
            <a:off x="2859087" y="1801812"/>
            <a:ext cx="6151562" cy="4073525"/>
          </a:xfrm>
          <a:prstGeom prst="rect">
            <a:avLst/>
          </a:prstGeom>
          <a:noFill/>
          <a:ln>
            <a:noFill/>
          </a:ln>
        </p:spPr>
      </p:pic>
      <p:sp>
        <p:nvSpPr>
          <p:cNvPr id="735" name="Google Shape;735;p46"/>
          <p:cNvSpPr txBox="1"/>
          <p:nvPr>
            <p:ph type="title"/>
          </p:nvPr>
        </p:nvSpPr>
        <p:spPr>
          <a:xfrm>
            <a:off x="190500" y="1824037"/>
            <a:ext cx="3328987" cy="536575"/>
          </a:xfrm>
          <a:prstGeom prst="rect">
            <a:avLst/>
          </a:prstGeom>
          <a:noFill/>
          <a:ln>
            <a:noFill/>
          </a:ln>
        </p:spPr>
        <p:txBody>
          <a:bodyPr anchorCtr="0" anchor="ctr" bIns="45700" lIns="91425" spcFirstLastPara="1" rIns="91425" wrap="square" tIns="45700">
            <a:normAutofit/>
          </a:bodyPr>
          <a:lstStyle/>
          <a:p>
            <a:pPr indent="-257175" lvl="0" marL="257175" rtl="0" algn="ctr">
              <a:lnSpc>
                <a:spcPct val="100000"/>
              </a:lnSpc>
              <a:spcBef>
                <a:spcPts val="0"/>
              </a:spcBef>
              <a:spcAft>
                <a:spcPts val="0"/>
              </a:spcAft>
              <a:buClr>
                <a:srgbClr val="000000"/>
              </a:buClr>
              <a:buSzPts val="1800"/>
              <a:buFont typeface="Noto Sans Symbols"/>
              <a:buChar char="⮚"/>
            </a:pPr>
            <a:r>
              <a:rPr b="1" i="0" lang="en-US" sz="1800" u="sng">
                <a:solidFill>
                  <a:srgbClr val="000000"/>
                </a:solidFill>
                <a:latin typeface="Times New Roman"/>
                <a:ea typeface="Times New Roman"/>
                <a:cs typeface="Times New Roman"/>
                <a:sym typeface="Times New Roman"/>
              </a:rPr>
              <a:t>Modèle de présentation</a:t>
            </a:r>
            <a:endParaRPr/>
          </a:p>
        </p:txBody>
      </p:sp>
      <p:sp>
        <p:nvSpPr>
          <p:cNvPr id="736" name="Google Shape;736;p46"/>
          <p:cNvSpPr txBox="1"/>
          <p:nvPr/>
        </p:nvSpPr>
        <p:spPr>
          <a:xfrm>
            <a:off x="190500" y="979487"/>
            <a:ext cx="7112000"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000"/>
              <a:buFont typeface="Arial"/>
              <a:buNone/>
            </a:pPr>
            <a:r>
              <a:rPr b="1" i="0" lang="en-US" sz="3000" u="none">
                <a:solidFill>
                  <a:schemeClr val="lt1"/>
                </a:solidFill>
                <a:latin typeface="Arial"/>
                <a:ea typeface="Arial"/>
                <a:cs typeface="Arial"/>
                <a:sym typeface="Arial"/>
              </a:rPr>
              <a:t>Les modèles de spécification de l’IHM</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pic>
        <p:nvPicPr>
          <p:cNvPr id="741" name="Google Shape;741;p47"/>
          <p:cNvPicPr preferRelativeResize="0"/>
          <p:nvPr/>
        </p:nvPicPr>
        <p:blipFill rotWithShape="1">
          <a:blip r:embed="rId3">
            <a:alphaModFix/>
          </a:blip>
          <a:srcRect b="0" l="0" r="0" t="0"/>
          <a:stretch/>
        </p:blipFill>
        <p:spPr>
          <a:xfrm>
            <a:off x="2919412" y="1849437"/>
            <a:ext cx="6096000" cy="3887787"/>
          </a:xfrm>
          <a:prstGeom prst="rect">
            <a:avLst/>
          </a:prstGeom>
          <a:noFill/>
          <a:ln>
            <a:noFill/>
          </a:ln>
        </p:spPr>
      </p:pic>
      <p:sp>
        <p:nvSpPr>
          <p:cNvPr id="742" name="Google Shape;742;p47"/>
          <p:cNvSpPr txBox="1"/>
          <p:nvPr>
            <p:ph type="title"/>
          </p:nvPr>
        </p:nvSpPr>
        <p:spPr>
          <a:xfrm>
            <a:off x="190500" y="1824037"/>
            <a:ext cx="3328987" cy="536575"/>
          </a:xfrm>
          <a:prstGeom prst="rect">
            <a:avLst/>
          </a:prstGeom>
          <a:noFill/>
          <a:ln>
            <a:noFill/>
          </a:ln>
        </p:spPr>
        <p:txBody>
          <a:bodyPr anchorCtr="0" anchor="ctr" bIns="45700" lIns="91425" spcFirstLastPara="1" rIns="91425" wrap="square" tIns="45700">
            <a:normAutofit/>
          </a:bodyPr>
          <a:lstStyle/>
          <a:p>
            <a:pPr indent="-257175" lvl="0" marL="257175" rtl="0" algn="ctr">
              <a:lnSpc>
                <a:spcPct val="100000"/>
              </a:lnSpc>
              <a:spcBef>
                <a:spcPts val="0"/>
              </a:spcBef>
              <a:spcAft>
                <a:spcPts val="0"/>
              </a:spcAft>
              <a:buClr>
                <a:srgbClr val="000000"/>
              </a:buClr>
              <a:buSzPts val="1800"/>
              <a:buFont typeface="Noto Sans Symbols"/>
              <a:buChar char="⮚"/>
            </a:pPr>
            <a:r>
              <a:rPr b="1" i="0" lang="en-US" sz="1800" u="sng">
                <a:solidFill>
                  <a:srgbClr val="000000"/>
                </a:solidFill>
                <a:latin typeface="Times New Roman"/>
                <a:ea typeface="Times New Roman"/>
                <a:cs typeface="Times New Roman"/>
                <a:sym typeface="Times New Roman"/>
              </a:rPr>
              <a:t>Modèle de présentation</a:t>
            </a:r>
            <a:endParaRPr/>
          </a:p>
        </p:txBody>
      </p:sp>
      <p:sp>
        <p:nvSpPr>
          <p:cNvPr id="743" name="Google Shape;743;p47"/>
          <p:cNvSpPr txBox="1"/>
          <p:nvPr/>
        </p:nvSpPr>
        <p:spPr>
          <a:xfrm>
            <a:off x="190500" y="979487"/>
            <a:ext cx="7112000"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000"/>
              <a:buFont typeface="Arial"/>
              <a:buNone/>
            </a:pPr>
            <a:r>
              <a:rPr b="1" i="0" lang="en-US" sz="3000" u="none">
                <a:solidFill>
                  <a:schemeClr val="lt1"/>
                </a:solidFill>
                <a:latin typeface="Arial"/>
                <a:ea typeface="Arial"/>
                <a:cs typeface="Arial"/>
                <a:sym typeface="Arial"/>
              </a:rPr>
              <a:t>Les modèles de spécification de l’IHM</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pic>
        <p:nvPicPr>
          <p:cNvPr id="748" name="Google Shape;748;p48"/>
          <p:cNvPicPr preferRelativeResize="0"/>
          <p:nvPr/>
        </p:nvPicPr>
        <p:blipFill rotWithShape="1">
          <a:blip r:embed="rId3">
            <a:alphaModFix/>
          </a:blip>
          <a:srcRect b="0" l="0" r="0" t="0"/>
          <a:stretch/>
        </p:blipFill>
        <p:spPr>
          <a:xfrm>
            <a:off x="3189287" y="1801812"/>
            <a:ext cx="5886450" cy="4075112"/>
          </a:xfrm>
          <a:prstGeom prst="rect">
            <a:avLst/>
          </a:prstGeom>
          <a:noFill/>
          <a:ln>
            <a:noFill/>
          </a:ln>
        </p:spPr>
      </p:pic>
      <p:sp>
        <p:nvSpPr>
          <p:cNvPr id="749" name="Google Shape;749;p48"/>
          <p:cNvSpPr txBox="1"/>
          <p:nvPr>
            <p:ph type="title"/>
          </p:nvPr>
        </p:nvSpPr>
        <p:spPr>
          <a:xfrm>
            <a:off x="190500" y="1824037"/>
            <a:ext cx="3328987" cy="536575"/>
          </a:xfrm>
          <a:prstGeom prst="rect">
            <a:avLst/>
          </a:prstGeom>
          <a:noFill/>
          <a:ln>
            <a:noFill/>
          </a:ln>
        </p:spPr>
        <p:txBody>
          <a:bodyPr anchorCtr="0" anchor="ctr" bIns="45700" lIns="91425" spcFirstLastPara="1" rIns="91425" wrap="square" tIns="45700">
            <a:normAutofit/>
          </a:bodyPr>
          <a:lstStyle/>
          <a:p>
            <a:pPr indent="-257175" lvl="0" marL="257175" rtl="0" algn="ctr">
              <a:lnSpc>
                <a:spcPct val="100000"/>
              </a:lnSpc>
              <a:spcBef>
                <a:spcPts val="0"/>
              </a:spcBef>
              <a:spcAft>
                <a:spcPts val="0"/>
              </a:spcAft>
              <a:buClr>
                <a:srgbClr val="000000"/>
              </a:buClr>
              <a:buSzPts val="1800"/>
              <a:buFont typeface="Noto Sans Symbols"/>
              <a:buChar char="⮚"/>
            </a:pPr>
            <a:r>
              <a:rPr b="1" i="0" lang="en-US" sz="1800" u="sng">
                <a:solidFill>
                  <a:srgbClr val="000000"/>
                </a:solidFill>
                <a:latin typeface="Times New Roman"/>
                <a:ea typeface="Times New Roman"/>
                <a:cs typeface="Times New Roman"/>
                <a:sym typeface="Times New Roman"/>
              </a:rPr>
              <a:t>Modèle de présentation</a:t>
            </a:r>
            <a:endParaRPr/>
          </a:p>
        </p:txBody>
      </p:sp>
      <p:sp>
        <p:nvSpPr>
          <p:cNvPr id="750" name="Google Shape;750;p48"/>
          <p:cNvSpPr txBox="1"/>
          <p:nvPr/>
        </p:nvSpPr>
        <p:spPr>
          <a:xfrm>
            <a:off x="190500" y="979487"/>
            <a:ext cx="7112000"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000"/>
              <a:buFont typeface="Arial"/>
              <a:buNone/>
            </a:pPr>
            <a:r>
              <a:rPr b="1" i="0" lang="en-US" sz="3000" u="none">
                <a:solidFill>
                  <a:schemeClr val="lt1"/>
                </a:solidFill>
                <a:latin typeface="Arial"/>
                <a:ea typeface="Arial"/>
                <a:cs typeface="Arial"/>
                <a:sym typeface="Arial"/>
              </a:rPr>
              <a:t>Les modèles de spécification de l’IHM</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pic>
        <p:nvPicPr>
          <p:cNvPr id="755" name="Google Shape;755;p49"/>
          <p:cNvPicPr preferRelativeResize="0"/>
          <p:nvPr/>
        </p:nvPicPr>
        <p:blipFill rotWithShape="1">
          <a:blip r:embed="rId3">
            <a:alphaModFix/>
          </a:blip>
          <a:srcRect b="0" l="0" r="0" t="0"/>
          <a:stretch/>
        </p:blipFill>
        <p:spPr>
          <a:xfrm>
            <a:off x="3263900" y="1801812"/>
            <a:ext cx="5829300" cy="3963987"/>
          </a:xfrm>
          <a:prstGeom prst="rect">
            <a:avLst/>
          </a:prstGeom>
          <a:noFill/>
          <a:ln>
            <a:noFill/>
          </a:ln>
        </p:spPr>
      </p:pic>
      <p:sp>
        <p:nvSpPr>
          <p:cNvPr id="756" name="Google Shape;756;p49"/>
          <p:cNvSpPr txBox="1"/>
          <p:nvPr>
            <p:ph type="title"/>
          </p:nvPr>
        </p:nvSpPr>
        <p:spPr>
          <a:xfrm>
            <a:off x="190500" y="1824037"/>
            <a:ext cx="3328987" cy="536575"/>
          </a:xfrm>
          <a:prstGeom prst="rect">
            <a:avLst/>
          </a:prstGeom>
          <a:noFill/>
          <a:ln>
            <a:noFill/>
          </a:ln>
        </p:spPr>
        <p:txBody>
          <a:bodyPr anchorCtr="0" anchor="ctr" bIns="45700" lIns="91425" spcFirstLastPara="1" rIns="91425" wrap="square" tIns="45700">
            <a:normAutofit/>
          </a:bodyPr>
          <a:lstStyle/>
          <a:p>
            <a:pPr indent="-257175" lvl="0" marL="257175" rtl="0" algn="ctr">
              <a:lnSpc>
                <a:spcPct val="100000"/>
              </a:lnSpc>
              <a:spcBef>
                <a:spcPts val="0"/>
              </a:spcBef>
              <a:spcAft>
                <a:spcPts val="0"/>
              </a:spcAft>
              <a:buClr>
                <a:srgbClr val="000000"/>
              </a:buClr>
              <a:buSzPts val="1800"/>
              <a:buFont typeface="Noto Sans Symbols"/>
              <a:buChar char="⮚"/>
            </a:pPr>
            <a:r>
              <a:rPr b="1" i="0" lang="en-US" sz="1800" u="sng">
                <a:solidFill>
                  <a:srgbClr val="000000"/>
                </a:solidFill>
                <a:latin typeface="Times New Roman"/>
                <a:ea typeface="Times New Roman"/>
                <a:cs typeface="Times New Roman"/>
                <a:sym typeface="Times New Roman"/>
              </a:rPr>
              <a:t>Modèle de présentation</a:t>
            </a:r>
            <a:endParaRPr/>
          </a:p>
        </p:txBody>
      </p:sp>
      <p:sp>
        <p:nvSpPr>
          <p:cNvPr id="757" name="Google Shape;757;p49"/>
          <p:cNvSpPr txBox="1"/>
          <p:nvPr/>
        </p:nvSpPr>
        <p:spPr>
          <a:xfrm>
            <a:off x="190500" y="979487"/>
            <a:ext cx="7112000"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000"/>
              <a:buFont typeface="Arial"/>
              <a:buNone/>
            </a:pPr>
            <a:r>
              <a:rPr b="1" i="0" lang="en-US" sz="3000" u="none">
                <a:solidFill>
                  <a:schemeClr val="lt1"/>
                </a:solidFill>
                <a:latin typeface="Arial"/>
                <a:ea typeface="Arial"/>
                <a:cs typeface="Arial"/>
                <a:sym typeface="Arial"/>
              </a:rPr>
              <a:t>Les modèles de spécification de l’IHM</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pic>
        <p:nvPicPr>
          <p:cNvPr id="762" name="Google Shape;762;p50"/>
          <p:cNvPicPr preferRelativeResize="0"/>
          <p:nvPr/>
        </p:nvPicPr>
        <p:blipFill rotWithShape="1">
          <a:blip r:embed="rId3">
            <a:alphaModFix/>
          </a:blip>
          <a:srcRect b="0" l="0" r="0" t="0"/>
          <a:stretch/>
        </p:blipFill>
        <p:spPr>
          <a:xfrm>
            <a:off x="3197225" y="1931987"/>
            <a:ext cx="5794375" cy="3748087"/>
          </a:xfrm>
          <a:prstGeom prst="rect">
            <a:avLst/>
          </a:prstGeom>
          <a:noFill/>
          <a:ln>
            <a:noFill/>
          </a:ln>
        </p:spPr>
      </p:pic>
      <p:sp>
        <p:nvSpPr>
          <p:cNvPr id="763" name="Google Shape;763;p50"/>
          <p:cNvSpPr txBox="1"/>
          <p:nvPr/>
        </p:nvSpPr>
        <p:spPr>
          <a:xfrm>
            <a:off x="190500" y="1824037"/>
            <a:ext cx="3328987" cy="536575"/>
          </a:xfrm>
          <a:prstGeom prst="rect">
            <a:avLst/>
          </a:prstGeom>
          <a:noFill/>
          <a:ln>
            <a:noFill/>
          </a:ln>
        </p:spPr>
        <p:txBody>
          <a:bodyPr anchorCtr="0" anchor="ctr" bIns="34275" lIns="68575" spcFirstLastPara="1" rIns="68575" wrap="square" tIns="34275">
            <a:normAutofit/>
          </a:bodyPr>
          <a:lstStyle/>
          <a:p>
            <a:pPr indent="-257175" lvl="0" marL="257175" marR="0" rtl="0" algn="l">
              <a:lnSpc>
                <a:spcPct val="90000"/>
              </a:lnSpc>
              <a:spcBef>
                <a:spcPts val="0"/>
              </a:spcBef>
              <a:spcAft>
                <a:spcPts val="0"/>
              </a:spcAft>
              <a:buClr>
                <a:srgbClr val="000000"/>
              </a:buClr>
              <a:buSzPts val="1800"/>
              <a:buFont typeface="Noto Sans Symbols"/>
              <a:buChar char="⮚"/>
            </a:pPr>
            <a:r>
              <a:rPr b="1" i="0" lang="en-US" sz="1800" u="sng">
                <a:solidFill>
                  <a:srgbClr val="000000"/>
                </a:solidFill>
                <a:latin typeface="Times New Roman"/>
                <a:ea typeface="Times New Roman"/>
                <a:cs typeface="Times New Roman"/>
                <a:sym typeface="Times New Roman"/>
              </a:rPr>
              <a:t>Modèle de présentation</a:t>
            </a:r>
            <a:endParaRPr/>
          </a:p>
        </p:txBody>
      </p:sp>
      <p:sp>
        <p:nvSpPr>
          <p:cNvPr id="764" name="Google Shape;764;p50"/>
          <p:cNvSpPr txBox="1"/>
          <p:nvPr/>
        </p:nvSpPr>
        <p:spPr>
          <a:xfrm>
            <a:off x="190500" y="979487"/>
            <a:ext cx="7112000"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000"/>
              <a:buFont typeface="Arial"/>
              <a:buNone/>
            </a:pPr>
            <a:r>
              <a:rPr b="1" i="0" lang="en-US" sz="3000" u="none">
                <a:solidFill>
                  <a:schemeClr val="lt1"/>
                </a:solidFill>
                <a:latin typeface="Arial"/>
                <a:ea typeface="Arial"/>
                <a:cs typeface="Arial"/>
                <a:sym typeface="Arial"/>
              </a:rPr>
              <a:t>Les modèles de spécification de l’IHM</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51"/>
          <p:cNvSpPr txBox="1"/>
          <p:nvPr>
            <p:ph type="title"/>
          </p:nvPr>
        </p:nvSpPr>
        <p:spPr>
          <a:xfrm>
            <a:off x="190500" y="1857375"/>
            <a:ext cx="1925637" cy="504825"/>
          </a:xfrm>
          <a:prstGeom prst="rect">
            <a:avLst/>
          </a:prstGeom>
          <a:noFill/>
          <a:ln>
            <a:noFill/>
          </a:ln>
        </p:spPr>
        <p:txBody>
          <a:bodyPr anchorCtr="0" anchor="ctr" bIns="45700" lIns="91425" spcFirstLastPara="1" rIns="91425" wrap="square" tIns="45700">
            <a:normAutofit/>
          </a:bodyPr>
          <a:lstStyle/>
          <a:p>
            <a:pPr indent="-257175" lvl="0" marL="257175" rtl="0" algn="ctr">
              <a:lnSpc>
                <a:spcPct val="100000"/>
              </a:lnSpc>
              <a:spcBef>
                <a:spcPts val="0"/>
              </a:spcBef>
              <a:spcAft>
                <a:spcPts val="0"/>
              </a:spcAft>
              <a:buClr>
                <a:srgbClr val="000000"/>
              </a:buClr>
              <a:buSzPts val="1800"/>
              <a:buFont typeface="Noto Sans Symbols"/>
              <a:buChar char="⮚"/>
            </a:pPr>
            <a:r>
              <a:rPr b="1" i="0" lang="en-US" sz="1800" u="sng">
                <a:solidFill>
                  <a:srgbClr val="000000"/>
                </a:solidFill>
                <a:latin typeface="Times New Roman"/>
                <a:ea typeface="Times New Roman"/>
                <a:cs typeface="Times New Roman"/>
                <a:sym typeface="Times New Roman"/>
              </a:rPr>
              <a:t>Conclusion</a:t>
            </a:r>
            <a:endParaRPr/>
          </a:p>
        </p:txBody>
      </p:sp>
      <p:sp>
        <p:nvSpPr>
          <p:cNvPr id="770" name="Google Shape;770;p51"/>
          <p:cNvSpPr txBox="1"/>
          <p:nvPr>
            <p:ph idx="1" type="body"/>
          </p:nvPr>
        </p:nvSpPr>
        <p:spPr>
          <a:xfrm>
            <a:off x="350837" y="2436812"/>
            <a:ext cx="8340725" cy="21463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 Décomposition ne doit pas laisser croire que ces deux parties sont forcément des modules logiciels indépendants, ni surtout qu'elles peuvent être conçues indépendamment, la seule façon de développer des systèmes interactifs de qualité est de concevoir l'ensemble du système, en prenant en compte les caractéristiques de l'utilisateur au même titre que les contraintes techniques du noyau fonctionnel.</a:t>
            </a:r>
            <a:endParaRPr/>
          </a:p>
        </p:txBody>
      </p:sp>
      <p:sp>
        <p:nvSpPr>
          <p:cNvPr id="771" name="Google Shape;771;p51"/>
          <p:cNvSpPr txBox="1"/>
          <p:nvPr/>
        </p:nvSpPr>
        <p:spPr>
          <a:xfrm>
            <a:off x="190500" y="979487"/>
            <a:ext cx="7112000" cy="554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000"/>
              <a:buFont typeface="Arial"/>
              <a:buNone/>
            </a:pPr>
            <a:r>
              <a:rPr b="1" i="0" lang="en-US" sz="3000" u="none">
                <a:solidFill>
                  <a:schemeClr val="lt1"/>
                </a:solidFill>
                <a:latin typeface="Arial"/>
                <a:ea typeface="Arial"/>
                <a:cs typeface="Arial"/>
                <a:sym typeface="Arial"/>
              </a:rPr>
              <a:t>Les modèles de spécification de l’IHM</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5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Maquette</a:t>
            </a:r>
            <a:endParaRPr/>
          </a:p>
        </p:txBody>
      </p:sp>
      <p:sp>
        <p:nvSpPr>
          <p:cNvPr id="778" name="Google Shape;778;p5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Arial"/>
              <a:buNone/>
            </a:pPr>
            <a:r>
              <a:rPr b="0" i="1" lang="en-US" sz="2400" u="none">
                <a:solidFill>
                  <a:schemeClr val="dk1"/>
                </a:solidFill>
                <a:latin typeface="Arial"/>
                <a:ea typeface="Arial"/>
                <a:cs typeface="Arial"/>
                <a:sym typeface="Arial"/>
              </a:rPr>
              <a:t>Le maquettage à base de constructeurs d’interfaces utilisateur est très souvent le meilleur moyen d’aider l’utilisateur final à articuler ses désirs. L’examen des interactions(*) entre l’utilisateur et la maquette procure alors une source non négligeable de scénarios, et donc de moyens de valider le modèle de cas d’utilisation.</a:t>
            </a:r>
            <a:endParaRPr/>
          </a:p>
          <a:p>
            <a:pPr indent="0" lvl="0" marL="0" rtl="0" algn="l">
              <a:lnSpc>
                <a:spcPct val="90000"/>
              </a:lnSpc>
              <a:spcBef>
                <a:spcPts val="480"/>
              </a:spcBef>
              <a:spcAft>
                <a:spcPts val="0"/>
              </a:spcAft>
              <a:buClr>
                <a:schemeClr val="dk1"/>
              </a:buClr>
              <a:buSzPts val="2400"/>
              <a:buFont typeface="Arial"/>
              <a:buNone/>
            </a:pPr>
            <a:r>
              <a:t/>
            </a:r>
            <a:endParaRPr b="0" i="1" sz="2400" u="none">
              <a:solidFill>
                <a:schemeClr val="dk1"/>
              </a:solidFill>
              <a:latin typeface="Arial"/>
              <a:ea typeface="Arial"/>
              <a:cs typeface="Arial"/>
              <a:sym typeface="Arial"/>
            </a:endParaRPr>
          </a:p>
          <a:p>
            <a:pPr indent="0" lvl="0" marL="0" rtl="0" algn="l">
              <a:lnSpc>
                <a:spcPct val="90000"/>
              </a:lnSpc>
              <a:spcBef>
                <a:spcPts val="480"/>
              </a:spcBef>
              <a:spcAft>
                <a:spcPts val="0"/>
              </a:spcAft>
              <a:buClr>
                <a:schemeClr val="dk1"/>
              </a:buClr>
              <a:buSzPts val="2400"/>
              <a:buFont typeface="Arial"/>
              <a:buNone/>
            </a:pPr>
            <a:r>
              <a:rPr b="0" i="1" lang="en-US" sz="2400" u="none">
                <a:solidFill>
                  <a:schemeClr val="dk1"/>
                </a:solidFill>
                <a:latin typeface="Arial"/>
                <a:ea typeface="Arial"/>
                <a:cs typeface="Arial"/>
                <a:sym typeface="Arial"/>
              </a:rPr>
              <a:t>Une maquette est un ensemble d’enchaînements d’écrans permettant de simuler un nombre limité de fonctionnalités du système. Elle s’appuie sur des objets métier simulés et des accès en bases de données fictifs.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5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Identification des IHM</a:t>
            </a:r>
            <a:endParaRPr/>
          </a:p>
        </p:txBody>
      </p:sp>
      <p:sp>
        <p:nvSpPr>
          <p:cNvPr id="784" name="Google Shape;784;p5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A partir du scénario : on déduit deux  Formulaires : F_ activité et F_initiation  </a:t>
            </a:r>
            <a:endParaRPr/>
          </a:p>
          <a:p>
            <a:pPr indent="-139700" lvl="0" marL="342900" rtl="0" algn="l">
              <a:lnSpc>
                <a:spcPct val="100000"/>
              </a:lnSpc>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Une représentation de F_activité peut être alors :</a:t>
            </a:r>
            <a:endParaRPr/>
          </a:p>
          <a:p>
            <a:pPr indent="-342900" lvl="0" marL="34290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5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Organiser une activité</a:t>
            </a:r>
            <a:br>
              <a:rPr b="0" i="0" lang="en-US" sz="4000" u="none">
                <a:solidFill>
                  <a:schemeClr val="dk2"/>
                </a:solidFill>
                <a:latin typeface="Arial"/>
                <a:ea typeface="Arial"/>
                <a:cs typeface="Arial"/>
                <a:sym typeface="Arial"/>
              </a:rPr>
            </a:br>
            <a:r>
              <a:rPr b="0" i="0" lang="en-US" sz="4000" u="none">
                <a:solidFill>
                  <a:schemeClr val="dk2"/>
                </a:solidFill>
                <a:latin typeface="Arial"/>
                <a:ea typeface="Arial"/>
                <a:cs typeface="Arial"/>
                <a:sym typeface="Arial"/>
              </a:rPr>
              <a:t>Exemple d’IHM</a:t>
            </a:r>
            <a:endParaRPr/>
          </a:p>
        </p:txBody>
      </p:sp>
      <p:pic>
        <p:nvPicPr>
          <p:cNvPr id="790" name="Google Shape;790;p54"/>
          <p:cNvPicPr preferRelativeResize="0"/>
          <p:nvPr>
            <p:ph idx="1" type="body"/>
          </p:nvPr>
        </p:nvPicPr>
        <p:blipFill rotWithShape="1">
          <a:blip r:embed="rId3">
            <a:alphaModFix/>
          </a:blip>
          <a:srcRect b="0" l="0" r="0" t="0"/>
          <a:stretch/>
        </p:blipFill>
        <p:spPr>
          <a:xfrm>
            <a:off x="1619250" y="1844675"/>
            <a:ext cx="5832475" cy="4383087"/>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5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Dictionnaire de Données</a:t>
            </a:r>
            <a:endParaRPr/>
          </a:p>
        </p:txBody>
      </p:sp>
      <p:graphicFrame>
        <p:nvGraphicFramePr>
          <p:cNvPr id="796" name="Google Shape;796;p55"/>
          <p:cNvGraphicFramePr/>
          <p:nvPr/>
        </p:nvGraphicFramePr>
        <p:xfrm>
          <a:off x="457200" y="1600200"/>
          <a:ext cx="3000000" cy="3000000"/>
        </p:xfrm>
        <a:graphic>
          <a:graphicData uri="http://schemas.openxmlformats.org/drawingml/2006/table">
            <a:tbl>
              <a:tblPr>
                <a:noFill/>
                <a:tableStyleId>{AABD0C99-CF23-4BF3-A273-EBDE9038B481}</a:tableStyleId>
              </a:tblPr>
              <a:tblGrid>
                <a:gridCol w="1646225"/>
                <a:gridCol w="1646225"/>
                <a:gridCol w="1644650"/>
                <a:gridCol w="1646225"/>
                <a:gridCol w="1646225"/>
              </a:tblGrid>
              <a:tr h="4525950">
                <a:tc>
                  <a:txBody>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 </a:t>
                      </a:r>
                      <a:r>
                        <a:rPr b="1" i="0" lang="en-US" sz="2800" u="none" cap="none" strike="noStrike">
                          <a:solidFill>
                            <a:schemeClr val="dk1"/>
                          </a:solidFill>
                          <a:latin typeface="Arial"/>
                          <a:ea typeface="Arial"/>
                          <a:cs typeface="Arial"/>
                          <a:sym typeface="Arial"/>
                        </a:rPr>
                        <a:t>Sigle</a:t>
                      </a:r>
                      <a:endParaRPr/>
                    </a:p>
                    <a:p>
                      <a:pPr indent="0" lvl="0" marL="0" marR="0" rtl="0" algn="l">
                        <a:lnSpc>
                          <a:spcPct val="100000"/>
                        </a:lnSpc>
                        <a:spcBef>
                          <a:spcPts val="28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Matricule</a:t>
                      </a:r>
                      <a:endParaRPr/>
                    </a:p>
                    <a:p>
                      <a:pPr indent="0" lvl="0" marL="0" marR="0" rtl="0" algn="l">
                        <a:lnSpc>
                          <a:spcPct val="100000"/>
                        </a:lnSpc>
                        <a:spcBef>
                          <a:spcPts val="28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28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Nom respo</a:t>
                      </a:r>
                      <a:endParaRPr/>
                    </a:p>
                    <a:p>
                      <a:pPr indent="0" lvl="0" marL="0" marR="0" rtl="0" algn="l">
                        <a:lnSpc>
                          <a:spcPct val="100000"/>
                        </a:lnSpc>
                        <a:spcBef>
                          <a:spcPts val="28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28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Prénomréspo</a:t>
                      </a:r>
                      <a:endParaRPr/>
                    </a:p>
                    <a:p>
                      <a:pPr indent="0" lvl="0" marL="0" marR="0" rtl="0" algn="l">
                        <a:lnSpc>
                          <a:spcPct val="100000"/>
                        </a:lnSpc>
                        <a:spcBef>
                          <a:spcPts val="28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28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Type</a:t>
                      </a:r>
                      <a:endParaRPr/>
                    </a:p>
                    <a:p>
                      <a:pPr indent="0" lvl="0" marL="0" marR="0" rtl="0" algn="l">
                        <a:lnSpc>
                          <a:spcPct val="100000"/>
                        </a:lnSpc>
                        <a:spcBef>
                          <a:spcPts val="28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-ActImitable</a:t>
                      </a:r>
                      <a:endParaRPr/>
                    </a:p>
                    <a:p>
                      <a:pPr indent="0" lvl="0" marL="0" marR="0" rtl="0" algn="l">
                        <a:lnSpc>
                          <a:spcPct val="100000"/>
                        </a:lnSpc>
                        <a:spcBef>
                          <a:spcPts val="28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-act Debut </a:t>
                      </a:r>
                      <a:endParaRPr/>
                    </a:p>
                    <a:p>
                      <a:pPr indent="0" lvl="0" marL="0" marR="0" rtl="0" algn="l">
                        <a:lnSpc>
                          <a:spcPct val="100000"/>
                        </a:lnSpc>
                        <a:spcBef>
                          <a:spcPts val="28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actFin</a:t>
                      </a:r>
                      <a:endParaRPr/>
                    </a:p>
                    <a:p>
                      <a:pPr indent="0" lvl="0" marL="0" marR="0" rtl="0" algn="l">
                        <a:lnSpc>
                          <a:spcPct val="100000"/>
                        </a:lnSpc>
                        <a:spcBef>
                          <a:spcPts val="28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-act Lieu</a:t>
                      </a:r>
                      <a:endParaRPr/>
                    </a:p>
                    <a:p>
                      <a:pPr indent="0" lvl="0" marL="0" marR="0" rtl="0" algn="l">
                        <a:lnSpc>
                          <a:spcPct val="100000"/>
                        </a:lnSpc>
                        <a:spcBef>
                          <a:spcPts val="28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-actDebut Res </a:t>
                      </a:r>
                      <a:endParaRPr/>
                    </a:p>
                    <a:p>
                      <a:pPr indent="0" lvl="0" marL="0" marR="0" rtl="0" algn="l">
                        <a:lnSpc>
                          <a:spcPct val="100000"/>
                        </a:lnSpc>
                        <a:spcBef>
                          <a:spcPts val="28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Fin-rest Factitive</a:t>
                      </a:r>
                      <a:endParaRPr/>
                    </a:p>
                    <a:p>
                      <a:pPr indent="0" lvl="0" marL="0" marR="0" rtl="0" algn="l">
                        <a:lnSpc>
                          <a:spcPct val="100000"/>
                        </a:lnSpc>
                        <a:spcBef>
                          <a:spcPts val="28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Fin vitiation</a:t>
                      </a:r>
                      <a:endParaRPr/>
                    </a:p>
                    <a:p>
                      <a:pPr indent="0" lvl="0" marL="0" marR="0" rtl="0" algn="l">
                        <a:lnSpc>
                          <a:spcPct val="100000"/>
                        </a:lnSpc>
                        <a:spcBef>
                          <a:spcPts val="28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F Reservation </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 </a:t>
                      </a:r>
                      <a:r>
                        <a:rPr b="1" i="0" lang="en-US" sz="2800" u="none" cap="none" strike="noStrike">
                          <a:solidFill>
                            <a:schemeClr val="dk1"/>
                          </a:solidFill>
                          <a:latin typeface="Arial"/>
                          <a:ea typeface="Arial"/>
                          <a:cs typeface="Arial"/>
                          <a:sym typeface="Arial"/>
                        </a:rPr>
                        <a:t>libelle</a:t>
                      </a:r>
                      <a:endParaRPr/>
                    </a:p>
                    <a:p>
                      <a:pPr indent="0" lvl="0" marL="0" marR="0" rtl="0" algn="l">
                        <a:lnSpc>
                          <a:spcPct val="100000"/>
                        </a:lnSpc>
                        <a:spcBef>
                          <a:spcPts val="28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Matricule</a:t>
                      </a:r>
                      <a:endParaRPr/>
                    </a:p>
                    <a:p>
                      <a:pPr indent="0" lvl="0" marL="0" marR="0" rtl="0" algn="l">
                        <a:lnSpc>
                          <a:spcPct val="100000"/>
                        </a:lnSpc>
                        <a:spcBef>
                          <a:spcPts val="28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Nom du responsable Prénom responsable</a:t>
                      </a:r>
                      <a:endParaRPr/>
                    </a:p>
                    <a:p>
                      <a:pPr indent="0" lvl="0" marL="0" marR="0" rtl="0" algn="l">
                        <a:lnSpc>
                          <a:spcPct val="100000"/>
                        </a:lnSpc>
                        <a:spcBef>
                          <a:spcPts val="28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28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responsableType </a:t>
                      </a:r>
                      <a:endParaRPr/>
                    </a:p>
                    <a:p>
                      <a:pPr indent="0" lvl="0" marL="0" marR="0" rtl="0" algn="l">
                        <a:lnSpc>
                          <a:spcPct val="100000"/>
                        </a:lnSpc>
                        <a:spcBef>
                          <a:spcPts val="28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28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activitéIntitulé activitéDébut activitéFin </a:t>
                      </a:r>
                      <a:endParaRPr/>
                    </a:p>
                    <a:p>
                      <a:pPr indent="0" lvl="0" marL="0" marR="0" rtl="0" algn="l">
                        <a:lnSpc>
                          <a:spcPct val="100000"/>
                        </a:lnSpc>
                        <a:spcBef>
                          <a:spcPts val="28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activité Lieu activité</a:t>
                      </a:r>
                      <a:endParaRPr/>
                    </a:p>
                    <a:p>
                      <a:pPr indent="0" lvl="0" marL="0" marR="0" rtl="0" algn="l">
                        <a:lnSpc>
                          <a:spcPct val="100000"/>
                        </a:lnSpc>
                        <a:spcBef>
                          <a:spcPts val="28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Début réservation</a:t>
                      </a:r>
                      <a:endParaRPr/>
                    </a:p>
                    <a:p>
                      <a:pPr indent="0" lvl="0" marL="0" marR="0" rtl="0" algn="l">
                        <a:lnSpc>
                          <a:spcPct val="100000"/>
                        </a:lnSpc>
                        <a:spcBef>
                          <a:spcPts val="28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Fin réservation</a:t>
                      </a:r>
                      <a:endParaRPr/>
                    </a:p>
                    <a:p>
                      <a:pPr indent="0" lvl="0" marL="0" marR="0" rtl="0" algn="l">
                        <a:lnSpc>
                          <a:spcPct val="100000"/>
                        </a:lnSpc>
                        <a:spcBef>
                          <a:spcPts val="28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Formulaire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 </a:t>
                      </a:r>
                      <a:r>
                        <a:rPr b="1" i="0" lang="en-US" sz="2800" u="none" cap="none" strike="noStrike">
                          <a:solidFill>
                            <a:schemeClr val="dk1"/>
                          </a:solidFill>
                          <a:latin typeface="Arial"/>
                          <a:ea typeface="Arial"/>
                          <a:cs typeface="Arial"/>
                          <a:sym typeface="Arial"/>
                        </a:rPr>
                        <a:t>type</a:t>
                      </a:r>
                      <a:r>
                        <a:rPr b="0" i="0" lang="en-US" sz="2800" u="none" cap="none" strike="noStrike">
                          <a:solidFill>
                            <a:schemeClr val="dk1"/>
                          </a:solidFill>
                          <a:latin typeface="Arial"/>
                          <a:ea typeface="Arial"/>
                          <a:cs typeface="Arial"/>
                          <a:sym typeface="Arial"/>
                        </a:rPr>
                        <a:t> </a:t>
                      </a:r>
                      <a:endParaRPr/>
                    </a:p>
                    <a:p>
                      <a:pPr indent="0" lvl="0" marL="0" marR="0" rtl="0" algn="l">
                        <a:lnSpc>
                          <a:spcPct val="100000"/>
                        </a:lnSpc>
                        <a:spcBef>
                          <a:spcPts val="28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Texte</a:t>
                      </a:r>
                      <a:endParaRPr/>
                    </a:p>
                    <a:p>
                      <a:pPr indent="0" lvl="0" marL="0" marR="0" rtl="0" algn="l">
                        <a:lnSpc>
                          <a:spcPct val="100000"/>
                        </a:lnSpc>
                        <a:spcBef>
                          <a:spcPts val="28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Texte</a:t>
                      </a:r>
                      <a:endParaRPr/>
                    </a:p>
                    <a:p>
                      <a:pPr indent="0" lvl="0" marL="0" marR="0" rtl="0" algn="l">
                        <a:lnSpc>
                          <a:spcPct val="100000"/>
                        </a:lnSpc>
                        <a:spcBef>
                          <a:spcPts val="28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Texte</a:t>
                      </a:r>
                      <a:endParaRPr/>
                    </a:p>
                    <a:p>
                      <a:pPr indent="0" lvl="0" marL="0" marR="0" rtl="0" algn="l">
                        <a:lnSpc>
                          <a:spcPct val="100000"/>
                        </a:lnSpc>
                        <a:spcBef>
                          <a:spcPts val="28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Unum</a:t>
                      </a:r>
                      <a:endParaRPr/>
                    </a:p>
                    <a:p>
                      <a:pPr indent="0" lvl="0" marL="0" marR="0" rtl="0" algn="l">
                        <a:lnSpc>
                          <a:spcPct val="100000"/>
                        </a:lnSpc>
                        <a:spcBef>
                          <a:spcPts val="28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Texte</a:t>
                      </a:r>
                      <a:endParaRPr/>
                    </a:p>
                    <a:p>
                      <a:pPr indent="0" lvl="0" marL="0" marR="0" rtl="0" algn="l">
                        <a:lnSpc>
                          <a:spcPct val="100000"/>
                        </a:lnSpc>
                        <a:spcBef>
                          <a:spcPts val="28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Date heure</a:t>
                      </a:r>
                      <a:endParaRPr/>
                    </a:p>
                    <a:p>
                      <a:pPr indent="0" lvl="0" marL="0" marR="0" rtl="0" algn="l">
                        <a:lnSpc>
                          <a:spcPct val="100000"/>
                        </a:lnSpc>
                        <a:spcBef>
                          <a:spcPts val="28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       //</a:t>
                      </a:r>
                      <a:endParaRPr/>
                    </a:p>
                    <a:p>
                      <a:pPr indent="0" lvl="0" marL="0" marR="0" rtl="0" algn="l">
                        <a:lnSpc>
                          <a:spcPct val="100000"/>
                        </a:lnSpc>
                        <a:spcBef>
                          <a:spcPts val="28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Texte</a:t>
                      </a:r>
                      <a:endParaRPr/>
                    </a:p>
                    <a:p>
                      <a:pPr indent="0" lvl="0" marL="0" marR="0" rtl="0" algn="l">
                        <a:lnSpc>
                          <a:spcPct val="100000"/>
                        </a:lnSpc>
                        <a:spcBef>
                          <a:spcPts val="28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Date heure</a:t>
                      </a:r>
                      <a:endParaRPr/>
                    </a:p>
                    <a:p>
                      <a:pPr indent="0" lvl="0" marL="0" marR="0" rtl="0" algn="l">
                        <a:lnSpc>
                          <a:spcPct val="100000"/>
                        </a:lnSpc>
                        <a:spcBef>
                          <a:spcPts val="28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     //</a:t>
                      </a:r>
                      <a:endParaRPr/>
                    </a:p>
                    <a:p>
                      <a:pPr indent="0" lvl="0" marL="0" marR="0" rtl="0" algn="l">
                        <a:lnSpc>
                          <a:spcPct val="100000"/>
                        </a:lnSpc>
                        <a:spcBef>
                          <a:spcPts val="28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Structure</a:t>
                      </a:r>
                      <a:endParaRPr/>
                    </a:p>
                    <a:p>
                      <a:pPr indent="0" lvl="0" marL="0" marR="0" rtl="0" algn="l">
                        <a:lnSpc>
                          <a:spcPct val="100000"/>
                        </a:lnSpc>
                        <a:spcBef>
                          <a:spcPts val="28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   //     //</a:t>
                      </a:r>
                      <a:endParaRPr/>
                    </a:p>
                    <a:p>
                      <a:pPr indent="0" lvl="0" marL="0" marR="0" rtl="0" algn="l">
                        <a:lnSpc>
                          <a:spcPct val="100000"/>
                        </a:lnSpc>
                        <a:spcBef>
                          <a:spcPts val="56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  //        //</a:t>
                      </a:r>
                      <a:r>
                        <a:rPr b="0" i="0" lang="en-US" sz="2800" u="none" cap="none" strike="noStrike">
                          <a:solidFill>
                            <a:schemeClr val="dk1"/>
                          </a:solidFill>
                          <a:latin typeface="Arial"/>
                          <a:ea typeface="Arial"/>
                          <a:cs typeface="Arial"/>
                          <a:sym typeface="Arial"/>
                        </a:rPr>
                        <a:t>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règle</a:t>
                      </a:r>
                      <a:r>
                        <a:rPr b="0" i="0" lang="en-US" sz="2800" u="none" cap="none" strike="noStrike">
                          <a:solidFill>
                            <a:schemeClr val="dk1"/>
                          </a:solidFill>
                          <a:latin typeface="Arial"/>
                          <a:ea typeface="Arial"/>
                          <a:cs typeface="Arial"/>
                          <a:sym typeface="Arial"/>
                        </a:rPr>
                        <a:t> </a:t>
                      </a:r>
                      <a:endParaRPr/>
                    </a:p>
                    <a:p>
                      <a:pPr indent="0" lvl="0" marL="0" marR="0" rtl="0" algn="l">
                        <a:lnSpc>
                          <a:spcPct val="100000"/>
                        </a:lnSpc>
                        <a:spcBef>
                          <a:spcPts val="36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36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36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36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28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{"salle. Retro …}</a:t>
                      </a:r>
                      <a:endParaRPr/>
                    </a:p>
                    <a:p>
                      <a:pPr indent="0" lvl="0" marL="0" marR="0" rtl="0" algn="l">
                        <a:lnSpc>
                          <a:spcPct val="100000"/>
                        </a:lnSpc>
                        <a:spcBef>
                          <a:spcPts val="28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28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28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28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28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{matricule+nom prénom}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Contrainte</a:t>
                      </a:r>
                      <a:endParaRPr/>
                    </a:p>
                    <a:p>
                      <a:pPr indent="0" lvl="0" marL="0" marR="0" rtl="0" algn="l">
                        <a:lnSpc>
                          <a:spcPct val="100000"/>
                        </a:lnSpc>
                        <a:spcBef>
                          <a:spcPts val="320"/>
                        </a:spcBef>
                        <a:spcAft>
                          <a:spcPts val="0"/>
                        </a:spcAft>
                        <a:buClr>
                          <a:schemeClr val="dk1"/>
                        </a:buClr>
                        <a:buSzPts val="16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28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28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28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28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28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28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fin.act&gt;</a:t>
                      </a:r>
                      <a:endParaRPr/>
                    </a:p>
                    <a:p>
                      <a:pPr indent="0" lvl="0" marL="0" marR="0" rtl="0" algn="l">
                        <a:lnSpc>
                          <a:spcPct val="100000"/>
                        </a:lnSpc>
                        <a:spcBef>
                          <a:spcPts val="28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 Début act</a:t>
                      </a:r>
                      <a:endParaRPr/>
                    </a:p>
                    <a:p>
                      <a:pPr indent="0" lvl="0" marL="0" marR="0" rtl="0" algn="l">
                        <a:lnSpc>
                          <a:spcPct val="100000"/>
                        </a:lnSpc>
                        <a:spcBef>
                          <a:spcPts val="28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28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t/>
                      </a:r>
                      <a:endParaRPr b="0" i="0" sz="1400" u="non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5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Les diagrammes de classes</a:t>
            </a:r>
            <a:endParaRPr/>
          </a:p>
        </p:txBody>
      </p:sp>
      <p:sp>
        <p:nvSpPr>
          <p:cNvPr id="802" name="Google Shape;802;p5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ctr">
              <a:lnSpc>
                <a:spcPct val="100000"/>
              </a:lnSpc>
              <a:spcBef>
                <a:spcPts val="0"/>
              </a:spcBef>
              <a:spcAft>
                <a:spcPts val="0"/>
              </a:spcAft>
              <a:buClr>
                <a:schemeClr val="dk1"/>
              </a:buClr>
              <a:buSzPts val="12400"/>
              <a:buFont typeface="Arial"/>
              <a:buNone/>
            </a:pPr>
            <a:r>
              <a:rPr b="0" i="0" lang="en-US" sz="12400" u="none">
                <a:solidFill>
                  <a:schemeClr val="dk1"/>
                </a:solidFill>
                <a:latin typeface="Arial"/>
                <a:ea typeface="Arial"/>
                <a:cs typeface="Arial"/>
                <a:sym typeface="Arial"/>
              </a:rPr>
              <a:t>Classes</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5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Diagrammes de classes</a:t>
            </a:r>
            <a:endParaRPr/>
          </a:p>
        </p:txBody>
      </p:sp>
      <p:sp>
        <p:nvSpPr>
          <p:cNvPr id="809" name="Google Shape;809;p5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000000"/>
              </a:buClr>
              <a:buSzPts val="3200"/>
              <a:buFont typeface="Arial"/>
              <a:buChar char="•"/>
            </a:pPr>
            <a:r>
              <a:rPr b="0" i="0" lang="en-US" sz="3200" u="none">
                <a:solidFill>
                  <a:srgbClr val="000000"/>
                </a:solidFill>
                <a:latin typeface="Arial"/>
                <a:ea typeface="Arial"/>
                <a:cs typeface="Arial"/>
                <a:sym typeface="Arial"/>
              </a:rPr>
              <a:t>Les </a:t>
            </a:r>
            <a:r>
              <a:rPr b="0" i="1" lang="en-US" sz="3200" u="none">
                <a:solidFill>
                  <a:srgbClr val="FF0033"/>
                </a:solidFill>
                <a:latin typeface="Arial"/>
                <a:ea typeface="Arial"/>
                <a:cs typeface="Arial"/>
                <a:sym typeface="Arial"/>
              </a:rPr>
              <a:t>diagrammes de classes</a:t>
            </a:r>
            <a:r>
              <a:rPr b="0" i="0" lang="en-US" sz="3200" u="none">
                <a:solidFill>
                  <a:srgbClr val="000000"/>
                </a:solidFill>
                <a:latin typeface="Arial"/>
                <a:ea typeface="Arial"/>
                <a:cs typeface="Arial"/>
                <a:sym typeface="Arial"/>
              </a:rPr>
              <a:t> représentent un ensemble de classes, d'interfaces et de collaborations, ainsi que leurs relations. Ce sont les diagrammes les plus fréquents dans la modélisation des systèmes à objets. Ils présentent la vue de conception statique d'un système.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sp>
        <p:nvSpPr>
          <p:cNvPr id="814" name="Google Shape;814;p5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Les diagrammes de classes</a:t>
            </a:r>
            <a:br>
              <a:rPr b="0" i="0" lang="en-US" sz="4000" u="none">
                <a:solidFill>
                  <a:schemeClr val="dk2"/>
                </a:solidFill>
                <a:latin typeface="Arial"/>
                <a:ea typeface="Arial"/>
                <a:cs typeface="Arial"/>
                <a:sym typeface="Arial"/>
              </a:rPr>
            </a:br>
            <a:endParaRPr/>
          </a:p>
        </p:txBody>
      </p:sp>
      <p:sp>
        <p:nvSpPr>
          <p:cNvPr id="815" name="Google Shape;815;p5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Expriment la structure logique d’un système,</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en terme de classes et de relations entre ces classes.</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 Une classe décrit un ensemble d’objets</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 Une association décrit un ensemble de liens</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 Les objets sont des instances des classes</a:t>
            </a:r>
            <a:endParaRPr/>
          </a:p>
          <a:p>
            <a:pPr indent="-139700" lvl="0" marL="342900" rtl="0" algn="l">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5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Les classes</a:t>
            </a:r>
            <a:endParaRPr/>
          </a:p>
        </p:txBody>
      </p:sp>
      <p:sp>
        <p:nvSpPr>
          <p:cNvPr id="821" name="Google Shape;821;p59"/>
          <p:cNvSpPr txBox="1"/>
          <p:nvPr>
            <p:ph idx="1" type="body"/>
          </p:nvPr>
        </p:nvSpPr>
        <p:spPr>
          <a:xfrm>
            <a:off x="457200" y="1600200"/>
            <a:ext cx="4040187"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La classe est une description abstraite d’un ensemble d’objets</a:t>
            </a:r>
            <a:endParaRPr/>
          </a:p>
          <a:p>
            <a:pPr indent="-342900" lvl="0" marL="34290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La classe peut être vue comme la factorisation des éléments communs à un ensemble d’objets</a:t>
            </a:r>
            <a:endParaRPr/>
          </a:p>
          <a:p>
            <a:pPr indent="-342900" lvl="0" marL="34290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La classe décrit le domaine de définition d’un ensemble d’objets</a:t>
            </a:r>
            <a:endParaRPr/>
          </a:p>
          <a:p>
            <a:pPr indent="-342900" lvl="0" marL="342900" rtl="0" algn="just">
              <a:lnSpc>
                <a:spcPct val="90000"/>
              </a:lnSpc>
              <a:spcBef>
                <a:spcPts val="96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Description conceptuellement séparée en deux parties</a:t>
            </a:r>
            <a:endParaRPr/>
          </a:p>
          <a:p>
            <a:pPr indent="-190500" lvl="0" marL="342900" rtl="0" algn="l">
              <a:spcBef>
                <a:spcPts val="480"/>
              </a:spcBef>
              <a:spcAft>
                <a:spcPts val="0"/>
              </a:spcAft>
              <a:buClr>
                <a:schemeClr val="dk1"/>
              </a:buClr>
              <a:buSzPts val="2400"/>
              <a:buFont typeface="Arial"/>
              <a:buNone/>
            </a:pPr>
            <a:r>
              <a:t/>
            </a:r>
            <a:endParaRPr b="0" i="0" sz="2400" u="none">
              <a:solidFill>
                <a:schemeClr val="dk1"/>
              </a:solidFill>
              <a:latin typeface="Arial"/>
              <a:ea typeface="Arial"/>
              <a:cs typeface="Arial"/>
              <a:sym typeface="Arial"/>
            </a:endParaRPr>
          </a:p>
        </p:txBody>
      </p:sp>
      <p:sp>
        <p:nvSpPr>
          <p:cNvPr id="822" name="Google Shape;822;p59"/>
          <p:cNvSpPr txBox="1"/>
          <p:nvPr>
            <p:ph idx="1" type="body"/>
          </p:nvPr>
        </p:nvSpPr>
        <p:spPr>
          <a:xfrm>
            <a:off x="4646612" y="1600200"/>
            <a:ext cx="4040187"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Caractéristiques des classes</a:t>
            </a:r>
            <a:endParaRPr/>
          </a:p>
          <a:p>
            <a:pPr indent="-285750" lvl="1" marL="74295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Attributs</a:t>
            </a:r>
            <a:endParaRPr/>
          </a:p>
          <a:p>
            <a:pPr indent="-285750" lvl="1" marL="74295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Opérations</a:t>
            </a:r>
            <a:endParaRPr/>
          </a:p>
          <a:p>
            <a:pPr indent="-285750" lvl="1" marL="74295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Réceptions</a:t>
            </a:r>
            <a:endParaRPr/>
          </a:p>
          <a:p>
            <a:pPr indent="-285750" lvl="1" marL="74295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Relations</a:t>
            </a:r>
            <a:endParaRPr/>
          </a:p>
          <a:p>
            <a:pPr indent="-285750" lvl="1" marL="74295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Multiplicité</a:t>
            </a:r>
            <a:endParaRPr/>
          </a:p>
          <a:p>
            <a:pPr indent="-285750" lvl="1" marL="74295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Persistance</a:t>
            </a:r>
            <a:endParaRPr/>
          </a:p>
          <a:p>
            <a:pPr indent="-285750" lvl="1" marL="74295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Composant</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grpSp>
        <p:nvGrpSpPr>
          <p:cNvPr id="827" name="Google Shape;827;p60"/>
          <p:cNvGrpSpPr/>
          <p:nvPr/>
        </p:nvGrpSpPr>
        <p:grpSpPr>
          <a:xfrm>
            <a:off x="6419850" y="3295650"/>
            <a:ext cx="2127250" cy="1365250"/>
            <a:chOff x="4128" y="964"/>
            <a:chExt cx="1340" cy="860"/>
          </a:xfrm>
        </p:grpSpPr>
        <p:sp>
          <p:nvSpPr>
            <p:cNvPr id="828" name="Google Shape;828;p60"/>
            <p:cNvSpPr txBox="1"/>
            <p:nvPr/>
          </p:nvSpPr>
          <p:spPr>
            <a:xfrm>
              <a:off x="4756" y="964"/>
              <a:ext cx="712" cy="28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829" name="Google Shape;829;p60"/>
            <p:cNvCxnSpPr/>
            <p:nvPr/>
          </p:nvCxnSpPr>
          <p:spPr>
            <a:xfrm rot="10800000">
              <a:off x="4128" y="1104"/>
              <a:ext cx="624" cy="0"/>
            </a:xfrm>
            <a:prstGeom prst="straightConnector1">
              <a:avLst/>
            </a:prstGeom>
            <a:noFill/>
            <a:ln cap="flat" cmpd="sng" w="12700">
              <a:solidFill>
                <a:schemeClr val="dk1"/>
              </a:solidFill>
              <a:prstDash val="solid"/>
              <a:miter lim="800000"/>
              <a:headEnd len="med" w="med" type="none"/>
              <a:tailEnd len="med" w="med" type="none"/>
            </a:ln>
          </p:spPr>
        </p:cxnSp>
        <p:cxnSp>
          <p:nvCxnSpPr>
            <p:cNvPr id="830" name="Google Shape;830;p60"/>
            <p:cNvCxnSpPr/>
            <p:nvPr/>
          </p:nvCxnSpPr>
          <p:spPr>
            <a:xfrm>
              <a:off x="4128" y="1104"/>
              <a:ext cx="0" cy="720"/>
            </a:xfrm>
            <a:prstGeom prst="straightConnector1">
              <a:avLst/>
            </a:prstGeom>
            <a:noFill/>
            <a:ln cap="flat" cmpd="sng" w="12700">
              <a:solidFill>
                <a:schemeClr val="dk1"/>
              </a:solidFill>
              <a:prstDash val="solid"/>
              <a:miter lim="800000"/>
              <a:headEnd len="med" w="med" type="none"/>
              <a:tailEnd len="med" w="med" type="none"/>
            </a:ln>
          </p:spPr>
        </p:cxnSp>
        <p:cxnSp>
          <p:nvCxnSpPr>
            <p:cNvPr id="831" name="Google Shape;831;p60"/>
            <p:cNvCxnSpPr/>
            <p:nvPr/>
          </p:nvCxnSpPr>
          <p:spPr>
            <a:xfrm>
              <a:off x="4128" y="1824"/>
              <a:ext cx="1104" cy="0"/>
            </a:xfrm>
            <a:prstGeom prst="straightConnector1">
              <a:avLst/>
            </a:prstGeom>
            <a:noFill/>
            <a:ln cap="flat" cmpd="sng" w="12700">
              <a:solidFill>
                <a:schemeClr val="dk1"/>
              </a:solidFill>
              <a:prstDash val="solid"/>
              <a:miter lim="800000"/>
              <a:headEnd len="med" w="med" type="none"/>
              <a:tailEnd len="med" w="med" type="none"/>
            </a:ln>
          </p:spPr>
        </p:cxnSp>
        <p:cxnSp>
          <p:nvCxnSpPr>
            <p:cNvPr id="832" name="Google Shape;832;p60"/>
            <p:cNvCxnSpPr/>
            <p:nvPr/>
          </p:nvCxnSpPr>
          <p:spPr>
            <a:xfrm>
              <a:off x="5232" y="1248"/>
              <a:ext cx="0" cy="576"/>
            </a:xfrm>
            <a:prstGeom prst="straightConnector1">
              <a:avLst/>
            </a:prstGeom>
            <a:noFill/>
            <a:ln cap="flat" cmpd="sng" w="12700">
              <a:solidFill>
                <a:schemeClr val="dk1"/>
              </a:solidFill>
              <a:prstDash val="solid"/>
              <a:miter lim="800000"/>
              <a:headEnd len="med" w="med" type="none"/>
              <a:tailEnd len="med" w="med" type="none"/>
            </a:ln>
          </p:spPr>
        </p:cxnSp>
        <p:sp>
          <p:nvSpPr>
            <p:cNvPr id="833" name="Google Shape;833;p60"/>
            <p:cNvSpPr txBox="1"/>
            <p:nvPr/>
          </p:nvSpPr>
          <p:spPr>
            <a:xfrm>
              <a:off x="4839" y="1037"/>
              <a:ext cx="502" cy="173"/>
            </a:xfrm>
            <a:prstGeom prst="rect">
              <a:avLst/>
            </a:prstGeom>
            <a:noFill/>
            <a:ln>
              <a:noFill/>
            </a:ln>
          </p:spPr>
          <p:txBody>
            <a:bodyPr anchorCtr="0" anchor="t" bIns="46025" lIns="92075" spcFirstLastPara="1" rIns="92075" wrap="square" tIns="46025">
              <a:spAutoFit/>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parametre</a:t>
              </a:r>
              <a:endParaRPr/>
            </a:p>
          </p:txBody>
        </p:sp>
        <p:sp>
          <p:nvSpPr>
            <p:cNvPr id="834" name="Google Shape;834;p60"/>
            <p:cNvSpPr txBox="1"/>
            <p:nvPr/>
          </p:nvSpPr>
          <p:spPr>
            <a:xfrm>
              <a:off x="4257" y="1421"/>
              <a:ext cx="874" cy="173"/>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classe parametrable</a:t>
              </a:r>
              <a:endParaRPr/>
            </a:p>
          </p:txBody>
        </p:sp>
      </p:grpSp>
      <p:grpSp>
        <p:nvGrpSpPr>
          <p:cNvPr id="835" name="Google Shape;835;p60"/>
          <p:cNvGrpSpPr/>
          <p:nvPr/>
        </p:nvGrpSpPr>
        <p:grpSpPr>
          <a:xfrm>
            <a:off x="874712" y="4119562"/>
            <a:ext cx="4484687" cy="1722437"/>
            <a:chOff x="244" y="2093"/>
            <a:chExt cx="2824" cy="1085"/>
          </a:xfrm>
        </p:grpSpPr>
        <p:grpSp>
          <p:nvGrpSpPr>
            <p:cNvPr id="836" name="Google Shape;836;p60"/>
            <p:cNvGrpSpPr/>
            <p:nvPr/>
          </p:nvGrpSpPr>
          <p:grpSpPr>
            <a:xfrm>
              <a:off x="244" y="2093"/>
              <a:ext cx="2824" cy="365"/>
              <a:chOff x="244" y="2093"/>
              <a:chExt cx="2824" cy="365"/>
            </a:xfrm>
          </p:grpSpPr>
          <p:sp>
            <p:nvSpPr>
              <p:cNvPr id="837" name="Google Shape;837;p60"/>
              <p:cNvSpPr txBox="1"/>
              <p:nvPr/>
            </p:nvSpPr>
            <p:spPr>
              <a:xfrm>
                <a:off x="244" y="2212"/>
                <a:ext cx="856" cy="232"/>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38" name="Google Shape;838;p60"/>
              <p:cNvSpPr txBox="1"/>
              <p:nvPr/>
            </p:nvSpPr>
            <p:spPr>
              <a:xfrm>
                <a:off x="2116" y="2212"/>
                <a:ext cx="952" cy="232"/>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839" name="Google Shape;839;p60"/>
              <p:cNvCxnSpPr/>
              <p:nvPr/>
            </p:nvCxnSpPr>
            <p:spPr>
              <a:xfrm>
                <a:off x="1104" y="2304"/>
                <a:ext cx="1008" cy="0"/>
              </a:xfrm>
              <a:prstGeom prst="straightConnector1">
                <a:avLst/>
              </a:prstGeom>
              <a:noFill/>
              <a:ln cap="flat" cmpd="sng" w="12700">
                <a:solidFill>
                  <a:schemeClr val="dk1"/>
                </a:solidFill>
                <a:prstDash val="solid"/>
                <a:miter lim="800000"/>
                <a:headEnd len="med" w="med" type="none"/>
                <a:tailEnd len="med" w="med" type="none"/>
              </a:ln>
            </p:spPr>
          </p:cxnSp>
          <p:sp>
            <p:nvSpPr>
              <p:cNvPr id="840" name="Google Shape;840;p60"/>
              <p:cNvSpPr txBox="1"/>
              <p:nvPr/>
            </p:nvSpPr>
            <p:spPr>
              <a:xfrm>
                <a:off x="245" y="2285"/>
                <a:ext cx="509" cy="173"/>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une classe</a:t>
                </a:r>
                <a:endParaRPr/>
              </a:p>
            </p:txBody>
          </p:sp>
          <p:sp>
            <p:nvSpPr>
              <p:cNvPr id="841" name="Google Shape;841;p60"/>
              <p:cNvSpPr txBox="1"/>
              <p:nvPr/>
            </p:nvSpPr>
            <p:spPr>
              <a:xfrm>
                <a:off x="2150" y="2285"/>
                <a:ext cx="726" cy="173"/>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une autre classe</a:t>
                </a:r>
                <a:endParaRPr/>
              </a:p>
            </p:txBody>
          </p:sp>
          <p:sp>
            <p:nvSpPr>
              <p:cNvPr id="842" name="Google Shape;842;p60"/>
              <p:cNvSpPr txBox="1"/>
              <p:nvPr/>
            </p:nvSpPr>
            <p:spPr>
              <a:xfrm>
                <a:off x="1132" y="2093"/>
                <a:ext cx="912" cy="173"/>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nom de l’association</a:t>
                </a:r>
                <a:endParaRPr/>
              </a:p>
            </p:txBody>
          </p:sp>
        </p:grpSp>
        <p:cxnSp>
          <p:nvCxnSpPr>
            <p:cNvPr id="843" name="Google Shape;843;p60"/>
            <p:cNvCxnSpPr/>
            <p:nvPr/>
          </p:nvCxnSpPr>
          <p:spPr>
            <a:xfrm>
              <a:off x="1584" y="2304"/>
              <a:ext cx="0" cy="336"/>
            </a:xfrm>
            <a:prstGeom prst="straightConnector1">
              <a:avLst/>
            </a:prstGeom>
            <a:noFill/>
            <a:ln cap="flat" cmpd="sng" w="12700">
              <a:solidFill>
                <a:schemeClr val="dk1"/>
              </a:solidFill>
              <a:prstDash val="solid"/>
              <a:miter lim="800000"/>
              <a:headEnd len="med" w="med" type="none"/>
              <a:tailEnd len="med" w="med" type="none"/>
            </a:ln>
          </p:spPr>
        </p:cxnSp>
        <p:grpSp>
          <p:nvGrpSpPr>
            <p:cNvPr id="844" name="Google Shape;844;p60"/>
            <p:cNvGrpSpPr/>
            <p:nvPr/>
          </p:nvGrpSpPr>
          <p:grpSpPr>
            <a:xfrm>
              <a:off x="1152" y="2621"/>
              <a:ext cx="912" cy="557"/>
              <a:chOff x="1152" y="2621"/>
              <a:chExt cx="912" cy="557"/>
            </a:xfrm>
          </p:grpSpPr>
          <p:sp>
            <p:nvSpPr>
              <p:cNvPr id="845" name="Google Shape;845;p60"/>
              <p:cNvSpPr txBox="1"/>
              <p:nvPr/>
            </p:nvSpPr>
            <p:spPr>
              <a:xfrm>
                <a:off x="1156" y="2644"/>
                <a:ext cx="904" cy="52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846" name="Google Shape;846;p60"/>
              <p:cNvCxnSpPr/>
              <p:nvPr/>
            </p:nvCxnSpPr>
            <p:spPr>
              <a:xfrm>
                <a:off x="1152" y="3024"/>
                <a:ext cx="912" cy="0"/>
              </a:xfrm>
              <a:prstGeom prst="straightConnector1">
                <a:avLst/>
              </a:prstGeom>
              <a:noFill/>
              <a:ln cap="flat" cmpd="sng" w="12700">
                <a:solidFill>
                  <a:schemeClr val="dk1"/>
                </a:solidFill>
                <a:prstDash val="solid"/>
                <a:miter lim="800000"/>
                <a:headEnd len="med" w="med" type="none"/>
                <a:tailEnd len="med" w="med" type="none"/>
              </a:ln>
            </p:spPr>
          </p:cxnSp>
          <p:cxnSp>
            <p:nvCxnSpPr>
              <p:cNvPr id="847" name="Google Shape;847;p60"/>
              <p:cNvCxnSpPr/>
              <p:nvPr/>
            </p:nvCxnSpPr>
            <p:spPr>
              <a:xfrm>
                <a:off x="1152" y="2880"/>
                <a:ext cx="912" cy="0"/>
              </a:xfrm>
              <a:prstGeom prst="straightConnector1">
                <a:avLst/>
              </a:prstGeom>
              <a:noFill/>
              <a:ln cap="flat" cmpd="sng" w="12700">
                <a:solidFill>
                  <a:schemeClr val="dk1"/>
                </a:solidFill>
                <a:prstDash val="solid"/>
                <a:miter lim="800000"/>
                <a:headEnd len="med" w="med" type="none"/>
                <a:tailEnd len="med" w="med" type="none"/>
              </a:ln>
            </p:spPr>
          </p:cxnSp>
          <p:sp>
            <p:nvSpPr>
              <p:cNvPr id="848" name="Google Shape;848;p60"/>
              <p:cNvSpPr txBox="1"/>
              <p:nvPr/>
            </p:nvSpPr>
            <p:spPr>
              <a:xfrm>
                <a:off x="1190" y="2621"/>
                <a:ext cx="797" cy="288"/>
              </a:xfrm>
              <a:prstGeom prst="rect">
                <a:avLst/>
              </a:prstGeom>
              <a:noFill/>
              <a:ln>
                <a:noFill/>
              </a:ln>
            </p:spPr>
            <p:txBody>
              <a:bodyPr anchorCtr="0" anchor="t" bIns="46025" lIns="92075" spcFirstLastPara="1" rIns="92075" wrap="square" tIns="46025">
                <a:spAutoFit/>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nom de la </a:t>
                </a:r>
                <a:endParaRPr/>
              </a:p>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classe association</a:t>
                </a:r>
                <a:endParaRPr/>
              </a:p>
            </p:txBody>
          </p:sp>
          <p:sp>
            <p:nvSpPr>
              <p:cNvPr id="849" name="Google Shape;849;p60"/>
              <p:cNvSpPr txBox="1"/>
              <p:nvPr/>
            </p:nvSpPr>
            <p:spPr>
              <a:xfrm>
                <a:off x="1419" y="2861"/>
                <a:ext cx="431" cy="173"/>
              </a:xfrm>
              <a:prstGeom prst="rect">
                <a:avLst/>
              </a:prstGeom>
              <a:noFill/>
              <a:ln>
                <a:noFill/>
              </a:ln>
            </p:spPr>
            <p:txBody>
              <a:bodyPr anchorCtr="0" anchor="t" bIns="46025" lIns="92075" spcFirstLastPara="1" rIns="92075" wrap="square" tIns="46025">
                <a:spAutoFit/>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attributs</a:t>
                </a:r>
                <a:endParaRPr/>
              </a:p>
            </p:txBody>
          </p:sp>
          <p:sp>
            <p:nvSpPr>
              <p:cNvPr id="850" name="Google Shape;850;p60"/>
              <p:cNvSpPr txBox="1"/>
              <p:nvPr/>
            </p:nvSpPr>
            <p:spPr>
              <a:xfrm>
                <a:off x="1329" y="3005"/>
                <a:ext cx="516" cy="173"/>
              </a:xfrm>
              <a:prstGeom prst="rect">
                <a:avLst/>
              </a:prstGeom>
              <a:noFill/>
              <a:ln>
                <a:noFill/>
              </a:ln>
            </p:spPr>
            <p:txBody>
              <a:bodyPr anchorCtr="0" anchor="t" bIns="46025" lIns="92075" spcFirstLastPara="1" rIns="92075" wrap="square" tIns="46025">
                <a:spAutoFit/>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operations</a:t>
                </a:r>
                <a:endParaRPr/>
              </a:p>
            </p:txBody>
          </p:sp>
        </p:grpSp>
      </p:grpSp>
      <p:grpSp>
        <p:nvGrpSpPr>
          <p:cNvPr id="851" name="Google Shape;851;p60"/>
          <p:cNvGrpSpPr/>
          <p:nvPr/>
        </p:nvGrpSpPr>
        <p:grpSpPr>
          <a:xfrm>
            <a:off x="4022725" y="5003800"/>
            <a:ext cx="4484687" cy="1036637"/>
            <a:chOff x="2740" y="2621"/>
            <a:chExt cx="2824" cy="653"/>
          </a:xfrm>
        </p:grpSpPr>
        <p:grpSp>
          <p:nvGrpSpPr>
            <p:cNvPr id="852" name="Google Shape;852;p60"/>
            <p:cNvGrpSpPr/>
            <p:nvPr/>
          </p:nvGrpSpPr>
          <p:grpSpPr>
            <a:xfrm>
              <a:off x="2740" y="2909"/>
              <a:ext cx="2824" cy="365"/>
              <a:chOff x="2740" y="2909"/>
              <a:chExt cx="2824" cy="365"/>
            </a:xfrm>
          </p:grpSpPr>
          <p:sp>
            <p:nvSpPr>
              <p:cNvPr id="853" name="Google Shape;853;p60"/>
              <p:cNvSpPr txBox="1"/>
              <p:nvPr/>
            </p:nvSpPr>
            <p:spPr>
              <a:xfrm>
                <a:off x="2740" y="3028"/>
                <a:ext cx="856" cy="232"/>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54" name="Google Shape;854;p60"/>
              <p:cNvSpPr txBox="1"/>
              <p:nvPr/>
            </p:nvSpPr>
            <p:spPr>
              <a:xfrm>
                <a:off x="4612" y="3028"/>
                <a:ext cx="952" cy="232"/>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855" name="Google Shape;855;p60"/>
              <p:cNvCxnSpPr/>
              <p:nvPr/>
            </p:nvCxnSpPr>
            <p:spPr>
              <a:xfrm>
                <a:off x="3600" y="3120"/>
                <a:ext cx="1008" cy="0"/>
              </a:xfrm>
              <a:prstGeom prst="straightConnector1">
                <a:avLst/>
              </a:prstGeom>
              <a:noFill/>
              <a:ln cap="flat" cmpd="sng" w="12700">
                <a:solidFill>
                  <a:schemeClr val="dk1"/>
                </a:solidFill>
                <a:prstDash val="solid"/>
                <a:miter lim="800000"/>
                <a:headEnd len="med" w="med" type="none"/>
                <a:tailEnd len="med" w="med" type="none"/>
              </a:ln>
            </p:spPr>
          </p:cxnSp>
          <p:sp>
            <p:nvSpPr>
              <p:cNvPr id="856" name="Google Shape;856;p60"/>
              <p:cNvSpPr txBox="1"/>
              <p:nvPr/>
            </p:nvSpPr>
            <p:spPr>
              <a:xfrm>
                <a:off x="2741" y="3101"/>
                <a:ext cx="509" cy="173"/>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une classe</a:t>
                </a:r>
                <a:endParaRPr/>
              </a:p>
            </p:txBody>
          </p:sp>
          <p:sp>
            <p:nvSpPr>
              <p:cNvPr id="857" name="Google Shape;857;p60"/>
              <p:cNvSpPr txBox="1"/>
              <p:nvPr/>
            </p:nvSpPr>
            <p:spPr>
              <a:xfrm>
                <a:off x="4646" y="3101"/>
                <a:ext cx="726" cy="173"/>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une autre classe</a:t>
                </a:r>
                <a:endParaRPr/>
              </a:p>
            </p:txBody>
          </p:sp>
          <p:sp>
            <p:nvSpPr>
              <p:cNvPr id="858" name="Google Shape;858;p60"/>
              <p:cNvSpPr txBox="1"/>
              <p:nvPr/>
            </p:nvSpPr>
            <p:spPr>
              <a:xfrm>
                <a:off x="3628" y="2909"/>
                <a:ext cx="912" cy="173"/>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nom de l’association</a:t>
                </a:r>
                <a:endParaRPr/>
              </a:p>
            </p:txBody>
          </p:sp>
        </p:grpSp>
        <p:cxnSp>
          <p:nvCxnSpPr>
            <p:cNvPr id="859" name="Google Shape;859;p60"/>
            <p:cNvCxnSpPr/>
            <p:nvPr/>
          </p:nvCxnSpPr>
          <p:spPr>
            <a:xfrm rot="10800000">
              <a:off x="3024" y="2784"/>
              <a:ext cx="0" cy="240"/>
            </a:xfrm>
            <a:prstGeom prst="straightConnector1">
              <a:avLst/>
            </a:prstGeom>
            <a:noFill/>
            <a:ln cap="flat" cmpd="sng" w="12700">
              <a:solidFill>
                <a:schemeClr val="dk1"/>
              </a:solidFill>
              <a:prstDash val="solid"/>
              <a:miter lim="800000"/>
              <a:headEnd len="med" w="med" type="none"/>
              <a:tailEnd len="med" w="med" type="none"/>
            </a:ln>
          </p:spPr>
        </p:cxnSp>
        <p:cxnSp>
          <p:nvCxnSpPr>
            <p:cNvPr id="860" name="Google Shape;860;p60"/>
            <p:cNvCxnSpPr/>
            <p:nvPr/>
          </p:nvCxnSpPr>
          <p:spPr>
            <a:xfrm>
              <a:off x="3024" y="2784"/>
              <a:ext cx="2208" cy="0"/>
            </a:xfrm>
            <a:prstGeom prst="straightConnector1">
              <a:avLst/>
            </a:prstGeom>
            <a:noFill/>
            <a:ln cap="flat" cmpd="sng" w="12700">
              <a:solidFill>
                <a:schemeClr val="dk1"/>
              </a:solidFill>
              <a:prstDash val="solid"/>
              <a:miter lim="800000"/>
              <a:headEnd len="med" w="med" type="none"/>
              <a:tailEnd len="med" w="med" type="none"/>
            </a:ln>
          </p:spPr>
        </p:cxnSp>
        <p:cxnSp>
          <p:nvCxnSpPr>
            <p:cNvPr id="861" name="Google Shape;861;p60"/>
            <p:cNvCxnSpPr/>
            <p:nvPr/>
          </p:nvCxnSpPr>
          <p:spPr>
            <a:xfrm>
              <a:off x="5232" y="2784"/>
              <a:ext cx="0" cy="240"/>
            </a:xfrm>
            <a:prstGeom prst="straightConnector1">
              <a:avLst/>
            </a:prstGeom>
            <a:noFill/>
            <a:ln cap="flat" cmpd="sng" w="12700">
              <a:solidFill>
                <a:schemeClr val="dk1"/>
              </a:solidFill>
              <a:prstDash val="solid"/>
              <a:miter lim="800000"/>
              <a:headEnd len="med" w="med" type="none"/>
              <a:tailEnd len="med" w="med" type="none"/>
            </a:ln>
          </p:spPr>
        </p:cxnSp>
        <p:sp>
          <p:nvSpPr>
            <p:cNvPr id="862" name="Google Shape;862;p60"/>
            <p:cNvSpPr txBox="1"/>
            <p:nvPr/>
          </p:nvSpPr>
          <p:spPr>
            <a:xfrm>
              <a:off x="3633" y="2621"/>
              <a:ext cx="902" cy="173"/>
            </a:xfrm>
            <a:prstGeom prst="rect">
              <a:avLst/>
            </a:prstGeom>
            <a:noFill/>
            <a:ln>
              <a:noFill/>
            </a:ln>
          </p:spPr>
          <p:txBody>
            <a:bodyPr anchorCtr="0" anchor="t" bIns="46025" lIns="92075" spcFirstLastPara="1" rIns="92075" wrap="square" tIns="46025">
              <a:spAutoFit/>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 association dérivée</a:t>
              </a:r>
              <a:endParaRPr/>
            </a:p>
          </p:txBody>
        </p:sp>
        <p:sp>
          <p:nvSpPr>
            <p:cNvPr id="863" name="Google Shape;863;p60"/>
            <p:cNvSpPr txBox="1"/>
            <p:nvPr/>
          </p:nvSpPr>
          <p:spPr>
            <a:xfrm>
              <a:off x="2999" y="2861"/>
              <a:ext cx="338" cy="173"/>
            </a:xfrm>
            <a:prstGeom prst="rect">
              <a:avLst/>
            </a:prstGeom>
            <a:noFill/>
            <a:ln>
              <a:noFill/>
            </a:ln>
          </p:spPr>
          <p:txBody>
            <a:bodyPr anchorCtr="0" anchor="t" bIns="46025" lIns="92075" spcFirstLastPara="1" rIns="92075" wrap="square" tIns="46025">
              <a:spAutoFit/>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rôle 1</a:t>
              </a:r>
              <a:endParaRPr/>
            </a:p>
          </p:txBody>
        </p:sp>
        <p:sp>
          <p:nvSpPr>
            <p:cNvPr id="864" name="Google Shape;864;p60"/>
            <p:cNvSpPr txBox="1"/>
            <p:nvPr/>
          </p:nvSpPr>
          <p:spPr>
            <a:xfrm>
              <a:off x="4919" y="2841"/>
              <a:ext cx="338" cy="173"/>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rôle 2</a:t>
              </a:r>
              <a:endParaRPr/>
            </a:p>
          </p:txBody>
        </p:sp>
      </p:grpSp>
      <p:sp>
        <p:nvSpPr>
          <p:cNvPr id="865" name="Google Shape;865;p6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Diagrammes de classe.</a:t>
            </a:r>
            <a:endParaRPr/>
          </a:p>
        </p:txBody>
      </p:sp>
      <p:grpSp>
        <p:nvGrpSpPr>
          <p:cNvPr id="866" name="Google Shape;866;p60"/>
          <p:cNvGrpSpPr/>
          <p:nvPr/>
        </p:nvGrpSpPr>
        <p:grpSpPr>
          <a:xfrm>
            <a:off x="4857750" y="1308100"/>
            <a:ext cx="2924175" cy="1243012"/>
            <a:chOff x="384" y="941"/>
            <a:chExt cx="1248" cy="783"/>
          </a:xfrm>
        </p:grpSpPr>
        <p:sp>
          <p:nvSpPr>
            <p:cNvPr id="867" name="Google Shape;867;p60"/>
            <p:cNvSpPr txBox="1"/>
            <p:nvPr/>
          </p:nvSpPr>
          <p:spPr>
            <a:xfrm>
              <a:off x="388" y="964"/>
              <a:ext cx="1240" cy="76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868" name="Google Shape;868;p60"/>
            <p:cNvCxnSpPr/>
            <p:nvPr/>
          </p:nvCxnSpPr>
          <p:spPr>
            <a:xfrm>
              <a:off x="384" y="1152"/>
              <a:ext cx="1248" cy="0"/>
            </a:xfrm>
            <a:prstGeom prst="straightConnector1">
              <a:avLst/>
            </a:prstGeom>
            <a:noFill/>
            <a:ln cap="flat" cmpd="sng" w="12700">
              <a:solidFill>
                <a:schemeClr val="dk1"/>
              </a:solidFill>
              <a:prstDash val="solid"/>
              <a:miter lim="800000"/>
              <a:headEnd len="med" w="med" type="none"/>
              <a:tailEnd len="med" w="med" type="none"/>
            </a:ln>
          </p:spPr>
        </p:cxnSp>
        <p:cxnSp>
          <p:nvCxnSpPr>
            <p:cNvPr id="869" name="Google Shape;869;p60"/>
            <p:cNvCxnSpPr/>
            <p:nvPr/>
          </p:nvCxnSpPr>
          <p:spPr>
            <a:xfrm>
              <a:off x="384" y="1440"/>
              <a:ext cx="1248" cy="0"/>
            </a:xfrm>
            <a:prstGeom prst="straightConnector1">
              <a:avLst/>
            </a:prstGeom>
            <a:noFill/>
            <a:ln cap="flat" cmpd="sng" w="12700">
              <a:solidFill>
                <a:schemeClr val="dk1"/>
              </a:solidFill>
              <a:prstDash val="solid"/>
              <a:miter lim="800000"/>
              <a:headEnd len="med" w="med" type="none"/>
              <a:tailEnd len="med" w="med" type="none"/>
            </a:ln>
          </p:spPr>
        </p:cxnSp>
        <p:sp>
          <p:nvSpPr>
            <p:cNvPr id="870" name="Google Shape;870;p60"/>
            <p:cNvSpPr txBox="1"/>
            <p:nvPr/>
          </p:nvSpPr>
          <p:spPr>
            <a:xfrm>
              <a:off x="614" y="941"/>
              <a:ext cx="626" cy="173"/>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dk1"/>
                </a:buClr>
                <a:buSzPts val="1200"/>
                <a:buFont typeface="Comic Sans MS"/>
                <a:buNone/>
              </a:pPr>
              <a:r>
                <a:rPr b="1" i="0" lang="en-US" sz="1200" u="none">
                  <a:solidFill>
                    <a:schemeClr val="dk1"/>
                  </a:solidFill>
                  <a:latin typeface="Comic Sans MS"/>
                  <a:ea typeface="Comic Sans MS"/>
                  <a:cs typeface="Comic Sans MS"/>
                  <a:sym typeface="Comic Sans MS"/>
                </a:rPr>
                <a:t> nom de la classe</a:t>
              </a:r>
              <a:endParaRPr/>
            </a:p>
          </p:txBody>
        </p:sp>
        <p:sp>
          <p:nvSpPr>
            <p:cNvPr id="871" name="Google Shape;871;p60"/>
            <p:cNvSpPr txBox="1"/>
            <p:nvPr/>
          </p:nvSpPr>
          <p:spPr>
            <a:xfrm>
              <a:off x="422" y="1133"/>
              <a:ext cx="1139"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dk1"/>
                </a:buClr>
                <a:buSzPts val="1200"/>
                <a:buFont typeface="Comic Sans MS"/>
                <a:buNone/>
              </a:pPr>
              <a:r>
                <a:rPr b="1" i="0" lang="en-US" sz="1200" u="none">
                  <a:solidFill>
                    <a:schemeClr val="dk1"/>
                  </a:solidFill>
                  <a:latin typeface="Comic Sans MS"/>
                  <a:ea typeface="Comic Sans MS"/>
                  <a:cs typeface="Comic Sans MS"/>
                  <a:sym typeface="Comic Sans MS"/>
                </a:rPr>
                <a:t>attributs</a:t>
              </a:r>
              <a:endParaRPr/>
            </a:p>
            <a:p>
              <a:pPr indent="0" lvl="0" marL="0" marR="0" rtl="0" algn="l">
                <a:lnSpc>
                  <a:spcPct val="100000"/>
                </a:lnSpc>
                <a:spcBef>
                  <a:spcPts val="0"/>
                </a:spcBef>
                <a:spcAft>
                  <a:spcPts val="0"/>
                </a:spcAft>
                <a:buClr>
                  <a:schemeClr val="dk1"/>
                </a:buClr>
                <a:buSzPts val="1200"/>
                <a:buFont typeface="Comic Sans MS"/>
                <a:buNone/>
              </a:pPr>
              <a:r>
                <a:rPr b="1" i="0" lang="en-US" sz="1200" u="none">
                  <a:solidFill>
                    <a:schemeClr val="dk1"/>
                  </a:solidFill>
                  <a:latin typeface="Comic Sans MS"/>
                  <a:ea typeface="Comic Sans MS"/>
                  <a:cs typeface="Comic Sans MS"/>
                  <a:sym typeface="Comic Sans MS"/>
                </a:rPr>
                <a:t>nom_attr : type =  valeur initiale</a:t>
              </a:r>
              <a:endParaRPr/>
            </a:p>
          </p:txBody>
        </p:sp>
        <p:sp>
          <p:nvSpPr>
            <p:cNvPr id="872" name="Google Shape;872;p60"/>
            <p:cNvSpPr txBox="1"/>
            <p:nvPr/>
          </p:nvSpPr>
          <p:spPr>
            <a:xfrm>
              <a:off x="422" y="1421"/>
              <a:ext cx="789"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dk1"/>
                </a:buClr>
                <a:buSzPts val="1200"/>
                <a:buFont typeface="Comic Sans MS"/>
                <a:buNone/>
              </a:pPr>
              <a:r>
                <a:rPr b="1" i="0" lang="en-US" sz="1200" u="none">
                  <a:solidFill>
                    <a:schemeClr val="dk1"/>
                  </a:solidFill>
                  <a:latin typeface="Comic Sans MS"/>
                  <a:ea typeface="Comic Sans MS"/>
                  <a:cs typeface="Comic Sans MS"/>
                  <a:sym typeface="Comic Sans MS"/>
                </a:rPr>
                <a:t>opérations</a:t>
              </a:r>
              <a:endParaRPr/>
            </a:p>
            <a:p>
              <a:pPr indent="0" lvl="0" marL="0" marR="0" rtl="0" algn="l">
                <a:lnSpc>
                  <a:spcPct val="100000"/>
                </a:lnSpc>
                <a:spcBef>
                  <a:spcPts val="0"/>
                </a:spcBef>
                <a:spcAft>
                  <a:spcPts val="0"/>
                </a:spcAft>
                <a:buClr>
                  <a:schemeClr val="dk1"/>
                </a:buClr>
                <a:buSzPts val="1200"/>
                <a:buFont typeface="Comic Sans MS"/>
                <a:buNone/>
              </a:pPr>
              <a:r>
                <a:rPr b="1" i="0" lang="en-US" sz="1200" u="none">
                  <a:solidFill>
                    <a:schemeClr val="dk1"/>
                  </a:solidFill>
                  <a:latin typeface="Comic Sans MS"/>
                  <a:ea typeface="Comic Sans MS"/>
                  <a:cs typeface="Comic Sans MS"/>
                  <a:sym typeface="Comic Sans MS"/>
                </a:rPr>
                <a:t>nom_op (arg_list):type</a:t>
              </a:r>
              <a:endParaRPr/>
            </a:p>
          </p:txBody>
        </p:sp>
      </p:grpSp>
      <p:grpSp>
        <p:nvGrpSpPr>
          <p:cNvPr id="873" name="Google Shape;873;p60"/>
          <p:cNvGrpSpPr/>
          <p:nvPr/>
        </p:nvGrpSpPr>
        <p:grpSpPr>
          <a:xfrm>
            <a:off x="1357312" y="1193800"/>
            <a:ext cx="2493962" cy="1563687"/>
            <a:chOff x="2246" y="835"/>
            <a:chExt cx="1258" cy="985"/>
          </a:xfrm>
        </p:grpSpPr>
        <p:sp>
          <p:nvSpPr>
            <p:cNvPr id="874" name="Google Shape;874;p60"/>
            <p:cNvSpPr txBox="1"/>
            <p:nvPr/>
          </p:nvSpPr>
          <p:spPr>
            <a:xfrm>
              <a:off x="2260" y="868"/>
              <a:ext cx="1240" cy="952"/>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875" name="Google Shape;875;p60"/>
            <p:cNvCxnSpPr/>
            <p:nvPr/>
          </p:nvCxnSpPr>
          <p:spPr>
            <a:xfrm>
              <a:off x="2256" y="1028"/>
              <a:ext cx="1248" cy="0"/>
            </a:xfrm>
            <a:prstGeom prst="straightConnector1">
              <a:avLst/>
            </a:prstGeom>
            <a:noFill/>
            <a:ln cap="flat" cmpd="sng" w="12700">
              <a:solidFill>
                <a:schemeClr val="dk1"/>
              </a:solidFill>
              <a:prstDash val="solid"/>
              <a:miter lim="800000"/>
              <a:headEnd len="med" w="med" type="none"/>
              <a:tailEnd len="med" w="med" type="none"/>
            </a:ln>
          </p:spPr>
        </p:cxnSp>
        <p:cxnSp>
          <p:nvCxnSpPr>
            <p:cNvPr id="876" name="Google Shape;876;p60"/>
            <p:cNvCxnSpPr/>
            <p:nvPr/>
          </p:nvCxnSpPr>
          <p:spPr>
            <a:xfrm>
              <a:off x="2256" y="1424"/>
              <a:ext cx="1248" cy="0"/>
            </a:xfrm>
            <a:prstGeom prst="straightConnector1">
              <a:avLst/>
            </a:prstGeom>
            <a:noFill/>
            <a:ln cap="flat" cmpd="sng" w="12700">
              <a:solidFill>
                <a:schemeClr val="dk1"/>
              </a:solidFill>
              <a:prstDash val="solid"/>
              <a:miter lim="800000"/>
              <a:headEnd len="med" w="med" type="none"/>
              <a:tailEnd len="med" w="med" type="none"/>
            </a:ln>
          </p:spPr>
        </p:cxnSp>
        <p:sp>
          <p:nvSpPr>
            <p:cNvPr id="877" name="Google Shape;877;p60"/>
            <p:cNvSpPr txBox="1"/>
            <p:nvPr/>
          </p:nvSpPr>
          <p:spPr>
            <a:xfrm>
              <a:off x="2486" y="835"/>
              <a:ext cx="740" cy="173"/>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dk1"/>
                </a:buClr>
                <a:buSzPts val="1200"/>
                <a:buFont typeface="Comic Sans MS"/>
                <a:buNone/>
              </a:pPr>
              <a:r>
                <a:rPr b="1" i="0" lang="en-US" sz="1200" u="none">
                  <a:solidFill>
                    <a:schemeClr val="dk1"/>
                  </a:solidFill>
                  <a:latin typeface="Comic Sans MS"/>
                  <a:ea typeface="Comic Sans MS"/>
                  <a:cs typeface="Comic Sans MS"/>
                  <a:sym typeface="Comic Sans MS"/>
                </a:rPr>
                <a:t> nom de la classe</a:t>
              </a:r>
              <a:endParaRPr/>
            </a:p>
          </p:txBody>
        </p:sp>
        <p:sp>
          <p:nvSpPr>
            <p:cNvPr id="878" name="Google Shape;878;p60"/>
            <p:cNvSpPr txBox="1"/>
            <p:nvPr/>
          </p:nvSpPr>
          <p:spPr>
            <a:xfrm>
              <a:off x="2246" y="1007"/>
              <a:ext cx="840" cy="403"/>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dk1"/>
                </a:buClr>
                <a:buSzPts val="1200"/>
                <a:buFont typeface="Comic Sans MS"/>
                <a:buNone/>
              </a:pPr>
              <a:r>
                <a:rPr b="1" i="0" lang="en-US" sz="1200" u="none">
                  <a:solidFill>
                    <a:schemeClr val="dk1"/>
                  </a:solidFill>
                  <a:latin typeface="Comic Sans MS"/>
                  <a:ea typeface="Comic Sans MS"/>
                  <a:cs typeface="Comic Sans MS"/>
                  <a:sym typeface="Comic Sans MS"/>
                </a:rPr>
                <a:t>- variable privée</a:t>
              </a:r>
              <a:endParaRPr/>
            </a:p>
            <a:p>
              <a:pPr indent="0" lvl="0" marL="0" marR="0" rtl="0" algn="l">
                <a:lnSpc>
                  <a:spcPct val="100000"/>
                </a:lnSpc>
                <a:spcBef>
                  <a:spcPts val="0"/>
                </a:spcBef>
                <a:spcAft>
                  <a:spcPts val="0"/>
                </a:spcAft>
                <a:buClr>
                  <a:schemeClr val="dk1"/>
                </a:buClr>
                <a:buSzPts val="1200"/>
                <a:buFont typeface="Comic Sans MS"/>
                <a:buNone/>
              </a:pPr>
              <a:r>
                <a:rPr b="1" i="0" lang="en-US" sz="1200" u="none">
                  <a:solidFill>
                    <a:schemeClr val="dk1"/>
                  </a:solidFill>
                  <a:latin typeface="Comic Sans MS"/>
                  <a:ea typeface="Comic Sans MS"/>
                  <a:cs typeface="Comic Sans MS"/>
                  <a:sym typeface="Comic Sans MS"/>
                </a:rPr>
                <a:t>+ variable publique</a:t>
              </a:r>
              <a:endParaRPr/>
            </a:p>
            <a:p>
              <a:pPr indent="0" lvl="0" marL="0" marR="0" rtl="0" algn="l">
                <a:lnSpc>
                  <a:spcPct val="100000"/>
                </a:lnSpc>
                <a:spcBef>
                  <a:spcPts val="0"/>
                </a:spcBef>
                <a:spcAft>
                  <a:spcPts val="0"/>
                </a:spcAft>
                <a:buClr>
                  <a:schemeClr val="dk1"/>
                </a:buClr>
                <a:buSzPts val="1200"/>
                <a:buFont typeface="Comic Sans MS"/>
                <a:buNone/>
              </a:pPr>
              <a:r>
                <a:rPr b="1" i="0" lang="en-US" sz="1200" u="none">
                  <a:solidFill>
                    <a:schemeClr val="dk1"/>
                  </a:solidFill>
                  <a:latin typeface="Comic Sans MS"/>
                  <a:ea typeface="Comic Sans MS"/>
                  <a:cs typeface="Comic Sans MS"/>
                  <a:sym typeface="Comic Sans MS"/>
                </a:rPr>
                <a:t># variable protégée</a:t>
              </a:r>
              <a:endParaRPr/>
            </a:p>
          </p:txBody>
        </p:sp>
        <p:sp>
          <p:nvSpPr>
            <p:cNvPr id="879" name="Google Shape;879;p60"/>
            <p:cNvSpPr txBox="1"/>
            <p:nvPr/>
          </p:nvSpPr>
          <p:spPr>
            <a:xfrm>
              <a:off x="2246" y="1407"/>
              <a:ext cx="890" cy="403"/>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dk1"/>
                </a:buClr>
                <a:buSzPts val="1200"/>
                <a:buFont typeface="Comic Sans MS"/>
                <a:buNone/>
              </a:pPr>
              <a:r>
                <a:rPr b="1" i="0" lang="en-US" sz="1200" u="none">
                  <a:solidFill>
                    <a:schemeClr val="dk1"/>
                  </a:solidFill>
                  <a:latin typeface="Comic Sans MS"/>
                  <a:ea typeface="Comic Sans MS"/>
                  <a:cs typeface="Comic Sans MS"/>
                  <a:sym typeface="Comic Sans MS"/>
                </a:rPr>
                <a:t>- opération privée</a:t>
              </a:r>
              <a:endParaRPr/>
            </a:p>
            <a:p>
              <a:pPr indent="0" lvl="0" marL="0" marR="0" rtl="0" algn="l">
                <a:lnSpc>
                  <a:spcPct val="100000"/>
                </a:lnSpc>
                <a:spcBef>
                  <a:spcPts val="0"/>
                </a:spcBef>
                <a:spcAft>
                  <a:spcPts val="0"/>
                </a:spcAft>
                <a:buClr>
                  <a:schemeClr val="dk1"/>
                </a:buClr>
                <a:buSzPts val="1200"/>
                <a:buFont typeface="Comic Sans MS"/>
                <a:buNone/>
              </a:pPr>
              <a:r>
                <a:rPr b="1" i="0" lang="en-US" sz="1200" u="none">
                  <a:solidFill>
                    <a:schemeClr val="dk1"/>
                  </a:solidFill>
                  <a:latin typeface="Comic Sans MS"/>
                  <a:ea typeface="Comic Sans MS"/>
                  <a:cs typeface="Comic Sans MS"/>
                  <a:sym typeface="Comic Sans MS"/>
                </a:rPr>
                <a:t>+ opération publique</a:t>
              </a:r>
              <a:endParaRPr/>
            </a:p>
            <a:p>
              <a:pPr indent="0" lvl="0" marL="0" marR="0" rtl="0" algn="l">
                <a:lnSpc>
                  <a:spcPct val="100000"/>
                </a:lnSpc>
                <a:spcBef>
                  <a:spcPts val="0"/>
                </a:spcBef>
                <a:spcAft>
                  <a:spcPts val="0"/>
                </a:spcAft>
                <a:buClr>
                  <a:schemeClr val="dk1"/>
                </a:buClr>
                <a:buSzPts val="1200"/>
                <a:buFont typeface="Comic Sans MS"/>
                <a:buNone/>
              </a:pPr>
              <a:r>
                <a:rPr b="1" i="0" lang="en-US" sz="1200" u="none">
                  <a:solidFill>
                    <a:schemeClr val="dk1"/>
                  </a:solidFill>
                  <a:latin typeface="Comic Sans MS"/>
                  <a:ea typeface="Comic Sans MS"/>
                  <a:cs typeface="Comic Sans MS"/>
                  <a:sym typeface="Comic Sans MS"/>
                </a:rPr>
                <a:t># opération protégée</a:t>
              </a:r>
              <a:endParaRPr/>
            </a:p>
          </p:txBody>
        </p:sp>
      </p:gr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p6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Visibilité des propriétés</a:t>
            </a:r>
            <a:endParaRPr/>
          </a:p>
        </p:txBody>
      </p:sp>
      <p:sp>
        <p:nvSpPr>
          <p:cNvPr id="885" name="Google Shape;885;p61"/>
          <p:cNvSpPr txBox="1"/>
          <p:nvPr>
            <p:ph idx="1" type="body"/>
          </p:nvPr>
        </p:nvSpPr>
        <p:spPr>
          <a:xfrm>
            <a:off x="395287" y="1341437"/>
            <a:ext cx="3744912" cy="504031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Public +</a:t>
            </a:r>
            <a:endParaRPr/>
          </a:p>
          <a:p>
            <a:pPr indent="-285750" lvl="1" marL="74295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Visible à l’extérieur de la classe</a:t>
            </a:r>
            <a:endParaRPr/>
          </a:p>
          <a:p>
            <a:pPr indent="-342900" lvl="0" marL="34290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Protégé #</a:t>
            </a:r>
            <a:endParaRPr/>
          </a:p>
          <a:p>
            <a:pPr indent="-285750" lvl="1" marL="74295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Visible seulement par les descendants</a:t>
            </a:r>
            <a:endParaRPr/>
          </a:p>
          <a:p>
            <a:pPr indent="-342900" lvl="0" marL="34290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Private -</a:t>
            </a:r>
            <a:endParaRPr/>
          </a:p>
          <a:p>
            <a:pPr indent="-285750" lvl="1" marL="74295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Visible à l’intérieur des méthodes</a:t>
            </a:r>
            <a:endParaRPr/>
          </a:p>
          <a:p>
            <a:pPr indent="-342900" lvl="0" marL="34290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Souligné</a:t>
            </a:r>
            <a:endParaRPr/>
          </a:p>
          <a:p>
            <a:pPr indent="-285750" lvl="1" marL="74295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Variable/opération de classe</a:t>
            </a:r>
            <a:endParaRPr/>
          </a:p>
          <a:p>
            <a:pPr indent="-190500" lvl="0" marL="342900" rtl="0" algn="l">
              <a:spcBef>
                <a:spcPts val="480"/>
              </a:spcBef>
              <a:spcAft>
                <a:spcPts val="0"/>
              </a:spcAft>
              <a:buClr>
                <a:schemeClr val="dk1"/>
              </a:buClr>
              <a:buSzPts val="2400"/>
              <a:buFont typeface="Arial"/>
              <a:buNone/>
            </a:pPr>
            <a:r>
              <a:t/>
            </a:r>
            <a:endParaRPr b="0" i="0" sz="2400" u="none">
              <a:solidFill>
                <a:schemeClr val="dk1"/>
              </a:solidFill>
              <a:latin typeface="Arial"/>
              <a:ea typeface="Arial"/>
              <a:cs typeface="Arial"/>
              <a:sym typeface="Arial"/>
            </a:endParaRPr>
          </a:p>
        </p:txBody>
      </p:sp>
      <p:graphicFrame>
        <p:nvGraphicFramePr>
          <p:cNvPr id="886" name="Google Shape;886;p61"/>
          <p:cNvGraphicFramePr/>
          <p:nvPr/>
        </p:nvGraphicFramePr>
        <p:xfrm>
          <a:off x="3995737" y="1052512"/>
          <a:ext cx="2598737" cy="2519362"/>
        </p:xfrm>
        <a:graphic>
          <a:graphicData uri="http://schemas.openxmlformats.org/presentationml/2006/ole">
            <mc:AlternateContent>
              <mc:Choice Requires="v">
                <p:oleObj r:id="rId4" imgH="2519362" imgW="2598737" progId="Visio.Drawing.6" spid="_x0000_s1">
                  <p:embed/>
                </p:oleObj>
              </mc:Choice>
              <mc:Fallback>
                <p:oleObj r:id="rId5" imgH="2519362" imgW="2598737" progId="Visio.Drawing.6">
                  <p:embed/>
                  <p:pic>
                    <p:nvPicPr>
                      <p:cNvPr id="886" name="Google Shape;886;p61"/>
                      <p:cNvPicPr preferRelativeResize="0"/>
                      <p:nvPr/>
                    </p:nvPicPr>
                    <p:blipFill rotWithShape="1">
                      <a:blip r:embed="rId6">
                        <a:alphaModFix/>
                      </a:blip>
                      <a:srcRect b="0" l="0" r="0" t="0"/>
                      <a:stretch/>
                    </p:blipFill>
                    <p:spPr>
                      <a:xfrm>
                        <a:off x="3995737" y="1052512"/>
                        <a:ext cx="2598737" cy="2519362"/>
                      </a:xfrm>
                      <a:prstGeom prst="rect">
                        <a:avLst/>
                      </a:prstGeom>
                      <a:noFill/>
                      <a:ln>
                        <a:noFill/>
                      </a:ln>
                    </p:spPr>
                  </p:pic>
                </p:oleObj>
              </mc:Fallback>
            </mc:AlternateContent>
          </a:graphicData>
        </a:graphic>
      </p:graphicFrame>
      <p:pic>
        <p:nvPicPr>
          <p:cNvPr id="887" name="Google Shape;887;p61"/>
          <p:cNvPicPr preferRelativeResize="0"/>
          <p:nvPr/>
        </p:nvPicPr>
        <p:blipFill rotWithShape="1">
          <a:blip r:embed="rId7">
            <a:alphaModFix/>
          </a:blip>
          <a:srcRect b="0" l="0" r="0" t="0"/>
          <a:stretch/>
        </p:blipFill>
        <p:spPr>
          <a:xfrm>
            <a:off x="5476875" y="3140075"/>
            <a:ext cx="3473450" cy="345122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6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Variantes de classes</a:t>
            </a:r>
            <a:endParaRPr/>
          </a:p>
        </p:txBody>
      </p:sp>
      <p:sp>
        <p:nvSpPr>
          <p:cNvPr id="893" name="Google Shape;893;p62"/>
          <p:cNvSpPr txBox="1"/>
          <p:nvPr>
            <p:ph idx="1" type="body"/>
          </p:nvPr>
        </p:nvSpPr>
        <p:spPr>
          <a:xfrm>
            <a:off x="228600" y="1117600"/>
            <a:ext cx="5927725" cy="49530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Classe emboîtée</a:t>
            </a:r>
            <a:endParaRPr/>
          </a:p>
          <a:p>
            <a:pPr indent="-285750" lvl="1" marL="74295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Déclarée dans la portée lexicale d’une autre classe.</a:t>
            </a:r>
            <a:endParaRPr/>
          </a:p>
          <a:p>
            <a:pPr indent="-342900" lvl="0" marL="342900" rtl="0" algn="l">
              <a:lnSpc>
                <a:spcPct val="9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Type</a:t>
            </a:r>
            <a:endParaRPr/>
          </a:p>
          <a:p>
            <a:pPr indent="-285750" lvl="1" marL="74295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un domaine de définition d’objets</a:t>
            </a:r>
            <a:endParaRPr/>
          </a:p>
          <a:p>
            <a:pPr indent="-285750" lvl="1" marL="74295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opérations + attributs + associations</a:t>
            </a:r>
            <a:endParaRPr/>
          </a:p>
          <a:p>
            <a:pPr indent="-342900" lvl="0" marL="342900" rtl="0" algn="l">
              <a:lnSpc>
                <a:spcPct val="9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Classe d’implémentation </a:t>
            </a:r>
            <a:endParaRPr/>
          </a:p>
          <a:p>
            <a:pPr indent="-285750" lvl="1" marL="74295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Pour la réalisation des types</a:t>
            </a:r>
            <a:endParaRPr/>
          </a:p>
          <a:p>
            <a:pPr indent="-285750" lvl="1" marL="74295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Méthodes + structure de données physiques</a:t>
            </a:r>
            <a:endParaRPr/>
          </a:p>
          <a:p>
            <a:pPr indent="-165100" lvl="0" marL="342900" rtl="0" algn="l">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p:txBody>
      </p:sp>
      <p:pic>
        <p:nvPicPr>
          <p:cNvPr id="894" name="Google Shape;894;p62"/>
          <p:cNvPicPr preferRelativeResize="0"/>
          <p:nvPr/>
        </p:nvPicPr>
        <p:blipFill rotWithShape="1">
          <a:blip r:embed="rId3">
            <a:alphaModFix/>
          </a:blip>
          <a:srcRect b="0" l="0" r="0" t="0"/>
          <a:stretch/>
        </p:blipFill>
        <p:spPr>
          <a:xfrm>
            <a:off x="7740650" y="981075"/>
            <a:ext cx="1138237" cy="1581150"/>
          </a:xfrm>
          <a:prstGeom prst="rect">
            <a:avLst/>
          </a:prstGeom>
          <a:noFill/>
          <a:ln>
            <a:noFill/>
          </a:ln>
        </p:spPr>
      </p:pic>
      <p:pic>
        <p:nvPicPr>
          <p:cNvPr id="895" name="Google Shape;895;p62"/>
          <p:cNvPicPr preferRelativeResize="0"/>
          <p:nvPr/>
        </p:nvPicPr>
        <p:blipFill rotWithShape="1">
          <a:blip r:embed="rId4">
            <a:alphaModFix/>
          </a:blip>
          <a:srcRect b="0" l="0" r="0" t="0"/>
          <a:stretch/>
        </p:blipFill>
        <p:spPr>
          <a:xfrm>
            <a:off x="4573587" y="2636837"/>
            <a:ext cx="4570412" cy="279082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6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r>
              <a:rPr b="1" i="0" lang="en-US" sz="4000" u="none">
                <a:solidFill>
                  <a:schemeClr val="dk2"/>
                </a:solidFill>
                <a:latin typeface="Arial"/>
                <a:ea typeface="Arial"/>
                <a:cs typeface="Arial"/>
                <a:sym typeface="Arial"/>
              </a:rPr>
              <a:t>Liens et associations</a:t>
            </a:r>
            <a:br>
              <a:rPr b="1" i="0" lang="en-US" sz="4000" u="none">
                <a:solidFill>
                  <a:schemeClr val="dk2"/>
                </a:solidFill>
                <a:latin typeface="Arial"/>
                <a:ea typeface="Arial"/>
                <a:cs typeface="Arial"/>
                <a:sym typeface="Arial"/>
              </a:rPr>
            </a:br>
            <a:r>
              <a:rPr b="1" i="0" lang="en-US" sz="4000" u="none">
                <a:solidFill>
                  <a:schemeClr val="dk2"/>
                </a:solidFill>
                <a:latin typeface="Arial"/>
                <a:ea typeface="Arial"/>
                <a:cs typeface="Arial"/>
                <a:sym typeface="Arial"/>
              </a:rPr>
              <a:t>Relations entre Classes</a:t>
            </a:r>
            <a:endParaRPr/>
          </a:p>
        </p:txBody>
      </p:sp>
      <p:sp>
        <p:nvSpPr>
          <p:cNvPr id="901" name="Google Shape;901;p6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Les </a:t>
            </a:r>
            <a:r>
              <a:rPr b="1" i="1" lang="en-US" sz="2800" u="none">
                <a:solidFill>
                  <a:schemeClr val="dk1"/>
                </a:solidFill>
                <a:latin typeface="Arial"/>
                <a:ea typeface="Arial"/>
                <a:cs typeface="Arial"/>
                <a:sym typeface="Arial"/>
              </a:rPr>
              <a:t>liens </a:t>
            </a:r>
            <a:r>
              <a:rPr b="1" i="0" lang="en-US" sz="2800" u="none">
                <a:solidFill>
                  <a:schemeClr val="dk1"/>
                </a:solidFill>
                <a:latin typeface="Arial"/>
                <a:ea typeface="Arial"/>
                <a:cs typeface="Arial"/>
                <a:sym typeface="Arial"/>
              </a:rPr>
              <a:t>permettent d'établir des relations entre objets (ou instances). Les </a:t>
            </a:r>
            <a:r>
              <a:rPr b="1" i="1" lang="en-US" sz="2800" u="none">
                <a:solidFill>
                  <a:schemeClr val="dk1"/>
                </a:solidFill>
                <a:latin typeface="Arial"/>
                <a:ea typeface="Arial"/>
                <a:cs typeface="Arial"/>
                <a:sym typeface="Arial"/>
              </a:rPr>
              <a:t>associations</a:t>
            </a:r>
            <a:endParaRPr/>
          </a:p>
          <a:p>
            <a:pPr indent="-342900" lvl="0" marL="342900" rtl="0" algn="l">
              <a:lnSpc>
                <a:spcPct val="100000"/>
              </a:lnSpc>
              <a:spcBef>
                <a:spcPts val="56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permettent d'établir des relations entre classes. Un </a:t>
            </a:r>
            <a:r>
              <a:rPr b="1" i="1" lang="en-US" sz="2800" u="none">
                <a:solidFill>
                  <a:schemeClr val="dk1"/>
                </a:solidFill>
                <a:latin typeface="Arial"/>
                <a:ea typeface="Arial"/>
                <a:cs typeface="Arial"/>
                <a:sym typeface="Arial"/>
              </a:rPr>
              <a:t>lien </a:t>
            </a:r>
            <a:r>
              <a:rPr b="1" i="0" lang="en-US" sz="2800" u="none">
                <a:solidFill>
                  <a:schemeClr val="dk1"/>
                </a:solidFill>
                <a:latin typeface="Arial"/>
                <a:ea typeface="Arial"/>
                <a:cs typeface="Arial"/>
                <a:sym typeface="Arial"/>
              </a:rPr>
              <a:t>est une connexion entre des instances</a:t>
            </a:r>
            <a:endParaRPr/>
          </a:p>
          <a:p>
            <a:pPr indent="-342900" lvl="0" marL="342900" rtl="0" algn="l">
              <a:lnSpc>
                <a:spcPct val="100000"/>
              </a:lnSpc>
              <a:spcBef>
                <a:spcPts val="56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d'objets. Une </a:t>
            </a:r>
            <a:r>
              <a:rPr b="1" i="1" lang="en-US" sz="2800" u="none">
                <a:solidFill>
                  <a:schemeClr val="dk1"/>
                </a:solidFill>
                <a:latin typeface="Arial"/>
                <a:ea typeface="Arial"/>
                <a:cs typeface="Arial"/>
                <a:sym typeface="Arial"/>
              </a:rPr>
              <a:t>association </a:t>
            </a:r>
            <a:r>
              <a:rPr b="1" i="0" lang="en-US" sz="2800" u="none">
                <a:solidFill>
                  <a:schemeClr val="dk1"/>
                </a:solidFill>
                <a:latin typeface="Arial"/>
                <a:ea typeface="Arial"/>
                <a:cs typeface="Arial"/>
                <a:sym typeface="Arial"/>
              </a:rPr>
              <a:t>décrit un groupe de liens ayant un sens commun et c'est une connexion entre des classes d'objets.</a:t>
            </a:r>
            <a:endParaRPr/>
          </a:p>
          <a:p>
            <a:pPr indent="-165100" lvl="0" marL="342900" rtl="0" algn="l">
              <a:spcBef>
                <a:spcPts val="560"/>
              </a:spcBef>
              <a:spcAft>
                <a:spcPts val="0"/>
              </a:spcAft>
              <a:buClr>
                <a:schemeClr val="dk1"/>
              </a:buClr>
              <a:buSzPts val="2800"/>
              <a:buFont typeface="Arial"/>
              <a:buNone/>
            </a:pPr>
            <a:r>
              <a:t/>
            </a:r>
            <a:endParaRPr b="1" i="0" sz="2800" u="none">
              <a:solidFill>
                <a:schemeClr val="dk1"/>
              </a:solidFill>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p6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Quelques Exemples</a:t>
            </a:r>
            <a:br>
              <a:rPr b="0" i="0" lang="en-US" sz="4000" u="none">
                <a:solidFill>
                  <a:schemeClr val="dk2"/>
                </a:solidFill>
                <a:latin typeface="Arial"/>
                <a:ea typeface="Arial"/>
                <a:cs typeface="Arial"/>
                <a:sym typeface="Arial"/>
              </a:rPr>
            </a:br>
            <a:r>
              <a:rPr b="0" i="0" lang="en-US" sz="4000" u="none">
                <a:solidFill>
                  <a:schemeClr val="dk2"/>
                </a:solidFill>
                <a:latin typeface="Arial"/>
                <a:ea typeface="Arial"/>
                <a:cs typeface="Arial"/>
                <a:sym typeface="Arial"/>
              </a:rPr>
              <a:t>Exemple d’association</a:t>
            </a:r>
            <a:endParaRPr/>
          </a:p>
        </p:txBody>
      </p:sp>
      <p:sp>
        <p:nvSpPr>
          <p:cNvPr id="907" name="Google Shape;907;p6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a:p>
            <a:pPr indent="-342900" lvl="0" marL="342900" rtl="0" algn="l">
              <a:lnSpc>
                <a:spcPct val="100000"/>
              </a:lnSpc>
              <a:spcBef>
                <a:spcPts val="64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 travaille-pour » est une association de la classe « Personne » avec la classe « Société ».</a:t>
            </a:r>
            <a:endParaRPr/>
          </a:p>
          <a:p>
            <a:pPr indent="-342900" lvl="0" marL="342900" rtl="0" algn="l">
              <a:lnSpc>
                <a:spcPct val="100000"/>
              </a:lnSpc>
              <a:spcBef>
                <a:spcPts val="64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 a-pour-capitale » est une association de la classe « Pays » avec la classe « Ville ».</a:t>
            </a:r>
            <a:endParaRPr/>
          </a:p>
          <a:p>
            <a:pPr indent="-139700" lvl="0" marL="342900" rtl="0" algn="l">
              <a:spcBef>
                <a:spcPts val="64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6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Les relations entre classes</a:t>
            </a:r>
            <a:endParaRPr/>
          </a:p>
        </p:txBody>
      </p:sp>
      <p:sp>
        <p:nvSpPr>
          <p:cNvPr id="913" name="Google Shape;913;p65"/>
          <p:cNvSpPr txBox="1"/>
          <p:nvPr>
            <p:ph idx="1" type="body"/>
          </p:nvPr>
        </p:nvSpPr>
        <p:spPr>
          <a:xfrm>
            <a:off x="457200" y="1600200"/>
            <a:ext cx="4040187"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L’association</a:t>
            </a:r>
            <a:endParaRPr/>
          </a:p>
          <a:p>
            <a:pPr indent="-342900" lvl="0" marL="34290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L’agrégation</a:t>
            </a:r>
            <a:endParaRPr/>
          </a:p>
          <a:p>
            <a:pPr indent="-342900" lvl="0" marL="34290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La composition</a:t>
            </a:r>
            <a:endParaRPr/>
          </a:p>
          <a:p>
            <a:pPr indent="-342900" lvl="0" marL="34290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La généralisation</a:t>
            </a:r>
            <a:endParaRPr/>
          </a:p>
          <a:p>
            <a:pPr indent="-342900" lvl="0" marL="34290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La dépendance</a:t>
            </a:r>
            <a:endParaRPr/>
          </a:p>
        </p:txBody>
      </p:sp>
      <p:sp>
        <p:nvSpPr>
          <p:cNvPr id="914" name="Google Shape;914;p65"/>
          <p:cNvSpPr txBox="1"/>
          <p:nvPr>
            <p:ph idx="1" type="body"/>
          </p:nvPr>
        </p:nvSpPr>
        <p:spPr>
          <a:xfrm>
            <a:off x="4646612" y="1600200"/>
            <a:ext cx="4040187"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L’association exprime une connexion sémantique bidirectionnelle entre classes</a:t>
            </a:r>
            <a:endParaRPr/>
          </a:p>
          <a:p>
            <a:pPr indent="-342900" lvl="0" marL="34290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Une association est une abstraction des liens qui existent entre les objets instances des classes associées</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66"/>
          <p:cNvSpPr txBox="1"/>
          <p:nvPr>
            <p:ph type="title"/>
          </p:nvPr>
        </p:nvSpPr>
        <p:spPr>
          <a:xfrm>
            <a:off x="457200" y="274637"/>
            <a:ext cx="8229600" cy="1143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Nommage des associations</a:t>
            </a:r>
            <a:endParaRPr/>
          </a:p>
        </p:txBody>
      </p:sp>
      <p:sp>
        <p:nvSpPr>
          <p:cNvPr id="921" name="Google Shape;921;p66"/>
          <p:cNvSpPr txBox="1"/>
          <p:nvPr>
            <p:ph idx="1" type="body"/>
          </p:nvPr>
        </p:nvSpPr>
        <p:spPr>
          <a:xfrm>
            <a:off x="457200" y="1600200"/>
            <a:ext cx="8229600" cy="4525962"/>
          </a:xfrm>
          <a:prstGeom prst="rect">
            <a:avLst/>
          </a:prstGeom>
          <a:noFill/>
          <a:ln>
            <a:noFill/>
          </a:ln>
        </p:spPr>
        <p:txBody>
          <a:bodyPr anchorCtr="0" anchor="t" bIns="46025" lIns="92075" spcFirstLastPara="1" rIns="92075" wrap="square" tIns="46025">
            <a:noAutofit/>
          </a:bodyPr>
          <a:lstStyle/>
          <a:p>
            <a:pPr indent="-342900" lvl="0" marL="34290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Indication du sens de lecture</a:t>
            </a:r>
            <a:endParaRPr/>
          </a:p>
        </p:txBody>
      </p:sp>
      <p:graphicFrame>
        <p:nvGraphicFramePr>
          <p:cNvPr id="922" name="Google Shape;922;p66"/>
          <p:cNvGraphicFramePr/>
          <p:nvPr/>
        </p:nvGraphicFramePr>
        <p:xfrm>
          <a:off x="827087" y="2492375"/>
          <a:ext cx="7345362" cy="3527425"/>
        </p:xfrm>
        <a:graphic>
          <a:graphicData uri="http://schemas.openxmlformats.org/presentationml/2006/ole">
            <mc:AlternateContent>
              <mc:Choice Requires="v">
                <p:oleObj r:id="rId4" imgH="3527425" imgW="7345362" progId="Visio.Drawing.6" spid="_x0000_s1">
                  <p:embed/>
                </p:oleObj>
              </mc:Choice>
              <mc:Fallback>
                <p:oleObj r:id="rId5" imgH="3527425" imgW="7345362" progId="Visio.Drawing.6">
                  <p:embed/>
                  <p:pic>
                    <p:nvPicPr>
                      <p:cNvPr id="922" name="Google Shape;922;p66"/>
                      <p:cNvPicPr preferRelativeResize="0"/>
                      <p:nvPr/>
                    </p:nvPicPr>
                    <p:blipFill rotWithShape="1">
                      <a:blip r:embed="rId6">
                        <a:alphaModFix/>
                      </a:blip>
                      <a:srcRect b="0" l="0" r="0" t="0"/>
                      <a:stretch/>
                    </p:blipFill>
                    <p:spPr>
                      <a:xfrm>
                        <a:off x="827087" y="2492375"/>
                        <a:ext cx="7345362" cy="3527425"/>
                      </a:xfrm>
                      <a:prstGeom prst="rect">
                        <a:avLst/>
                      </a:prstGeom>
                      <a:noFill/>
                      <a:ln>
                        <a:noFill/>
                      </a:ln>
                    </p:spPr>
                  </p:pic>
                </p:oleObj>
              </mc:Fallback>
            </mc:AlternateContent>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67"/>
          <p:cNvSpPr txBox="1"/>
          <p:nvPr>
            <p:ph type="title"/>
          </p:nvPr>
        </p:nvSpPr>
        <p:spPr>
          <a:xfrm>
            <a:off x="457200" y="274637"/>
            <a:ext cx="8229600" cy="1143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Nommage des rôles</a:t>
            </a:r>
            <a:endParaRPr/>
          </a:p>
        </p:txBody>
      </p:sp>
      <p:sp>
        <p:nvSpPr>
          <p:cNvPr id="929" name="Google Shape;929;p67"/>
          <p:cNvSpPr txBox="1"/>
          <p:nvPr>
            <p:ph idx="1" type="body"/>
          </p:nvPr>
        </p:nvSpPr>
        <p:spPr>
          <a:xfrm>
            <a:off x="457200" y="1600200"/>
            <a:ext cx="8229600" cy="4525962"/>
          </a:xfrm>
          <a:prstGeom prst="rect">
            <a:avLst/>
          </a:prstGeom>
          <a:noFill/>
          <a:ln>
            <a:noFill/>
          </a:ln>
        </p:spPr>
        <p:txBody>
          <a:bodyPr anchorCtr="0" anchor="t" bIns="46025" lIns="92075" spcFirstLastPara="1" rIns="92075" wrap="square" tIns="46025">
            <a:noAutofit/>
          </a:bodyPr>
          <a:lstStyle/>
          <a:p>
            <a:pPr indent="-342900" lvl="0" marL="34290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Le rôle décrit une extrémité d’une association</a:t>
            </a:r>
            <a:endParaRPr/>
          </a:p>
        </p:txBody>
      </p:sp>
      <p:graphicFrame>
        <p:nvGraphicFramePr>
          <p:cNvPr id="930" name="Google Shape;930;p67"/>
          <p:cNvGraphicFramePr/>
          <p:nvPr/>
        </p:nvGraphicFramePr>
        <p:xfrm>
          <a:off x="971550" y="3068637"/>
          <a:ext cx="6985000" cy="2466975"/>
        </p:xfrm>
        <a:graphic>
          <a:graphicData uri="http://schemas.openxmlformats.org/presentationml/2006/ole">
            <mc:AlternateContent>
              <mc:Choice Requires="v">
                <p:oleObj r:id="rId4" imgH="2466975" imgW="6985000" progId="Visio.Drawing.6" spid="_x0000_s1">
                  <p:embed/>
                </p:oleObj>
              </mc:Choice>
              <mc:Fallback>
                <p:oleObj r:id="rId5" imgH="2466975" imgW="6985000" progId="Visio.Drawing.6">
                  <p:embed/>
                  <p:pic>
                    <p:nvPicPr>
                      <p:cNvPr id="930" name="Google Shape;930;p67"/>
                      <p:cNvPicPr preferRelativeResize="0"/>
                      <p:nvPr/>
                    </p:nvPicPr>
                    <p:blipFill rotWithShape="1">
                      <a:blip r:embed="rId6">
                        <a:alphaModFix/>
                      </a:blip>
                      <a:srcRect b="0" l="0" r="0" t="0"/>
                      <a:stretch/>
                    </p:blipFill>
                    <p:spPr>
                      <a:xfrm>
                        <a:off x="971550" y="3068637"/>
                        <a:ext cx="6985000" cy="2466975"/>
                      </a:xfrm>
                      <a:prstGeom prst="rect">
                        <a:avLst/>
                      </a:prstGeom>
                      <a:noFill/>
                      <a:ln>
                        <a:noFill/>
                      </a:ln>
                    </p:spPr>
                  </p:pic>
                </p:oleObj>
              </mc:Fallback>
            </mc:AlternateContent>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p68"/>
          <p:cNvSpPr txBox="1"/>
          <p:nvPr>
            <p:ph type="title"/>
          </p:nvPr>
        </p:nvSpPr>
        <p:spPr>
          <a:xfrm>
            <a:off x="457200" y="274637"/>
            <a:ext cx="8229600" cy="1143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Multiplicité des rôles</a:t>
            </a:r>
            <a:endParaRPr/>
          </a:p>
        </p:txBody>
      </p:sp>
      <p:sp>
        <p:nvSpPr>
          <p:cNvPr id="937" name="Google Shape;937;p68"/>
          <p:cNvSpPr txBox="1"/>
          <p:nvPr/>
        </p:nvSpPr>
        <p:spPr>
          <a:xfrm>
            <a:off x="242887" y="3438525"/>
            <a:ext cx="5616575" cy="26479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1		Un et un seul</a:t>
            </a:r>
            <a:endParaRPr/>
          </a:p>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0..1		Zéro ou un</a:t>
            </a:r>
            <a:endParaRPr/>
          </a:p>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M .. N	De M à N (entiers naturels)</a:t>
            </a:r>
            <a:endParaRPr/>
          </a:p>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		Plusieurs</a:t>
            </a:r>
            <a:endParaRPr/>
          </a:p>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0 .. *		De zéro à plusieurs</a:t>
            </a:r>
            <a:endParaRPr/>
          </a:p>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1 .. *		D'un à plusieurs</a:t>
            </a:r>
            <a:endParaRPr/>
          </a:p>
          <a:p>
            <a:pPr indent="0" lvl="0" marL="0" marR="0" rtl="0" algn="l">
              <a:lnSpc>
                <a:spcPct val="100000"/>
              </a:lnSpc>
              <a:spcBef>
                <a:spcPts val="0"/>
              </a:spcBef>
              <a:spcAft>
                <a:spcPts val="0"/>
              </a:spcAft>
              <a:buNone/>
            </a:pPr>
            <a:r>
              <a:t/>
            </a:r>
            <a:endParaRPr b="0" i="0" sz="2400" u="none">
              <a:solidFill>
                <a:schemeClr val="dk1"/>
              </a:solidFill>
              <a:latin typeface="Comic Sans MS"/>
              <a:ea typeface="Comic Sans MS"/>
              <a:cs typeface="Comic Sans MS"/>
              <a:sym typeface="Comic Sans MS"/>
            </a:endParaRPr>
          </a:p>
        </p:txBody>
      </p:sp>
      <p:pic>
        <p:nvPicPr>
          <p:cNvPr id="938" name="Google Shape;938;p68"/>
          <p:cNvPicPr preferRelativeResize="0"/>
          <p:nvPr/>
        </p:nvPicPr>
        <p:blipFill rotWithShape="1">
          <a:blip r:embed="rId3">
            <a:alphaModFix/>
          </a:blip>
          <a:srcRect b="0" l="0" r="0" t="0"/>
          <a:stretch/>
        </p:blipFill>
        <p:spPr>
          <a:xfrm>
            <a:off x="4500562" y="1341437"/>
            <a:ext cx="4418012" cy="1139825"/>
          </a:xfrm>
          <a:prstGeom prst="rect">
            <a:avLst/>
          </a:prstGeom>
          <a:noFill/>
          <a:ln>
            <a:noFill/>
          </a:ln>
        </p:spPr>
      </p:pic>
      <p:pic>
        <p:nvPicPr>
          <p:cNvPr id="939" name="Google Shape;939;p68"/>
          <p:cNvPicPr preferRelativeResize="0"/>
          <p:nvPr/>
        </p:nvPicPr>
        <p:blipFill rotWithShape="1">
          <a:blip r:embed="rId4">
            <a:alphaModFix/>
          </a:blip>
          <a:srcRect b="0" l="0" r="0" t="0"/>
          <a:stretch/>
        </p:blipFill>
        <p:spPr>
          <a:xfrm>
            <a:off x="4500562" y="2420937"/>
            <a:ext cx="4405312" cy="1063625"/>
          </a:xfrm>
          <a:prstGeom prst="rect">
            <a:avLst/>
          </a:prstGeom>
          <a:noFill/>
          <a:ln>
            <a:noFill/>
          </a:ln>
        </p:spPr>
      </p:pic>
      <p:pic>
        <p:nvPicPr>
          <p:cNvPr id="940" name="Google Shape;940;p68"/>
          <p:cNvPicPr preferRelativeResize="0"/>
          <p:nvPr/>
        </p:nvPicPr>
        <p:blipFill rotWithShape="1">
          <a:blip r:embed="rId5">
            <a:alphaModFix/>
          </a:blip>
          <a:srcRect b="0" l="0" r="0" t="0"/>
          <a:stretch/>
        </p:blipFill>
        <p:spPr>
          <a:xfrm>
            <a:off x="4284662" y="3357562"/>
            <a:ext cx="4389437" cy="969962"/>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6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Navigabilité</a:t>
            </a:r>
            <a:endParaRPr/>
          </a:p>
        </p:txBody>
      </p:sp>
      <p:sp>
        <p:nvSpPr>
          <p:cNvPr id="946" name="Google Shape;946;p69"/>
          <p:cNvSpPr txBox="1"/>
          <p:nvPr>
            <p:ph idx="1" type="body"/>
          </p:nvPr>
        </p:nvSpPr>
        <p:spPr>
          <a:xfrm>
            <a:off x="457200" y="1600200"/>
            <a:ext cx="4619625" cy="586105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étant donnée une association non décorée entre deux classes, on peut naviguer d'un type d'objet vers un autre type d'objet.</a:t>
            </a:r>
            <a:endParaRPr/>
          </a:p>
          <a:p>
            <a:pPr indent="-342900" lvl="0" marL="34290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par défaut une association est navigable dans les deux sens.</a:t>
            </a:r>
            <a:endParaRPr/>
          </a:p>
          <a:p>
            <a:pPr indent="-342900" lvl="0" marL="34290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une indication de navigabilité suggère en général qu'à partir d'un objet à une extrémité on peut directement et facilement atteindre l'un des objets à l'autre extrémité.</a:t>
            </a:r>
            <a:endParaRPr/>
          </a:p>
        </p:txBody>
      </p:sp>
      <p:sp>
        <p:nvSpPr>
          <p:cNvPr id="947" name="Google Shape;947;p69"/>
          <p:cNvSpPr txBox="1"/>
          <p:nvPr>
            <p:ph idx="1" type="body"/>
          </p:nvPr>
        </p:nvSpPr>
        <p:spPr>
          <a:xfrm>
            <a:off x="4652962" y="2940050"/>
            <a:ext cx="4033837" cy="318611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étant donné un utilisateur, on désire pouvoir accéder à ses mots de passe</a:t>
            </a:r>
            <a:endParaRPr/>
          </a:p>
          <a:p>
            <a:pPr indent="-215900" lvl="0" marL="342900" rtl="0" algn="l">
              <a:lnSpc>
                <a:spcPct val="100000"/>
              </a:lnSpc>
              <a:spcBef>
                <a:spcPts val="400"/>
              </a:spcBef>
              <a:spcAft>
                <a:spcPts val="0"/>
              </a:spcAft>
              <a:buClr>
                <a:schemeClr val="dk1"/>
              </a:buClr>
              <a:buSzPts val="2000"/>
              <a:buFont typeface="Arial"/>
              <a:buNone/>
            </a:pPr>
            <a:r>
              <a:t/>
            </a:r>
            <a:endParaRPr b="0" i="0" sz="2000" u="none">
              <a:solidFill>
                <a:schemeClr val="dk1"/>
              </a:solidFill>
              <a:latin typeface="Arial"/>
              <a:ea typeface="Arial"/>
              <a:cs typeface="Arial"/>
              <a:sym typeface="Arial"/>
            </a:endParaRPr>
          </a:p>
          <a:p>
            <a:pPr indent="-342900" lvl="0" marL="34290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étant donné un mot de passe, on ne souhaite pas pouvoir accéder à l'utilisateur correspondant</a:t>
            </a:r>
            <a:endParaRPr/>
          </a:p>
        </p:txBody>
      </p:sp>
      <p:pic>
        <p:nvPicPr>
          <p:cNvPr id="948" name="Google Shape;948;p69"/>
          <p:cNvPicPr preferRelativeResize="0"/>
          <p:nvPr/>
        </p:nvPicPr>
        <p:blipFill rotWithShape="1">
          <a:blip r:embed="rId3">
            <a:alphaModFix/>
          </a:blip>
          <a:srcRect b="0" l="0" r="0" t="0"/>
          <a:stretch/>
        </p:blipFill>
        <p:spPr>
          <a:xfrm>
            <a:off x="5051425" y="1276350"/>
            <a:ext cx="3714750" cy="80010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pic>
        <p:nvPicPr>
          <p:cNvPr id="953" name="Google Shape;953;p70"/>
          <p:cNvPicPr preferRelativeResize="0"/>
          <p:nvPr/>
        </p:nvPicPr>
        <p:blipFill rotWithShape="1">
          <a:blip r:embed="rId3">
            <a:alphaModFix/>
          </a:blip>
          <a:srcRect b="0" l="0" r="0" t="0"/>
          <a:stretch/>
        </p:blipFill>
        <p:spPr>
          <a:xfrm>
            <a:off x="80962" y="1316037"/>
            <a:ext cx="8982075" cy="4225925"/>
          </a:xfrm>
          <a:prstGeom prst="rect">
            <a:avLst/>
          </a:prstGeom>
          <a:noFill/>
          <a:ln>
            <a:noFill/>
          </a:ln>
        </p:spPr>
      </p:pic>
      <p:sp>
        <p:nvSpPr>
          <p:cNvPr id="954" name="Google Shape;954;p7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Exemple</a:t>
            </a:r>
            <a:endParaRPr/>
          </a:p>
        </p:txBody>
      </p:sp>
      <p:sp>
        <p:nvSpPr>
          <p:cNvPr id="955" name="Google Shape;955;p70"/>
          <p:cNvSpPr/>
          <p:nvPr/>
        </p:nvSpPr>
        <p:spPr>
          <a:xfrm>
            <a:off x="5691187" y="3011487"/>
            <a:ext cx="84137" cy="90487"/>
          </a:xfrm>
          <a:prstGeom prst="triangle">
            <a:avLst>
              <a:gd fmla="val 50000" name="adj"/>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56" name="Google Shape;956;p70"/>
          <p:cNvSpPr/>
          <p:nvPr/>
        </p:nvSpPr>
        <p:spPr>
          <a:xfrm rot="-5400000">
            <a:off x="5046662" y="4721225"/>
            <a:ext cx="84137" cy="90487"/>
          </a:xfrm>
          <a:prstGeom prst="triangle">
            <a:avLst>
              <a:gd fmla="val 50000" name="adj"/>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57" name="Google Shape;957;p70"/>
          <p:cNvSpPr/>
          <p:nvPr/>
        </p:nvSpPr>
        <p:spPr>
          <a:xfrm rot="5400000">
            <a:off x="2960687" y="4725987"/>
            <a:ext cx="84137" cy="90487"/>
          </a:xfrm>
          <a:prstGeom prst="triangle">
            <a:avLst>
              <a:gd fmla="val 50000" name="adj"/>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58" name="Google Shape;958;p70"/>
          <p:cNvSpPr/>
          <p:nvPr/>
        </p:nvSpPr>
        <p:spPr>
          <a:xfrm rot="10800000">
            <a:off x="7281862" y="2178050"/>
            <a:ext cx="84137" cy="90487"/>
          </a:xfrm>
          <a:prstGeom prst="triangle">
            <a:avLst>
              <a:gd fmla="val 50000" name="adj"/>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59" name="Google Shape;959;p70"/>
          <p:cNvSpPr/>
          <p:nvPr/>
        </p:nvSpPr>
        <p:spPr>
          <a:xfrm>
            <a:off x="985837" y="2906712"/>
            <a:ext cx="84137" cy="90487"/>
          </a:xfrm>
          <a:prstGeom prst="triangle">
            <a:avLst>
              <a:gd fmla="val 50000" name="adj"/>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60" name="Google Shape;960;p70"/>
          <p:cNvSpPr/>
          <p:nvPr/>
        </p:nvSpPr>
        <p:spPr>
          <a:xfrm rot="5400000">
            <a:off x="3094037" y="1487487"/>
            <a:ext cx="84137" cy="90487"/>
          </a:xfrm>
          <a:prstGeom prst="triangle">
            <a:avLst>
              <a:gd fmla="val 50000" name="adj"/>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p71"/>
          <p:cNvSpPr txBox="1"/>
          <p:nvPr>
            <p:ph type="title"/>
          </p:nvPr>
        </p:nvSpPr>
        <p:spPr>
          <a:xfrm>
            <a:off x="457200" y="274637"/>
            <a:ext cx="8229600" cy="1143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L'agrégation</a:t>
            </a:r>
            <a:endParaRPr/>
          </a:p>
        </p:txBody>
      </p:sp>
      <p:sp>
        <p:nvSpPr>
          <p:cNvPr id="967" name="Google Shape;967;p71"/>
          <p:cNvSpPr txBox="1"/>
          <p:nvPr>
            <p:ph idx="1" type="body"/>
          </p:nvPr>
        </p:nvSpPr>
        <p:spPr>
          <a:xfrm>
            <a:off x="827087" y="1830387"/>
            <a:ext cx="7783512" cy="4138612"/>
          </a:xfrm>
          <a:prstGeom prst="rect">
            <a:avLst/>
          </a:prstGeom>
          <a:noFill/>
          <a:ln>
            <a:noFill/>
          </a:ln>
        </p:spPr>
        <p:txBody>
          <a:bodyPr anchorCtr="0" anchor="t" bIns="46025" lIns="92075" spcFirstLastPara="1" rIns="92075" wrap="square" tIns="46025">
            <a:noAutofit/>
          </a:bodyPr>
          <a:lstStyle/>
          <a:p>
            <a:pPr indent="-342900" lvl="0" marL="34290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Connexions sémantiques bidirectionnelles antisymétriques</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Forme d’association qui exprime un couplage plus fort entre classes</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Représentation des relations </a:t>
            </a:r>
            <a:endParaRPr/>
          </a:p>
          <a:p>
            <a:pPr indent="-285750" lvl="1" marL="74295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maître et esclaves</a:t>
            </a:r>
            <a:endParaRPr/>
          </a:p>
          <a:p>
            <a:pPr indent="-285750" lvl="1" marL="74295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tout et parties</a:t>
            </a:r>
            <a:endParaRPr/>
          </a:p>
          <a:p>
            <a:pPr indent="-285750" lvl="1" marL="74295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composé et composant.</a:t>
            </a:r>
            <a:endParaRPr/>
          </a:p>
        </p:txBody>
      </p:sp>
      <p:pic>
        <p:nvPicPr>
          <p:cNvPr id="968" name="Google Shape;968;p71"/>
          <p:cNvPicPr preferRelativeResize="0"/>
          <p:nvPr/>
        </p:nvPicPr>
        <p:blipFill rotWithShape="1">
          <a:blip r:embed="rId3">
            <a:alphaModFix/>
          </a:blip>
          <a:srcRect b="0" l="0" r="0" t="0"/>
          <a:stretch/>
        </p:blipFill>
        <p:spPr>
          <a:xfrm>
            <a:off x="5435600" y="4033837"/>
            <a:ext cx="3175000" cy="2347912"/>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sp>
        <p:nvSpPr>
          <p:cNvPr id="973" name="Google Shape;973;p7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La composition</a:t>
            </a:r>
            <a:endParaRPr/>
          </a:p>
        </p:txBody>
      </p:sp>
      <p:sp>
        <p:nvSpPr>
          <p:cNvPr id="974" name="Google Shape;974;p72"/>
          <p:cNvSpPr txBox="1"/>
          <p:nvPr>
            <p:ph idx="1" type="body"/>
          </p:nvPr>
        </p:nvSpPr>
        <p:spPr>
          <a:xfrm>
            <a:off x="457200" y="1600200"/>
            <a:ext cx="3856037"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Modélisation de la composition physique</a:t>
            </a:r>
            <a:endParaRPr/>
          </a:p>
          <a:p>
            <a:pPr indent="-285750" lvl="1" marL="74295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Multiplicité au max de 1 du coté de l’agrégat</a:t>
            </a:r>
            <a:endParaRPr/>
          </a:p>
          <a:p>
            <a:pPr indent="-285750" lvl="1" marL="74295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Propagation automatique de la destruction</a:t>
            </a:r>
            <a:endParaRPr/>
          </a:p>
        </p:txBody>
      </p:sp>
      <p:graphicFrame>
        <p:nvGraphicFramePr>
          <p:cNvPr id="975" name="Google Shape;975;p72"/>
          <p:cNvGraphicFramePr/>
          <p:nvPr/>
        </p:nvGraphicFramePr>
        <p:xfrm>
          <a:off x="4572000" y="4437062"/>
          <a:ext cx="3830637" cy="1001712"/>
        </p:xfrm>
        <a:graphic>
          <a:graphicData uri="http://schemas.openxmlformats.org/presentationml/2006/ole">
            <mc:AlternateContent>
              <mc:Choice Requires="v">
                <p:oleObj r:id="rId4" imgH="1001712" imgW="3830637" progId="Visio.Drawing.6" spid="_x0000_s1">
                  <p:embed/>
                </p:oleObj>
              </mc:Choice>
              <mc:Fallback>
                <p:oleObj r:id="rId5" imgH="1001712" imgW="3830637" progId="Visio.Drawing.6">
                  <p:embed/>
                  <p:pic>
                    <p:nvPicPr>
                      <p:cNvPr id="975" name="Google Shape;975;p72"/>
                      <p:cNvPicPr preferRelativeResize="0"/>
                      <p:nvPr/>
                    </p:nvPicPr>
                    <p:blipFill rotWithShape="1">
                      <a:blip r:embed="rId6">
                        <a:alphaModFix/>
                      </a:blip>
                      <a:srcRect b="0" l="0" r="0" t="0"/>
                      <a:stretch/>
                    </p:blipFill>
                    <p:spPr>
                      <a:xfrm>
                        <a:off x="4572000" y="4437062"/>
                        <a:ext cx="3830637" cy="1001712"/>
                      </a:xfrm>
                      <a:prstGeom prst="rect">
                        <a:avLst/>
                      </a:prstGeom>
                      <a:noFill/>
                      <a:ln>
                        <a:noFill/>
                      </a:ln>
                    </p:spPr>
                  </p:pic>
                </p:oleObj>
              </mc:Fallback>
            </mc:AlternateContent>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p7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Exemple : graphe non orienté</a:t>
            </a:r>
            <a:endParaRPr/>
          </a:p>
        </p:txBody>
      </p:sp>
      <p:pic>
        <p:nvPicPr>
          <p:cNvPr id="981" name="Google Shape;981;p73"/>
          <p:cNvPicPr preferRelativeResize="0"/>
          <p:nvPr>
            <p:ph idx="1" type="body"/>
          </p:nvPr>
        </p:nvPicPr>
        <p:blipFill rotWithShape="1">
          <a:blip r:embed="rId3">
            <a:alphaModFix/>
          </a:blip>
          <a:srcRect b="0" l="0" r="0" t="0"/>
          <a:stretch/>
        </p:blipFill>
        <p:spPr>
          <a:xfrm>
            <a:off x="844550" y="1604962"/>
            <a:ext cx="6865937" cy="3751262"/>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74"/>
          <p:cNvSpPr txBox="1"/>
          <p:nvPr>
            <p:ph type="title"/>
          </p:nvPr>
        </p:nvSpPr>
        <p:spPr>
          <a:xfrm>
            <a:off x="457200" y="274637"/>
            <a:ext cx="8229600" cy="1143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Hiérarchies de classes</a:t>
            </a:r>
            <a:endParaRPr/>
          </a:p>
        </p:txBody>
      </p:sp>
      <p:sp>
        <p:nvSpPr>
          <p:cNvPr id="988" name="Google Shape;988;p74"/>
          <p:cNvSpPr txBox="1"/>
          <p:nvPr>
            <p:ph idx="1" type="body"/>
          </p:nvPr>
        </p:nvSpPr>
        <p:spPr>
          <a:xfrm>
            <a:off x="344487" y="1370012"/>
            <a:ext cx="3208337" cy="4529137"/>
          </a:xfrm>
          <a:prstGeom prst="rect">
            <a:avLst/>
          </a:prstGeom>
          <a:noFill/>
          <a:ln>
            <a:noFill/>
          </a:ln>
        </p:spPr>
        <p:txBody>
          <a:bodyPr anchorCtr="0" anchor="t" bIns="46025" lIns="92075" spcFirstLastPara="1" rIns="92075" wrap="square" tIns="46025">
            <a:noAutofit/>
          </a:bodyPr>
          <a:lstStyle/>
          <a:p>
            <a:pPr indent="-342900" lvl="0" marL="34290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Gérer la complexité </a:t>
            </a:r>
            <a:endParaRPr/>
          </a:p>
          <a:p>
            <a:pPr indent="-285750" lvl="1" marL="74295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Arborescences de classes d’abstraction croissante</a:t>
            </a:r>
            <a:endParaRPr/>
          </a:p>
        </p:txBody>
      </p:sp>
      <p:graphicFrame>
        <p:nvGraphicFramePr>
          <p:cNvPr id="989" name="Google Shape;989;p74"/>
          <p:cNvGraphicFramePr/>
          <p:nvPr/>
        </p:nvGraphicFramePr>
        <p:xfrm>
          <a:off x="579437" y="3887787"/>
          <a:ext cx="3325812" cy="2298700"/>
        </p:xfrm>
        <a:graphic>
          <a:graphicData uri="http://schemas.openxmlformats.org/presentationml/2006/ole">
            <mc:AlternateContent>
              <mc:Choice Requires="v">
                <p:oleObj r:id="rId4" imgH="2298700" imgW="3325812" progId="Visio.Drawing.6" spid="_x0000_s1">
                  <p:embed/>
                </p:oleObj>
              </mc:Choice>
              <mc:Fallback>
                <p:oleObj r:id="rId5" imgH="2298700" imgW="3325812" progId="Visio.Drawing.6">
                  <p:embed/>
                  <p:pic>
                    <p:nvPicPr>
                      <p:cNvPr id="989" name="Google Shape;989;p74"/>
                      <p:cNvPicPr preferRelativeResize="0"/>
                      <p:nvPr/>
                    </p:nvPicPr>
                    <p:blipFill rotWithShape="1">
                      <a:blip r:embed="rId6">
                        <a:alphaModFix/>
                      </a:blip>
                      <a:srcRect b="0" l="0" r="0" t="0"/>
                      <a:stretch/>
                    </p:blipFill>
                    <p:spPr>
                      <a:xfrm>
                        <a:off x="579437" y="3887787"/>
                        <a:ext cx="3325812" cy="2298700"/>
                      </a:xfrm>
                      <a:prstGeom prst="rect">
                        <a:avLst/>
                      </a:prstGeom>
                      <a:noFill/>
                      <a:ln>
                        <a:noFill/>
                      </a:ln>
                    </p:spPr>
                  </p:pic>
                </p:oleObj>
              </mc:Fallback>
            </mc:AlternateContent>
          </a:graphicData>
        </a:graphic>
      </p:graphicFrame>
      <p:pic>
        <p:nvPicPr>
          <p:cNvPr id="990" name="Google Shape;990;p74"/>
          <p:cNvPicPr preferRelativeResize="0"/>
          <p:nvPr/>
        </p:nvPicPr>
        <p:blipFill rotWithShape="1">
          <a:blip r:embed="rId7">
            <a:alphaModFix/>
          </a:blip>
          <a:srcRect b="0" l="0" r="0" t="0"/>
          <a:stretch/>
        </p:blipFill>
        <p:spPr>
          <a:xfrm>
            <a:off x="5184775" y="1296987"/>
            <a:ext cx="3959225" cy="5273675"/>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7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Relation de dépendance</a:t>
            </a:r>
            <a:endParaRPr/>
          </a:p>
        </p:txBody>
      </p:sp>
      <p:sp>
        <p:nvSpPr>
          <p:cNvPr id="996" name="Google Shape;996;p7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Relations d’obsolescence dans un modèle</a:t>
            </a:r>
            <a:endParaRPr/>
          </a:p>
        </p:txBody>
      </p:sp>
      <p:pic>
        <p:nvPicPr>
          <p:cNvPr id="997" name="Google Shape;997;p75"/>
          <p:cNvPicPr preferRelativeResize="0"/>
          <p:nvPr/>
        </p:nvPicPr>
        <p:blipFill rotWithShape="1">
          <a:blip r:embed="rId3">
            <a:alphaModFix/>
          </a:blip>
          <a:srcRect b="0" l="0" r="0" t="0"/>
          <a:stretch/>
        </p:blipFill>
        <p:spPr>
          <a:xfrm>
            <a:off x="1042987" y="2133600"/>
            <a:ext cx="6902450" cy="4400550"/>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7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1" i="1" lang="en-US" sz="4400" u="none">
                <a:solidFill>
                  <a:schemeClr val="dk2"/>
                </a:solidFill>
                <a:latin typeface="Arial"/>
                <a:ea typeface="Arial"/>
                <a:cs typeface="Arial"/>
                <a:sym typeface="Arial"/>
              </a:rPr>
              <a:t>Exercice D’application</a:t>
            </a:r>
            <a:endParaRPr/>
          </a:p>
        </p:txBody>
      </p:sp>
      <p:sp>
        <p:nvSpPr>
          <p:cNvPr id="1003" name="Google Shape;1003;p7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400"/>
              <a:buFont typeface="Arial"/>
              <a:buNone/>
            </a:pPr>
            <a:br>
              <a:rPr b="0" i="0" lang="en-US" sz="2400" u="none">
                <a:solidFill>
                  <a:schemeClr val="dk1"/>
                </a:solidFill>
                <a:latin typeface="Arial"/>
                <a:ea typeface="Arial"/>
                <a:cs typeface="Arial"/>
                <a:sym typeface="Arial"/>
              </a:rPr>
            </a:br>
            <a:r>
              <a:rPr b="1" i="1" lang="en-US" sz="2400" u="none">
                <a:solidFill>
                  <a:schemeClr val="dk1"/>
                </a:solidFill>
                <a:latin typeface="Arial"/>
                <a:ea typeface="Arial"/>
                <a:cs typeface="Arial"/>
                <a:sym typeface="Arial"/>
              </a:rPr>
              <a:t>Les employés d'une SSII travaillent chez les clients pour le compte de départements (Production, Commercial, Formation...) avec un certain niveau de responsabilité (technicien, ingénieur, chef de projet...). Un employé peut travailler dans plusieurs départements avec des responsabilités différentes. On s'intéresse à la facturation des prestations fournies aux clients. Celles-ci comportent notamment un montant forfaitaire lié au niveau de responsabilité au titre duquel cette prestation a été faite.</a:t>
            </a:r>
            <a:r>
              <a:rPr b="0" i="0" lang="en-US" sz="2400" u="none">
                <a:solidFill>
                  <a:schemeClr val="dk1"/>
                </a:solidFill>
                <a:latin typeface="Arial"/>
                <a:ea typeface="Arial"/>
                <a:cs typeface="Arial"/>
                <a:sym typeface="Arial"/>
              </a:rPr>
              <a:t>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p7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Solution</a:t>
            </a:r>
            <a:endParaRPr/>
          </a:p>
        </p:txBody>
      </p:sp>
      <p:pic>
        <p:nvPicPr>
          <p:cNvPr id="1009" name="Google Shape;1009;p77"/>
          <p:cNvPicPr preferRelativeResize="0"/>
          <p:nvPr>
            <p:ph idx="1" type="body"/>
          </p:nvPr>
        </p:nvPicPr>
        <p:blipFill rotWithShape="1">
          <a:blip r:embed="rId3">
            <a:alphaModFix/>
          </a:blip>
          <a:srcRect b="0" l="0" r="0" t="0"/>
          <a:stretch/>
        </p:blipFill>
        <p:spPr>
          <a:xfrm>
            <a:off x="457200" y="1600200"/>
            <a:ext cx="8229600" cy="4525962"/>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sp>
        <p:nvSpPr>
          <p:cNvPr id="1014" name="Google Shape;1014;p7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1" i="0" lang="en-US" sz="4400" u="none">
                <a:solidFill>
                  <a:schemeClr val="dk2"/>
                </a:solidFill>
                <a:latin typeface="Arial"/>
                <a:ea typeface="Arial"/>
                <a:cs typeface="Arial"/>
                <a:sym typeface="Arial"/>
              </a:rPr>
              <a:t>La décomposabilité</a:t>
            </a:r>
            <a:endParaRPr/>
          </a:p>
        </p:txBody>
      </p:sp>
      <p:sp>
        <p:nvSpPr>
          <p:cNvPr id="1015" name="Google Shape;1015;p7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Bien que la notation UML ne l'indique pas explicitement, nous conviendrons que la décomposition due aux </a:t>
            </a:r>
            <a:r>
              <a:rPr b="1" i="0" lang="en-US" sz="2800" u="sng">
                <a:solidFill>
                  <a:schemeClr val="dk1"/>
                </a:solidFill>
                <a:hlinkClick r:id="rId3">
                  <a:extLst>
                    <a:ext uri="{A12FA001-AC4F-418D-AE19-62706E023703}">
                      <ahyp:hlinkClr val="tx"/>
                    </a:ext>
                  </a:extLst>
                </a:hlinkClick>
              </a:rPr>
              <a:t>CIF</a:t>
            </a:r>
            <a:r>
              <a:rPr b="1" i="0" lang="en-US" sz="2800" u="none">
                <a:solidFill>
                  <a:schemeClr val="dk1"/>
                </a:solidFill>
                <a:latin typeface="Arial"/>
                <a:ea typeface="Arial"/>
                <a:cs typeface="Arial"/>
                <a:sym typeface="Arial"/>
              </a:rPr>
              <a:t> doit s'appliquer. L'association d'arité 3 signifie donc ici l'indécomposabilité :</a:t>
            </a:r>
            <a:r>
              <a:rPr b="0" i="0" lang="en-US" sz="2800" u="none">
                <a:solidFill>
                  <a:schemeClr val="dk1"/>
                </a:solidFill>
                <a:latin typeface="Arial"/>
                <a:ea typeface="Arial"/>
                <a:cs typeface="Arial"/>
                <a:sym typeface="Arial"/>
              </a:rPr>
              <a:t> </a:t>
            </a:r>
            <a:br>
              <a:rPr b="0" i="0" lang="en-US" sz="2800" u="none">
                <a:solidFill>
                  <a:schemeClr val="dk1"/>
                </a:solidFill>
                <a:latin typeface="Arial"/>
                <a:ea typeface="Arial"/>
                <a:cs typeface="Arial"/>
                <a:sym typeface="Arial"/>
              </a:rPr>
            </a:br>
            <a:r>
              <a:rPr b="1" i="0" lang="en-US" sz="2800" u="none">
                <a:solidFill>
                  <a:schemeClr val="dk1"/>
                </a:solidFill>
                <a:latin typeface="Arial"/>
                <a:ea typeface="Arial"/>
                <a:cs typeface="Arial"/>
                <a:sym typeface="Arial"/>
              </a:rPr>
              <a:t>- 1 département -&gt; plusieurs responsabilités, 1 responsabilité -&gt; plusieurs départements</a:t>
            </a:r>
            <a:r>
              <a:rPr b="0" i="0" lang="en-US" sz="2800" u="none">
                <a:solidFill>
                  <a:schemeClr val="dk1"/>
                </a:solidFill>
                <a:latin typeface="Arial"/>
                <a:ea typeface="Arial"/>
                <a:cs typeface="Arial"/>
                <a:sym typeface="Arial"/>
              </a:rPr>
              <a:t> </a:t>
            </a:r>
            <a:br>
              <a:rPr b="0" i="0" lang="en-US" sz="2800" u="none">
                <a:solidFill>
                  <a:schemeClr val="dk1"/>
                </a:solidFill>
                <a:latin typeface="Arial"/>
                <a:ea typeface="Arial"/>
                <a:cs typeface="Arial"/>
                <a:sym typeface="Arial"/>
              </a:rPr>
            </a:br>
            <a:r>
              <a:rPr b="1" i="0" lang="en-US" sz="2800" u="none">
                <a:solidFill>
                  <a:schemeClr val="dk1"/>
                </a:solidFill>
                <a:latin typeface="Arial"/>
                <a:ea typeface="Arial"/>
                <a:cs typeface="Arial"/>
                <a:sym typeface="Arial"/>
              </a:rPr>
              <a:t>- 1 responsabilité -&gt; plusieurs employés, 1 employés -&gt; plusieurs responsabilités</a:t>
            </a:r>
            <a:r>
              <a:rPr b="0" i="0" lang="en-US" sz="2800" u="none">
                <a:solidFill>
                  <a:schemeClr val="dk1"/>
                </a:solidFill>
                <a:latin typeface="Arial"/>
                <a:ea typeface="Arial"/>
                <a:cs typeface="Arial"/>
                <a:sym typeface="Arial"/>
              </a:rPr>
              <a:t> </a:t>
            </a:r>
            <a:br>
              <a:rPr b="0" i="0" lang="en-US" sz="2800" u="none">
                <a:solidFill>
                  <a:schemeClr val="dk1"/>
                </a:solidFill>
                <a:latin typeface="Arial"/>
                <a:ea typeface="Arial"/>
                <a:cs typeface="Arial"/>
                <a:sym typeface="Arial"/>
              </a:rPr>
            </a:br>
            <a:r>
              <a:rPr b="1" i="0" lang="en-US" sz="2800" u="none">
                <a:solidFill>
                  <a:schemeClr val="dk1"/>
                </a:solidFill>
                <a:latin typeface="Arial"/>
                <a:ea typeface="Arial"/>
                <a:cs typeface="Arial"/>
                <a:sym typeface="Arial"/>
              </a:rPr>
              <a:t>- 1 employé -&gt; plusieurs départements, 1 département -&gt; plusieurs employés</a:t>
            </a:r>
            <a:r>
              <a:rPr b="0" i="0" lang="en-US" sz="2800" u="none">
                <a:solidFill>
                  <a:schemeClr val="dk1"/>
                </a:solidFill>
                <a:latin typeface="Arial"/>
                <a:ea typeface="Arial"/>
                <a:cs typeface="Arial"/>
                <a:sym typeface="Arial"/>
              </a:rPr>
              <a:t> </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p7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1" i="1" lang="en-US" sz="4400" u="none">
                <a:solidFill>
                  <a:schemeClr val="dk2"/>
                </a:solidFill>
                <a:latin typeface="Arial"/>
                <a:ea typeface="Arial"/>
                <a:cs typeface="Arial"/>
                <a:sym typeface="Arial"/>
              </a:rPr>
              <a:t>Cas de la Multiplicité</a:t>
            </a:r>
            <a:endParaRPr/>
          </a:p>
        </p:txBody>
      </p:sp>
      <p:sp>
        <p:nvSpPr>
          <p:cNvPr id="1021" name="Google Shape;1021;p7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Arial"/>
              <a:buChar char="•"/>
            </a:pPr>
            <a:r>
              <a:rPr b="1" i="1" lang="en-US" sz="2800" u="none">
                <a:solidFill>
                  <a:schemeClr val="dk1"/>
                </a:solidFill>
                <a:latin typeface="Arial"/>
                <a:ea typeface="Arial"/>
                <a:cs typeface="Arial"/>
                <a:sym typeface="Arial"/>
              </a:rPr>
              <a:t>Multiplicité :</a:t>
            </a:r>
            <a:r>
              <a:rPr b="1" i="0" lang="en-US" sz="2800" u="none">
                <a:solidFill>
                  <a:schemeClr val="dk1"/>
                </a:solidFill>
                <a:latin typeface="Arial"/>
                <a:ea typeface="Arial"/>
                <a:cs typeface="Arial"/>
                <a:sym typeface="Arial"/>
              </a:rPr>
              <a:t> sa signification change par rapport aux associations binaires : </a:t>
            </a:r>
            <a:r>
              <a:rPr b="1" i="1" lang="en-US" sz="2800" u="none">
                <a:solidFill>
                  <a:schemeClr val="dk1"/>
                </a:solidFill>
                <a:latin typeface="Arial"/>
                <a:ea typeface="Arial"/>
                <a:cs typeface="Arial"/>
                <a:sym typeface="Arial"/>
              </a:rPr>
              <a:t>* du côté employé signifie : pour une paire d'instances (département x responsabilité), soit un n-uplet de valeurs, il y a de 0 à plusieurs employés sources.</a:t>
            </a:r>
            <a:r>
              <a:rPr b="0" i="0" lang="en-US" sz="2800" u="none">
                <a:solidFill>
                  <a:schemeClr val="dk1"/>
                </a:solidFill>
                <a:latin typeface="Arial"/>
                <a:ea typeface="Arial"/>
                <a:cs typeface="Arial"/>
                <a:sym typeface="Arial"/>
              </a:rPr>
              <a:t> </a:t>
            </a:r>
            <a:br>
              <a:rPr b="0" i="0" lang="en-US" sz="2800" u="none">
                <a:solidFill>
                  <a:schemeClr val="dk1"/>
                </a:solidFill>
                <a:latin typeface="Arial"/>
                <a:ea typeface="Arial"/>
                <a:cs typeface="Arial"/>
                <a:sym typeface="Arial"/>
              </a:rPr>
            </a:br>
            <a:r>
              <a:rPr b="1" i="0" lang="en-US" sz="2800" u="none">
                <a:solidFill>
                  <a:schemeClr val="dk1"/>
                </a:solidFill>
                <a:latin typeface="Arial"/>
                <a:ea typeface="Arial"/>
                <a:cs typeface="Arial"/>
                <a:sym typeface="Arial"/>
              </a:rPr>
              <a:t>(C'est ce changement qui est évité par la </a:t>
            </a:r>
            <a:r>
              <a:rPr b="1" i="0" lang="en-US" sz="2800" u="sng">
                <a:solidFill>
                  <a:schemeClr val="dk1"/>
                </a:solidFill>
                <a:hlinkClick r:id="rId3">
                  <a:extLst>
                    <a:ext uri="{A12FA001-AC4F-418D-AE19-62706E023703}">
                      <ahyp:hlinkClr val="tx"/>
                    </a:ext>
                  </a:extLst>
                </a:hlinkClick>
              </a:rPr>
              <a:t>définition merisienne</a:t>
            </a:r>
            <a:r>
              <a:rPr b="1" i="0" lang="en-US" sz="2800" u="none">
                <a:solidFill>
                  <a:schemeClr val="dk1"/>
                </a:solidFill>
                <a:latin typeface="Arial"/>
                <a:ea typeface="Arial"/>
                <a:cs typeface="Arial"/>
                <a:sym typeface="Arial"/>
              </a:rPr>
              <a:t> des cardinalités).</a:t>
            </a:r>
            <a:r>
              <a:rPr b="0" i="0" lang="en-US" sz="2800" u="none">
                <a:solidFill>
                  <a:schemeClr val="dk1"/>
                </a:solidFill>
                <a:latin typeface="Arial"/>
                <a:ea typeface="Arial"/>
                <a:cs typeface="Arial"/>
                <a:sym typeface="Arial"/>
              </a:rPr>
              <a:t> </a:t>
            </a:r>
            <a:endParaRPr/>
          </a:p>
          <a:p>
            <a:pPr indent="-342900" lvl="0" marL="342900" rtl="0" algn="l">
              <a:lnSpc>
                <a:spcPct val="100000"/>
              </a:lnSpc>
              <a:spcBef>
                <a:spcPts val="560"/>
              </a:spcBef>
              <a:spcAft>
                <a:spcPts val="0"/>
              </a:spcAft>
              <a:buClr>
                <a:schemeClr val="dk1"/>
              </a:buClr>
              <a:buSzPts val="2800"/>
              <a:buFont typeface="Arial"/>
              <a:buChar char="•"/>
            </a:pPr>
            <a:r>
              <a:rPr b="1" i="1" lang="en-US" sz="2800" u="none">
                <a:solidFill>
                  <a:schemeClr val="dk1"/>
                </a:solidFill>
                <a:latin typeface="Arial"/>
                <a:ea typeface="Arial"/>
                <a:cs typeface="Arial"/>
                <a:sym typeface="Arial"/>
              </a:rPr>
              <a:t>Ce qui est interdit : </a:t>
            </a:r>
            <a:r>
              <a:rPr b="1" i="0" lang="en-US" sz="2800" u="none">
                <a:solidFill>
                  <a:schemeClr val="dk1"/>
                </a:solidFill>
                <a:latin typeface="Arial"/>
                <a:ea typeface="Arial"/>
                <a:cs typeface="Arial"/>
                <a:sym typeface="Arial"/>
              </a:rPr>
              <a:t>les </a:t>
            </a:r>
            <a:r>
              <a:rPr b="1" i="0" lang="en-US" sz="2800" u="sng">
                <a:solidFill>
                  <a:schemeClr val="dk1"/>
                </a:solidFill>
                <a:hlinkClick r:id="rId4">
                  <a:extLst>
                    <a:ext uri="{A12FA001-AC4F-418D-AE19-62706E023703}">
                      <ahyp:hlinkClr val="tx"/>
                    </a:ext>
                  </a:extLst>
                </a:hlinkClick>
              </a:rPr>
              <a:t>qualifiants</a:t>
            </a:r>
            <a:r>
              <a:rPr b="1" i="0" lang="en-US" sz="2800" u="none">
                <a:solidFill>
                  <a:schemeClr val="dk1"/>
                </a:solidFill>
                <a:latin typeface="Arial"/>
                <a:ea typeface="Arial"/>
                <a:cs typeface="Arial"/>
                <a:sym typeface="Arial"/>
              </a:rPr>
              <a:t>les qualifiants et les </a:t>
            </a:r>
            <a:r>
              <a:rPr b="1" i="0" lang="en-US" sz="2800" u="sng">
                <a:solidFill>
                  <a:schemeClr val="dk1"/>
                </a:solidFill>
                <a:hlinkClick r:id="rId5">
                  <a:extLst>
                    <a:ext uri="{A12FA001-AC4F-418D-AE19-62706E023703}">
                      <ahyp:hlinkClr val="tx"/>
                    </a:ext>
                  </a:extLst>
                </a:hlinkClick>
              </a:rPr>
              <a:t>agrégations</a:t>
            </a:r>
            <a:r>
              <a:rPr b="0" i="0" lang="en-US" sz="2800" u="none">
                <a:solidFill>
                  <a:schemeClr val="dk1"/>
                </a:solidFill>
                <a:latin typeface="Arial"/>
                <a:ea typeface="Arial"/>
                <a:cs typeface="Arial"/>
                <a:sym typeface="Arial"/>
              </a:rPr>
              <a:t> </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p8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4400">
              <a:solidFill>
                <a:schemeClr val="dk2"/>
              </a:solidFill>
              <a:latin typeface="Arial"/>
              <a:ea typeface="Arial"/>
              <a:cs typeface="Arial"/>
              <a:sym typeface="Arial"/>
            </a:endParaRPr>
          </a:p>
        </p:txBody>
      </p:sp>
      <p:sp>
        <p:nvSpPr>
          <p:cNvPr id="1027" name="Google Shape;1027;p8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Char char="•"/>
            </a:pPr>
            <a:r>
              <a:rPr b="1" i="1" lang="en-US" sz="3200" u="none">
                <a:solidFill>
                  <a:schemeClr val="dk1"/>
                </a:solidFill>
                <a:latin typeface="Arial"/>
                <a:ea typeface="Arial"/>
                <a:cs typeface="Arial"/>
                <a:sym typeface="Arial"/>
              </a:rPr>
              <a:t>Ce qui reste possible :</a:t>
            </a:r>
            <a:r>
              <a:rPr b="0" i="0" lang="en-US" sz="3200" u="none">
                <a:solidFill>
                  <a:schemeClr val="dk1"/>
                </a:solidFill>
                <a:latin typeface="Arial"/>
                <a:ea typeface="Arial"/>
                <a:cs typeface="Arial"/>
                <a:sym typeface="Arial"/>
              </a:rPr>
              <a:t> </a:t>
            </a:r>
            <a:br>
              <a:rPr b="0" i="0" lang="en-US" sz="3200" u="none">
                <a:solidFill>
                  <a:schemeClr val="dk1"/>
                </a:solidFill>
                <a:latin typeface="Arial"/>
                <a:ea typeface="Arial"/>
                <a:cs typeface="Arial"/>
                <a:sym typeface="Arial"/>
              </a:rPr>
            </a:br>
            <a:r>
              <a:rPr b="1" i="0" lang="en-US" sz="3200" u="none">
                <a:solidFill>
                  <a:schemeClr val="dk1"/>
                </a:solidFill>
                <a:latin typeface="Arial"/>
                <a:ea typeface="Arial"/>
                <a:cs typeface="Arial"/>
                <a:sym typeface="Arial"/>
              </a:rPr>
              <a:t>- les noms de rôle (ils sont même indispensables)</a:t>
            </a:r>
            <a:r>
              <a:rPr b="0" i="0" lang="en-US" sz="3200" u="none">
                <a:solidFill>
                  <a:schemeClr val="dk1"/>
                </a:solidFill>
                <a:latin typeface="Arial"/>
                <a:ea typeface="Arial"/>
                <a:cs typeface="Arial"/>
                <a:sym typeface="Arial"/>
              </a:rPr>
              <a:t> </a:t>
            </a:r>
            <a:br>
              <a:rPr b="0" i="0" lang="en-US" sz="3200" u="none">
                <a:solidFill>
                  <a:schemeClr val="dk1"/>
                </a:solidFill>
                <a:latin typeface="Arial"/>
                <a:ea typeface="Arial"/>
                <a:cs typeface="Arial"/>
                <a:sym typeface="Arial"/>
              </a:rPr>
            </a:br>
            <a:r>
              <a:rPr b="1" i="0" lang="en-US" sz="3200" u="none">
                <a:solidFill>
                  <a:schemeClr val="dk1"/>
                </a:solidFill>
                <a:latin typeface="Arial"/>
                <a:ea typeface="Arial"/>
                <a:cs typeface="Arial"/>
                <a:sym typeface="Arial"/>
              </a:rPr>
              <a:t>- l'association comme classe :</a:t>
            </a:r>
            <a:r>
              <a:rPr b="0" i="0" lang="en-US" sz="3200" u="none">
                <a:solidFill>
                  <a:schemeClr val="dk1"/>
                </a:solidFill>
                <a:latin typeface="Arial"/>
                <a:ea typeface="Arial"/>
                <a:cs typeface="Arial"/>
                <a:sym typeface="Arial"/>
              </a:rPr>
              <a:t> </a:t>
            </a:r>
            <a:endParaRPr/>
          </a:p>
          <a:p>
            <a:pPr indent="-139700" lvl="0" marL="342900" rtl="0" algn="l">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p:txBody>
      </p:sp>
      <p:pic>
        <p:nvPicPr>
          <p:cNvPr id="1028" name="Google Shape;1028;p80"/>
          <p:cNvPicPr preferRelativeResize="0"/>
          <p:nvPr/>
        </p:nvPicPr>
        <p:blipFill rotWithShape="1">
          <a:blip r:embed="rId3">
            <a:alphaModFix/>
          </a:blip>
          <a:srcRect b="0" l="0" r="0" t="0"/>
          <a:stretch/>
        </p:blipFill>
        <p:spPr>
          <a:xfrm>
            <a:off x="1763712" y="3716337"/>
            <a:ext cx="5362575" cy="2762250"/>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8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r>
              <a:rPr b="1" i="1" lang="en-US" sz="4000" u="none">
                <a:solidFill>
                  <a:schemeClr val="dk2"/>
                </a:solidFill>
                <a:latin typeface="Arial"/>
                <a:ea typeface="Arial"/>
                <a:cs typeface="Arial"/>
                <a:sym typeface="Arial"/>
              </a:rPr>
              <a:t>Cas particulier association sur une classe unique</a:t>
            </a:r>
            <a:r>
              <a:rPr b="0" i="0" lang="en-US" sz="4000" u="none">
                <a:solidFill>
                  <a:schemeClr val="dk2"/>
                </a:solidFill>
                <a:latin typeface="Arial"/>
                <a:ea typeface="Arial"/>
                <a:cs typeface="Arial"/>
                <a:sym typeface="Arial"/>
              </a:rPr>
              <a:t> </a:t>
            </a:r>
            <a:br>
              <a:rPr b="0" i="0" lang="en-US" sz="4000" u="none">
                <a:solidFill>
                  <a:schemeClr val="dk2"/>
                </a:solidFill>
                <a:latin typeface="Arial"/>
                <a:ea typeface="Arial"/>
                <a:cs typeface="Arial"/>
                <a:sym typeface="Arial"/>
              </a:rPr>
            </a:br>
            <a:endParaRPr/>
          </a:p>
        </p:txBody>
      </p:sp>
      <p:sp>
        <p:nvSpPr>
          <p:cNvPr id="1034" name="Google Shape;1034;p8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 Connecte deux instances de la même classe. Si la connection concerne une instance avec elle-même, l'association est dite réflexive. On peut l'interdire au moyen d'une contrainte.</a:t>
            </a:r>
            <a:r>
              <a:rPr b="0" i="0" lang="en-US" sz="3200" u="none">
                <a:solidFill>
                  <a:schemeClr val="dk1"/>
                </a:solidFill>
                <a:latin typeface="Arial"/>
                <a:ea typeface="Arial"/>
                <a:cs typeface="Arial"/>
                <a:sym typeface="Arial"/>
              </a:rPr>
              <a:t> </a:t>
            </a:r>
            <a:endParaRPr/>
          </a:p>
          <a:p>
            <a:pPr indent="-139700" lvl="0" marL="342900" rtl="0" algn="l">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p:txBody>
      </p:sp>
      <p:pic>
        <p:nvPicPr>
          <p:cNvPr id="1035" name="Google Shape;1035;p81"/>
          <p:cNvPicPr preferRelativeResize="0"/>
          <p:nvPr/>
        </p:nvPicPr>
        <p:blipFill rotWithShape="1">
          <a:blip r:embed="rId3">
            <a:alphaModFix/>
          </a:blip>
          <a:srcRect b="0" l="0" r="0" t="0"/>
          <a:stretch/>
        </p:blipFill>
        <p:spPr>
          <a:xfrm>
            <a:off x="1835150" y="4005262"/>
            <a:ext cx="5267325" cy="1971675"/>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p8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r>
              <a:rPr b="1" i="1" lang="en-US" sz="4000" u="none">
                <a:solidFill>
                  <a:schemeClr val="dk2"/>
                </a:solidFill>
                <a:latin typeface="Arial"/>
                <a:ea typeface="Arial"/>
                <a:cs typeface="Arial"/>
                <a:sym typeface="Arial"/>
              </a:rPr>
              <a:t>Cas particulier : association dans une classe</a:t>
            </a:r>
            <a:r>
              <a:rPr b="0" i="0" lang="en-US" sz="4000" u="none">
                <a:solidFill>
                  <a:schemeClr val="dk2"/>
                </a:solidFill>
                <a:latin typeface="Arial"/>
                <a:ea typeface="Arial"/>
                <a:cs typeface="Arial"/>
                <a:sym typeface="Arial"/>
              </a:rPr>
              <a:t> </a:t>
            </a:r>
            <a:br>
              <a:rPr b="0" i="0" lang="en-US" sz="4000" u="none">
                <a:solidFill>
                  <a:schemeClr val="dk2"/>
                </a:solidFill>
                <a:latin typeface="Arial"/>
                <a:ea typeface="Arial"/>
                <a:cs typeface="Arial"/>
                <a:sym typeface="Arial"/>
              </a:rPr>
            </a:br>
            <a:endParaRPr/>
          </a:p>
        </p:txBody>
      </p:sp>
      <p:sp>
        <p:nvSpPr>
          <p:cNvPr id="1041" name="Google Shape;1041;p8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Il s'agit d'une association porteuse de propriétés : attributs, opérations et/ou association(s) vers d'autres classes :</a:t>
            </a:r>
            <a:endParaRPr/>
          </a:p>
          <a:p>
            <a:pPr indent="-342900" lvl="0" marL="342900" rtl="0" algn="l">
              <a:lnSpc>
                <a:spcPct val="100000"/>
              </a:lnSpc>
              <a:spcBef>
                <a:spcPts val="64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a:p>
            <a:pPr indent="-342900" lvl="0" marL="34290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a:t>
            </a:r>
            <a:endParaRPr/>
          </a:p>
        </p:txBody>
      </p:sp>
      <p:pic>
        <p:nvPicPr>
          <p:cNvPr id="1042" name="Google Shape;1042;p82"/>
          <p:cNvPicPr preferRelativeResize="0"/>
          <p:nvPr/>
        </p:nvPicPr>
        <p:blipFill rotWithShape="1">
          <a:blip r:embed="rId3">
            <a:alphaModFix/>
          </a:blip>
          <a:srcRect b="0" l="0" r="0" t="0"/>
          <a:stretch/>
        </p:blipFill>
        <p:spPr>
          <a:xfrm>
            <a:off x="1908175" y="3573462"/>
            <a:ext cx="5267325" cy="2409825"/>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p8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r>
              <a:rPr b="1" i="0" lang="en-US" sz="4000" u="none">
                <a:solidFill>
                  <a:schemeClr val="dk2"/>
                </a:solidFill>
                <a:latin typeface="Arial"/>
                <a:ea typeface="Arial"/>
                <a:cs typeface="Arial"/>
                <a:sym typeface="Arial"/>
              </a:rPr>
              <a:t>Associations d'arité supérieure à 2</a:t>
            </a:r>
            <a:r>
              <a:rPr b="0" i="0" lang="en-US" sz="4000" u="none">
                <a:solidFill>
                  <a:schemeClr val="dk2"/>
                </a:solidFill>
                <a:latin typeface="Arial"/>
                <a:ea typeface="Arial"/>
                <a:cs typeface="Arial"/>
                <a:sym typeface="Arial"/>
              </a:rPr>
              <a:t> </a:t>
            </a:r>
            <a:endParaRPr/>
          </a:p>
        </p:txBody>
      </p:sp>
      <p:sp>
        <p:nvSpPr>
          <p:cNvPr id="1048" name="Google Shape;1048;p8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Char char="•"/>
            </a:pPr>
            <a:r>
              <a:rPr b="1" i="1" lang="en-US" sz="3200" u="none">
                <a:solidFill>
                  <a:schemeClr val="dk1"/>
                </a:solidFill>
                <a:latin typeface="Arial"/>
                <a:ea typeface="Arial"/>
                <a:cs typeface="Arial"/>
                <a:sym typeface="Arial"/>
              </a:rPr>
              <a:t>Définition :</a:t>
            </a:r>
            <a:r>
              <a:rPr b="0" i="0" lang="en-US" sz="3200" u="none">
                <a:solidFill>
                  <a:schemeClr val="dk1"/>
                </a:solidFill>
                <a:latin typeface="Arial"/>
                <a:ea typeface="Arial"/>
                <a:cs typeface="Arial"/>
                <a:sym typeface="Arial"/>
              </a:rPr>
              <a:t> </a:t>
            </a:r>
            <a:br>
              <a:rPr b="0" i="0" lang="en-US" sz="3200" u="none">
                <a:solidFill>
                  <a:schemeClr val="dk1"/>
                </a:solidFill>
                <a:latin typeface="Arial"/>
                <a:ea typeface="Arial"/>
                <a:cs typeface="Arial"/>
                <a:sym typeface="Arial"/>
              </a:rPr>
            </a:br>
            <a:r>
              <a:rPr b="1" i="0" lang="en-US" sz="3200" u="none">
                <a:solidFill>
                  <a:schemeClr val="dk1"/>
                </a:solidFill>
                <a:latin typeface="Arial"/>
                <a:ea typeface="Arial"/>
                <a:cs typeface="Arial"/>
                <a:sym typeface="Arial"/>
              </a:rPr>
              <a:t>Une association n-aire est un groupe de liens entre au moins trois (ou davantage) instances.</a:t>
            </a:r>
            <a:r>
              <a:rPr b="0" i="0" lang="en-US" sz="3200" u="none">
                <a:solidFill>
                  <a:schemeClr val="dk1"/>
                </a:solidFill>
                <a:latin typeface="Arial"/>
                <a:ea typeface="Arial"/>
                <a:cs typeface="Arial"/>
                <a:sym typeface="Arial"/>
              </a:rPr>
              <a:t> </a:t>
            </a:r>
            <a:br>
              <a:rPr b="0" i="0" lang="en-US" sz="3200" u="none">
                <a:solidFill>
                  <a:schemeClr val="dk1"/>
                </a:solidFill>
                <a:latin typeface="Arial"/>
                <a:ea typeface="Arial"/>
                <a:cs typeface="Arial"/>
                <a:sym typeface="Arial"/>
              </a:rPr>
            </a:br>
            <a:r>
              <a:rPr b="1" i="0" lang="en-US" sz="3200" u="none">
                <a:solidFill>
                  <a:schemeClr val="dk1"/>
                </a:solidFill>
                <a:latin typeface="Arial"/>
                <a:ea typeface="Arial"/>
                <a:cs typeface="Arial"/>
                <a:sym typeface="Arial"/>
              </a:rPr>
              <a:t>Une instance de l'association (lien) est constituée d'un n-uplet de valeurs en provenance des classes respectives.</a:t>
            </a:r>
            <a:r>
              <a:rPr b="0" i="0" lang="en-US" sz="3200" u="none">
                <a:solidFill>
                  <a:schemeClr val="dk1"/>
                </a:solidFill>
                <a:latin typeface="Arial"/>
                <a:ea typeface="Arial"/>
                <a:cs typeface="Arial"/>
                <a:sym typeface="Arial"/>
              </a:rPr>
              <a:t> </a:t>
            </a:r>
            <a:br>
              <a:rPr b="0" i="0" lang="en-US" sz="3200" u="none">
                <a:solidFill>
                  <a:schemeClr val="dk1"/>
                </a:solidFill>
                <a:latin typeface="Arial"/>
                <a:ea typeface="Arial"/>
                <a:cs typeface="Arial"/>
                <a:sym typeface="Arial"/>
              </a:rPr>
            </a:br>
            <a:r>
              <a:rPr b="1" i="0" lang="en-US" sz="3200" u="none">
                <a:solidFill>
                  <a:schemeClr val="dk1"/>
                </a:solidFill>
                <a:latin typeface="Arial"/>
                <a:ea typeface="Arial"/>
                <a:cs typeface="Arial"/>
                <a:sym typeface="Arial"/>
              </a:rPr>
              <a:t>L'association se </a:t>
            </a:r>
            <a:r>
              <a:rPr b="1" i="1" lang="en-US" sz="3200" u="none">
                <a:solidFill>
                  <a:schemeClr val="dk1"/>
                </a:solidFill>
                <a:latin typeface="Arial"/>
                <a:ea typeface="Arial"/>
                <a:cs typeface="Arial"/>
                <a:sym typeface="Arial"/>
              </a:rPr>
              <a:t>note</a:t>
            </a:r>
            <a:r>
              <a:rPr b="1" i="0" lang="en-US" sz="3200" u="none">
                <a:solidFill>
                  <a:schemeClr val="dk1"/>
                </a:solidFill>
                <a:latin typeface="Arial"/>
                <a:ea typeface="Arial"/>
                <a:cs typeface="Arial"/>
                <a:sym typeface="Arial"/>
              </a:rPr>
              <a:t> par un grand losange.</a:t>
            </a:r>
            <a:r>
              <a:rPr b="0" i="0" lang="en-US" sz="3200" u="none">
                <a:solidFill>
                  <a:schemeClr val="dk1"/>
                </a:solidFill>
                <a:latin typeface="Arial"/>
                <a:ea typeface="Arial"/>
                <a:cs typeface="Arial"/>
                <a:sym typeface="Arial"/>
              </a:rPr>
              <a:t> </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p8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Type d’Association</a:t>
            </a:r>
            <a:endParaRPr/>
          </a:p>
        </p:txBody>
      </p:sp>
      <p:sp>
        <p:nvSpPr>
          <p:cNvPr id="1054" name="Google Shape;1054;p8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Pour une association </a:t>
            </a:r>
            <a:r>
              <a:rPr b="1" i="1" lang="en-US" sz="3200" u="none">
                <a:solidFill>
                  <a:schemeClr val="dk1"/>
                </a:solidFill>
                <a:latin typeface="Arial"/>
                <a:ea typeface="Arial"/>
                <a:cs typeface="Arial"/>
                <a:sym typeface="Arial"/>
              </a:rPr>
              <a:t>binaire </a:t>
            </a:r>
            <a:r>
              <a:rPr b="1" i="0" lang="en-US" sz="3200" u="none">
                <a:solidFill>
                  <a:schemeClr val="dk1"/>
                </a:solidFill>
                <a:latin typeface="Arial"/>
                <a:ea typeface="Arial"/>
                <a:cs typeface="Arial"/>
                <a:sym typeface="Arial"/>
              </a:rPr>
              <a:t>: il existe un </a:t>
            </a:r>
            <a:r>
              <a:rPr b="1" i="1" lang="en-US" sz="3200" u="none">
                <a:solidFill>
                  <a:schemeClr val="dk1"/>
                </a:solidFill>
                <a:latin typeface="Arial"/>
                <a:ea typeface="Arial"/>
                <a:cs typeface="Arial"/>
                <a:sym typeface="Arial"/>
              </a:rPr>
              <a:t>rôle vers l'avant </a:t>
            </a:r>
            <a:r>
              <a:rPr b="1" i="0" lang="en-US" sz="3200" u="none">
                <a:solidFill>
                  <a:schemeClr val="dk1"/>
                </a:solidFill>
                <a:latin typeface="Arial"/>
                <a:ea typeface="Arial"/>
                <a:cs typeface="Arial"/>
                <a:sym typeface="Arial"/>
              </a:rPr>
              <a:t>et un </a:t>
            </a:r>
            <a:r>
              <a:rPr b="1" i="1" lang="en-US" sz="3200" u="none">
                <a:solidFill>
                  <a:schemeClr val="dk1"/>
                </a:solidFill>
                <a:latin typeface="Arial"/>
                <a:ea typeface="Arial"/>
                <a:cs typeface="Arial"/>
                <a:sym typeface="Arial"/>
              </a:rPr>
              <a:t>rôle inverse</a:t>
            </a:r>
            <a:r>
              <a:rPr b="1" i="0" lang="en-US" sz="3200" u="none">
                <a:solidFill>
                  <a:schemeClr val="dk1"/>
                </a:solidFill>
                <a:latin typeface="Arial"/>
                <a:ea typeface="Arial"/>
                <a:cs typeface="Arial"/>
                <a:sym typeface="Arial"/>
              </a:rPr>
              <a:t>. UML permet de</a:t>
            </a:r>
            <a:endParaRPr/>
          </a:p>
          <a:p>
            <a:pPr indent="-342900" lvl="0" marL="342900" rtl="0" algn="l">
              <a:lnSpc>
                <a:spcPct val="90000"/>
              </a:lnSpc>
              <a:spcBef>
                <a:spcPts val="64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spécifier le sens de lecture de l’association avec les symboles &gt; et &lt;. « emploie » est le rôle</a:t>
            </a:r>
            <a:endParaRPr/>
          </a:p>
          <a:p>
            <a:pPr indent="-342900" lvl="0" marL="342900" rtl="0" algn="l">
              <a:lnSpc>
                <a:spcPct val="90000"/>
              </a:lnSpc>
              <a:spcBef>
                <a:spcPts val="64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inverse de « travaille-pour ». « est-la-capitale-de » est le rôle inverse de « a-pour-capitale »</a:t>
            </a:r>
            <a:endParaRPr/>
          </a:p>
          <a:p>
            <a:pPr indent="-139700" lvl="0" marL="342900" rtl="0" algn="l">
              <a:spcBef>
                <a:spcPts val="64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8" name="Shape 1058"/>
        <p:cNvGrpSpPr/>
        <p:nvPr/>
      </p:nvGrpSpPr>
      <p:grpSpPr>
        <a:xfrm>
          <a:off x="0" y="0"/>
          <a:ext cx="0" cy="0"/>
          <a:chOff x="0" y="0"/>
          <a:chExt cx="0" cy="0"/>
        </a:xfrm>
      </p:grpSpPr>
      <p:sp>
        <p:nvSpPr>
          <p:cNvPr id="1059" name="Google Shape;1059;p8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Cas particulier</a:t>
            </a:r>
            <a:br>
              <a:rPr b="0" i="0" lang="en-US" sz="4000" u="none">
                <a:solidFill>
                  <a:schemeClr val="dk2"/>
                </a:solidFill>
                <a:latin typeface="Arial"/>
                <a:ea typeface="Arial"/>
                <a:cs typeface="Arial"/>
                <a:sym typeface="Arial"/>
              </a:rPr>
            </a:br>
            <a:r>
              <a:rPr b="1" i="0" lang="en-US" sz="4000" u="none">
                <a:solidFill>
                  <a:schemeClr val="dk2"/>
                </a:solidFill>
                <a:latin typeface="Arial"/>
                <a:ea typeface="Arial"/>
                <a:cs typeface="Arial"/>
                <a:sym typeface="Arial"/>
              </a:rPr>
              <a:t>Agrégation d'objets</a:t>
            </a:r>
            <a:r>
              <a:rPr b="0" i="0" lang="en-US" sz="4000" u="none">
                <a:solidFill>
                  <a:schemeClr val="dk2"/>
                </a:solidFill>
                <a:latin typeface="Arial"/>
                <a:ea typeface="Arial"/>
                <a:cs typeface="Arial"/>
                <a:sym typeface="Arial"/>
              </a:rPr>
              <a:t> </a:t>
            </a:r>
            <a:endParaRPr/>
          </a:p>
        </p:txBody>
      </p:sp>
      <p:sp>
        <p:nvSpPr>
          <p:cNvPr id="1060" name="Google Shape;1060;p8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Arial"/>
              <a:buChar char="•"/>
            </a:pPr>
            <a:r>
              <a:rPr b="1" i="1" lang="en-US" sz="2800" u="none">
                <a:solidFill>
                  <a:schemeClr val="dk1"/>
                </a:solidFill>
                <a:latin typeface="Arial"/>
                <a:ea typeface="Arial"/>
                <a:cs typeface="Arial"/>
                <a:sym typeface="Arial"/>
              </a:rPr>
              <a:t>Définition :</a:t>
            </a:r>
            <a:r>
              <a:rPr b="0" i="0" lang="en-US" sz="2800" u="none">
                <a:solidFill>
                  <a:schemeClr val="dk1"/>
                </a:solidFill>
                <a:latin typeface="Arial"/>
                <a:ea typeface="Arial"/>
                <a:cs typeface="Arial"/>
                <a:sym typeface="Arial"/>
              </a:rPr>
              <a:t> </a:t>
            </a:r>
            <a:br>
              <a:rPr b="0" i="0" lang="en-US" sz="2800" u="none">
                <a:solidFill>
                  <a:schemeClr val="dk1"/>
                </a:solidFill>
                <a:latin typeface="Arial"/>
                <a:ea typeface="Arial"/>
                <a:cs typeface="Arial"/>
                <a:sym typeface="Arial"/>
              </a:rPr>
            </a:br>
            <a:r>
              <a:rPr b="1" i="0" lang="en-US" sz="2800" u="none">
                <a:solidFill>
                  <a:schemeClr val="dk1"/>
                </a:solidFill>
                <a:latin typeface="Arial"/>
                <a:ea typeface="Arial"/>
                <a:cs typeface="Arial"/>
                <a:sym typeface="Arial"/>
              </a:rPr>
              <a:t>Une agrégation est une forme contrainte d'une association dans laquelle l'une des classes décrit un tout alors que la classe associée décrit des parties. On appelle le tout un composé, une partie un composant.</a:t>
            </a:r>
            <a:r>
              <a:rPr b="0" i="0" lang="en-US" sz="2800" u="none">
                <a:solidFill>
                  <a:schemeClr val="dk1"/>
                </a:solidFill>
                <a:latin typeface="Arial"/>
                <a:ea typeface="Arial"/>
                <a:cs typeface="Arial"/>
                <a:sym typeface="Arial"/>
              </a:rPr>
              <a:t> </a:t>
            </a:r>
            <a:r>
              <a:rPr b="1" i="1" lang="en-US" sz="2800" u="none">
                <a:solidFill>
                  <a:schemeClr val="dk1"/>
                </a:solidFill>
                <a:latin typeface="Arial"/>
                <a:ea typeface="Arial"/>
                <a:cs typeface="Arial"/>
                <a:sym typeface="Arial"/>
              </a:rPr>
              <a:t>Notation et exemple :</a:t>
            </a:r>
            <a:r>
              <a:rPr b="0" i="0" lang="en-US" sz="2800" u="none">
                <a:solidFill>
                  <a:schemeClr val="dk1"/>
                </a:solidFill>
                <a:latin typeface="Arial"/>
                <a:ea typeface="Arial"/>
                <a:cs typeface="Arial"/>
                <a:sym typeface="Arial"/>
              </a:rPr>
              <a:t> </a:t>
            </a:r>
            <a:br>
              <a:rPr b="0" i="0" lang="en-US" sz="2800" u="none">
                <a:solidFill>
                  <a:schemeClr val="dk1"/>
                </a:solidFill>
                <a:latin typeface="Arial"/>
                <a:ea typeface="Arial"/>
                <a:cs typeface="Arial"/>
                <a:sym typeface="Arial"/>
              </a:rPr>
            </a:br>
            <a:r>
              <a:rPr b="1" i="0" lang="en-US" sz="2800" u="none">
                <a:solidFill>
                  <a:schemeClr val="dk1"/>
                </a:solidFill>
                <a:latin typeface="Arial"/>
                <a:ea typeface="Arial"/>
                <a:cs typeface="Arial"/>
                <a:sym typeface="Arial"/>
              </a:rPr>
              <a:t>L'agrégation se note par un petit losange, sur la terminaison d'association, côté tout.</a:t>
            </a:r>
            <a:r>
              <a:rPr b="0" i="0" lang="en-US" sz="2800" u="none">
                <a:solidFill>
                  <a:schemeClr val="dk1"/>
                </a:solidFill>
                <a:latin typeface="Arial"/>
                <a:ea typeface="Arial"/>
                <a:cs typeface="Arial"/>
                <a:sym typeface="Arial"/>
              </a:rPr>
              <a:t> </a:t>
            </a:r>
            <a:endParaRPr/>
          </a:p>
          <a:p>
            <a:pPr indent="-165100" lvl="0" marL="342900" rtl="0" algn="l">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8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Exemple</a:t>
            </a:r>
            <a:endParaRPr/>
          </a:p>
        </p:txBody>
      </p:sp>
      <p:pic>
        <p:nvPicPr>
          <p:cNvPr id="1066" name="Google Shape;1066;p86"/>
          <p:cNvPicPr preferRelativeResize="0"/>
          <p:nvPr>
            <p:ph idx="1" type="body"/>
          </p:nvPr>
        </p:nvPicPr>
        <p:blipFill rotWithShape="1">
          <a:blip r:embed="rId3">
            <a:alphaModFix/>
          </a:blip>
          <a:srcRect b="0" l="0" r="0" t="0"/>
          <a:stretch/>
        </p:blipFill>
        <p:spPr>
          <a:xfrm>
            <a:off x="457200" y="1600200"/>
            <a:ext cx="8229600" cy="4525962"/>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sp>
        <p:nvSpPr>
          <p:cNvPr id="1071" name="Google Shape;1071;p8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1" i="1" lang="en-US" sz="4400" u="none">
                <a:solidFill>
                  <a:schemeClr val="dk2"/>
                </a:solidFill>
                <a:latin typeface="Arial"/>
                <a:ea typeface="Arial"/>
                <a:cs typeface="Arial"/>
                <a:sym typeface="Arial"/>
              </a:rPr>
              <a:t>Propriétés</a:t>
            </a:r>
            <a:endParaRPr/>
          </a:p>
        </p:txBody>
      </p:sp>
      <p:sp>
        <p:nvSpPr>
          <p:cNvPr id="1072" name="Google Shape;1072;p8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Char char="•"/>
            </a:pPr>
            <a:br>
              <a:rPr b="0" i="0" lang="en-US" sz="3200" u="none">
                <a:solidFill>
                  <a:schemeClr val="dk1"/>
                </a:solidFill>
                <a:latin typeface="Arial"/>
                <a:ea typeface="Arial"/>
                <a:cs typeface="Arial"/>
                <a:sym typeface="Arial"/>
              </a:rPr>
            </a:br>
            <a:r>
              <a:rPr b="1" i="0" lang="en-US" sz="3200" u="none">
                <a:solidFill>
                  <a:schemeClr val="dk1"/>
                </a:solidFill>
                <a:latin typeface="Arial"/>
                <a:ea typeface="Arial"/>
                <a:cs typeface="Arial"/>
                <a:sym typeface="Arial"/>
              </a:rPr>
              <a:t>- une agrégation est une association (particulière) : elle exprime un groupe de liens entre instances </a:t>
            </a:r>
            <a:r>
              <a:rPr b="1" i="1" lang="en-US" sz="3200" u="none">
                <a:solidFill>
                  <a:schemeClr val="dk1"/>
                </a:solidFill>
                <a:latin typeface="Arial"/>
                <a:ea typeface="Arial"/>
                <a:cs typeface="Arial"/>
                <a:sym typeface="Arial"/>
              </a:rPr>
              <a:t>(ces documents-ci et leurs paragraphes)</a:t>
            </a:r>
            <a:r>
              <a:rPr b="0" i="0" lang="en-US" sz="3200" u="none">
                <a:solidFill>
                  <a:schemeClr val="dk1"/>
                </a:solidFill>
                <a:latin typeface="Arial"/>
                <a:ea typeface="Arial"/>
                <a:cs typeface="Arial"/>
                <a:sym typeface="Arial"/>
              </a:rPr>
              <a:t> . </a:t>
            </a:r>
            <a:r>
              <a:rPr b="1" i="0" lang="en-US" sz="3200" u="none">
                <a:solidFill>
                  <a:schemeClr val="dk1"/>
                </a:solidFill>
                <a:latin typeface="Arial"/>
                <a:ea typeface="Arial"/>
                <a:cs typeface="Arial"/>
                <a:sym typeface="Arial"/>
              </a:rPr>
              <a:t>Les propriétés générales des associations (multiplicité, rôle, ordre, navigabilité) sont applicables sauf qualifiant et arité supérieure à 2.</a:t>
            </a:r>
            <a:r>
              <a:rPr b="0" i="0" lang="en-US" sz="3200" u="none">
                <a:solidFill>
                  <a:schemeClr val="dk1"/>
                </a:solidFill>
                <a:latin typeface="Arial"/>
                <a:ea typeface="Arial"/>
                <a:cs typeface="Arial"/>
                <a:sym typeface="Arial"/>
              </a:rPr>
              <a:t> </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p8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1" i="0" lang="en-US" sz="4400" u="none">
                <a:solidFill>
                  <a:schemeClr val="dk2"/>
                </a:solidFill>
                <a:latin typeface="Arial"/>
                <a:ea typeface="Arial"/>
                <a:cs typeface="Arial"/>
                <a:sym typeface="Arial"/>
              </a:rPr>
              <a:t>partage des composants</a:t>
            </a:r>
            <a:endParaRPr/>
          </a:p>
        </p:txBody>
      </p:sp>
      <p:sp>
        <p:nvSpPr>
          <p:cNvPr id="1078" name="Google Shape;1078;p8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le partage des composants par les composés est possible : c'est ce qu'indique la multiplicité * du coté composé dans l'exemple. </a:t>
            </a:r>
            <a:r>
              <a:rPr b="1" i="1" lang="en-US" sz="2800" u="none">
                <a:solidFill>
                  <a:schemeClr val="dk1"/>
                </a:solidFill>
                <a:latin typeface="Arial"/>
                <a:ea typeface="Arial"/>
                <a:cs typeface="Arial"/>
                <a:sym typeface="Arial"/>
              </a:rPr>
              <a:t>Un paragraphe (composant) peut être partagé par plusieurs documents (la raison sociale de l'entreprise par exemple). Une phrase peut être partagée par plusieurs paragraphes (composés) : une formule de politesse par exemple.</a:t>
            </a:r>
            <a:r>
              <a:rPr b="0" i="0" lang="en-US" sz="2800" u="none">
                <a:solidFill>
                  <a:schemeClr val="dk1"/>
                </a:solidFill>
                <a:latin typeface="Arial"/>
                <a:ea typeface="Arial"/>
                <a:cs typeface="Arial"/>
                <a:sym typeface="Arial"/>
              </a:rPr>
              <a:t> </a:t>
            </a:r>
            <a:br>
              <a:rPr b="0" i="0" lang="en-US" sz="2800" u="none">
                <a:solidFill>
                  <a:schemeClr val="dk1"/>
                </a:solidFill>
                <a:latin typeface="Arial"/>
                <a:ea typeface="Arial"/>
                <a:cs typeface="Arial"/>
                <a:sym typeface="Arial"/>
              </a:rPr>
            </a:b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p8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Caractéristiques</a:t>
            </a:r>
            <a:endParaRPr/>
          </a:p>
        </p:txBody>
      </p:sp>
      <p:sp>
        <p:nvSpPr>
          <p:cNvPr id="1084" name="Google Shape;1084;p8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l'agrégation est une relation transitive (contrairement à l'association) : si A est composé de B, si B est composé de C, alors A est composé de C </a:t>
            </a:r>
            <a:r>
              <a:rPr b="1" i="1" lang="en-US" sz="2800" u="none">
                <a:solidFill>
                  <a:schemeClr val="dk1"/>
                </a:solidFill>
                <a:latin typeface="Arial"/>
                <a:ea typeface="Arial"/>
                <a:cs typeface="Arial"/>
                <a:sym typeface="Arial"/>
              </a:rPr>
              <a:t>(un document est composé de phrases)</a:t>
            </a:r>
            <a:r>
              <a:rPr b="1" i="0" lang="en-US" sz="2800" u="none">
                <a:solidFill>
                  <a:schemeClr val="dk1"/>
                </a:solidFill>
                <a:latin typeface="Arial"/>
                <a:ea typeface="Arial"/>
                <a:cs typeface="Arial"/>
                <a:sym typeface="Arial"/>
              </a:rPr>
              <a:t>.</a:t>
            </a:r>
            <a:r>
              <a:rPr b="0" i="0" lang="en-US" sz="2800" u="none">
                <a:solidFill>
                  <a:schemeClr val="dk1"/>
                </a:solidFill>
                <a:latin typeface="Arial"/>
                <a:ea typeface="Arial"/>
                <a:cs typeface="Arial"/>
                <a:sym typeface="Arial"/>
              </a:rPr>
              <a:t> </a:t>
            </a:r>
            <a:endParaRPr/>
          </a:p>
          <a:p>
            <a:pPr indent="-342900" lvl="0" marL="342900" rtl="0" algn="l">
              <a:lnSpc>
                <a:spcPct val="100000"/>
              </a:lnSpc>
              <a:spcBef>
                <a:spcPts val="56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 l'agrégation est une relation antisymétrique (contrairement à l'association) : si A est composé de B, alors B n'est pas composé de A </a:t>
            </a:r>
            <a:r>
              <a:rPr b="1" i="1" lang="en-US" sz="2800" u="none">
                <a:solidFill>
                  <a:schemeClr val="dk1"/>
                </a:solidFill>
                <a:latin typeface="Arial"/>
                <a:ea typeface="Arial"/>
                <a:cs typeface="Arial"/>
                <a:sym typeface="Arial"/>
              </a:rPr>
              <a:t>(un paragraphe n'est pas composé de documents)</a:t>
            </a:r>
            <a:r>
              <a:rPr b="1" i="0" lang="en-US" sz="2800" u="none">
                <a:solidFill>
                  <a:schemeClr val="dk1"/>
                </a:solidFill>
                <a:latin typeface="Arial"/>
                <a:ea typeface="Arial"/>
                <a:cs typeface="Arial"/>
                <a:sym typeface="Arial"/>
              </a:rPr>
              <a:t>.</a:t>
            </a:r>
            <a:r>
              <a:rPr b="0" i="0" lang="en-US" sz="2800" u="none">
                <a:solidFill>
                  <a:schemeClr val="dk1"/>
                </a:solidFill>
                <a:latin typeface="Arial"/>
                <a:ea typeface="Arial"/>
                <a:cs typeface="Arial"/>
                <a:sym typeface="Arial"/>
              </a:rPr>
              <a:t> </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sp>
        <p:nvSpPr>
          <p:cNvPr id="1089" name="Google Shape;1089;p9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r>
              <a:rPr b="1" i="1" lang="en-US" sz="4000" u="none">
                <a:solidFill>
                  <a:schemeClr val="dk2"/>
                </a:solidFill>
                <a:latin typeface="Arial"/>
                <a:ea typeface="Arial"/>
                <a:cs typeface="Arial"/>
                <a:sym typeface="Arial"/>
              </a:rPr>
              <a:t>Distinction agrégation / association :</a:t>
            </a:r>
            <a:endParaRPr/>
          </a:p>
        </p:txBody>
      </p:sp>
      <p:sp>
        <p:nvSpPr>
          <p:cNvPr id="1090" name="Google Shape;1090;p9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2400"/>
              <a:buFont typeface="Arial"/>
              <a:buNone/>
            </a:pPr>
            <a:br>
              <a:rPr b="0" i="0" lang="en-US" sz="2400" u="none">
                <a:solidFill>
                  <a:schemeClr val="dk1"/>
                </a:solidFill>
                <a:latin typeface="Arial"/>
                <a:ea typeface="Arial"/>
                <a:cs typeface="Arial"/>
                <a:sym typeface="Arial"/>
              </a:rPr>
            </a:br>
            <a:r>
              <a:rPr b="1" i="0" lang="en-US" sz="2400" u="none">
                <a:solidFill>
                  <a:schemeClr val="dk1"/>
                </a:solidFill>
                <a:latin typeface="Arial"/>
                <a:ea typeface="Arial"/>
                <a:cs typeface="Arial"/>
                <a:sym typeface="Arial"/>
              </a:rPr>
              <a:t>En pratique ce n'est pas toujours chose aisée. Les questions à se poser :</a:t>
            </a:r>
            <a:r>
              <a:rPr b="0" i="0" lang="en-US" sz="2400" u="none">
                <a:solidFill>
                  <a:schemeClr val="dk1"/>
                </a:solidFill>
                <a:latin typeface="Arial"/>
                <a:ea typeface="Arial"/>
                <a:cs typeface="Arial"/>
                <a:sym typeface="Arial"/>
              </a:rPr>
              <a:t> </a:t>
            </a:r>
            <a:br>
              <a:rPr b="0" i="0" lang="en-US" sz="2400" u="none">
                <a:solidFill>
                  <a:schemeClr val="dk1"/>
                </a:solidFill>
                <a:latin typeface="Arial"/>
                <a:ea typeface="Arial"/>
                <a:cs typeface="Arial"/>
                <a:sym typeface="Arial"/>
              </a:rPr>
            </a:br>
            <a:r>
              <a:rPr b="1" i="1" lang="en-US" sz="2400" u="none">
                <a:solidFill>
                  <a:schemeClr val="dk1"/>
                </a:solidFill>
                <a:latin typeface="Arial"/>
                <a:ea typeface="Arial"/>
                <a:cs typeface="Arial"/>
                <a:sym typeface="Arial"/>
              </a:rPr>
              <a:t>- Y a t'il une asymétrie intrinsèque dans l'association qui se manifeste par un lien de subordination  entre les instances des deux classes ? (agrégation)</a:t>
            </a:r>
            <a:r>
              <a:rPr b="0" i="0" lang="en-US" sz="2400" u="none">
                <a:solidFill>
                  <a:schemeClr val="dk1"/>
                </a:solidFill>
                <a:latin typeface="Arial"/>
                <a:ea typeface="Arial"/>
                <a:cs typeface="Arial"/>
                <a:sym typeface="Arial"/>
              </a:rPr>
              <a:t> </a:t>
            </a:r>
            <a:br>
              <a:rPr b="0" i="0" lang="en-US" sz="2400" u="none">
                <a:solidFill>
                  <a:schemeClr val="dk1"/>
                </a:solidFill>
                <a:latin typeface="Arial"/>
                <a:ea typeface="Arial"/>
                <a:cs typeface="Arial"/>
                <a:sym typeface="Arial"/>
              </a:rPr>
            </a:br>
            <a:r>
              <a:rPr b="1" i="1" lang="en-US" sz="2400" u="none">
                <a:solidFill>
                  <a:schemeClr val="dk1"/>
                </a:solidFill>
                <a:latin typeface="Arial"/>
                <a:ea typeface="Arial"/>
                <a:cs typeface="Arial"/>
                <a:sym typeface="Arial"/>
              </a:rPr>
              <a:t>- Ou, au contraire, les objets sont-ils plutôt indépendants les uns des autres ? (association)</a:t>
            </a:r>
            <a:r>
              <a:rPr b="0" i="0" lang="en-US" sz="2400" u="none">
                <a:solidFill>
                  <a:schemeClr val="dk1"/>
                </a:solidFill>
                <a:latin typeface="Arial"/>
                <a:ea typeface="Arial"/>
                <a:cs typeface="Arial"/>
                <a:sym typeface="Arial"/>
              </a:rPr>
              <a:t> </a:t>
            </a:r>
            <a:br>
              <a:rPr b="0" i="0" lang="en-US" sz="2400" u="none">
                <a:solidFill>
                  <a:schemeClr val="dk1"/>
                </a:solidFill>
                <a:latin typeface="Arial"/>
                <a:ea typeface="Arial"/>
                <a:cs typeface="Arial"/>
                <a:sym typeface="Arial"/>
              </a:rPr>
            </a:br>
            <a:r>
              <a:rPr b="1" i="1" lang="en-US" sz="2400" u="none">
                <a:solidFill>
                  <a:schemeClr val="dk1"/>
                </a:solidFill>
                <a:latin typeface="Arial"/>
                <a:ea typeface="Arial"/>
                <a:cs typeface="Arial"/>
                <a:sym typeface="Arial"/>
              </a:rPr>
              <a:t>- Y a t'il des opérations du tout qui s'appliquent automatiquement aux parties ?</a:t>
            </a:r>
            <a:r>
              <a:rPr b="0" i="0" lang="en-US" sz="2400" u="none">
                <a:solidFill>
                  <a:schemeClr val="dk1"/>
                </a:solidFill>
                <a:latin typeface="Arial"/>
                <a:ea typeface="Arial"/>
                <a:cs typeface="Arial"/>
                <a:sym typeface="Arial"/>
              </a:rPr>
              <a:t> </a:t>
            </a:r>
            <a:br>
              <a:rPr b="0" i="0" lang="en-US" sz="2400" u="none">
                <a:solidFill>
                  <a:schemeClr val="dk1"/>
                </a:solidFill>
                <a:latin typeface="Arial"/>
                <a:ea typeface="Arial"/>
                <a:cs typeface="Arial"/>
                <a:sym typeface="Arial"/>
              </a:rPr>
            </a:br>
            <a:r>
              <a:rPr b="1" i="1" lang="en-US" sz="2400" u="none">
                <a:solidFill>
                  <a:schemeClr val="dk1"/>
                </a:solidFill>
                <a:latin typeface="Arial"/>
                <a:ea typeface="Arial"/>
                <a:cs typeface="Arial"/>
                <a:sym typeface="Arial"/>
              </a:rPr>
              <a:t>- Y a t'il des valeurs d'attributs du tout qui se propagent vers les parties ?</a:t>
            </a:r>
            <a:r>
              <a:rPr b="0" i="0" lang="en-US" sz="2400" u="none">
                <a:solidFill>
                  <a:schemeClr val="dk1"/>
                </a:solidFill>
                <a:latin typeface="Arial"/>
                <a:ea typeface="Arial"/>
                <a:cs typeface="Arial"/>
                <a:sym typeface="Arial"/>
              </a:rPr>
              <a:t> </a:t>
            </a:r>
            <a:br>
              <a:rPr b="0" i="0" lang="en-US" sz="2400" u="none">
                <a:solidFill>
                  <a:schemeClr val="dk1"/>
                </a:solidFill>
                <a:latin typeface="Arial"/>
                <a:ea typeface="Arial"/>
                <a:cs typeface="Arial"/>
                <a:sym typeface="Arial"/>
              </a:rPr>
            </a:br>
            <a:r>
              <a:rPr b="1" i="1" lang="en-US" sz="2400" u="none">
                <a:solidFill>
                  <a:schemeClr val="dk1"/>
                </a:solidFill>
                <a:latin typeface="Arial"/>
                <a:ea typeface="Arial"/>
                <a:cs typeface="Arial"/>
                <a:sym typeface="Arial"/>
              </a:rPr>
              <a:t>- Peut-on dire en langue naturelle "</a:t>
            </a:r>
            <a:r>
              <a:rPr b="1" i="0" lang="en-US" sz="2400" u="none">
                <a:solidFill>
                  <a:schemeClr val="dk1"/>
                </a:solidFill>
                <a:latin typeface="Arial"/>
                <a:ea typeface="Arial"/>
                <a:cs typeface="Arial"/>
                <a:sym typeface="Arial"/>
              </a:rPr>
              <a:t>X est partie de Y</a:t>
            </a:r>
            <a:r>
              <a:rPr b="1" i="1" lang="en-US" sz="2400" u="none">
                <a:solidFill>
                  <a:schemeClr val="dk1"/>
                </a:solidFill>
                <a:latin typeface="Arial"/>
                <a:ea typeface="Arial"/>
                <a:cs typeface="Arial"/>
                <a:sym typeface="Arial"/>
              </a:rPr>
              <a:t>" ?</a:t>
            </a:r>
            <a:r>
              <a:rPr b="0" i="0" lang="en-US" sz="2400" u="none">
                <a:solidFill>
                  <a:schemeClr val="dk1"/>
                </a:solidFill>
                <a:latin typeface="Arial"/>
                <a:ea typeface="Arial"/>
                <a:cs typeface="Arial"/>
                <a:sym typeface="Arial"/>
              </a:rPr>
              <a:t> </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sp>
        <p:nvSpPr>
          <p:cNvPr id="1095" name="Google Shape;1095;p9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Exemple et Commentaires</a:t>
            </a:r>
            <a:endParaRPr/>
          </a:p>
        </p:txBody>
      </p:sp>
      <p:sp>
        <p:nvSpPr>
          <p:cNvPr id="1096" name="Google Shape;1096;p9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a:t>
            </a:r>
            <a:endParaRPr/>
          </a:p>
          <a:p>
            <a:pPr indent="-139700" lvl="0" marL="342900" rtl="0" algn="l">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p:txBody>
      </p:sp>
      <p:pic>
        <p:nvPicPr>
          <p:cNvPr id="1097" name="Google Shape;1097;p91"/>
          <p:cNvPicPr preferRelativeResize="0"/>
          <p:nvPr/>
        </p:nvPicPr>
        <p:blipFill rotWithShape="1">
          <a:blip r:embed="rId3">
            <a:alphaModFix/>
          </a:blip>
          <a:srcRect b="0" l="0" r="0" t="0"/>
          <a:stretch/>
        </p:blipFill>
        <p:spPr>
          <a:xfrm>
            <a:off x="1685925" y="2433637"/>
            <a:ext cx="5772150" cy="1990725"/>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p9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Exemple de DCL</a:t>
            </a:r>
            <a:endParaRPr/>
          </a:p>
        </p:txBody>
      </p:sp>
      <p:pic>
        <p:nvPicPr>
          <p:cNvPr id="1103" name="Google Shape;1103;p92"/>
          <p:cNvPicPr preferRelativeResize="0"/>
          <p:nvPr>
            <p:ph idx="1" type="body"/>
          </p:nvPr>
        </p:nvPicPr>
        <p:blipFill rotWithShape="1">
          <a:blip r:embed="rId3">
            <a:alphaModFix/>
          </a:blip>
          <a:srcRect b="0" l="0" r="0" t="0"/>
          <a:stretch/>
        </p:blipFill>
        <p:spPr>
          <a:xfrm>
            <a:off x="457200" y="1600200"/>
            <a:ext cx="8229600" cy="4525962"/>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p9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Attributs d'une entité</a:t>
            </a:r>
            <a:endParaRPr/>
          </a:p>
        </p:txBody>
      </p:sp>
      <p:sp>
        <p:nvSpPr>
          <p:cNvPr id="1109" name="Google Shape;1109;p9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Les attributs d'une entité n'ont pas de type en rapport avec un langage de programmation. Les cardinalités représentent le nombre d'instances impliquées dans l'association.</a:t>
            </a:r>
            <a:endParaRPr/>
          </a:p>
          <a:p>
            <a:pPr indent="-342900" lvl="0" marL="34290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Quelques cardinalités :</a:t>
            </a:r>
            <a:endParaRPr/>
          </a:p>
          <a:p>
            <a:pPr indent="-342900" lvl="0" marL="342900" rtl="0" algn="l">
              <a:lnSpc>
                <a:spcPct val="90000"/>
              </a:lnSpc>
              <a:spcBef>
                <a:spcPts val="56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0..1</a:t>
            </a:r>
            <a:r>
              <a:rPr b="0" i="0" lang="en-US" sz="2800" u="none">
                <a:solidFill>
                  <a:schemeClr val="dk1"/>
                </a:solidFill>
                <a:latin typeface="Arial"/>
                <a:ea typeface="Arial"/>
                <a:cs typeface="Arial"/>
                <a:sym typeface="Arial"/>
              </a:rPr>
              <a:t> : Peut avoir aucune ou une instance </a:t>
            </a:r>
            <a:endParaRPr/>
          </a:p>
          <a:p>
            <a:pPr indent="-342900" lvl="0" marL="342900" rtl="0" algn="l">
              <a:lnSpc>
                <a:spcPct val="90000"/>
              </a:lnSpc>
              <a:spcBef>
                <a:spcPts val="56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a:t>
            </a:r>
            <a:r>
              <a:rPr b="0" i="0" lang="en-US" sz="2800" u="none">
                <a:solidFill>
                  <a:schemeClr val="dk1"/>
                </a:solidFill>
                <a:latin typeface="Arial"/>
                <a:ea typeface="Arial"/>
                <a:cs typeface="Arial"/>
                <a:sym typeface="Arial"/>
              </a:rPr>
              <a:t>: Peut avoir aucune ou plusieurs instances </a:t>
            </a:r>
            <a:endParaRPr/>
          </a:p>
          <a:p>
            <a:pPr indent="-342900" lvl="0" marL="34290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Les entités représentent des classes, il est possible de représenter des instances en les préfixant par</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3" name="Shape 1113"/>
        <p:cNvGrpSpPr/>
        <p:nvPr/>
      </p:nvGrpSpPr>
      <p:grpSpPr>
        <a:xfrm>
          <a:off x="0" y="0"/>
          <a:ext cx="0" cy="0"/>
          <a:chOff x="0" y="0"/>
          <a:chExt cx="0" cy="0"/>
        </a:xfrm>
      </p:grpSpPr>
      <p:sp>
        <p:nvSpPr>
          <p:cNvPr id="1114" name="Google Shape;1114;p9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Association entre Classes</a:t>
            </a:r>
            <a:endParaRPr/>
          </a:p>
        </p:txBody>
      </p:sp>
      <p:pic>
        <p:nvPicPr>
          <p:cNvPr id="1115" name="Google Shape;1115;p94"/>
          <p:cNvPicPr preferRelativeResize="0"/>
          <p:nvPr>
            <p:ph idx="1" type="body"/>
          </p:nvPr>
        </p:nvPicPr>
        <p:blipFill rotWithShape="1">
          <a:blip r:embed="rId3">
            <a:alphaModFix/>
          </a:blip>
          <a:srcRect b="0" l="0" r="0" t="0"/>
          <a:stretch/>
        </p:blipFill>
        <p:spPr>
          <a:xfrm>
            <a:off x="457200" y="1600200"/>
            <a:ext cx="8229600" cy="4525962"/>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9" name="Shape 1119"/>
        <p:cNvGrpSpPr/>
        <p:nvPr/>
      </p:nvGrpSpPr>
      <p:grpSpPr>
        <a:xfrm>
          <a:off x="0" y="0"/>
          <a:ext cx="0" cy="0"/>
          <a:chOff x="0" y="0"/>
          <a:chExt cx="0" cy="0"/>
        </a:xfrm>
      </p:grpSpPr>
      <p:sp>
        <p:nvSpPr>
          <p:cNvPr id="1120" name="Google Shape;1120;p9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Notion de Spécialisation</a:t>
            </a:r>
            <a:endParaRPr/>
          </a:p>
        </p:txBody>
      </p:sp>
      <p:sp>
        <p:nvSpPr>
          <p:cNvPr id="1121" name="Google Shape;1121;p9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La spécialisation ajoute une relation de type "</a:t>
            </a:r>
            <a:r>
              <a:rPr b="1" i="0" lang="en-US" sz="3200" u="none">
                <a:solidFill>
                  <a:schemeClr val="dk1"/>
                </a:solidFill>
                <a:latin typeface="Arial"/>
                <a:ea typeface="Arial"/>
                <a:cs typeface="Arial"/>
                <a:sym typeface="Arial"/>
              </a:rPr>
              <a:t>est une sorte de</a:t>
            </a:r>
            <a:r>
              <a:rPr b="0" i="0" lang="en-US" sz="3200" u="none">
                <a:solidFill>
                  <a:schemeClr val="dk1"/>
                </a:solidFill>
                <a:latin typeface="Arial"/>
                <a:ea typeface="Arial"/>
                <a:cs typeface="Arial"/>
                <a:sym typeface="Arial"/>
              </a:rPr>
              <a:t>".</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Pour renforcer </a:t>
            </a:r>
            <a:r>
              <a:rPr b="1" i="0" lang="en-US" sz="3200" u="none">
                <a:solidFill>
                  <a:schemeClr val="dk1"/>
                </a:solidFill>
                <a:latin typeface="Arial"/>
                <a:ea typeface="Arial"/>
                <a:cs typeface="Arial"/>
                <a:sym typeface="Arial"/>
              </a:rPr>
              <a:t>l'association</a:t>
            </a:r>
            <a:r>
              <a:rPr b="0" i="0" lang="en-US" sz="3200" u="none">
                <a:solidFill>
                  <a:schemeClr val="dk1"/>
                </a:solidFill>
                <a:latin typeface="Arial"/>
                <a:ea typeface="Arial"/>
                <a:cs typeface="Arial"/>
                <a:sym typeface="Arial"/>
              </a:rPr>
              <a:t>, </a:t>
            </a:r>
            <a:r>
              <a:rPr b="1" i="0" lang="en-US" sz="3200" u="none">
                <a:solidFill>
                  <a:schemeClr val="dk1"/>
                </a:solidFill>
                <a:latin typeface="Arial"/>
                <a:ea typeface="Arial"/>
                <a:cs typeface="Arial"/>
                <a:sym typeface="Arial"/>
              </a:rPr>
              <a:t>l'agrégation</a:t>
            </a:r>
            <a:r>
              <a:rPr b="0" i="0" lang="en-US" sz="3200" u="none">
                <a:solidFill>
                  <a:schemeClr val="dk1"/>
                </a:solidFill>
                <a:latin typeface="Arial"/>
                <a:ea typeface="Arial"/>
                <a:cs typeface="Arial"/>
                <a:sym typeface="Arial"/>
              </a:rPr>
              <a:t> fait intervenir l'idée de </a:t>
            </a:r>
            <a:r>
              <a:rPr b="1" i="0" lang="en-US" sz="3200" u="none">
                <a:solidFill>
                  <a:schemeClr val="dk1"/>
                </a:solidFill>
                <a:latin typeface="Arial"/>
                <a:ea typeface="Arial"/>
                <a:cs typeface="Arial"/>
                <a:sym typeface="Arial"/>
              </a:rPr>
              <a:t>dépendance</a:t>
            </a:r>
            <a:r>
              <a:rPr b="0" i="0" lang="en-US" sz="3200" u="none">
                <a:solidFill>
                  <a:schemeClr val="dk1"/>
                </a:solidFill>
                <a:latin typeface="Arial"/>
                <a:ea typeface="Arial"/>
                <a:cs typeface="Arial"/>
                <a:sym typeface="Arial"/>
              </a:rPr>
              <a:t> pour une instance.</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Elle introduit une relation de type "</a:t>
            </a:r>
            <a:r>
              <a:rPr b="1" i="0" lang="en-US" sz="3200" u="none">
                <a:solidFill>
                  <a:schemeClr val="dk1"/>
                </a:solidFill>
                <a:latin typeface="Arial"/>
                <a:ea typeface="Arial"/>
                <a:cs typeface="Arial"/>
                <a:sym typeface="Arial"/>
              </a:rPr>
              <a:t>fait partie de</a:t>
            </a:r>
            <a:r>
              <a:rPr b="0" i="0" lang="en-US" sz="3200" u="none">
                <a:solidFill>
                  <a:schemeClr val="dk1"/>
                </a:solidFill>
                <a:latin typeface="Arial"/>
                <a:ea typeface="Arial"/>
                <a:cs typeface="Arial"/>
                <a:sym typeface="Arial"/>
              </a:rPr>
              <a:t>".</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5" name="Shape 1125"/>
        <p:cNvGrpSpPr/>
        <p:nvPr/>
      </p:nvGrpSpPr>
      <p:grpSpPr>
        <a:xfrm>
          <a:off x="0" y="0"/>
          <a:ext cx="0" cy="0"/>
          <a:chOff x="0" y="0"/>
          <a:chExt cx="0" cy="0"/>
        </a:xfrm>
      </p:grpSpPr>
      <p:sp>
        <p:nvSpPr>
          <p:cNvPr id="1126" name="Google Shape;1126;p9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1" i="0" lang="en-US" sz="4400" u="none">
                <a:solidFill>
                  <a:schemeClr val="dk2"/>
                </a:solidFill>
                <a:latin typeface="Arial"/>
                <a:ea typeface="Arial"/>
                <a:cs typeface="Arial"/>
                <a:sym typeface="Arial"/>
              </a:rPr>
              <a:t>Les Qualificateurs</a:t>
            </a:r>
            <a:endParaRPr/>
          </a:p>
        </p:txBody>
      </p:sp>
      <p:sp>
        <p:nvSpPr>
          <p:cNvPr id="1127" name="Google Shape;1127;p9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Char char="•"/>
            </a:pPr>
            <a:r>
              <a:rPr b="0" i="0" lang="en-US" sz="3200" u="sng">
                <a:solidFill>
                  <a:schemeClr val="dk1"/>
                </a:solidFill>
                <a:latin typeface="Arial"/>
                <a:ea typeface="Arial"/>
                <a:cs typeface="Arial"/>
                <a:sym typeface="Arial"/>
              </a:rPr>
              <a:t>Exemple:</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 </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Les </a:t>
            </a:r>
            <a:r>
              <a:rPr b="1" i="0" lang="en-US" sz="3200" u="none">
                <a:solidFill>
                  <a:schemeClr val="dk1"/>
                </a:solidFill>
                <a:latin typeface="Arial"/>
                <a:ea typeface="Arial"/>
                <a:cs typeface="Arial"/>
                <a:sym typeface="Arial"/>
              </a:rPr>
              <a:t>qualificateurs</a:t>
            </a:r>
            <a:r>
              <a:rPr b="0" i="0" lang="en-US" sz="3200" u="none">
                <a:solidFill>
                  <a:schemeClr val="dk1"/>
                </a:solidFill>
                <a:latin typeface="Arial"/>
                <a:ea typeface="Arial"/>
                <a:cs typeface="Arial"/>
                <a:sym typeface="Arial"/>
              </a:rPr>
              <a:t> peuvent améliorer les domaines de valeur des attributs.</a:t>
            </a:r>
            <a:endParaRPr/>
          </a:p>
          <a:p>
            <a:pPr indent="-139700" lvl="0" marL="342900" rtl="0" algn="l">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p:txBody>
      </p:sp>
      <p:pic>
        <p:nvPicPr>
          <p:cNvPr id="1128" name="Google Shape;1128;p96"/>
          <p:cNvPicPr preferRelativeResize="0"/>
          <p:nvPr/>
        </p:nvPicPr>
        <p:blipFill rotWithShape="1">
          <a:blip r:embed="rId3">
            <a:alphaModFix/>
          </a:blip>
          <a:srcRect b="0" l="0" r="0" t="0"/>
          <a:stretch/>
        </p:blipFill>
        <p:spPr>
          <a:xfrm>
            <a:off x="1042987" y="4292600"/>
            <a:ext cx="5905500" cy="1760537"/>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p9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Rôles</a:t>
            </a:r>
            <a:endParaRPr/>
          </a:p>
        </p:txBody>
      </p:sp>
      <p:sp>
        <p:nvSpPr>
          <p:cNvPr id="1134" name="Google Shape;1134;p9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Les </a:t>
            </a:r>
            <a:r>
              <a:rPr b="1" i="0" lang="en-US" sz="3200" u="none">
                <a:solidFill>
                  <a:schemeClr val="dk1"/>
                </a:solidFill>
                <a:latin typeface="Arial"/>
                <a:ea typeface="Arial"/>
                <a:cs typeface="Arial"/>
                <a:sym typeface="Arial"/>
              </a:rPr>
              <a:t>Rôles</a:t>
            </a:r>
            <a:r>
              <a:rPr b="0" i="0" lang="en-US" sz="3200" u="none">
                <a:solidFill>
                  <a:schemeClr val="dk1"/>
                </a:solidFill>
                <a:latin typeface="Arial"/>
                <a:ea typeface="Arial"/>
                <a:cs typeface="Arial"/>
                <a:sym typeface="Arial"/>
              </a:rPr>
              <a:t> peuvent améliorer les domaines de valeur des attributs.</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sng">
                <a:solidFill>
                  <a:schemeClr val="dk1"/>
                </a:solidFill>
                <a:latin typeface="Arial"/>
                <a:ea typeface="Arial"/>
                <a:cs typeface="Arial"/>
                <a:sym typeface="Arial"/>
              </a:rPr>
              <a:t>Exemple</a:t>
            </a:r>
            <a:r>
              <a:rPr b="0" i="0" lang="en-US" sz="3200" u="none">
                <a:solidFill>
                  <a:schemeClr val="dk1"/>
                </a:solidFill>
                <a:latin typeface="Arial"/>
                <a:ea typeface="Arial"/>
                <a:cs typeface="Arial"/>
                <a:sym typeface="Arial"/>
              </a:rPr>
              <a:t> : Pour une rangée d'avion il existe 4 sièges.</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 </a:t>
            </a:r>
            <a:endParaRPr/>
          </a:p>
        </p:txBody>
      </p:sp>
      <p:pic>
        <p:nvPicPr>
          <p:cNvPr id="1135" name="Google Shape;1135;p97"/>
          <p:cNvPicPr preferRelativeResize="0"/>
          <p:nvPr/>
        </p:nvPicPr>
        <p:blipFill rotWithShape="1">
          <a:blip r:embed="rId3">
            <a:alphaModFix/>
          </a:blip>
          <a:srcRect b="0" l="0" r="0" t="0"/>
          <a:stretch/>
        </p:blipFill>
        <p:spPr>
          <a:xfrm>
            <a:off x="971550" y="4221162"/>
            <a:ext cx="7416800" cy="1590675"/>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9" name="Shape 1139"/>
        <p:cNvGrpSpPr/>
        <p:nvPr/>
      </p:nvGrpSpPr>
      <p:grpSpPr>
        <a:xfrm>
          <a:off x="0" y="0"/>
          <a:ext cx="0" cy="0"/>
          <a:chOff x="0" y="0"/>
          <a:chExt cx="0" cy="0"/>
        </a:xfrm>
      </p:grpSpPr>
      <p:sp>
        <p:nvSpPr>
          <p:cNvPr id="1140" name="Google Shape;1140;p9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1" i="0" lang="en-US" sz="4400" u="none">
                <a:solidFill>
                  <a:schemeClr val="dk2"/>
                </a:solidFill>
                <a:latin typeface="Arial"/>
                <a:ea typeface="Arial"/>
                <a:cs typeface="Arial"/>
                <a:sym typeface="Arial"/>
              </a:rPr>
              <a:t>Stéréotype</a:t>
            </a:r>
            <a:endParaRPr/>
          </a:p>
        </p:txBody>
      </p:sp>
      <p:sp>
        <p:nvSpPr>
          <p:cNvPr id="1141" name="Google Shape;1141;p9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Un </a:t>
            </a:r>
            <a:r>
              <a:rPr b="1" i="0" lang="en-US" sz="3200" u="none">
                <a:solidFill>
                  <a:schemeClr val="dk1"/>
                </a:solidFill>
                <a:latin typeface="Arial"/>
                <a:ea typeface="Arial"/>
                <a:cs typeface="Arial"/>
                <a:sym typeface="Arial"/>
              </a:rPr>
              <a:t>stéréotype</a:t>
            </a:r>
            <a:r>
              <a:rPr b="0" i="0" lang="en-US" sz="3200" u="none">
                <a:solidFill>
                  <a:schemeClr val="dk1"/>
                </a:solidFill>
                <a:latin typeface="Arial"/>
                <a:ea typeface="Arial"/>
                <a:cs typeface="Arial"/>
                <a:sym typeface="Arial"/>
              </a:rPr>
              <a:t> sert à subdiviser les classes en grandes familles.</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sng">
                <a:solidFill>
                  <a:schemeClr val="dk1"/>
                </a:solidFill>
                <a:latin typeface="Arial"/>
                <a:ea typeface="Arial"/>
                <a:cs typeface="Arial"/>
                <a:sym typeface="Arial"/>
              </a:rPr>
              <a:t>Exemple</a:t>
            </a:r>
            <a:r>
              <a:rPr b="0" i="0" lang="en-US" sz="3200" u="none">
                <a:solidFill>
                  <a:schemeClr val="dk1"/>
                </a:solidFill>
                <a:latin typeface="Arial"/>
                <a:ea typeface="Arial"/>
                <a:cs typeface="Arial"/>
                <a:sym typeface="Arial"/>
              </a:rPr>
              <a:t> : "interface".</a:t>
            </a:r>
            <a:endParaRPr/>
          </a:p>
          <a:p>
            <a:pPr indent="-139700" lvl="0" marL="342900" rtl="0" algn="l">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p:txBody>
      </p:sp>
      <p:pic>
        <p:nvPicPr>
          <p:cNvPr id="1142" name="Google Shape;1142;p98"/>
          <p:cNvPicPr preferRelativeResize="0"/>
          <p:nvPr/>
        </p:nvPicPr>
        <p:blipFill rotWithShape="1">
          <a:blip r:embed="rId3">
            <a:alphaModFix/>
          </a:blip>
          <a:srcRect b="0" l="0" r="0" t="0"/>
          <a:stretch/>
        </p:blipFill>
        <p:spPr>
          <a:xfrm>
            <a:off x="971550" y="3213100"/>
            <a:ext cx="6985000" cy="3024187"/>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6" name="Shape 1146"/>
        <p:cNvGrpSpPr/>
        <p:nvPr/>
      </p:nvGrpSpPr>
      <p:grpSpPr>
        <a:xfrm>
          <a:off x="0" y="0"/>
          <a:ext cx="0" cy="0"/>
          <a:chOff x="0" y="0"/>
          <a:chExt cx="0" cy="0"/>
        </a:xfrm>
      </p:grpSpPr>
      <p:sp>
        <p:nvSpPr>
          <p:cNvPr id="1147" name="Google Shape;1147;p9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Représentation Par Package</a:t>
            </a:r>
            <a:endParaRPr/>
          </a:p>
        </p:txBody>
      </p:sp>
      <p:sp>
        <p:nvSpPr>
          <p:cNvPr id="1148" name="Google Shape;1148;p9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Les </a:t>
            </a:r>
            <a:r>
              <a:rPr b="1" i="0" lang="en-US" sz="2800" u="none">
                <a:solidFill>
                  <a:schemeClr val="dk1"/>
                </a:solidFill>
                <a:latin typeface="Arial"/>
                <a:ea typeface="Arial"/>
                <a:cs typeface="Arial"/>
                <a:sym typeface="Arial"/>
              </a:rPr>
              <a:t>packages</a:t>
            </a:r>
            <a:r>
              <a:rPr b="0" i="0" lang="en-US" sz="2800" u="none">
                <a:solidFill>
                  <a:schemeClr val="dk1"/>
                </a:solidFill>
                <a:latin typeface="Arial"/>
                <a:ea typeface="Arial"/>
                <a:cs typeface="Arial"/>
                <a:sym typeface="Arial"/>
              </a:rPr>
              <a:t> décrivent les relations macroscopiques entre partie du système. </a:t>
            </a:r>
            <a:endParaRPr/>
          </a:p>
          <a:p>
            <a:pPr indent="-342900" lvl="0" marL="34290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Un </a:t>
            </a:r>
            <a:r>
              <a:rPr b="1" i="0" lang="en-US" sz="2800" u="none">
                <a:solidFill>
                  <a:schemeClr val="dk1"/>
                </a:solidFill>
                <a:latin typeface="Arial"/>
                <a:ea typeface="Arial"/>
                <a:cs typeface="Arial"/>
                <a:sym typeface="Arial"/>
              </a:rPr>
              <a:t>package</a:t>
            </a:r>
            <a:r>
              <a:rPr b="0" i="0" lang="en-US" sz="2800" u="none">
                <a:solidFill>
                  <a:schemeClr val="dk1"/>
                </a:solidFill>
                <a:latin typeface="Arial"/>
                <a:ea typeface="Arial"/>
                <a:cs typeface="Arial"/>
                <a:sym typeface="Arial"/>
              </a:rPr>
              <a:t> peut aussi se représenter sans contenu en ne mettant en évidence que les relations importantes.</a:t>
            </a:r>
            <a:endParaRPr/>
          </a:p>
          <a:p>
            <a:pPr indent="-342900" lvl="0" marL="34290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Le détail des entités peut être défini dans les modèles statiques en analyse. Cependant, seule la conception prendra en compte tous les impératifs du développement.</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p10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Exemple de Package</a:t>
            </a:r>
            <a:endParaRPr/>
          </a:p>
        </p:txBody>
      </p:sp>
      <p:pic>
        <p:nvPicPr>
          <p:cNvPr id="1154" name="Google Shape;1154;p100"/>
          <p:cNvPicPr preferRelativeResize="0"/>
          <p:nvPr>
            <p:ph idx="1" type="body"/>
          </p:nvPr>
        </p:nvPicPr>
        <p:blipFill rotWithShape="1">
          <a:blip r:embed="rId3">
            <a:alphaModFix/>
          </a:blip>
          <a:srcRect b="0" l="0" r="0" t="0"/>
          <a:stretch/>
        </p:blipFill>
        <p:spPr>
          <a:xfrm>
            <a:off x="457200" y="1600200"/>
            <a:ext cx="8229600" cy="4525962"/>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8" name="Shape 1158"/>
        <p:cNvGrpSpPr/>
        <p:nvPr/>
      </p:nvGrpSpPr>
      <p:grpSpPr>
        <a:xfrm>
          <a:off x="0" y="0"/>
          <a:ext cx="0" cy="0"/>
          <a:chOff x="0" y="0"/>
          <a:chExt cx="0" cy="0"/>
        </a:xfrm>
      </p:grpSpPr>
      <p:sp>
        <p:nvSpPr>
          <p:cNvPr id="1159" name="Google Shape;1159;p10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1" i="0" lang="en-US" sz="4400" u="none">
                <a:solidFill>
                  <a:schemeClr val="dk2"/>
                </a:solidFill>
                <a:latin typeface="Arial"/>
                <a:ea typeface="Arial"/>
                <a:cs typeface="Arial"/>
                <a:sym typeface="Arial"/>
              </a:rPr>
              <a:t>Le modèle dynamique</a:t>
            </a:r>
            <a:endParaRPr/>
          </a:p>
        </p:txBody>
      </p:sp>
      <p:sp>
        <p:nvSpPr>
          <p:cNvPr id="1160" name="Google Shape;1160;p10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a:p>
            <a:pPr indent="-342900" lvl="0" marL="342900" rtl="0" algn="l">
              <a:lnSpc>
                <a:spcPct val="9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Le modèle dynamique est une </a:t>
            </a:r>
            <a:r>
              <a:rPr b="1" i="0" lang="en-US" sz="3200" u="none">
                <a:solidFill>
                  <a:schemeClr val="dk1"/>
                </a:solidFill>
                <a:latin typeface="Arial"/>
                <a:ea typeface="Arial"/>
                <a:cs typeface="Arial"/>
                <a:sym typeface="Arial"/>
              </a:rPr>
              <a:t>vision microscopique</a:t>
            </a:r>
            <a:r>
              <a:rPr b="0" i="0" lang="en-US" sz="3200" u="none">
                <a:solidFill>
                  <a:schemeClr val="dk1"/>
                </a:solidFill>
                <a:latin typeface="Arial"/>
                <a:ea typeface="Arial"/>
                <a:cs typeface="Arial"/>
                <a:sym typeface="Arial"/>
              </a:rPr>
              <a:t> du fonctionnement du système. Il sert à mettre en évidence les </a:t>
            </a:r>
            <a:r>
              <a:rPr b="1" i="0" lang="en-US" sz="3200" u="none">
                <a:solidFill>
                  <a:schemeClr val="dk1"/>
                </a:solidFill>
                <a:latin typeface="Arial"/>
                <a:ea typeface="Arial"/>
                <a:cs typeface="Arial"/>
                <a:sym typeface="Arial"/>
              </a:rPr>
              <a:t>relations temporelles</a:t>
            </a:r>
            <a:r>
              <a:rPr b="0" i="0" lang="en-US" sz="3200" u="none">
                <a:solidFill>
                  <a:schemeClr val="dk1"/>
                </a:solidFill>
                <a:latin typeface="Arial"/>
                <a:ea typeface="Arial"/>
                <a:cs typeface="Arial"/>
                <a:sym typeface="Arial"/>
              </a:rPr>
              <a:t> inter-objets et la représentation sous forme d'un </a:t>
            </a:r>
            <a:r>
              <a:rPr b="1" i="0" lang="en-US" sz="3200" u="none">
                <a:solidFill>
                  <a:schemeClr val="dk1"/>
                </a:solidFill>
                <a:latin typeface="Arial"/>
                <a:ea typeface="Arial"/>
                <a:cs typeface="Arial"/>
                <a:sym typeface="Arial"/>
              </a:rPr>
              <a:t>automate</a:t>
            </a:r>
            <a:r>
              <a:rPr b="0" i="0" lang="en-US" sz="3200" u="none">
                <a:solidFill>
                  <a:schemeClr val="dk1"/>
                </a:solidFill>
                <a:latin typeface="Arial"/>
                <a:ea typeface="Arial"/>
                <a:cs typeface="Arial"/>
                <a:sym typeface="Arial"/>
              </a:rPr>
              <a:t> du comportement de chaque objet.</a:t>
            </a:r>
            <a:endParaRPr/>
          </a:p>
          <a:p>
            <a:pPr indent="-342900" lvl="0" marL="342900" rtl="0" algn="l">
              <a:lnSpc>
                <a:spcPct val="9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Il intervient après la définition du modèle statique</a:t>
            </a:r>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4" name="Shape 1164"/>
        <p:cNvGrpSpPr/>
        <p:nvPr/>
      </p:nvGrpSpPr>
      <p:grpSpPr>
        <a:xfrm>
          <a:off x="0" y="0"/>
          <a:ext cx="0" cy="0"/>
          <a:chOff x="0" y="0"/>
          <a:chExt cx="0" cy="0"/>
        </a:xfrm>
      </p:grpSpPr>
      <p:sp>
        <p:nvSpPr>
          <p:cNvPr id="1165" name="Google Shape;1165;p10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Diagrammes d'objets</a:t>
            </a:r>
            <a:endParaRPr/>
          </a:p>
        </p:txBody>
      </p:sp>
      <p:sp>
        <p:nvSpPr>
          <p:cNvPr id="1166" name="Google Shape;1166;p10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ctr">
              <a:lnSpc>
                <a:spcPct val="100000"/>
              </a:lnSpc>
              <a:spcBef>
                <a:spcPts val="0"/>
              </a:spcBef>
              <a:spcAft>
                <a:spcPts val="0"/>
              </a:spcAft>
              <a:buClr>
                <a:schemeClr val="dk1"/>
              </a:buClr>
              <a:buSzPts val="12400"/>
              <a:buFont typeface="Arial"/>
              <a:buNone/>
            </a:pPr>
            <a:r>
              <a:rPr b="0" i="0" lang="en-US" sz="12400" u="none">
                <a:solidFill>
                  <a:schemeClr val="dk1"/>
                </a:solidFill>
                <a:latin typeface="Arial"/>
                <a:ea typeface="Arial"/>
                <a:cs typeface="Arial"/>
                <a:sym typeface="Arial"/>
              </a:rPr>
              <a:t>Objets</a:t>
            </a:r>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0" name="Shape 1170"/>
        <p:cNvGrpSpPr/>
        <p:nvPr/>
      </p:nvGrpSpPr>
      <p:grpSpPr>
        <a:xfrm>
          <a:off x="0" y="0"/>
          <a:ext cx="0" cy="0"/>
          <a:chOff x="0" y="0"/>
          <a:chExt cx="0" cy="0"/>
        </a:xfrm>
      </p:grpSpPr>
      <p:sp>
        <p:nvSpPr>
          <p:cNvPr id="1171" name="Google Shape;1171;p10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3 types de diagrammes avec des objets</a:t>
            </a:r>
            <a:endParaRPr/>
          </a:p>
        </p:txBody>
      </p:sp>
      <p:sp>
        <p:nvSpPr>
          <p:cNvPr id="1172" name="Google Shape;1172;p103"/>
          <p:cNvSpPr txBox="1"/>
          <p:nvPr>
            <p:ph idx="1" type="body"/>
          </p:nvPr>
        </p:nvSpPr>
        <p:spPr>
          <a:xfrm>
            <a:off x="457200" y="1600200"/>
            <a:ext cx="86868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Diagrammes d’objets (point de vue statique)</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Diagrammes d’interaction (point de vue dynamique)</a:t>
            </a:r>
            <a:endParaRPr/>
          </a:p>
          <a:p>
            <a:pPr indent="-285750" lvl="1" marL="74295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Diagramme de séquence</a:t>
            </a:r>
            <a:endParaRPr/>
          </a:p>
          <a:p>
            <a:pPr indent="-285750" lvl="1" marL="74295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Diagramme de collaboration</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Deux niveaux de représentation des collaborations</a:t>
            </a:r>
            <a:endParaRPr/>
          </a:p>
          <a:p>
            <a:pPr indent="-285750" lvl="1" marL="74295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Niveau Spécification (des rôles et des messages)</a:t>
            </a:r>
            <a:endParaRPr/>
          </a:p>
          <a:p>
            <a:pPr indent="-285750" lvl="1" marL="74295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Niveau Instance (des instances et des stimuli)</a:t>
            </a:r>
            <a:endParaRPr/>
          </a:p>
          <a:p>
            <a:pPr indent="-107950" lvl="1" marL="742950" rtl="0" algn="l">
              <a:lnSpc>
                <a:spcPct val="100000"/>
              </a:lnSpc>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a:p>
            <a:pPr indent="-165100" lvl="0" marL="342900" rtl="0" algn="l">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6" name="Shape 1176"/>
        <p:cNvGrpSpPr/>
        <p:nvPr/>
      </p:nvGrpSpPr>
      <p:grpSpPr>
        <a:xfrm>
          <a:off x="0" y="0"/>
          <a:ext cx="0" cy="0"/>
          <a:chOff x="0" y="0"/>
          <a:chExt cx="0" cy="0"/>
        </a:xfrm>
      </p:grpSpPr>
      <p:sp>
        <p:nvSpPr>
          <p:cNvPr id="1177" name="Google Shape;1177;p10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Diagrammes d'objets</a:t>
            </a:r>
            <a:endParaRPr/>
          </a:p>
        </p:txBody>
      </p:sp>
      <p:sp>
        <p:nvSpPr>
          <p:cNvPr id="1178" name="Google Shape;1178;p10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000000"/>
              </a:buClr>
              <a:buSzPts val="3200"/>
              <a:buFont typeface="Arial"/>
              <a:buChar char="•"/>
            </a:pPr>
            <a:r>
              <a:rPr b="0" i="0" lang="en-US" sz="3200" u="none">
                <a:solidFill>
                  <a:srgbClr val="000000"/>
                </a:solidFill>
                <a:latin typeface="Arial"/>
                <a:ea typeface="Arial"/>
                <a:cs typeface="Arial"/>
                <a:sym typeface="Arial"/>
              </a:rPr>
              <a:t>Les </a:t>
            </a:r>
            <a:r>
              <a:rPr b="0" i="1" lang="en-US" sz="3200" u="none">
                <a:solidFill>
                  <a:srgbClr val="FF0033"/>
                </a:solidFill>
                <a:latin typeface="Arial"/>
                <a:ea typeface="Arial"/>
                <a:cs typeface="Arial"/>
                <a:sym typeface="Arial"/>
              </a:rPr>
              <a:t>diagrammes d’objets</a:t>
            </a:r>
            <a:r>
              <a:rPr b="0" i="1" lang="en-US" sz="3200" u="none">
                <a:solidFill>
                  <a:srgbClr val="000000"/>
                </a:solidFill>
                <a:latin typeface="Arial"/>
                <a:ea typeface="Arial"/>
                <a:cs typeface="Arial"/>
                <a:sym typeface="Arial"/>
              </a:rPr>
              <a:t> </a:t>
            </a:r>
            <a:r>
              <a:rPr b="0" i="0" lang="en-US" sz="3200" u="none">
                <a:solidFill>
                  <a:srgbClr val="000000"/>
                </a:solidFill>
                <a:latin typeface="Arial"/>
                <a:ea typeface="Arial"/>
                <a:cs typeface="Arial"/>
                <a:sym typeface="Arial"/>
              </a:rPr>
              <a:t>représentent un ensemble d’objets et leurs liens. Ce sont des vues statiques des instances des éléments qui apparaissent dans les diagrammes de classes. </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Un diagramme d’objet est une instance d’une diagramme de classes. Les diagrammes de classes peuvent aussi contenir des objets (</a:t>
            </a:r>
            <a:r>
              <a:rPr b="0" i="1" lang="en-US" sz="3200" u="none">
                <a:solidFill>
                  <a:schemeClr val="dk1"/>
                </a:solidFill>
                <a:latin typeface="Arial"/>
                <a:ea typeface="Arial"/>
                <a:cs typeface="Arial"/>
                <a:sym typeface="Arial"/>
              </a:rPr>
              <a:t>objets</a:t>
            </a:r>
            <a:r>
              <a:rPr b="0" i="0" lang="en-US" sz="3200" u="none">
                <a:solidFill>
                  <a:schemeClr val="dk1"/>
                </a:solidFill>
                <a:latin typeface="Arial"/>
                <a:ea typeface="Arial"/>
                <a:cs typeface="Arial"/>
                <a:sym typeface="Arial"/>
              </a:rPr>
              <a:t> de classes, au sens </a:t>
            </a:r>
            <a:r>
              <a:rPr b="0" i="1" lang="en-US" sz="3200" u="none">
                <a:solidFill>
                  <a:schemeClr val="dk1"/>
                </a:solidFill>
                <a:latin typeface="Arial"/>
                <a:ea typeface="Arial"/>
                <a:cs typeface="Arial"/>
                <a:sym typeface="Arial"/>
              </a:rPr>
              <a:t>variables</a:t>
            </a:r>
            <a:r>
              <a:rPr b="0" i="0" lang="en-US" sz="3200" u="none">
                <a:solidFill>
                  <a:schemeClr val="dk1"/>
                </a:solidFill>
                <a:latin typeface="Arial"/>
                <a:ea typeface="Arial"/>
                <a:cs typeface="Arial"/>
                <a:sym typeface="Arial"/>
              </a:rPr>
              <a:t> de classes)</a:t>
            </a:r>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p10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Diagrammes d'états-transitions</a:t>
            </a:r>
            <a:endParaRPr/>
          </a:p>
        </p:txBody>
      </p:sp>
      <p:sp>
        <p:nvSpPr>
          <p:cNvPr id="1184" name="Google Shape;1184;p105"/>
          <p:cNvSpPr txBox="1"/>
          <p:nvPr>
            <p:ph idx="1" type="body"/>
          </p:nvPr>
        </p:nvSpPr>
        <p:spPr>
          <a:xfrm>
            <a:off x="177800" y="1219200"/>
            <a:ext cx="8890000" cy="4953000"/>
          </a:xfrm>
          <a:prstGeom prst="rect">
            <a:avLst/>
          </a:prstGeom>
          <a:noFill/>
          <a:ln>
            <a:noFill/>
          </a:ln>
        </p:spPr>
        <p:txBody>
          <a:bodyPr anchorCtr="0" anchor="t" bIns="45700" lIns="91425" spcFirstLastPara="1" rIns="91425" wrap="square" tIns="45700">
            <a:noAutofit/>
          </a:bodyPr>
          <a:lstStyle/>
          <a:p>
            <a:pPr indent="-342900" lvl="0" marL="342900" rtl="0" algn="ctr">
              <a:lnSpc>
                <a:spcPct val="100000"/>
              </a:lnSpc>
              <a:spcBef>
                <a:spcPts val="0"/>
              </a:spcBef>
              <a:spcAft>
                <a:spcPts val="0"/>
              </a:spcAft>
              <a:buClr>
                <a:schemeClr val="dk1"/>
              </a:buClr>
              <a:buSzPts val="9300"/>
              <a:buFont typeface="Arial"/>
              <a:buNone/>
            </a:pPr>
            <a:r>
              <a:rPr b="0" i="0" lang="en-US" sz="9300" u="none">
                <a:solidFill>
                  <a:schemeClr val="dk1"/>
                </a:solidFill>
                <a:latin typeface="Arial"/>
                <a:ea typeface="Arial"/>
                <a:cs typeface="Arial"/>
                <a:sym typeface="Arial"/>
              </a:rPr>
              <a:t>Etats/Transitions</a:t>
            </a:r>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sp>
        <p:nvSpPr>
          <p:cNvPr id="1189" name="Google Shape;1189;p10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r>
              <a:rPr b="1" i="0" lang="en-US" sz="4000" u="none">
                <a:solidFill>
                  <a:schemeClr val="dk2"/>
                </a:solidFill>
                <a:latin typeface="Arial"/>
                <a:ea typeface="Arial"/>
                <a:cs typeface="Arial"/>
                <a:sym typeface="Arial"/>
              </a:rPr>
              <a:t>Le diagramme d'état</a:t>
            </a:r>
            <a:br>
              <a:rPr b="1" i="0" lang="en-US" sz="4000" u="none">
                <a:solidFill>
                  <a:schemeClr val="dk2"/>
                </a:solidFill>
                <a:latin typeface="Arial"/>
                <a:ea typeface="Arial"/>
                <a:cs typeface="Arial"/>
                <a:sym typeface="Arial"/>
              </a:rPr>
            </a:br>
            <a:endParaRPr/>
          </a:p>
        </p:txBody>
      </p:sp>
      <p:sp>
        <p:nvSpPr>
          <p:cNvPr id="1190" name="Google Shape;1190;p10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Le diagramme d'état</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Il découpe un objet en un ensemble d'</a:t>
            </a:r>
            <a:r>
              <a:rPr b="1" i="0" lang="en-US" sz="3200" u="none">
                <a:solidFill>
                  <a:schemeClr val="dk1"/>
                </a:solidFill>
                <a:latin typeface="Arial"/>
                <a:ea typeface="Arial"/>
                <a:cs typeface="Arial"/>
                <a:sym typeface="Arial"/>
              </a:rPr>
              <a:t>états</a:t>
            </a:r>
            <a:r>
              <a:rPr b="0" i="0" lang="en-US" sz="3200" u="none">
                <a:solidFill>
                  <a:schemeClr val="dk1"/>
                </a:solidFill>
                <a:latin typeface="Arial"/>
                <a:ea typeface="Arial"/>
                <a:cs typeface="Arial"/>
                <a:sym typeface="Arial"/>
              </a:rPr>
              <a:t>. Le passage d'un état à un autre se fait par des </a:t>
            </a:r>
            <a:r>
              <a:rPr b="1" i="0" lang="en-US" sz="3200" u="none">
                <a:solidFill>
                  <a:schemeClr val="dk1"/>
                </a:solidFill>
                <a:latin typeface="Arial"/>
                <a:ea typeface="Arial"/>
                <a:cs typeface="Arial"/>
                <a:sym typeface="Arial"/>
              </a:rPr>
              <a:t>événements</a:t>
            </a:r>
            <a:r>
              <a:rPr b="0" i="0" lang="en-US" sz="3200" u="none">
                <a:solidFill>
                  <a:schemeClr val="dk1"/>
                </a:solidFill>
                <a:latin typeface="Arial"/>
                <a:ea typeface="Arial"/>
                <a:cs typeface="Arial"/>
                <a:sym typeface="Arial"/>
              </a:rPr>
              <a:t>.</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Un </a:t>
            </a:r>
            <a:r>
              <a:rPr b="1" i="0" lang="en-US" sz="3200" u="none">
                <a:solidFill>
                  <a:schemeClr val="dk1"/>
                </a:solidFill>
                <a:latin typeface="Arial"/>
                <a:ea typeface="Arial"/>
                <a:cs typeface="Arial"/>
                <a:sym typeface="Arial"/>
              </a:rPr>
              <a:t>événement </a:t>
            </a:r>
            <a:r>
              <a:rPr b="0" i="0" lang="en-US" sz="3200" u="none">
                <a:solidFill>
                  <a:schemeClr val="dk1"/>
                </a:solidFill>
                <a:latin typeface="Arial"/>
                <a:ea typeface="Arial"/>
                <a:cs typeface="Arial"/>
                <a:sym typeface="Arial"/>
              </a:rPr>
              <a:t>est composé d'</a:t>
            </a:r>
            <a:r>
              <a:rPr b="1" i="0" lang="en-US" sz="3200" u="none">
                <a:solidFill>
                  <a:schemeClr val="dk1"/>
                </a:solidFill>
                <a:latin typeface="Arial"/>
                <a:ea typeface="Arial"/>
                <a:cs typeface="Arial"/>
                <a:sym typeface="Arial"/>
              </a:rPr>
              <a:t>attributs</a:t>
            </a:r>
            <a:r>
              <a:rPr b="0" i="0" lang="en-US" sz="3200" u="none">
                <a:solidFill>
                  <a:schemeClr val="dk1"/>
                </a:solidFill>
                <a:latin typeface="Arial"/>
                <a:ea typeface="Arial"/>
                <a:cs typeface="Arial"/>
                <a:sym typeface="Arial"/>
              </a:rPr>
              <a:t> et de </a:t>
            </a:r>
            <a:r>
              <a:rPr b="1" i="0" lang="en-US" sz="3200" u="none">
                <a:solidFill>
                  <a:schemeClr val="dk1"/>
                </a:solidFill>
                <a:latin typeface="Arial"/>
                <a:ea typeface="Arial"/>
                <a:cs typeface="Arial"/>
                <a:sym typeface="Arial"/>
              </a:rPr>
              <a:t>gardiens</a:t>
            </a:r>
            <a:r>
              <a:rPr b="0" i="0" lang="en-US" sz="3200" u="none">
                <a:solidFill>
                  <a:schemeClr val="dk1"/>
                </a:solidFill>
                <a:latin typeface="Arial"/>
                <a:ea typeface="Arial"/>
                <a:cs typeface="Arial"/>
                <a:sym typeface="Arial"/>
              </a:rPr>
              <a:t>. Un </a:t>
            </a:r>
            <a:r>
              <a:rPr b="1" i="0" lang="en-US" sz="3200" u="none">
                <a:solidFill>
                  <a:schemeClr val="dk1"/>
                </a:solidFill>
                <a:latin typeface="Arial"/>
                <a:ea typeface="Arial"/>
                <a:cs typeface="Arial"/>
                <a:sym typeface="Arial"/>
              </a:rPr>
              <a:t>attribut </a:t>
            </a:r>
            <a:r>
              <a:rPr b="0" i="0" lang="en-US" sz="3200" u="none">
                <a:solidFill>
                  <a:schemeClr val="dk1"/>
                </a:solidFill>
                <a:latin typeface="Arial"/>
                <a:ea typeface="Arial"/>
                <a:cs typeface="Arial"/>
                <a:sym typeface="Arial"/>
              </a:rPr>
              <a:t>est un </a:t>
            </a:r>
            <a:r>
              <a:rPr b="1" i="0" lang="en-US" sz="3200" u="none">
                <a:solidFill>
                  <a:schemeClr val="dk1"/>
                </a:solidFill>
                <a:latin typeface="Arial"/>
                <a:ea typeface="Arial"/>
                <a:cs typeface="Arial"/>
                <a:sym typeface="Arial"/>
              </a:rPr>
              <a:t>paramètre</a:t>
            </a:r>
            <a:r>
              <a:rPr b="0" i="0" lang="en-US" sz="3200" u="none">
                <a:solidFill>
                  <a:schemeClr val="dk1"/>
                </a:solidFill>
                <a:latin typeface="Arial"/>
                <a:ea typeface="Arial"/>
                <a:cs typeface="Arial"/>
                <a:sym typeface="Arial"/>
              </a:rPr>
              <a:t> alors qu'un </a:t>
            </a:r>
            <a:r>
              <a:rPr b="1" i="0" lang="en-US" sz="3200" u="none">
                <a:solidFill>
                  <a:schemeClr val="dk1"/>
                </a:solidFill>
                <a:latin typeface="Arial"/>
                <a:ea typeface="Arial"/>
                <a:cs typeface="Arial"/>
                <a:sym typeface="Arial"/>
              </a:rPr>
              <a:t>gardien </a:t>
            </a:r>
            <a:r>
              <a:rPr b="0" i="0" lang="en-US" sz="3200" u="none">
                <a:solidFill>
                  <a:schemeClr val="dk1"/>
                </a:solidFill>
                <a:latin typeface="Arial"/>
                <a:ea typeface="Arial"/>
                <a:cs typeface="Arial"/>
                <a:sym typeface="Arial"/>
              </a:rPr>
              <a:t>est une </a:t>
            </a:r>
            <a:r>
              <a:rPr b="1" i="0" lang="en-US" sz="3200" u="none">
                <a:solidFill>
                  <a:schemeClr val="dk1"/>
                </a:solidFill>
                <a:latin typeface="Arial"/>
                <a:ea typeface="Arial"/>
                <a:cs typeface="Arial"/>
                <a:sym typeface="Arial"/>
              </a:rPr>
              <a:t>condition </a:t>
            </a:r>
            <a:r>
              <a:rPr b="0" i="0" lang="en-US" sz="3200" u="none">
                <a:solidFill>
                  <a:schemeClr val="dk1"/>
                </a:solidFill>
                <a:latin typeface="Arial"/>
                <a:ea typeface="Arial"/>
                <a:cs typeface="Arial"/>
                <a:sym typeface="Arial"/>
              </a:rPr>
              <a:t>pour réaliser une transition.</a:t>
            </a:r>
            <a:endParaRPr b="0" i="0" sz="3200" u="sng">
              <a:solidFill>
                <a:schemeClr val="dk1"/>
              </a:solidFill>
              <a:latin typeface="Arial"/>
              <a:ea typeface="Arial"/>
              <a:cs typeface="Arial"/>
              <a:sym typeface="Arial"/>
            </a:endParaRPr>
          </a:p>
          <a:p>
            <a:pPr indent="-139700" lvl="0" marL="342900" rtl="0" algn="l">
              <a:spcBef>
                <a:spcPts val="640"/>
              </a:spcBef>
              <a:spcAft>
                <a:spcPts val="0"/>
              </a:spcAft>
              <a:buClr>
                <a:schemeClr val="dk1"/>
              </a:buClr>
              <a:buSzPts val="3200"/>
              <a:buFont typeface="Arial"/>
              <a:buNone/>
            </a:pPr>
            <a:r>
              <a:t/>
            </a:r>
            <a:endParaRPr b="0" i="0" sz="3200" u="sng">
              <a:solidFill>
                <a:schemeClr val="dk1"/>
              </a:solidFill>
              <a:latin typeface="Arial"/>
              <a:ea typeface="Arial"/>
              <a:cs typeface="Arial"/>
              <a:sym typeface="Arial"/>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4" name="Shape 1194"/>
        <p:cNvGrpSpPr/>
        <p:nvPr/>
      </p:nvGrpSpPr>
      <p:grpSpPr>
        <a:xfrm>
          <a:off x="0" y="0"/>
          <a:ext cx="0" cy="0"/>
          <a:chOff x="0" y="0"/>
          <a:chExt cx="0" cy="0"/>
        </a:xfrm>
      </p:grpSpPr>
      <p:sp>
        <p:nvSpPr>
          <p:cNvPr id="1195" name="Google Shape;1195;p10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Diagrammes d'états</a:t>
            </a:r>
            <a:endParaRPr/>
          </a:p>
        </p:txBody>
      </p:sp>
      <p:sp>
        <p:nvSpPr>
          <p:cNvPr id="1196" name="Google Shape;1196;p10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Les </a:t>
            </a:r>
            <a:r>
              <a:rPr b="0" i="1" lang="en-US" sz="2800" u="none">
                <a:solidFill>
                  <a:schemeClr val="dk1"/>
                </a:solidFill>
                <a:latin typeface="Arial"/>
                <a:ea typeface="Arial"/>
                <a:cs typeface="Arial"/>
                <a:sym typeface="Arial"/>
              </a:rPr>
              <a:t>diagrammes d'état</a:t>
            </a:r>
            <a:r>
              <a:rPr b="0" i="0" lang="en-US" sz="2800" u="none">
                <a:solidFill>
                  <a:schemeClr val="dk1"/>
                </a:solidFill>
                <a:latin typeface="Arial"/>
                <a:ea typeface="Arial"/>
                <a:cs typeface="Arial"/>
                <a:sym typeface="Arial"/>
              </a:rPr>
              <a:t> sont des automates à états, composés d'états, de transitions, d'événements et d'activités. Ils présentent la vue dynamique d’un système, sont particulièrement importants dans la modélisation du comportement d'une interface, d'une classe ou d'une collaboration et mettent l'accent sur le comportement d'un objet ordonnancé par les événements, ce qui est particulièrement utile dans la modélisation des systèmes réactifs. </a:t>
            </a:r>
            <a:endParaRPr/>
          </a:p>
          <a:p>
            <a:pPr indent="-342900" lvl="0" marL="34290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Etat </a:t>
            </a:r>
            <a:endParaRPr/>
          </a:p>
          <a:p>
            <a:pPr indent="-285750" lvl="1" marL="74295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Condition dans laquelle se trouve un objet</a:t>
            </a:r>
            <a:endParaRPr/>
          </a:p>
          <a:p>
            <a:pPr indent="-342900" lvl="0" marL="34290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Transition</a:t>
            </a:r>
            <a:endParaRPr/>
          </a:p>
          <a:p>
            <a:pPr indent="-285750" lvl="1" marL="74295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Chemin entre deux états</a:t>
            </a:r>
            <a:endParaRPr/>
          </a:p>
          <a:p>
            <a:pPr indent="-342900" lvl="0" marL="34290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Evénement</a:t>
            </a:r>
            <a:endParaRPr/>
          </a:p>
          <a:p>
            <a:pPr indent="-285750" lvl="1" marL="74295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Occurrence qui survient dans le domaine</a:t>
            </a:r>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0" name="Shape 1200"/>
        <p:cNvGrpSpPr/>
        <p:nvPr/>
      </p:nvGrpSpPr>
      <p:grpSpPr>
        <a:xfrm>
          <a:off x="0" y="0"/>
          <a:ext cx="0" cy="0"/>
          <a:chOff x="0" y="0"/>
          <a:chExt cx="0" cy="0"/>
        </a:xfrm>
      </p:grpSpPr>
      <p:sp>
        <p:nvSpPr>
          <p:cNvPr id="1201" name="Google Shape;1201;p10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Diagrammes d'états</a:t>
            </a:r>
            <a:endParaRPr/>
          </a:p>
        </p:txBody>
      </p:sp>
      <p:sp>
        <p:nvSpPr>
          <p:cNvPr id="1202" name="Google Shape;1202;p10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Décrit les changements d’état d’un objet en réponse à des evénements </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Point focal : l’objet et ses changements d’états</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Permet un hiérarchisation des états afin d’éviter une explosion combinatoire d’états </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6" name="Shape 1206"/>
        <p:cNvGrpSpPr/>
        <p:nvPr/>
      </p:nvGrpSpPr>
      <p:grpSpPr>
        <a:xfrm>
          <a:off x="0" y="0"/>
          <a:ext cx="0" cy="0"/>
          <a:chOff x="0" y="0"/>
          <a:chExt cx="0" cy="0"/>
        </a:xfrm>
      </p:grpSpPr>
      <p:sp>
        <p:nvSpPr>
          <p:cNvPr id="1207" name="Google Shape;1207;p10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Concepts</a:t>
            </a:r>
            <a:endParaRPr/>
          </a:p>
        </p:txBody>
      </p:sp>
      <p:sp>
        <p:nvSpPr>
          <p:cNvPr id="1208" name="Google Shape;1208;p10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Etats (simples ou composites)</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Transitions</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Actions</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Evénements</a:t>
            </a:r>
            <a:endParaRPr/>
          </a:p>
          <a:p>
            <a:pPr indent="-139700" lvl="0" marL="342900" rtl="0" algn="l">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p11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Etat et transitions</a:t>
            </a:r>
            <a:endParaRPr/>
          </a:p>
        </p:txBody>
      </p:sp>
      <p:sp>
        <p:nvSpPr>
          <p:cNvPr id="1214" name="Google Shape;1214;p110"/>
          <p:cNvSpPr txBox="1"/>
          <p:nvPr/>
        </p:nvSpPr>
        <p:spPr>
          <a:xfrm>
            <a:off x="5181600" y="2667000"/>
            <a:ext cx="8159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Etat</a:t>
            </a:r>
            <a:endParaRPr/>
          </a:p>
        </p:txBody>
      </p:sp>
      <p:cxnSp>
        <p:nvCxnSpPr>
          <p:cNvPr id="1215" name="Google Shape;1215;p110"/>
          <p:cNvCxnSpPr/>
          <p:nvPr/>
        </p:nvCxnSpPr>
        <p:spPr>
          <a:xfrm rot="10800000">
            <a:off x="3505200" y="2895600"/>
            <a:ext cx="1524000" cy="0"/>
          </a:xfrm>
          <a:prstGeom prst="straightConnector1">
            <a:avLst/>
          </a:prstGeom>
          <a:noFill/>
          <a:ln cap="flat" cmpd="sng" w="12700">
            <a:solidFill>
              <a:schemeClr val="dk1"/>
            </a:solidFill>
            <a:prstDash val="solid"/>
            <a:miter lim="800000"/>
            <a:headEnd len="med" w="med" type="none"/>
            <a:tailEnd len="med" w="med" type="triangle"/>
          </a:ln>
        </p:spPr>
      </p:cxnSp>
      <p:sp>
        <p:nvSpPr>
          <p:cNvPr id="1216" name="Google Shape;1216;p110"/>
          <p:cNvSpPr/>
          <p:nvPr/>
        </p:nvSpPr>
        <p:spPr>
          <a:xfrm>
            <a:off x="1752600" y="4114800"/>
            <a:ext cx="381000" cy="381000"/>
          </a:xfrm>
          <a:prstGeom prst="ellipse">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1217" name="Google Shape;1217;p110"/>
          <p:cNvGrpSpPr/>
          <p:nvPr/>
        </p:nvGrpSpPr>
        <p:grpSpPr>
          <a:xfrm>
            <a:off x="457200" y="1981200"/>
            <a:ext cx="2895600" cy="1828800"/>
            <a:chOff x="288" y="1248"/>
            <a:chExt cx="1824" cy="1152"/>
          </a:xfrm>
        </p:grpSpPr>
        <p:sp>
          <p:nvSpPr>
            <p:cNvPr id="1218" name="Google Shape;1218;p110"/>
            <p:cNvSpPr/>
            <p:nvPr/>
          </p:nvSpPr>
          <p:spPr>
            <a:xfrm>
              <a:off x="288" y="1248"/>
              <a:ext cx="1824" cy="1152"/>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1219" name="Google Shape;1219;p110"/>
            <p:cNvCxnSpPr/>
            <p:nvPr/>
          </p:nvCxnSpPr>
          <p:spPr>
            <a:xfrm>
              <a:off x="288" y="1584"/>
              <a:ext cx="1824" cy="0"/>
            </a:xfrm>
            <a:prstGeom prst="straightConnector1">
              <a:avLst/>
            </a:prstGeom>
            <a:noFill/>
            <a:ln cap="flat" cmpd="sng" w="12700">
              <a:solidFill>
                <a:schemeClr val="dk1"/>
              </a:solidFill>
              <a:prstDash val="solid"/>
              <a:miter lim="800000"/>
              <a:headEnd len="med" w="med" type="none"/>
              <a:tailEnd len="med" w="med" type="none"/>
            </a:ln>
          </p:spPr>
        </p:cxnSp>
        <p:sp>
          <p:nvSpPr>
            <p:cNvPr id="1220" name="Google Shape;1220;p110"/>
            <p:cNvSpPr txBox="1"/>
            <p:nvPr/>
          </p:nvSpPr>
          <p:spPr>
            <a:xfrm>
              <a:off x="912" y="1296"/>
              <a:ext cx="467"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nom</a:t>
              </a:r>
              <a:endParaRPr/>
            </a:p>
          </p:txBody>
        </p:sp>
        <p:sp>
          <p:nvSpPr>
            <p:cNvPr id="1221" name="Google Shape;1221;p110"/>
            <p:cNvSpPr txBox="1"/>
            <p:nvPr/>
          </p:nvSpPr>
          <p:spPr>
            <a:xfrm>
              <a:off x="816" y="1632"/>
              <a:ext cx="934"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Activités</a:t>
              </a:r>
              <a:endParaRPr/>
            </a:p>
          </p:txBody>
        </p:sp>
        <p:cxnSp>
          <p:nvCxnSpPr>
            <p:cNvPr id="1222" name="Google Shape;1222;p110"/>
            <p:cNvCxnSpPr/>
            <p:nvPr/>
          </p:nvCxnSpPr>
          <p:spPr>
            <a:xfrm>
              <a:off x="288" y="1920"/>
              <a:ext cx="1824" cy="0"/>
            </a:xfrm>
            <a:prstGeom prst="straightConnector1">
              <a:avLst/>
            </a:prstGeom>
            <a:noFill/>
            <a:ln cap="flat" cmpd="sng" w="12700">
              <a:solidFill>
                <a:schemeClr val="dk1"/>
              </a:solidFill>
              <a:prstDash val="solid"/>
              <a:miter lim="800000"/>
              <a:headEnd len="med" w="med" type="none"/>
              <a:tailEnd len="med" w="med" type="none"/>
            </a:ln>
          </p:spPr>
        </p:cxnSp>
        <p:sp>
          <p:nvSpPr>
            <p:cNvPr id="1223" name="Google Shape;1223;p110"/>
            <p:cNvSpPr txBox="1"/>
            <p:nvPr/>
          </p:nvSpPr>
          <p:spPr>
            <a:xfrm>
              <a:off x="288" y="1968"/>
              <a:ext cx="1462"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        Sous-état</a:t>
              </a:r>
              <a:endParaRPr/>
            </a:p>
          </p:txBody>
        </p:sp>
      </p:grpSp>
      <p:sp>
        <p:nvSpPr>
          <p:cNvPr id="1224" name="Google Shape;1224;p110"/>
          <p:cNvSpPr txBox="1"/>
          <p:nvPr/>
        </p:nvSpPr>
        <p:spPr>
          <a:xfrm>
            <a:off x="4114800" y="4114800"/>
            <a:ext cx="26606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Start/Etat initial</a:t>
            </a:r>
            <a:endParaRPr/>
          </a:p>
        </p:txBody>
      </p:sp>
      <p:cxnSp>
        <p:nvCxnSpPr>
          <p:cNvPr id="1225" name="Google Shape;1225;p110"/>
          <p:cNvCxnSpPr/>
          <p:nvPr/>
        </p:nvCxnSpPr>
        <p:spPr>
          <a:xfrm rot="10800000">
            <a:off x="2286000" y="4343400"/>
            <a:ext cx="1828800" cy="0"/>
          </a:xfrm>
          <a:prstGeom prst="straightConnector1">
            <a:avLst/>
          </a:prstGeom>
          <a:noFill/>
          <a:ln cap="flat" cmpd="sng" w="12700">
            <a:solidFill>
              <a:schemeClr val="dk1"/>
            </a:solidFill>
            <a:prstDash val="solid"/>
            <a:miter lim="800000"/>
            <a:headEnd len="med" w="med" type="none"/>
            <a:tailEnd len="med" w="med" type="triangle"/>
          </a:ln>
        </p:spPr>
      </p:cxnSp>
      <p:grpSp>
        <p:nvGrpSpPr>
          <p:cNvPr id="1226" name="Google Shape;1226;p110"/>
          <p:cNvGrpSpPr/>
          <p:nvPr/>
        </p:nvGrpSpPr>
        <p:grpSpPr>
          <a:xfrm>
            <a:off x="1676400" y="4800600"/>
            <a:ext cx="457200" cy="533400"/>
            <a:chOff x="1008" y="3120"/>
            <a:chExt cx="432" cy="432"/>
          </a:xfrm>
        </p:grpSpPr>
        <p:sp>
          <p:nvSpPr>
            <p:cNvPr id="1227" name="Google Shape;1227;p110"/>
            <p:cNvSpPr/>
            <p:nvPr/>
          </p:nvSpPr>
          <p:spPr>
            <a:xfrm>
              <a:off x="1008" y="3120"/>
              <a:ext cx="432" cy="432"/>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28" name="Google Shape;1228;p110"/>
            <p:cNvSpPr/>
            <p:nvPr/>
          </p:nvSpPr>
          <p:spPr>
            <a:xfrm>
              <a:off x="1104" y="3216"/>
              <a:ext cx="240" cy="240"/>
            </a:xfrm>
            <a:prstGeom prst="ellipse">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1229" name="Google Shape;1229;p110"/>
          <p:cNvSpPr txBox="1"/>
          <p:nvPr/>
        </p:nvSpPr>
        <p:spPr>
          <a:xfrm>
            <a:off x="4191000" y="4876800"/>
            <a:ext cx="23812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Stop/Etat final</a:t>
            </a:r>
            <a:endParaRPr/>
          </a:p>
        </p:txBody>
      </p:sp>
      <p:cxnSp>
        <p:nvCxnSpPr>
          <p:cNvPr id="1230" name="Google Shape;1230;p110"/>
          <p:cNvCxnSpPr/>
          <p:nvPr/>
        </p:nvCxnSpPr>
        <p:spPr>
          <a:xfrm rot="10800000">
            <a:off x="2362200" y="5105400"/>
            <a:ext cx="1828800" cy="0"/>
          </a:xfrm>
          <a:prstGeom prst="straightConnector1">
            <a:avLst/>
          </a:prstGeom>
          <a:noFill/>
          <a:ln cap="flat" cmpd="sng" w="12700">
            <a:solidFill>
              <a:schemeClr val="dk1"/>
            </a:solidFill>
            <a:prstDash val="solid"/>
            <a:miter lim="800000"/>
            <a:headEnd len="med" w="med" type="none"/>
            <a:tailEnd len="med" w="med" type="triangle"/>
          </a:ln>
        </p:spPr>
      </p:cxnSp>
      <p:cxnSp>
        <p:nvCxnSpPr>
          <p:cNvPr id="1231" name="Google Shape;1231;p110"/>
          <p:cNvCxnSpPr/>
          <p:nvPr/>
        </p:nvCxnSpPr>
        <p:spPr>
          <a:xfrm>
            <a:off x="1035050" y="5956300"/>
            <a:ext cx="6172200" cy="0"/>
          </a:xfrm>
          <a:prstGeom prst="straightConnector1">
            <a:avLst/>
          </a:prstGeom>
          <a:noFill/>
          <a:ln cap="flat" cmpd="sng" w="19050">
            <a:solidFill>
              <a:schemeClr val="dk1"/>
            </a:solidFill>
            <a:prstDash val="solid"/>
            <a:miter lim="800000"/>
            <a:headEnd len="med" w="med" type="none"/>
            <a:tailEnd len="med" w="med" type="stealth"/>
          </a:ln>
        </p:spPr>
      </p:cxnSp>
      <p:sp>
        <p:nvSpPr>
          <p:cNvPr id="1232" name="Google Shape;1232;p110"/>
          <p:cNvSpPr txBox="1"/>
          <p:nvPr/>
        </p:nvSpPr>
        <p:spPr>
          <a:xfrm>
            <a:off x="1704975" y="5468937"/>
            <a:ext cx="48021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NomEvénement [Garde] / Action</a:t>
            </a:r>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6" name="Shape 1236"/>
        <p:cNvGrpSpPr/>
        <p:nvPr/>
      </p:nvGrpSpPr>
      <p:grpSpPr>
        <a:xfrm>
          <a:off x="0" y="0"/>
          <a:ext cx="0" cy="0"/>
          <a:chOff x="0" y="0"/>
          <a:chExt cx="0" cy="0"/>
        </a:xfrm>
      </p:grpSpPr>
      <p:sp>
        <p:nvSpPr>
          <p:cNvPr id="1237" name="Google Shape;1237;p11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Evénements et gardes </a:t>
            </a:r>
            <a:endParaRPr/>
          </a:p>
        </p:txBody>
      </p:sp>
      <p:sp>
        <p:nvSpPr>
          <p:cNvPr id="1238" name="Google Shape;1238;p11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nomEvénement (param1:type, param2:type,…)</a:t>
            </a:r>
            <a:endParaRPr/>
          </a:p>
          <a:p>
            <a:pPr indent="-285750" lvl="1" marL="742950" rtl="0" algn="l">
              <a:lnSpc>
                <a:spcPct val="8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Ex: allumedLed()</a:t>
            </a:r>
            <a:endParaRPr/>
          </a:p>
          <a:p>
            <a:pPr indent="-342900" lvl="0" marL="342900" rtl="0" algn="l">
              <a:lnSpc>
                <a:spcPct val="8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[Garde] : expression Booléene </a:t>
            </a:r>
            <a:endParaRPr/>
          </a:p>
          <a:p>
            <a:pPr indent="-285750" lvl="1" marL="742950" rtl="0" algn="l">
              <a:lnSpc>
                <a:spcPct val="8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Ex: [ageCapitaine&gt;50] </a:t>
            </a:r>
            <a:endParaRPr/>
          </a:p>
          <a:p>
            <a:pPr indent="-342900" lvl="0" marL="342900" rtl="0" algn="l">
              <a:lnSpc>
                <a:spcPct val="8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Action</a:t>
            </a:r>
            <a:endParaRPr/>
          </a:p>
          <a:p>
            <a:pPr indent="-285750" lvl="1" marL="742950" rtl="0" algn="l">
              <a:lnSpc>
                <a:spcPct val="8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Pseudo code</a:t>
            </a:r>
            <a:endParaRPr/>
          </a:p>
          <a:p>
            <a:pPr indent="-285750" lvl="1" marL="742950" rtl="0" algn="l">
              <a:lnSpc>
                <a:spcPct val="8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Ex. solde = solde – débit</a:t>
            </a:r>
            <a:endParaRPr/>
          </a:p>
          <a:p>
            <a:pPr indent="-342900" lvl="0" marL="342900" rtl="0" algn="l">
              <a:lnSpc>
                <a:spcPct val="8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Action interne à un état</a:t>
            </a:r>
            <a:endParaRPr/>
          </a:p>
          <a:p>
            <a:pPr indent="-285750" lvl="1" marL="742950" rtl="0" algn="l">
              <a:lnSpc>
                <a:spcPct val="8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ActionLabel/Action</a:t>
            </a:r>
            <a:endParaRPr/>
          </a:p>
          <a:p>
            <a:pPr indent="-228600" lvl="2" marL="1143000" rtl="0" algn="l">
              <a:lnSpc>
                <a:spcPct val="8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Action Label : entry, do, exit</a:t>
            </a:r>
            <a:endParaRPr/>
          </a:p>
          <a:p>
            <a:pPr indent="-285750" lvl="1" marL="742950" rtl="0" algn="l">
              <a:lnSpc>
                <a:spcPct val="8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Ex. : do/calculateAverage(x:array)</a:t>
            </a:r>
            <a:endParaRPr/>
          </a:p>
          <a:p>
            <a:pPr indent="-190500" lvl="0" marL="342900" rtl="0" algn="l">
              <a:spcBef>
                <a:spcPts val="480"/>
              </a:spcBef>
              <a:spcAft>
                <a:spcPts val="0"/>
              </a:spcAft>
              <a:buClr>
                <a:schemeClr val="dk1"/>
              </a:buClr>
              <a:buSzPts val="2400"/>
              <a:buFont typeface="Arial"/>
              <a:buNone/>
            </a:pPr>
            <a:r>
              <a:t/>
            </a:r>
            <a:endParaRPr b="0" i="0" sz="2400" u="none">
              <a:solidFill>
                <a:schemeClr val="dk1"/>
              </a:solidFill>
              <a:latin typeface="Arial"/>
              <a:ea typeface="Arial"/>
              <a:cs typeface="Arial"/>
              <a:sym typeface="Arial"/>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p11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Exemple de statechart</a:t>
            </a:r>
            <a:endParaRPr/>
          </a:p>
        </p:txBody>
      </p:sp>
      <p:grpSp>
        <p:nvGrpSpPr>
          <p:cNvPr id="1244" name="Google Shape;1244;p112"/>
          <p:cNvGrpSpPr/>
          <p:nvPr/>
        </p:nvGrpSpPr>
        <p:grpSpPr>
          <a:xfrm>
            <a:off x="2120900" y="2549525"/>
            <a:ext cx="1993900" cy="969962"/>
            <a:chOff x="384" y="1776"/>
            <a:chExt cx="1008" cy="528"/>
          </a:xfrm>
        </p:grpSpPr>
        <p:sp>
          <p:nvSpPr>
            <p:cNvPr id="1245" name="Google Shape;1245;p112"/>
            <p:cNvSpPr/>
            <p:nvPr/>
          </p:nvSpPr>
          <p:spPr>
            <a:xfrm>
              <a:off x="384" y="1776"/>
              <a:ext cx="1008" cy="528"/>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46" name="Google Shape;1246;p112"/>
            <p:cNvSpPr txBox="1"/>
            <p:nvPr/>
          </p:nvSpPr>
          <p:spPr>
            <a:xfrm>
              <a:off x="432" y="1776"/>
              <a:ext cx="953" cy="24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Vérification</a:t>
              </a:r>
              <a:endParaRPr/>
            </a:p>
          </p:txBody>
        </p:sp>
        <p:cxnSp>
          <p:nvCxnSpPr>
            <p:cNvPr id="1247" name="Google Shape;1247;p112"/>
            <p:cNvCxnSpPr/>
            <p:nvPr/>
          </p:nvCxnSpPr>
          <p:spPr>
            <a:xfrm>
              <a:off x="384" y="2016"/>
              <a:ext cx="1008" cy="0"/>
            </a:xfrm>
            <a:prstGeom prst="straightConnector1">
              <a:avLst/>
            </a:prstGeom>
            <a:noFill/>
            <a:ln cap="flat" cmpd="sng" w="12700">
              <a:solidFill>
                <a:schemeClr val="dk1"/>
              </a:solidFill>
              <a:prstDash val="solid"/>
              <a:miter lim="800000"/>
              <a:headEnd len="med" w="med" type="none"/>
              <a:tailEnd len="med" w="med" type="none"/>
            </a:ln>
          </p:spPr>
        </p:cxnSp>
      </p:grpSp>
      <p:grpSp>
        <p:nvGrpSpPr>
          <p:cNvPr id="1248" name="Google Shape;1248;p112"/>
          <p:cNvGrpSpPr/>
          <p:nvPr/>
        </p:nvGrpSpPr>
        <p:grpSpPr>
          <a:xfrm>
            <a:off x="2120900" y="4149725"/>
            <a:ext cx="1760537" cy="838200"/>
            <a:chOff x="384" y="1776"/>
            <a:chExt cx="1039" cy="528"/>
          </a:xfrm>
        </p:grpSpPr>
        <p:sp>
          <p:nvSpPr>
            <p:cNvPr id="1249" name="Google Shape;1249;p112"/>
            <p:cNvSpPr/>
            <p:nvPr/>
          </p:nvSpPr>
          <p:spPr>
            <a:xfrm>
              <a:off x="384" y="1776"/>
              <a:ext cx="1008" cy="528"/>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50" name="Google Shape;1250;p112"/>
            <p:cNvSpPr txBox="1"/>
            <p:nvPr/>
          </p:nvSpPr>
          <p:spPr>
            <a:xfrm>
              <a:off x="432" y="1776"/>
              <a:ext cx="991"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EnAttente</a:t>
              </a:r>
              <a:endParaRPr/>
            </a:p>
          </p:txBody>
        </p:sp>
        <p:cxnSp>
          <p:nvCxnSpPr>
            <p:cNvPr id="1251" name="Google Shape;1251;p112"/>
            <p:cNvCxnSpPr/>
            <p:nvPr/>
          </p:nvCxnSpPr>
          <p:spPr>
            <a:xfrm>
              <a:off x="384" y="2016"/>
              <a:ext cx="1008" cy="0"/>
            </a:xfrm>
            <a:prstGeom prst="straightConnector1">
              <a:avLst/>
            </a:prstGeom>
            <a:noFill/>
            <a:ln cap="flat" cmpd="sng" w="12700">
              <a:solidFill>
                <a:schemeClr val="dk1"/>
              </a:solidFill>
              <a:prstDash val="solid"/>
              <a:miter lim="800000"/>
              <a:headEnd len="med" w="med" type="none"/>
              <a:tailEnd len="med" w="med" type="none"/>
            </a:ln>
          </p:spPr>
        </p:cxnSp>
      </p:grpSp>
      <p:grpSp>
        <p:nvGrpSpPr>
          <p:cNvPr id="1252" name="Google Shape;1252;p112"/>
          <p:cNvGrpSpPr/>
          <p:nvPr/>
        </p:nvGrpSpPr>
        <p:grpSpPr>
          <a:xfrm>
            <a:off x="4330700" y="5749925"/>
            <a:ext cx="1600200" cy="838200"/>
            <a:chOff x="384" y="1776"/>
            <a:chExt cx="1008" cy="528"/>
          </a:xfrm>
        </p:grpSpPr>
        <p:sp>
          <p:nvSpPr>
            <p:cNvPr id="1253" name="Google Shape;1253;p112"/>
            <p:cNvSpPr/>
            <p:nvPr/>
          </p:nvSpPr>
          <p:spPr>
            <a:xfrm>
              <a:off x="384" y="1776"/>
              <a:ext cx="1008" cy="528"/>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54" name="Google Shape;1254;p112"/>
            <p:cNvSpPr txBox="1"/>
            <p:nvPr/>
          </p:nvSpPr>
          <p:spPr>
            <a:xfrm>
              <a:off x="432" y="1776"/>
              <a:ext cx="716"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Annulé</a:t>
              </a:r>
              <a:endParaRPr/>
            </a:p>
          </p:txBody>
        </p:sp>
        <p:cxnSp>
          <p:nvCxnSpPr>
            <p:cNvPr id="1255" name="Google Shape;1255;p112"/>
            <p:cNvCxnSpPr/>
            <p:nvPr/>
          </p:nvCxnSpPr>
          <p:spPr>
            <a:xfrm>
              <a:off x="384" y="2016"/>
              <a:ext cx="1008" cy="0"/>
            </a:xfrm>
            <a:prstGeom prst="straightConnector1">
              <a:avLst/>
            </a:prstGeom>
            <a:noFill/>
            <a:ln cap="flat" cmpd="sng" w="12700">
              <a:solidFill>
                <a:schemeClr val="dk1"/>
              </a:solidFill>
              <a:prstDash val="solid"/>
              <a:miter lim="800000"/>
              <a:headEnd len="med" w="med" type="none"/>
              <a:tailEnd len="med" w="med" type="none"/>
            </a:ln>
          </p:spPr>
        </p:cxnSp>
      </p:grpSp>
      <p:grpSp>
        <p:nvGrpSpPr>
          <p:cNvPr id="1256" name="Google Shape;1256;p112"/>
          <p:cNvGrpSpPr/>
          <p:nvPr/>
        </p:nvGrpSpPr>
        <p:grpSpPr>
          <a:xfrm>
            <a:off x="6921500" y="4606925"/>
            <a:ext cx="1600200" cy="838200"/>
            <a:chOff x="384" y="1776"/>
            <a:chExt cx="1008" cy="528"/>
          </a:xfrm>
        </p:grpSpPr>
        <p:sp>
          <p:nvSpPr>
            <p:cNvPr id="1257" name="Google Shape;1257;p112"/>
            <p:cNvSpPr/>
            <p:nvPr/>
          </p:nvSpPr>
          <p:spPr>
            <a:xfrm>
              <a:off x="384" y="1776"/>
              <a:ext cx="1008" cy="528"/>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58" name="Google Shape;1258;p112"/>
            <p:cNvSpPr txBox="1"/>
            <p:nvPr/>
          </p:nvSpPr>
          <p:spPr>
            <a:xfrm>
              <a:off x="432" y="1776"/>
              <a:ext cx="737"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   Livré</a:t>
              </a:r>
              <a:endParaRPr/>
            </a:p>
          </p:txBody>
        </p:sp>
        <p:cxnSp>
          <p:nvCxnSpPr>
            <p:cNvPr id="1259" name="Google Shape;1259;p112"/>
            <p:cNvCxnSpPr/>
            <p:nvPr/>
          </p:nvCxnSpPr>
          <p:spPr>
            <a:xfrm>
              <a:off x="384" y="2016"/>
              <a:ext cx="1008" cy="0"/>
            </a:xfrm>
            <a:prstGeom prst="straightConnector1">
              <a:avLst/>
            </a:prstGeom>
            <a:noFill/>
            <a:ln cap="flat" cmpd="sng" w="12700">
              <a:solidFill>
                <a:schemeClr val="dk1"/>
              </a:solidFill>
              <a:prstDash val="solid"/>
              <a:miter lim="800000"/>
              <a:headEnd len="med" w="med" type="none"/>
              <a:tailEnd len="med" w="med" type="none"/>
            </a:ln>
          </p:spPr>
        </p:cxnSp>
      </p:grpSp>
      <p:grpSp>
        <p:nvGrpSpPr>
          <p:cNvPr id="1260" name="Google Shape;1260;p112"/>
          <p:cNvGrpSpPr/>
          <p:nvPr/>
        </p:nvGrpSpPr>
        <p:grpSpPr>
          <a:xfrm>
            <a:off x="6464300" y="2320925"/>
            <a:ext cx="1949450" cy="1066800"/>
            <a:chOff x="384" y="1776"/>
            <a:chExt cx="1008" cy="528"/>
          </a:xfrm>
        </p:grpSpPr>
        <p:sp>
          <p:nvSpPr>
            <p:cNvPr id="1261" name="Google Shape;1261;p112"/>
            <p:cNvSpPr/>
            <p:nvPr/>
          </p:nvSpPr>
          <p:spPr>
            <a:xfrm>
              <a:off x="384" y="1776"/>
              <a:ext cx="1008" cy="528"/>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62" name="Google Shape;1262;p112"/>
            <p:cNvSpPr txBox="1"/>
            <p:nvPr/>
          </p:nvSpPr>
          <p:spPr>
            <a:xfrm>
              <a:off x="432" y="1776"/>
              <a:ext cx="926" cy="2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EnLivraison</a:t>
              </a:r>
              <a:endParaRPr/>
            </a:p>
          </p:txBody>
        </p:sp>
        <p:cxnSp>
          <p:nvCxnSpPr>
            <p:cNvPr id="1263" name="Google Shape;1263;p112"/>
            <p:cNvCxnSpPr/>
            <p:nvPr/>
          </p:nvCxnSpPr>
          <p:spPr>
            <a:xfrm>
              <a:off x="384" y="2016"/>
              <a:ext cx="1008" cy="0"/>
            </a:xfrm>
            <a:prstGeom prst="straightConnector1">
              <a:avLst/>
            </a:prstGeom>
            <a:noFill/>
            <a:ln cap="flat" cmpd="sng" w="12700">
              <a:solidFill>
                <a:schemeClr val="dk1"/>
              </a:solidFill>
              <a:prstDash val="solid"/>
              <a:miter lim="800000"/>
              <a:headEnd len="med" w="med" type="none"/>
              <a:tailEnd len="med" w="med" type="none"/>
            </a:ln>
          </p:spPr>
        </p:cxnSp>
      </p:grpSp>
      <p:sp>
        <p:nvSpPr>
          <p:cNvPr id="1264" name="Google Shape;1264;p112"/>
          <p:cNvSpPr/>
          <p:nvPr/>
        </p:nvSpPr>
        <p:spPr>
          <a:xfrm>
            <a:off x="2806700" y="1711325"/>
            <a:ext cx="304800" cy="304800"/>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1265" name="Google Shape;1265;p112"/>
          <p:cNvCxnSpPr/>
          <p:nvPr/>
        </p:nvCxnSpPr>
        <p:spPr>
          <a:xfrm>
            <a:off x="2959100" y="2016125"/>
            <a:ext cx="0" cy="533400"/>
          </a:xfrm>
          <a:prstGeom prst="straightConnector1">
            <a:avLst/>
          </a:prstGeom>
          <a:noFill/>
          <a:ln cap="flat" cmpd="sng" w="12700">
            <a:solidFill>
              <a:schemeClr val="dk1"/>
            </a:solidFill>
            <a:prstDash val="solid"/>
            <a:miter lim="800000"/>
            <a:headEnd len="med" w="med" type="none"/>
            <a:tailEnd len="med" w="med" type="stealth"/>
          </a:ln>
        </p:spPr>
      </p:cxnSp>
      <p:sp>
        <p:nvSpPr>
          <p:cNvPr id="1266" name="Google Shape;1266;p112"/>
          <p:cNvSpPr/>
          <p:nvPr/>
        </p:nvSpPr>
        <p:spPr>
          <a:xfrm>
            <a:off x="1206500" y="2625725"/>
            <a:ext cx="952500" cy="723900"/>
          </a:xfrm>
          <a:custGeom>
            <a:rect b="b" l="l" r="r" t="t"/>
            <a:pathLst>
              <a:path extrusionOk="0" h="456" w="600">
                <a:moveTo>
                  <a:pt x="600" y="56"/>
                </a:moveTo>
                <a:cubicBezTo>
                  <a:pt x="372" y="28"/>
                  <a:pt x="144" y="0"/>
                  <a:pt x="72" y="56"/>
                </a:cubicBezTo>
                <a:cubicBezTo>
                  <a:pt x="0" y="112"/>
                  <a:pt x="80" y="328"/>
                  <a:pt x="168" y="392"/>
                </a:cubicBezTo>
                <a:cubicBezTo>
                  <a:pt x="256" y="456"/>
                  <a:pt x="428" y="448"/>
                  <a:pt x="600" y="440"/>
                </a:cubicBez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67" name="Google Shape;1267;p112"/>
          <p:cNvSpPr txBox="1"/>
          <p:nvPr/>
        </p:nvSpPr>
        <p:spPr>
          <a:xfrm>
            <a:off x="0" y="2205037"/>
            <a:ext cx="2455862"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Comic Sans MS"/>
              <a:buNone/>
            </a:pPr>
            <a:r>
              <a:rPr b="0" i="0" lang="en-US" sz="1600" u="none">
                <a:solidFill>
                  <a:schemeClr val="dk1"/>
                </a:solidFill>
                <a:latin typeface="Comic Sans MS"/>
                <a:ea typeface="Comic Sans MS"/>
                <a:cs typeface="Comic Sans MS"/>
                <a:sym typeface="Comic Sans MS"/>
              </a:rPr>
              <a:t>[resteArticleàVérifier] </a:t>
            </a:r>
            <a:endParaRPr/>
          </a:p>
        </p:txBody>
      </p:sp>
      <p:sp>
        <p:nvSpPr>
          <p:cNvPr id="1268" name="Google Shape;1268;p112"/>
          <p:cNvSpPr/>
          <p:nvPr/>
        </p:nvSpPr>
        <p:spPr>
          <a:xfrm>
            <a:off x="1130300" y="4225925"/>
            <a:ext cx="952500" cy="723900"/>
          </a:xfrm>
          <a:custGeom>
            <a:rect b="b" l="l" r="r" t="t"/>
            <a:pathLst>
              <a:path extrusionOk="0" h="456" w="600">
                <a:moveTo>
                  <a:pt x="600" y="56"/>
                </a:moveTo>
                <a:cubicBezTo>
                  <a:pt x="372" y="28"/>
                  <a:pt x="144" y="0"/>
                  <a:pt x="72" y="56"/>
                </a:cubicBezTo>
                <a:cubicBezTo>
                  <a:pt x="0" y="112"/>
                  <a:pt x="80" y="328"/>
                  <a:pt x="168" y="392"/>
                </a:cubicBezTo>
                <a:cubicBezTo>
                  <a:pt x="256" y="456"/>
                  <a:pt x="428" y="448"/>
                  <a:pt x="600" y="440"/>
                </a:cubicBez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1269" name="Google Shape;1269;p112"/>
          <p:cNvCxnSpPr/>
          <p:nvPr/>
        </p:nvCxnSpPr>
        <p:spPr>
          <a:xfrm>
            <a:off x="2959100" y="3540125"/>
            <a:ext cx="0" cy="609600"/>
          </a:xfrm>
          <a:prstGeom prst="straightConnector1">
            <a:avLst/>
          </a:prstGeom>
          <a:noFill/>
          <a:ln cap="flat" cmpd="sng" w="12700">
            <a:solidFill>
              <a:schemeClr val="dk1"/>
            </a:solidFill>
            <a:prstDash val="solid"/>
            <a:miter lim="800000"/>
            <a:headEnd len="med" w="med" type="none"/>
            <a:tailEnd len="med" w="med" type="stealth"/>
          </a:ln>
        </p:spPr>
      </p:cxnSp>
      <p:sp>
        <p:nvSpPr>
          <p:cNvPr id="1270" name="Google Shape;1270;p112"/>
          <p:cNvSpPr txBox="1"/>
          <p:nvPr/>
        </p:nvSpPr>
        <p:spPr>
          <a:xfrm>
            <a:off x="468312" y="3573462"/>
            <a:ext cx="2471737" cy="82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Comic Sans MS"/>
              <a:buNone/>
            </a:pPr>
            <a:r>
              <a:rPr b="0" i="0" lang="en-US" sz="1600" u="none">
                <a:solidFill>
                  <a:schemeClr val="dk1"/>
                </a:solidFill>
                <a:latin typeface="Comic Sans MS"/>
                <a:ea typeface="Comic Sans MS"/>
                <a:cs typeface="Comic Sans MS"/>
                <a:sym typeface="Comic Sans MS"/>
              </a:rPr>
              <a:t>[tousArticlesVérifiés&amp;&amp;</a:t>
            </a:r>
            <a:endParaRPr/>
          </a:p>
          <a:p>
            <a:pPr indent="0" lvl="0" marL="0" marR="0" rtl="0" algn="l">
              <a:lnSpc>
                <a:spcPct val="100000"/>
              </a:lnSpc>
              <a:spcBef>
                <a:spcPts val="0"/>
              </a:spcBef>
              <a:spcAft>
                <a:spcPts val="0"/>
              </a:spcAft>
              <a:buClr>
                <a:schemeClr val="dk1"/>
              </a:buClr>
              <a:buSzPts val="1600"/>
              <a:buFont typeface="Comic Sans MS"/>
              <a:buNone/>
            </a:pPr>
            <a:r>
              <a:rPr b="0" i="0" lang="en-US" sz="1600" u="none">
                <a:solidFill>
                  <a:schemeClr val="dk1"/>
                </a:solidFill>
                <a:latin typeface="Comic Sans MS"/>
                <a:ea typeface="Comic Sans MS"/>
                <a:cs typeface="Comic Sans MS"/>
                <a:sym typeface="Comic Sans MS"/>
              </a:rPr>
              <a:t>ArticlesManquants]</a:t>
            </a:r>
            <a:endParaRPr/>
          </a:p>
          <a:p>
            <a:pPr indent="0" lvl="0" marL="0" marR="0" rtl="0" algn="l">
              <a:lnSpc>
                <a:spcPct val="100000"/>
              </a:lnSpc>
              <a:spcBef>
                <a:spcPts val="0"/>
              </a:spcBef>
              <a:spcAft>
                <a:spcPts val="0"/>
              </a:spcAft>
              <a:buNone/>
            </a:pPr>
            <a:r>
              <a:t/>
            </a:r>
            <a:endParaRPr b="0" i="0" sz="1600" u="none">
              <a:solidFill>
                <a:schemeClr val="dk1"/>
              </a:solidFill>
              <a:latin typeface="Comic Sans MS"/>
              <a:ea typeface="Comic Sans MS"/>
              <a:cs typeface="Comic Sans MS"/>
              <a:sym typeface="Comic Sans MS"/>
            </a:endParaRPr>
          </a:p>
        </p:txBody>
      </p:sp>
      <p:cxnSp>
        <p:nvCxnSpPr>
          <p:cNvPr id="1271" name="Google Shape;1271;p112"/>
          <p:cNvCxnSpPr/>
          <p:nvPr/>
        </p:nvCxnSpPr>
        <p:spPr>
          <a:xfrm flipH="1" rot="10800000">
            <a:off x="4140200" y="2854325"/>
            <a:ext cx="2324100" cy="233362"/>
          </a:xfrm>
          <a:prstGeom prst="straightConnector1">
            <a:avLst/>
          </a:prstGeom>
          <a:noFill/>
          <a:ln cap="flat" cmpd="sng" w="12700">
            <a:solidFill>
              <a:schemeClr val="dk1"/>
            </a:solidFill>
            <a:prstDash val="solid"/>
            <a:miter lim="800000"/>
            <a:headEnd len="med" w="med" type="none"/>
            <a:tailEnd len="med" w="med" type="stealth"/>
          </a:ln>
        </p:spPr>
      </p:cxnSp>
      <p:sp>
        <p:nvSpPr>
          <p:cNvPr id="1272" name="Google Shape;1272;p112"/>
          <p:cNvSpPr txBox="1"/>
          <p:nvPr/>
        </p:nvSpPr>
        <p:spPr>
          <a:xfrm>
            <a:off x="4024312" y="2295525"/>
            <a:ext cx="2501900" cy="581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Comic Sans MS"/>
              <a:buNone/>
            </a:pPr>
            <a:r>
              <a:rPr b="0" i="0" lang="en-US" sz="1600" u="none">
                <a:solidFill>
                  <a:schemeClr val="dk1"/>
                </a:solidFill>
                <a:latin typeface="Comic Sans MS"/>
                <a:ea typeface="Comic Sans MS"/>
                <a:cs typeface="Comic Sans MS"/>
                <a:sym typeface="Comic Sans MS"/>
              </a:rPr>
              <a:t>[tousArticlesVérifiés&amp;&amp;</a:t>
            </a:r>
            <a:endParaRPr/>
          </a:p>
          <a:p>
            <a:pPr indent="0" lvl="0" marL="0" marR="0" rtl="0" algn="l">
              <a:lnSpc>
                <a:spcPct val="100000"/>
              </a:lnSpc>
              <a:spcBef>
                <a:spcPts val="0"/>
              </a:spcBef>
              <a:spcAft>
                <a:spcPts val="0"/>
              </a:spcAft>
              <a:buClr>
                <a:schemeClr val="dk1"/>
              </a:buClr>
              <a:buSzPts val="1600"/>
              <a:buFont typeface="Comic Sans MS"/>
              <a:buNone/>
            </a:pPr>
            <a:r>
              <a:rPr b="0" i="0" lang="en-US" sz="1600" u="none">
                <a:solidFill>
                  <a:schemeClr val="dk1"/>
                </a:solidFill>
                <a:latin typeface="Comic Sans MS"/>
                <a:ea typeface="Comic Sans MS"/>
                <a:cs typeface="Comic Sans MS"/>
                <a:sym typeface="Comic Sans MS"/>
              </a:rPr>
              <a:t>tousArticlesDisponibles]</a:t>
            </a:r>
            <a:endParaRPr/>
          </a:p>
        </p:txBody>
      </p:sp>
      <p:sp>
        <p:nvSpPr>
          <p:cNvPr id="1273" name="Google Shape;1273;p112"/>
          <p:cNvSpPr txBox="1"/>
          <p:nvPr/>
        </p:nvSpPr>
        <p:spPr>
          <a:xfrm>
            <a:off x="2349500" y="2930525"/>
            <a:ext cx="1449387"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do/ vérifier</a:t>
            </a:r>
            <a:endParaRPr/>
          </a:p>
          <a:p>
            <a:pPr indent="0" lvl="0" marL="0" marR="0" rtl="0" algn="l">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article</a:t>
            </a:r>
            <a:endParaRPr/>
          </a:p>
        </p:txBody>
      </p:sp>
      <p:sp>
        <p:nvSpPr>
          <p:cNvPr id="1274" name="Google Shape;1274;p112"/>
          <p:cNvSpPr txBox="1"/>
          <p:nvPr/>
        </p:nvSpPr>
        <p:spPr>
          <a:xfrm>
            <a:off x="444500" y="4911725"/>
            <a:ext cx="2341562"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ArticleReçu()</a:t>
            </a:r>
            <a:endParaRPr/>
          </a:p>
          <a:p>
            <a:pPr indent="0" lvl="0" marL="0" marR="0" rtl="0" algn="l">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[ResteArticlePasdeStock]</a:t>
            </a:r>
            <a:endParaRPr/>
          </a:p>
        </p:txBody>
      </p:sp>
      <p:cxnSp>
        <p:nvCxnSpPr>
          <p:cNvPr id="1275" name="Google Shape;1275;p112"/>
          <p:cNvCxnSpPr/>
          <p:nvPr/>
        </p:nvCxnSpPr>
        <p:spPr>
          <a:xfrm>
            <a:off x="3035300" y="4987925"/>
            <a:ext cx="1295400" cy="838200"/>
          </a:xfrm>
          <a:prstGeom prst="straightConnector1">
            <a:avLst/>
          </a:prstGeom>
          <a:noFill/>
          <a:ln cap="flat" cmpd="sng" w="12700">
            <a:solidFill>
              <a:schemeClr val="dk1"/>
            </a:solidFill>
            <a:prstDash val="solid"/>
            <a:miter lim="800000"/>
            <a:headEnd len="med" w="med" type="none"/>
            <a:tailEnd len="med" w="med" type="stealth"/>
          </a:ln>
        </p:spPr>
      </p:cxnSp>
      <p:sp>
        <p:nvSpPr>
          <p:cNvPr id="1276" name="Google Shape;1276;p112"/>
          <p:cNvSpPr txBox="1"/>
          <p:nvPr/>
        </p:nvSpPr>
        <p:spPr>
          <a:xfrm>
            <a:off x="3644900" y="5140325"/>
            <a:ext cx="128270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Comic Sans MS"/>
              <a:buNone/>
            </a:pPr>
            <a:r>
              <a:rPr b="0" i="0" lang="en-US" sz="1600" u="none">
                <a:solidFill>
                  <a:schemeClr val="dk1"/>
                </a:solidFill>
                <a:latin typeface="Comic Sans MS"/>
                <a:ea typeface="Comic Sans MS"/>
                <a:cs typeface="Comic Sans MS"/>
                <a:sym typeface="Comic Sans MS"/>
              </a:rPr>
              <a:t>annulation()</a:t>
            </a:r>
            <a:endParaRPr/>
          </a:p>
        </p:txBody>
      </p:sp>
      <p:sp>
        <p:nvSpPr>
          <p:cNvPr id="1277" name="Google Shape;1277;p112"/>
          <p:cNvSpPr txBox="1"/>
          <p:nvPr/>
        </p:nvSpPr>
        <p:spPr>
          <a:xfrm>
            <a:off x="6692900" y="2778125"/>
            <a:ext cx="1566862"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do/démarrer</a:t>
            </a:r>
            <a:endParaRPr/>
          </a:p>
          <a:p>
            <a:pPr indent="0" lvl="0" marL="0" marR="0" rtl="0" algn="l">
              <a:lnSpc>
                <a:spcPct val="100000"/>
              </a:lnSpc>
              <a:spcBef>
                <a:spcPts val="0"/>
              </a:spcBef>
              <a:spcAft>
                <a:spcPts val="0"/>
              </a:spcAft>
              <a:buClr>
                <a:schemeClr val="dk1"/>
              </a:buClr>
              <a:buSzPts val="1800"/>
              <a:buFont typeface="Comic Sans MS"/>
              <a:buNone/>
            </a:pPr>
            <a:r>
              <a:rPr b="0" i="0" lang="en-US" sz="1800" u="none">
                <a:solidFill>
                  <a:schemeClr val="dk1"/>
                </a:solidFill>
                <a:latin typeface="Comic Sans MS"/>
                <a:ea typeface="Comic Sans MS"/>
                <a:cs typeface="Comic Sans MS"/>
                <a:sym typeface="Comic Sans MS"/>
              </a:rPr>
              <a:t>livraison</a:t>
            </a:r>
            <a:endParaRPr/>
          </a:p>
        </p:txBody>
      </p:sp>
      <p:cxnSp>
        <p:nvCxnSpPr>
          <p:cNvPr id="1278" name="Google Shape;1278;p112"/>
          <p:cNvCxnSpPr/>
          <p:nvPr/>
        </p:nvCxnSpPr>
        <p:spPr>
          <a:xfrm>
            <a:off x="7683500" y="3387725"/>
            <a:ext cx="0" cy="1219200"/>
          </a:xfrm>
          <a:prstGeom prst="straightConnector1">
            <a:avLst/>
          </a:prstGeom>
          <a:noFill/>
          <a:ln cap="flat" cmpd="sng" w="12700">
            <a:solidFill>
              <a:schemeClr val="dk1"/>
            </a:solidFill>
            <a:prstDash val="solid"/>
            <a:miter lim="800000"/>
            <a:headEnd len="med" w="med" type="none"/>
            <a:tailEnd len="med" w="med" type="stealth"/>
          </a:ln>
        </p:spPr>
      </p:cxnSp>
      <p:cxnSp>
        <p:nvCxnSpPr>
          <p:cNvPr id="1279" name="Google Shape;1279;p112"/>
          <p:cNvCxnSpPr/>
          <p:nvPr/>
        </p:nvCxnSpPr>
        <p:spPr>
          <a:xfrm flipH="1">
            <a:off x="5245100" y="3387725"/>
            <a:ext cx="1524000" cy="2362200"/>
          </a:xfrm>
          <a:prstGeom prst="straightConnector1">
            <a:avLst/>
          </a:prstGeom>
          <a:noFill/>
          <a:ln cap="flat" cmpd="sng" w="12700">
            <a:solidFill>
              <a:schemeClr val="dk1"/>
            </a:solidFill>
            <a:prstDash val="solid"/>
            <a:miter lim="800000"/>
            <a:headEnd len="med" w="med" type="none"/>
            <a:tailEnd len="med" w="med" type="stealth"/>
          </a:ln>
        </p:spPr>
      </p:cxnSp>
      <p:sp>
        <p:nvSpPr>
          <p:cNvPr id="1280" name="Google Shape;1280;p112"/>
          <p:cNvSpPr txBox="1"/>
          <p:nvPr/>
        </p:nvSpPr>
        <p:spPr>
          <a:xfrm>
            <a:off x="5292725" y="4365625"/>
            <a:ext cx="128270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Comic Sans MS"/>
              <a:buNone/>
            </a:pPr>
            <a:r>
              <a:rPr b="0" i="0" lang="en-US" sz="1600" u="none">
                <a:solidFill>
                  <a:schemeClr val="dk1"/>
                </a:solidFill>
                <a:latin typeface="Comic Sans MS"/>
                <a:ea typeface="Comic Sans MS"/>
                <a:cs typeface="Comic Sans MS"/>
                <a:sym typeface="Comic Sans MS"/>
              </a:rPr>
              <a:t>annulation()</a:t>
            </a:r>
            <a:endParaRPr/>
          </a:p>
        </p:txBody>
      </p:sp>
      <p:sp>
        <p:nvSpPr>
          <p:cNvPr id="1281" name="Google Shape;1281;p112"/>
          <p:cNvSpPr txBox="1"/>
          <p:nvPr/>
        </p:nvSpPr>
        <p:spPr>
          <a:xfrm>
            <a:off x="7164387" y="3716337"/>
            <a:ext cx="1116012"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Comic Sans MS"/>
              <a:buNone/>
            </a:pPr>
            <a:r>
              <a:rPr b="0" i="0" lang="en-US" sz="1600" u="none">
                <a:solidFill>
                  <a:schemeClr val="dk1"/>
                </a:solidFill>
                <a:latin typeface="Comic Sans MS"/>
                <a:ea typeface="Comic Sans MS"/>
                <a:cs typeface="Comic Sans MS"/>
                <a:sym typeface="Comic Sans MS"/>
              </a:rPr>
              <a:t>livraison()</a:t>
            </a:r>
            <a:endParaRPr/>
          </a:p>
        </p:txBody>
      </p:sp>
      <p:cxnSp>
        <p:nvCxnSpPr>
          <p:cNvPr id="1282" name="Google Shape;1282;p112"/>
          <p:cNvCxnSpPr/>
          <p:nvPr/>
        </p:nvCxnSpPr>
        <p:spPr>
          <a:xfrm flipH="1" rot="10800000">
            <a:off x="3851275" y="3357562"/>
            <a:ext cx="2665412" cy="1295400"/>
          </a:xfrm>
          <a:prstGeom prst="straightConnector1">
            <a:avLst/>
          </a:prstGeom>
          <a:noFill/>
          <a:ln cap="flat" cmpd="sng" w="9525">
            <a:solidFill>
              <a:schemeClr val="dk1"/>
            </a:solidFill>
            <a:prstDash val="solid"/>
            <a:miter lim="800000"/>
            <a:headEnd len="med" w="med" type="none"/>
            <a:tailEnd len="med" w="med" type="stealth"/>
          </a:ln>
        </p:spPr>
      </p:cxnSp>
      <p:sp>
        <p:nvSpPr>
          <p:cNvPr id="1283" name="Google Shape;1283;p112"/>
          <p:cNvSpPr txBox="1"/>
          <p:nvPr/>
        </p:nvSpPr>
        <p:spPr>
          <a:xfrm>
            <a:off x="3708400" y="3644900"/>
            <a:ext cx="2284412"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ArticleReçu()</a:t>
            </a:r>
            <a:endParaRPr/>
          </a:p>
          <a:p>
            <a:pPr indent="0" lvl="0" marL="0" marR="0" rtl="0" algn="l">
              <a:lnSpc>
                <a:spcPct val="100000"/>
              </a:lnSpc>
              <a:spcBef>
                <a:spcPts val="0"/>
              </a:spcBef>
              <a:spcAft>
                <a:spcPts val="0"/>
              </a:spcAft>
              <a:buClr>
                <a:schemeClr val="dk1"/>
              </a:buClr>
              <a:buSzPts val="1400"/>
              <a:buFont typeface="Comic Sans MS"/>
              <a:buNone/>
            </a:pPr>
            <a:r>
              <a:rPr b="0" i="0" lang="en-US" sz="1400" u="none">
                <a:solidFill>
                  <a:schemeClr val="dk1"/>
                </a:solidFill>
                <a:latin typeface="Comic Sans MS"/>
                <a:ea typeface="Comic Sans MS"/>
                <a:cs typeface="Comic Sans MS"/>
                <a:sym typeface="Comic Sans MS"/>
              </a:rPr>
              <a:t>[tousArticlesDisponibles]</a:t>
            </a:r>
            <a:endParaRPr/>
          </a:p>
        </p:txBody>
      </p:sp>
      <p:grpSp>
        <p:nvGrpSpPr>
          <p:cNvPr id="1284" name="Google Shape;1284;p112"/>
          <p:cNvGrpSpPr/>
          <p:nvPr/>
        </p:nvGrpSpPr>
        <p:grpSpPr>
          <a:xfrm>
            <a:off x="7524750" y="6021387"/>
            <a:ext cx="360362" cy="360362"/>
            <a:chOff x="4785" y="3793"/>
            <a:chExt cx="227" cy="227"/>
          </a:xfrm>
        </p:grpSpPr>
        <p:sp>
          <p:nvSpPr>
            <p:cNvPr id="1285" name="Google Shape;1285;p112"/>
            <p:cNvSpPr/>
            <p:nvPr/>
          </p:nvSpPr>
          <p:spPr>
            <a:xfrm>
              <a:off x="4785" y="3793"/>
              <a:ext cx="227" cy="227"/>
            </a:xfrm>
            <a:prstGeom prst="ellipse">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86" name="Google Shape;1286;p112"/>
            <p:cNvSpPr/>
            <p:nvPr/>
          </p:nvSpPr>
          <p:spPr>
            <a:xfrm>
              <a:off x="4830" y="3838"/>
              <a:ext cx="147" cy="136"/>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cxnSp>
        <p:nvCxnSpPr>
          <p:cNvPr id="1287" name="Google Shape;1287;p112"/>
          <p:cNvCxnSpPr/>
          <p:nvPr/>
        </p:nvCxnSpPr>
        <p:spPr>
          <a:xfrm>
            <a:off x="7667625" y="5445125"/>
            <a:ext cx="0" cy="576262"/>
          </a:xfrm>
          <a:prstGeom prst="straightConnector1">
            <a:avLst/>
          </a:prstGeom>
          <a:noFill/>
          <a:ln cap="flat" cmpd="sng" w="9525">
            <a:solidFill>
              <a:schemeClr val="dk1"/>
            </a:solidFill>
            <a:prstDash val="solid"/>
            <a:miter lim="800000"/>
            <a:headEnd len="med" w="med" type="none"/>
            <a:tailEnd len="med" w="med" type="triangle"/>
          </a:ln>
        </p:spPr>
      </p:cxnSp>
      <p:cxnSp>
        <p:nvCxnSpPr>
          <p:cNvPr id="1288" name="Google Shape;1288;p112"/>
          <p:cNvCxnSpPr/>
          <p:nvPr/>
        </p:nvCxnSpPr>
        <p:spPr>
          <a:xfrm>
            <a:off x="5940425" y="6237287"/>
            <a:ext cx="1584325" cy="0"/>
          </a:xfrm>
          <a:prstGeom prst="straightConnector1">
            <a:avLst/>
          </a:prstGeom>
          <a:noFill/>
          <a:ln cap="flat" cmpd="sng" w="9525">
            <a:solidFill>
              <a:schemeClr val="dk1"/>
            </a:solidFill>
            <a:prstDash val="solid"/>
            <a:miter lim="800000"/>
            <a:headEnd len="med" w="med" type="none"/>
            <a:tailEnd len="med" w="med" type="triangle"/>
          </a:ln>
        </p:spPr>
      </p:cxn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2" name="Shape 1292"/>
        <p:cNvGrpSpPr/>
        <p:nvPr/>
      </p:nvGrpSpPr>
      <p:grpSpPr>
        <a:xfrm>
          <a:off x="0" y="0"/>
          <a:ext cx="0" cy="0"/>
          <a:chOff x="0" y="0"/>
          <a:chExt cx="0" cy="0"/>
        </a:xfrm>
      </p:grpSpPr>
      <p:sp>
        <p:nvSpPr>
          <p:cNvPr id="1293" name="Google Shape;1293;p113"/>
          <p:cNvSpPr txBox="1"/>
          <p:nvPr>
            <p:ph type="title"/>
          </p:nvPr>
        </p:nvSpPr>
        <p:spPr>
          <a:xfrm>
            <a:off x="457200" y="274637"/>
            <a:ext cx="8229600" cy="1143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Sous-états séquentiels et concurrents.</a:t>
            </a:r>
            <a:endParaRPr/>
          </a:p>
        </p:txBody>
      </p:sp>
      <p:pic>
        <p:nvPicPr>
          <p:cNvPr id="1294" name="Google Shape;1294;p113"/>
          <p:cNvPicPr preferRelativeResize="0"/>
          <p:nvPr/>
        </p:nvPicPr>
        <p:blipFill rotWithShape="1">
          <a:blip r:embed="rId3">
            <a:alphaModFix/>
          </a:blip>
          <a:srcRect b="0" l="0" r="0" t="0"/>
          <a:stretch/>
        </p:blipFill>
        <p:spPr>
          <a:xfrm>
            <a:off x="539750" y="1557337"/>
            <a:ext cx="4514850" cy="1666875"/>
          </a:xfrm>
          <a:prstGeom prst="rect">
            <a:avLst/>
          </a:prstGeom>
          <a:noFill/>
          <a:ln>
            <a:noFill/>
          </a:ln>
        </p:spPr>
      </p:pic>
      <p:pic>
        <p:nvPicPr>
          <p:cNvPr id="1295" name="Google Shape;1295;p113"/>
          <p:cNvPicPr preferRelativeResize="0"/>
          <p:nvPr/>
        </p:nvPicPr>
        <p:blipFill rotWithShape="1">
          <a:blip r:embed="rId4">
            <a:alphaModFix/>
          </a:blip>
          <a:srcRect b="0" l="0" r="0" t="0"/>
          <a:stretch/>
        </p:blipFill>
        <p:spPr>
          <a:xfrm>
            <a:off x="4252912" y="3711575"/>
            <a:ext cx="4419600" cy="2590800"/>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9" name="Shape 1299"/>
        <p:cNvGrpSpPr/>
        <p:nvPr/>
      </p:nvGrpSpPr>
      <p:grpSpPr>
        <a:xfrm>
          <a:off x="0" y="0"/>
          <a:ext cx="0" cy="0"/>
          <a:chOff x="0" y="0"/>
          <a:chExt cx="0" cy="0"/>
        </a:xfrm>
      </p:grpSpPr>
      <p:sp>
        <p:nvSpPr>
          <p:cNvPr id="1300" name="Google Shape;1300;p11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Etats Imbriqués</a:t>
            </a:r>
            <a:endParaRPr/>
          </a:p>
        </p:txBody>
      </p:sp>
      <p:sp>
        <p:nvSpPr>
          <p:cNvPr id="1301" name="Google Shape;1301;p114"/>
          <p:cNvSpPr txBox="1"/>
          <p:nvPr>
            <p:ph idx="1" type="body"/>
          </p:nvPr>
        </p:nvSpPr>
        <p:spPr>
          <a:xfrm>
            <a:off x="395287" y="1628775"/>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Concurence et syncronisation  </a:t>
            </a:r>
            <a:endParaRPr/>
          </a:p>
        </p:txBody>
      </p:sp>
      <p:sp>
        <p:nvSpPr>
          <p:cNvPr id="1302" name="Google Shape;1302;p114"/>
          <p:cNvSpPr/>
          <p:nvPr/>
        </p:nvSpPr>
        <p:spPr>
          <a:xfrm>
            <a:off x="1676400" y="2286000"/>
            <a:ext cx="5715000" cy="38862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03" name="Google Shape;1303;p114"/>
          <p:cNvSpPr/>
          <p:nvPr/>
        </p:nvSpPr>
        <p:spPr>
          <a:xfrm>
            <a:off x="468312" y="4114800"/>
            <a:ext cx="381000" cy="381000"/>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1304" name="Google Shape;1304;p114"/>
          <p:cNvCxnSpPr/>
          <p:nvPr/>
        </p:nvCxnSpPr>
        <p:spPr>
          <a:xfrm>
            <a:off x="755650" y="4302125"/>
            <a:ext cx="920750" cy="50800"/>
          </a:xfrm>
          <a:prstGeom prst="straightConnector1">
            <a:avLst/>
          </a:prstGeom>
          <a:noFill/>
          <a:ln cap="flat" cmpd="sng" w="12700">
            <a:solidFill>
              <a:schemeClr val="dk1"/>
            </a:solidFill>
            <a:prstDash val="solid"/>
            <a:miter lim="800000"/>
            <a:headEnd len="med" w="med" type="none"/>
            <a:tailEnd len="med" w="med" type="stealth"/>
          </a:ln>
        </p:spPr>
      </p:cxnSp>
      <p:cxnSp>
        <p:nvCxnSpPr>
          <p:cNvPr id="1305" name="Google Shape;1305;p114"/>
          <p:cNvCxnSpPr/>
          <p:nvPr/>
        </p:nvCxnSpPr>
        <p:spPr>
          <a:xfrm>
            <a:off x="1676400" y="4495800"/>
            <a:ext cx="5715000" cy="0"/>
          </a:xfrm>
          <a:prstGeom prst="straightConnector1">
            <a:avLst/>
          </a:prstGeom>
          <a:noFill/>
          <a:ln cap="flat" cmpd="sng" w="12700">
            <a:solidFill>
              <a:schemeClr val="dk1"/>
            </a:solidFill>
            <a:prstDash val="solid"/>
            <a:miter lim="800000"/>
            <a:headEnd len="med" w="med" type="none"/>
            <a:tailEnd len="med" w="med" type="none"/>
          </a:ln>
        </p:spPr>
      </p:cxnSp>
      <p:sp>
        <p:nvSpPr>
          <p:cNvPr id="1306" name="Google Shape;1306;p114"/>
          <p:cNvSpPr/>
          <p:nvPr/>
        </p:nvSpPr>
        <p:spPr>
          <a:xfrm>
            <a:off x="1828800" y="4953000"/>
            <a:ext cx="304800" cy="304800"/>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07" name="Google Shape;1307;p114"/>
          <p:cNvSpPr/>
          <p:nvPr/>
        </p:nvSpPr>
        <p:spPr>
          <a:xfrm>
            <a:off x="2268537" y="5516562"/>
            <a:ext cx="2087562" cy="3810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VérifClient</a:t>
            </a:r>
            <a:endParaRPr/>
          </a:p>
        </p:txBody>
      </p:sp>
      <p:sp>
        <p:nvSpPr>
          <p:cNvPr id="1308" name="Google Shape;1308;p114"/>
          <p:cNvSpPr/>
          <p:nvPr/>
        </p:nvSpPr>
        <p:spPr>
          <a:xfrm>
            <a:off x="1828800" y="3657600"/>
            <a:ext cx="304800" cy="304800"/>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09" name="Google Shape;1309;p114"/>
          <p:cNvSpPr/>
          <p:nvPr/>
        </p:nvSpPr>
        <p:spPr>
          <a:xfrm>
            <a:off x="2667000" y="3581400"/>
            <a:ext cx="1689100" cy="352425"/>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Verification</a:t>
            </a:r>
            <a:endParaRPr/>
          </a:p>
        </p:txBody>
      </p:sp>
      <p:sp>
        <p:nvSpPr>
          <p:cNvPr id="1310" name="Google Shape;1310;p114"/>
          <p:cNvSpPr/>
          <p:nvPr/>
        </p:nvSpPr>
        <p:spPr>
          <a:xfrm>
            <a:off x="3492500" y="2708275"/>
            <a:ext cx="1698625" cy="339725"/>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EnAttente</a:t>
            </a:r>
            <a:endParaRPr/>
          </a:p>
        </p:txBody>
      </p:sp>
      <p:sp>
        <p:nvSpPr>
          <p:cNvPr id="1311" name="Google Shape;1311;p114"/>
          <p:cNvSpPr/>
          <p:nvPr/>
        </p:nvSpPr>
        <p:spPr>
          <a:xfrm>
            <a:off x="4953000" y="3581400"/>
            <a:ext cx="1295400" cy="3810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Livraison</a:t>
            </a:r>
            <a:endParaRPr/>
          </a:p>
        </p:txBody>
      </p:sp>
      <p:cxnSp>
        <p:nvCxnSpPr>
          <p:cNvPr id="1312" name="Google Shape;1312;p114"/>
          <p:cNvCxnSpPr/>
          <p:nvPr/>
        </p:nvCxnSpPr>
        <p:spPr>
          <a:xfrm>
            <a:off x="2133600" y="3810000"/>
            <a:ext cx="533400" cy="0"/>
          </a:xfrm>
          <a:prstGeom prst="straightConnector1">
            <a:avLst/>
          </a:prstGeom>
          <a:noFill/>
          <a:ln cap="flat" cmpd="sng" w="12700">
            <a:solidFill>
              <a:schemeClr val="dk1"/>
            </a:solidFill>
            <a:prstDash val="solid"/>
            <a:miter lim="800000"/>
            <a:headEnd len="med" w="med" type="none"/>
            <a:tailEnd len="med" w="med" type="stealth"/>
          </a:ln>
        </p:spPr>
      </p:cxnSp>
      <p:cxnSp>
        <p:nvCxnSpPr>
          <p:cNvPr id="1313" name="Google Shape;1313;p114"/>
          <p:cNvCxnSpPr/>
          <p:nvPr/>
        </p:nvCxnSpPr>
        <p:spPr>
          <a:xfrm flipH="1" rot="10800000">
            <a:off x="3352800" y="3048000"/>
            <a:ext cx="457200" cy="533400"/>
          </a:xfrm>
          <a:prstGeom prst="straightConnector1">
            <a:avLst/>
          </a:prstGeom>
          <a:noFill/>
          <a:ln cap="flat" cmpd="sng" w="12700">
            <a:solidFill>
              <a:schemeClr val="dk1"/>
            </a:solidFill>
            <a:prstDash val="solid"/>
            <a:miter lim="800000"/>
            <a:headEnd len="med" w="med" type="none"/>
            <a:tailEnd len="med" w="med" type="stealth"/>
          </a:ln>
        </p:spPr>
      </p:cxnSp>
      <p:cxnSp>
        <p:nvCxnSpPr>
          <p:cNvPr id="1314" name="Google Shape;1314;p114"/>
          <p:cNvCxnSpPr/>
          <p:nvPr/>
        </p:nvCxnSpPr>
        <p:spPr>
          <a:xfrm>
            <a:off x="4648200" y="3048000"/>
            <a:ext cx="609600" cy="533400"/>
          </a:xfrm>
          <a:prstGeom prst="straightConnector1">
            <a:avLst/>
          </a:prstGeom>
          <a:noFill/>
          <a:ln cap="flat" cmpd="sng" w="12700">
            <a:solidFill>
              <a:schemeClr val="dk1"/>
            </a:solidFill>
            <a:prstDash val="solid"/>
            <a:miter lim="800000"/>
            <a:headEnd len="med" w="med" type="none"/>
            <a:tailEnd len="med" w="med" type="stealth"/>
          </a:ln>
        </p:spPr>
      </p:cxnSp>
      <p:cxnSp>
        <p:nvCxnSpPr>
          <p:cNvPr id="1315" name="Google Shape;1315;p114"/>
          <p:cNvCxnSpPr/>
          <p:nvPr/>
        </p:nvCxnSpPr>
        <p:spPr>
          <a:xfrm>
            <a:off x="4356100" y="3789362"/>
            <a:ext cx="596900" cy="20637"/>
          </a:xfrm>
          <a:prstGeom prst="straightConnector1">
            <a:avLst/>
          </a:prstGeom>
          <a:noFill/>
          <a:ln cap="flat" cmpd="sng" w="12700">
            <a:solidFill>
              <a:schemeClr val="dk1"/>
            </a:solidFill>
            <a:prstDash val="solid"/>
            <a:miter lim="800000"/>
            <a:headEnd len="med" w="med" type="none"/>
            <a:tailEnd len="med" w="med" type="stealth"/>
          </a:ln>
        </p:spPr>
      </p:cxnSp>
      <p:grpSp>
        <p:nvGrpSpPr>
          <p:cNvPr id="1316" name="Google Shape;1316;p114"/>
          <p:cNvGrpSpPr/>
          <p:nvPr/>
        </p:nvGrpSpPr>
        <p:grpSpPr>
          <a:xfrm>
            <a:off x="6629400" y="3657600"/>
            <a:ext cx="381000" cy="381000"/>
            <a:chOff x="4176" y="2304"/>
            <a:chExt cx="240" cy="240"/>
          </a:xfrm>
        </p:grpSpPr>
        <p:sp>
          <p:nvSpPr>
            <p:cNvPr id="1317" name="Google Shape;1317;p114"/>
            <p:cNvSpPr/>
            <p:nvPr/>
          </p:nvSpPr>
          <p:spPr>
            <a:xfrm>
              <a:off x="4176" y="2304"/>
              <a:ext cx="240" cy="240"/>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18" name="Google Shape;1318;p114"/>
            <p:cNvSpPr/>
            <p:nvPr/>
          </p:nvSpPr>
          <p:spPr>
            <a:xfrm>
              <a:off x="4224" y="2352"/>
              <a:ext cx="144" cy="144"/>
            </a:xfrm>
            <a:prstGeom prst="ellipse">
              <a:avLst/>
            </a:prstGeom>
            <a:solidFill>
              <a:srgbClr val="0000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cxnSp>
        <p:nvCxnSpPr>
          <p:cNvPr id="1319" name="Google Shape;1319;p114"/>
          <p:cNvCxnSpPr/>
          <p:nvPr/>
        </p:nvCxnSpPr>
        <p:spPr>
          <a:xfrm>
            <a:off x="6248400" y="3810000"/>
            <a:ext cx="381000" cy="0"/>
          </a:xfrm>
          <a:prstGeom prst="straightConnector1">
            <a:avLst/>
          </a:prstGeom>
          <a:noFill/>
          <a:ln cap="flat" cmpd="sng" w="12700">
            <a:solidFill>
              <a:schemeClr val="dk1"/>
            </a:solidFill>
            <a:prstDash val="solid"/>
            <a:miter lim="800000"/>
            <a:headEnd len="med" w="med" type="none"/>
            <a:tailEnd len="med" w="med" type="stealth"/>
          </a:ln>
        </p:spPr>
      </p:cxnSp>
      <p:sp>
        <p:nvSpPr>
          <p:cNvPr id="1320" name="Google Shape;1320;p114"/>
          <p:cNvSpPr/>
          <p:nvPr/>
        </p:nvSpPr>
        <p:spPr>
          <a:xfrm>
            <a:off x="4572000" y="5516562"/>
            <a:ext cx="2160587" cy="38100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VérifTerminée</a:t>
            </a:r>
            <a:endParaRPr/>
          </a:p>
        </p:txBody>
      </p:sp>
      <p:grpSp>
        <p:nvGrpSpPr>
          <p:cNvPr id="1321" name="Google Shape;1321;p114"/>
          <p:cNvGrpSpPr/>
          <p:nvPr/>
        </p:nvGrpSpPr>
        <p:grpSpPr>
          <a:xfrm>
            <a:off x="6659562" y="4868862"/>
            <a:ext cx="381000" cy="381000"/>
            <a:chOff x="4176" y="2304"/>
            <a:chExt cx="240" cy="240"/>
          </a:xfrm>
        </p:grpSpPr>
        <p:sp>
          <p:nvSpPr>
            <p:cNvPr id="1322" name="Google Shape;1322;p114"/>
            <p:cNvSpPr/>
            <p:nvPr/>
          </p:nvSpPr>
          <p:spPr>
            <a:xfrm>
              <a:off x="4176" y="2304"/>
              <a:ext cx="240" cy="240"/>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23" name="Google Shape;1323;p114"/>
            <p:cNvSpPr/>
            <p:nvPr/>
          </p:nvSpPr>
          <p:spPr>
            <a:xfrm>
              <a:off x="4224" y="2352"/>
              <a:ext cx="144" cy="144"/>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cxnSp>
        <p:nvCxnSpPr>
          <p:cNvPr id="1324" name="Google Shape;1324;p114"/>
          <p:cNvCxnSpPr/>
          <p:nvPr/>
        </p:nvCxnSpPr>
        <p:spPr>
          <a:xfrm>
            <a:off x="2133600" y="5105400"/>
            <a:ext cx="422275" cy="411162"/>
          </a:xfrm>
          <a:prstGeom prst="straightConnector1">
            <a:avLst/>
          </a:prstGeom>
          <a:noFill/>
          <a:ln cap="flat" cmpd="sng" w="12700">
            <a:solidFill>
              <a:schemeClr val="dk1"/>
            </a:solidFill>
            <a:prstDash val="solid"/>
            <a:miter lim="800000"/>
            <a:headEnd len="med" w="med" type="none"/>
            <a:tailEnd len="med" w="med" type="stealth"/>
          </a:ln>
        </p:spPr>
      </p:cxnSp>
      <p:cxnSp>
        <p:nvCxnSpPr>
          <p:cNvPr id="1325" name="Google Shape;1325;p114"/>
          <p:cNvCxnSpPr/>
          <p:nvPr/>
        </p:nvCxnSpPr>
        <p:spPr>
          <a:xfrm>
            <a:off x="4356100" y="5661025"/>
            <a:ext cx="215900" cy="0"/>
          </a:xfrm>
          <a:prstGeom prst="straightConnector1">
            <a:avLst/>
          </a:prstGeom>
          <a:noFill/>
          <a:ln cap="flat" cmpd="sng" w="12700">
            <a:solidFill>
              <a:schemeClr val="dk1"/>
            </a:solidFill>
            <a:prstDash val="solid"/>
            <a:miter lim="800000"/>
            <a:headEnd len="med" w="med" type="none"/>
            <a:tailEnd len="med" w="med" type="stealth"/>
          </a:ln>
        </p:spPr>
      </p:cxnSp>
      <p:cxnSp>
        <p:nvCxnSpPr>
          <p:cNvPr id="1326" name="Google Shape;1326;p114"/>
          <p:cNvCxnSpPr/>
          <p:nvPr/>
        </p:nvCxnSpPr>
        <p:spPr>
          <a:xfrm flipH="1" rot="10800000">
            <a:off x="6443662" y="5181600"/>
            <a:ext cx="261937" cy="334962"/>
          </a:xfrm>
          <a:prstGeom prst="straightConnector1">
            <a:avLst/>
          </a:prstGeom>
          <a:noFill/>
          <a:ln cap="flat" cmpd="sng" w="12700">
            <a:solidFill>
              <a:schemeClr val="dk1"/>
            </a:solidFill>
            <a:prstDash val="solid"/>
            <a:miter lim="800000"/>
            <a:headEnd len="med" w="med" type="none"/>
            <a:tailEnd len="med" w="med" type="stealth"/>
          </a:ln>
        </p:spPr>
      </p:cxnSp>
      <p:cxnSp>
        <p:nvCxnSpPr>
          <p:cNvPr id="1327" name="Google Shape;1327;p114"/>
          <p:cNvCxnSpPr/>
          <p:nvPr/>
        </p:nvCxnSpPr>
        <p:spPr>
          <a:xfrm>
            <a:off x="7391400" y="4267200"/>
            <a:ext cx="609600" cy="0"/>
          </a:xfrm>
          <a:prstGeom prst="straightConnector1">
            <a:avLst/>
          </a:prstGeom>
          <a:noFill/>
          <a:ln cap="flat" cmpd="sng" w="12700">
            <a:solidFill>
              <a:schemeClr val="dk1"/>
            </a:solidFill>
            <a:prstDash val="solid"/>
            <a:miter lim="800000"/>
            <a:headEnd len="med" w="med" type="none"/>
            <a:tailEnd len="med" w="med" type="stealth"/>
          </a:ln>
        </p:spPr>
      </p:cxnSp>
      <p:sp>
        <p:nvSpPr>
          <p:cNvPr id="1328" name="Google Shape;1328;p114"/>
          <p:cNvSpPr txBox="1"/>
          <p:nvPr/>
        </p:nvSpPr>
        <p:spPr>
          <a:xfrm>
            <a:off x="3505200" y="2286000"/>
            <a:ext cx="2133600" cy="30480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EnCommande</a:t>
            </a:r>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2" name="Shape 1332"/>
        <p:cNvGrpSpPr/>
        <p:nvPr/>
      </p:nvGrpSpPr>
      <p:grpSpPr>
        <a:xfrm>
          <a:off x="0" y="0"/>
          <a:ext cx="0" cy="0"/>
          <a:chOff x="0" y="0"/>
          <a:chExt cx="0" cy="0"/>
        </a:xfrm>
      </p:grpSpPr>
      <p:sp>
        <p:nvSpPr>
          <p:cNvPr id="1333" name="Google Shape;1333;p11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Exercice 1 : formation d’un contrat </a:t>
            </a:r>
            <a:endParaRPr/>
          </a:p>
        </p:txBody>
      </p:sp>
      <p:sp>
        <p:nvSpPr>
          <p:cNvPr id="1334" name="Google Shape;1334;p11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a:t>
            </a:r>
            <a:endParaRPr/>
          </a:p>
        </p:txBody>
      </p:sp>
      <p:sp>
        <p:nvSpPr>
          <p:cNvPr id="1335" name="Google Shape;1335;p115"/>
          <p:cNvSpPr txBox="1"/>
          <p:nvPr/>
        </p:nvSpPr>
        <p:spPr>
          <a:xfrm>
            <a:off x="468312" y="1700212"/>
            <a:ext cx="8207375" cy="4076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Dessinez un diagrammes d’état/transition résumant les états possibles d’un objet “contrat” tel que décrit dans l’énnoncé suivant.</a:t>
            </a:r>
            <a:endParaRPr/>
          </a:p>
          <a:p>
            <a:pPr indent="0" lvl="0" marL="0" marR="0" rtl="0" algn="just">
              <a:lnSpc>
                <a:spcPct val="100000"/>
              </a:lnSpc>
              <a:spcBef>
                <a:spcPts val="90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Un ensemble de personnes décident d’établir un contrat. Pour ce faire elles rédigent un projet par itération successive. Le contrat est ensuite informellement accepté par les parties, et devient ce que l’on appelle un pré-accord. A ce stade il peut toujours être l’objet de modification et revenir à l’état de projet. Une fois le pré-accord définitivement établi, le contrat est signé par les parties. Dès ce moment les partenaires sont liés. Une fois signé le contrat peut être rendu exécutoire par une décision d’une des parties. Un contrat en execution peut faire l’objet de discussions qui sont réglées par un arbitre désigné à cet effet. Le contrat une fois exécuté prend fin.  </a:t>
            </a:r>
            <a:endParaRPr/>
          </a:p>
          <a:p>
            <a:pPr indent="0" lvl="0" marL="0" marR="0" rtl="0" algn="just">
              <a:lnSpc>
                <a:spcPct val="100000"/>
              </a:lnSpc>
              <a:spcBef>
                <a:spcPts val="90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 </a:t>
            </a:r>
            <a:endParaRPr/>
          </a:p>
          <a:p>
            <a:pPr indent="0" lvl="0" marL="0" marR="0" rtl="0" algn="l">
              <a:lnSpc>
                <a:spcPct val="100000"/>
              </a:lnSpc>
              <a:spcBef>
                <a:spcPts val="90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 </a:t>
            </a:r>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9" name="Shape 1339"/>
        <p:cNvGrpSpPr/>
        <p:nvPr/>
      </p:nvGrpSpPr>
      <p:grpSpPr>
        <a:xfrm>
          <a:off x="0" y="0"/>
          <a:ext cx="0" cy="0"/>
          <a:chOff x="0" y="0"/>
          <a:chExt cx="0" cy="0"/>
        </a:xfrm>
      </p:grpSpPr>
      <p:sp>
        <p:nvSpPr>
          <p:cNvPr id="1340" name="Google Shape;1340;p11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Proposition Solution 1 </a:t>
            </a:r>
            <a:endParaRPr/>
          </a:p>
        </p:txBody>
      </p:sp>
      <p:graphicFrame>
        <p:nvGraphicFramePr>
          <p:cNvPr id="1341" name="Google Shape;1341;p116"/>
          <p:cNvGraphicFramePr/>
          <p:nvPr/>
        </p:nvGraphicFramePr>
        <p:xfrm>
          <a:off x="1403350" y="1268412"/>
          <a:ext cx="6624637" cy="4608512"/>
        </p:xfrm>
        <a:graphic>
          <a:graphicData uri="http://schemas.openxmlformats.org/presentationml/2006/ole">
            <mc:AlternateContent>
              <mc:Choice Requires="v">
                <p:oleObj r:id="rId4" imgH="4608512" imgW="6624637" progId="Paint.Picture" spid="_x0000_s1">
                  <p:embed/>
                </p:oleObj>
              </mc:Choice>
              <mc:Fallback>
                <p:oleObj r:id="rId5" imgH="4608512" imgW="6624637" progId="Paint.Picture">
                  <p:embed/>
                  <p:pic>
                    <p:nvPicPr>
                      <p:cNvPr id="1341" name="Google Shape;1341;p116"/>
                      <p:cNvPicPr preferRelativeResize="0"/>
                      <p:nvPr>
                        <p:ph idx="1" type="body"/>
                      </p:nvPr>
                    </p:nvPicPr>
                    <p:blipFill rotWithShape="1">
                      <a:blip r:embed="rId6">
                        <a:alphaModFix/>
                      </a:blip>
                      <a:srcRect b="0" l="0" r="0" t="0"/>
                      <a:stretch/>
                    </p:blipFill>
                    <p:spPr>
                      <a:xfrm>
                        <a:off x="1403350" y="1268412"/>
                        <a:ext cx="6624637" cy="4608512"/>
                      </a:xfrm>
                      <a:prstGeom prst="rect">
                        <a:avLst/>
                      </a:prstGeom>
                      <a:noFill/>
                      <a:ln>
                        <a:noFill/>
                      </a:ln>
                    </p:spPr>
                  </p:pic>
                </p:oleObj>
              </mc:Fallback>
            </mc:AlternateContent>
          </a:graphicData>
        </a:graphic>
      </p:graphicFrame>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5" name="Shape 1345"/>
        <p:cNvGrpSpPr/>
        <p:nvPr/>
      </p:nvGrpSpPr>
      <p:grpSpPr>
        <a:xfrm>
          <a:off x="0" y="0"/>
          <a:ext cx="0" cy="0"/>
          <a:chOff x="0" y="0"/>
          <a:chExt cx="0" cy="0"/>
        </a:xfrm>
      </p:grpSpPr>
      <p:sp>
        <p:nvSpPr>
          <p:cNvPr id="1346" name="Google Shape;1346;p11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Exercice 2 : montre digitale</a:t>
            </a:r>
            <a:endParaRPr/>
          </a:p>
        </p:txBody>
      </p:sp>
      <p:sp>
        <p:nvSpPr>
          <p:cNvPr id="1347" name="Google Shape;1347;p117"/>
          <p:cNvSpPr txBox="1"/>
          <p:nvPr>
            <p:ph idx="1" type="body"/>
          </p:nvPr>
        </p:nvSpPr>
        <p:spPr>
          <a:xfrm>
            <a:off x="457200" y="1600200"/>
            <a:ext cx="4038600" cy="4525962"/>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Ma montre affiche l’heure, si j’appuie 2X sur le boutton 1, la montre passe en mode “modification”. Chaque pression sur le boutton 2, incrémente l’heure d’une unité. Si j’appuie encore un fois sur le boutton 1, je peux régler les minutes de la même façon que les heures. Si j’appuie une quatrième fois sur le boutton 1, la montre affiche à nouveau l’heure courante.      </a:t>
            </a:r>
            <a:endParaRPr/>
          </a:p>
        </p:txBody>
      </p:sp>
      <p:grpSp>
        <p:nvGrpSpPr>
          <p:cNvPr id="1348" name="Google Shape;1348;p117"/>
          <p:cNvGrpSpPr/>
          <p:nvPr/>
        </p:nvGrpSpPr>
        <p:grpSpPr>
          <a:xfrm>
            <a:off x="4551362" y="1773237"/>
            <a:ext cx="3224212" cy="2743200"/>
            <a:chOff x="2867" y="1117"/>
            <a:chExt cx="2031" cy="1728"/>
          </a:xfrm>
        </p:grpSpPr>
        <p:pic>
          <p:nvPicPr>
            <p:cNvPr descr="DW5600E" id="1349" name="Google Shape;1349;p117"/>
            <p:cNvPicPr preferRelativeResize="0"/>
            <p:nvPr/>
          </p:nvPicPr>
          <p:blipFill rotWithShape="1">
            <a:blip r:embed="rId3">
              <a:alphaModFix/>
            </a:blip>
            <a:srcRect b="0" l="0" r="0" t="0"/>
            <a:stretch/>
          </p:blipFill>
          <p:spPr>
            <a:xfrm>
              <a:off x="3470" y="1117"/>
              <a:ext cx="1428" cy="1728"/>
            </a:xfrm>
            <a:prstGeom prst="rect">
              <a:avLst/>
            </a:prstGeom>
            <a:noFill/>
            <a:ln>
              <a:noFill/>
            </a:ln>
          </p:spPr>
        </p:pic>
        <p:cxnSp>
          <p:nvCxnSpPr>
            <p:cNvPr id="1350" name="Google Shape;1350;p117"/>
            <p:cNvCxnSpPr/>
            <p:nvPr/>
          </p:nvCxnSpPr>
          <p:spPr>
            <a:xfrm rot="10800000">
              <a:off x="3243" y="1480"/>
              <a:ext cx="363" cy="181"/>
            </a:xfrm>
            <a:prstGeom prst="straightConnector1">
              <a:avLst/>
            </a:prstGeom>
            <a:noFill/>
            <a:ln cap="flat" cmpd="sng" w="9525">
              <a:solidFill>
                <a:schemeClr val="dk1"/>
              </a:solidFill>
              <a:prstDash val="solid"/>
              <a:miter lim="800000"/>
              <a:headEnd len="med" w="med" type="none"/>
              <a:tailEnd len="med" w="med" type="triangle"/>
            </a:ln>
          </p:spPr>
        </p:cxnSp>
        <p:sp>
          <p:nvSpPr>
            <p:cNvPr id="1351" name="Google Shape;1351;p117"/>
            <p:cNvSpPr txBox="1"/>
            <p:nvPr/>
          </p:nvSpPr>
          <p:spPr>
            <a:xfrm>
              <a:off x="2867" y="1265"/>
              <a:ext cx="612"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Button1</a:t>
              </a:r>
              <a:endParaRPr/>
            </a:p>
          </p:txBody>
        </p:sp>
        <p:cxnSp>
          <p:nvCxnSpPr>
            <p:cNvPr id="1352" name="Google Shape;1352;p117"/>
            <p:cNvCxnSpPr/>
            <p:nvPr/>
          </p:nvCxnSpPr>
          <p:spPr>
            <a:xfrm flipH="1">
              <a:off x="3243" y="2069"/>
              <a:ext cx="363" cy="272"/>
            </a:xfrm>
            <a:prstGeom prst="straightConnector1">
              <a:avLst/>
            </a:prstGeom>
            <a:noFill/>
            <a:ln cap="flat" cmpd="sng" w="9525">
              <a:solidFill>
                <a:schemeClr val="dk1"/>
              </a:solidFill>
              <a:prstDash val="solid"/>
              <a:miter lim="800000"/>
              <a:headEnd len="med" w="med" type="none"/>
              <a:tailEnd len="med" w="med" type="triangle"/>
            </a:ln>
          </p:spPr>
        </p:cxnSp>
        <p:sp>
          <p:nvSpPr>
            <p:cNvPr id="1353" name="Google Shape;1353;p117"/>
            <p:cNvSpPr txBox="1"/>
            <p:nvPr/>
          </p:nvSpPr>
          <p:spPr>
            <a:xfrm>
              <a:off x="2880" y="2296"/>
              <a:ext cx="612"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Button2</a:t>
              </a:r>
              <a:endParaRPr/>
            </a:p>
          </p:txBody>
        </p:sp>
      </p:gr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8" name="Shape 1358"/>
        <p:cNvGrpSpPr/>
        <p:nvPr/>
      </p:nvGrpSpPr>
      <p:grpSpPr>
        <a:xfrm>
          <a:off x="0" y="0"/>
          <a:ext cx="0" cy="0"/>
          <a:chOff x="0" y="0"/>
          <a:chExt cx="0" cy="0"/>
        </a:xfrm>
      </p:grpSpPr>
      <p:sp>
        <p:nvSpPr>
          <p:cNvPr id="1359" name="Google Shape;1359;p11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Proposition Solution 2</a:t>
            </a:r>
            <a:endParaRPr/>
          </a:p>
        </p:txBody>
      </p:sp>
      <p:pic>
        <p:nvPicPr>
          <p:cNvPr id="1360" name="Google Shape;1360;p118"/>
          <p:cNvPicPr preferRelativeResize="0"/>
          <p:nvPr>
            <p:ph idx="1" type="body"/>
          </p:nvPr>
        </p:nvPicPr>
        <p:blipFill rotWithShape="1">
          <a:blip r:embed="rId3">
            <a:alphaModFix/>
          </a:blip>
          <a:srcRect b="0" l="0" r="0" t="0"/>
          <a:stretch/>
        </p:blipFill>
        <p:spPr>
          <a:xfrm>
            <a:off x="1049337" y="2066925"/>
            <a:ext cx="7043737" cy="3590925"/>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5" name="Shape 1365"/>
        <p:cNvGrpSpPr/>
        <p:nvPr/>
      </p:nvGrpSpPr>
      <p:grpSpPr>
        <a:xfrm>
          <a:off x="0" y="0"/>
          <a:ext cx="0" cy="0"/>
          <a:chOff x="0" y="0"/>
          <a:chExt cx="0" cy="0"/>
        </a:xfrm>
      </p:grpSpPr>
      <p:sp>
        <p:nvSpPr>
          <p:cNvPr id="1366" name="Google Shape;1366;p11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Exercice 3 : montre digitale plus avancée </a:t>
            </a:r>
            <a:endParaRPr/>
          </a:p>
        </p:txBody>
      </p:sp>
      <p:sp>
        <p:nvSpPr>
          <p:cNvPr id="1367" name="Google Shape;1367;p119"/>
          <p:cNvSpPr txBox="1"/>
          <p:nvPr>
            <p:ph idx="1" type="body"/>
          </p:nvPr>
        </p:nvSpPr>
        <p:spPr>
          <a:xfrm>
            <a:off x="0" y="1628775"/>
            <a:ext cx="4038600" cy="4525962"/>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Lors du réglage de l’heure ou des minutes lorsque j’appuie sur le boutton 1 plus de deux secondes, les heures ou les secondes avancent très rapidement jusqu’à ce que je relâche la pression</a:t>
            </a:r>
            <a:endParaRPr/>
          </a:p>
          <a:p>
            <a:pPr indent="-342900" lvl="0" marL="342900" rtl="0" algn="just">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On ajoute un bouton 3 qui permet de rétro-éclairer l’écran LCD</a:t>
            </a:r>
            <a:endParaRPr/>
          </a:p>
          <a:p>
            <a:pPr indent="-190500" lvl="0" marL="342900" rtl="0" algn="l">
              <a:spcBef>
                <a:spcPts val="480"/>
              </a:spcBef>
              <a:spcAft>
                <a:spcPts val="0"/>
              </a:spcAft>
              <a:buClr>
                <a:schemeClr val="dk1"/>
              </a:buClr>
              <a:buSzPts val="2400"/>
              <a:buFont typeface="Arial"/>
              <a:buNone/>
            </a:pPr>
            <a:r>
              <a:t/>
            </a:r>
            <a:endParaRPr b="0" i="0" sz="2400" u="none">
              <a:solidFill>
                <a:schemeClr val="dk1"/>
              </a:solidFill>
              <a:latin typeface="Arial"/>
              <a:ea typeface="Arial"/>
              <a:cs typeface="Arial"/>
              <a:sym typeface="Arial"/>
            </a:endParaRPr>
          </a:p>
        </p:txBody>
      </p:sp>
      <p:grpSp>
        <p:nvGrpSpPr>
          <p:cNvPr id="1368" name="Google Shape;1368;p119"/>
          <p:cNvGrpSpPr/>
          <p:nvPr/>
        </p:nvGrpSpPr>
        <p:grpSpPr>
          <a:xfrm>
            <a:off x="4211637" y="1916112"/>
            <a:ext cx="4716462" cy="2743200"/>
            <a:chOff x="1655" y="1979"/>
            <a:chExt cx="2971" cy="1728"/>
          </a:xfrm>
        </p:grpSpPr>
        <p:grpSp>
          <p:nvGrpSpPr>
            <p:cNvPr id="1369" name="Google Shape;1369;p119"/>
            <p:cNvGrpSpPr/>
            <p:nvPr/>
          </p:nvGrpSpPr>
          <p:grpSpPr>
            <a:xfrm>
              <a:off x="1655" y="1979"/>
              <a:ext cx="2031" cy="1728"/>
              <a:chOff x="2867" y="1117"/>
              <a:chExt cx="2031" cy="1728"/>
            </a:xfrm>
          </p:grpSpPr>
          <p:pic>
            <p:nvPicPr>
              <p:cNvPr descr="DW5600E" id="1370" name="Google Shape;1370;p119"/>
              <p:cNvPicPr preferRelativeResize="0"/>
              <p:nvPr/>
            </p:nvPicPr>
            <p:blipFill rotWithShape="1">
              <a:blip r:embed="rId3">
                <a:alphaModFix/>
              </a:blip>
              <a:srcRect b="0" l="0" r="0" t="0"/>
              <a:stretch/>
            </p:blipFill>
            <p:spPr>
              <a:xfrm>
                <a:off x="3470" y="1117"/>
                <a:ext cx="1428" cy="1728"/>
              </a:xfrm>
              <a:prstGeom prst="rect">
                <a:avLst/>
              </a:prstGeom>
              <a:noFill/>
              <a:ln>
                <a:noFill/>
              </a:ln>
            </p:spPr>
          </p:pic>
          <p:cxnSp>
            <p:nvCxnSpPr>
              <p:cNvPr id="1371" name="Google Shape;1371;p119"/>
              <p:cNvCxnSpPr/>
              <p:nvPr/>
            </p:nvCxnSpPr>
            <p:spPr>
              <a:xfrm rot="10800000">
                <a:off x="3243" y="1480"/>
                <a:ext cx="363" cy="181"/>
              </a:xfrm>
              <a:prstGeom prst="straightConnector1">
                <a:avLst/>
              </a:prstGeom>
              <a:noFill/>
              <a:ln cap="flat" cmpd="sng" w="9525">
                <a:solidFill>
                  <a:schemeClr val="dk1"/>
                </a:solidFill>
                <a:prstDash val="solid"/>
                <a:miter lim="800000"/>
                <a:headEnd len="med" w="med" type="none"/>
                <a:tailEnd len="med" w="med" type="triangle"/>
              </a:ln>
            </p:spPr>
          </p:cxnSp>
          <p:sp>
            <p:nvSpPr>
              <p:cNvPr id="1372" name="Google Shape;1372;p119"/>
              <p:cNvSpPr txBox="1"/>
              <p:nvPr/>
            </p:nvSpPr>
            <p:spPr>
              <a:xfrm>
                <a:off x="2867" y="1265"/>
                <a:ext cx="612"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Button1</a:t>
                </a:r>
                <a:endParaRPr/>
              </a:p>
            </p:txBody>
          </p:sp>
          <p:cxnSp>
            <p:nvCxnSpPr>
              <p:cNvPr id="1373" name="Google Shape;1373;p119"/>
              <p:cNvCxnSpPr/>
              <p:nvPr/>
            </p:nvCxnSpPr>
            <p:spPr>
              <a:xfrm flipH="1">
                <a:off x="3243" y="2069"/>
                <a:ext cx="363" cy="272"/>
              </a:xfrm>
              <a:prstGeom prst="straightConnector1">
                <a:avLst/>
              </a:prstGeom>
              <a:noFill/>
              <a:ln cap="flat" cmpd="sng" w="9525">
                <a:solidFill>
                  <a:schemeClr val="dk1"/>
                </a:solidFill>
                <a:prstDash val="solid"/>
                <a:miter lim="800000"/>
                <a:headEnd len="med" w="med" type="none"/>
                <a:tailEnd len="med" w="med" type="triangle"/>
              </a:ln>
            </p:spPr>
          </p:cxnSp>
          <p:sp>
            <p:nvSpPr>
              <p:cNvPr id="1374" name="Google Shape;1374;p119"/>
              <p:cNvSpPr txBox="1"/>
              <p:nvPr/>
            </p:nvSpPr>
            <p:spPr>
              <a:xfrm>
                <a:off x="2880" y="2296"/>
                <a:ext cx="612"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Button2</a:t>
                </a:r>
                <a:endParaRPr/>
              </a:p>
            </p:txBody>
          </p:sp>
        </p:grpSp>
        <p:cxnSp>
          <p:nvCxnSpPr>
            <p:cNvPr id="1375" name="Google Shape;1375;p119"/>
            <p:cNvCxnSpPr/>
            <p:nvPr/>
          </p:nvCxnSpPr>
          <p:spPr>
            <a:xfrm flipH="1" rot="10800000">
              <a:off x="3560" y="2523"/>
              <a:ext cx="499" cy="181"/>
            </a:xfrm>
            <a:prstGeom prst="straightConnector1">
              <a:avLst/>
            </a:prstGeom>
            <a:noFill/>
            <a:ln cap="flat" cmpd="sng" w="9525">
              <a:solidFill>
                <a:schemeClr val="dk1"/>
              </a:solidFill>
              <a:prstDash val="solid"/>
              <a:miter lim="800000"/>
              <a:headEnd len="med" w="med" type="none"/>
              <a:tailEnd len="med" w="med" type="triangle"/>
            </a:ln>
          </p:spPr>
        </p:cxnSp>
        <p:sp>
          <p:nvSpPr>
            <p:cNvPr id="1376" name="Google Shape;1376;p119"/>
            <p:cNvSpPr txBox="1"/>
            <p:nvPr/>
          </p:nvSpPr>
          <p:spPr>
            <a:xfrm>
              <a:off x="4014" y="2387"/>
              <a:ext cx="612"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Button3</a:t>
              </a:r>
              <a:endParaRPr/>
            </a:p>
          </p:txBody>
        </p:sp>
      </p:gr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0" name="Shape 1380"/>
        <p:cNvGrpSpPr/>
        <p:nvPr/>
      </p:nvGrpSpPr>
      <p:grpSpPr>
        <a:xfrm>
          <a:off x="0" y="0"/>
          <a:ext cx="0" cy="0"/>
          <a:chOff x="0" y="0"/>
          <a:chExt cx="0" cy="0"/>
        </a:xfrm>
      </p:grpSpPr>
      <p:sp>
        <p:nvSpPr>
          <p:cNvPr id="1381" name="Google Shape;1381;p12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Proposition Solution 3</a:t>
            </a:r>
            <a:endParaRPr/>
          </a:p>
        </p:txBody>
      </p:sp>
      <p:grpSp>
        <p:nvGrpSpPr>
          <p:cNvPr id="1382" name="Google Shape;1382;p120"/>
          <p:cNvGrpSpPr/>
          <p:nvPr/>
        </p:nvGrpSpPr>
        <p:grpSpPr>
          <a:xfrm>
            <a:off x="2052637" y="1600200"/>
            <a:ext cx="5038725" cy="4525962"/>
            <a:chOff x="1293" y="1008"/>
            <a:chExt cx="3174" cy="2851"/>
          </a:xfrm>
        </p:grpSpPr>
        <p:pic>
          <p:nvPicPr>
            <p:cNvPr descr="horloge2" id="1383" name="Google Shape;1383;p120"/>
            <p:cNvPicPr preferRelativeResize="0"/>
            <p:nvPr/>
          </p:nvPicPr>
          <p:blipFill rotWithShape="1">
            <a:blip r:embed="rId3">
              <a:alphaModFix/>
            </a:blip>
            <a:srcRect b="0" l="0" r="0" t="0"/>
            <a:stretch/>
          </p:blipFill>
          <p:spPr>
            <a:xfrm>
              <a:off x="1293" y="1008"/>
              <a:ext cx="3174" cy="2851"/>
            </a:xfrm>
            <a:prstGeom prst="rect">
              <a:avLst/>
            </a:prstGeom>
            <a:noFill/>
            <a:ln>
              <a:noFill/>
            </a:ln>
          </p:spPr>
        </p:pic>
        <p:cxnSp>
          <p:nvCxnSpPr>
            <p:cNvPr id="1384" name="Google Shape;1384;p120"/>
            <p:cNvCxnSpPr/>
            <p:nvPr/>
          </p:nvCxnSpPr>
          <p:spPr>
            <a:xfrm>
              <a:off x="1304" y="1616"/>
              <a:ext cx="3130" cy="0"/>
            </a:xfrm>
            <a:prstGeom prst="straightConnector1">
              <a:avLst/>
            </a:prstGeom>
            <a:noFill/>
            <a:ln cap="flat" cmpd="sng" w="9525">
              <a:solidFill>
                <a:srgbClr val="993300"/>
              </a:solidFill>
              <a:prstDash val="solid"/>
              <a:miter lim="800000"/>
              <a:headEnd len="med" w="med" type="none"/>
              <a:tailEnd len="med" w="med" type="none"/>
            </a:ln>
          </p:spPr>
        </p:cxnSp>
      </p:gr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8" name="Shape 1388"/>
        <p:cNvGrpSpPr/>
        <p:nvPr/>
      </p:nvGrpSpPr>
      <p:grpSpPr>
        <a:xfrm>
          <a:off x="0" y="0"/>
          <a:ext cx="0" cy="0"/>
          <a:chOff x="0" y="0"/>
          <a:chExt cx="0" cy="0"/>
        </a:xfrm>
      </p:grpSpPr>
      <p:sp>
        <p:nvSpPr>
          <p:cNvPr id="1389" name="Google Shape;1389;p12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Exercice 4 : cabine téléphonique</a:t>
            </a:r>
            <a:endParaRPr/>
          </a:p>
        </p:txBody>
      </p:sp>
      <p:sp>
        <p:nvSpPr>
          <p:cNvPr id="1390" name="Google Shape;1390;p12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Modélisez le fonctionnement d’une cabine téléphonique </a:t>
            </a:r>
            <a:endParaRPr/>
          </a:p>
        </p:txBody>
      </p:sp>
      <p:pic>
        <p:nvPicPr>
          <p:cNvPr descr="redpaytt-big" id="1391" name="Google Shape;1391;p121"/>
          <p:cNvPicPr preferRelativeResize="0"/>
          <p:nvPr/>
        </p:nvPicPr>
        <p:blipFill rotWithShape="1">
          <a:blip r:embed="rId3">
            <a:alphaModFix/>
          </a:blip>
          <a:srcRect b="0" l="0" r="0" t="0"/>
          <a:stretch/>
        </p:blipFill>
        <p:spPr>
          <a:xfrm>
            <a:off x="3348037" y="2565400"/>
            <a:ext cx="1905000" cy="2847975"/>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5" name="Shape 1395"/>
        <p:cNvGrpSpPr/>
        <p:nvPr/>
      </p:nvGrpSpPr>
      <p:grpSpPr>
        <a:xfrm>
          <a:off x="0" y="0"/>
          <a:ext cx="0" cy="0"/>
          <a:chOff x="0" y="0"/>
          <a:chExt cx="0" cy="0"/>
        </a:xfrm>
      </p:grpSpPr>
      <p:sp>
        <p:nvSpPr>
          <p:cNvPr id="1396" name="Google Shape;1396;p12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Proposition de Solution 5</a:t>
            </a:r>
            <a:endParaRPr/>
          </a:p>
        </p:txBody>
      </p:sp>
      <p:graphicFrame>
        <p:nvGraphicFramePr>
          <p:cNvPr id="1397" name="Google Shape;1397;p122"/>
          <p:cNvGraphicFramePr/>
          <p:nvPr/>
        </p:nvGraphicFramePr>
        <p:xfrm>
          <a:off x="827087" y="1600200"/>
          <a:ext cx="7561262" cy="4525962"/>
        </p:xfrm>
        <a:graphic>
          <a:graphicData uri="http://schemas.openxmlformats.org/presentationml/2006/ole">
            <mc:AlternateContent>
              <mc:Choice Requires="v">
                <p:oleObj r:id="rId4" imgH="4525962" imgW="7561262" progId="Paint.Picture" spid="_x0000_s1">
                  <p:embed/>
                </p:oleObj>
              </mc:Choice>
              <mc:Fallback>
                <p:oleObj r:id="rId5" imgH="4525962" imgW="7561262" progId="Paint.Picture">
                  <p:embed/>
                  <p:pic>
                    <p:nvPicPr>
                      <p:cNvPr id="1397" name="Google Shape;1397;p122"/>
                      <p:cNvPicPr preferRelativeResize="0"/>
                      <p:nvPr>
                        <p:ph idx="1" type="body"/>
                      </p:nvPr>
                    </p:nvPicPr>
                    <p:blipFill rotWithShape="1">
                      <a:blip r:embed="rId6">
                        <a:alphaModFix/>
                      </a:blip>
                      <a:srcRect b="0" l="0" r="0" t="0"/>
                      <a:stretch/>
                    </p:blipFill>
                    <p:spPr>
                      <a:xfrm>
                        <a:off x="827087" y="1600200"/>
                        <a:ext cx="7561262" cy="4525962"/>
                      </a:xfrm>
                      <a:prstGeom prst="rect">
                        <a:avLst/>
                      </a:prstGeom>
                      <a:noFill/>
                      <a:ln>
                        <a:noFill/>
                      </a:ln>
                    </p:spPr>
                  </p:pic>
                </p:oleObj>
              </mc:Fallback>
            </mc:AlternateContent>
          </a:graphicData>
        </a:graphic>
      </p:graphicFrame>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1" name="Shape 1401"/>
        <p:cNvGrpSpPr/>
        <p:nvPr/>
      </p:nvGrpSpPr>
      <p:grpSpPr>
        <a:xfrm>
          <a:off x="0" y="0"/>
          <a:ext cx="0" cy="0"/>
          <a:chOff x="0" y="0"/>
          <a:chExt cx="0" cy="0"/>
        </a:xfrm>
      </p:grpSpPr>
      <p:sp>
        <p:nvSpPr>
          <p:cNvPr id="1402" name="Google Shape;1402;p12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Diagrammes de séquence</a:t>
            </a:r>
            <a:endParaRPr/>
          </a:p>
        </p:txBody>
      </p:sp>
      <p:sp>
        <p:nvSpPr>
          <p:cNvPr id="1403" name="Google Shape;1403;p12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ctr">
              <a:lnSpc>
                <a:spcPct val="100000"/>
              </a:lnSpc>
              <a:spcBef>
                <a:spcPts val="0"/>
              </a:spcBef>
              <a:spcAft>
                <a:spcPts val="0"/>
              </a:spcAft>
              <a:buClr>
                <a:schemeClr val="dk1"/>
              </a:buClr>
              <a:buSzPts val="12400"/>
              <a:buFont typeface="Arial"/>
              <a:buNone/>
            </a:pPr>
            <a:r>
              <a:rPr b="0" i="0" lang="en-US" sz="12400" u="none">
                <a:solidFill>
                  <a:schemeClr val="dk1"/>
                </a:solidFill>
                <a:latin typeface="Arial"/>
                <a:ea typeface="Arial"/>
                <a:cs typeface="Arial"/>
                <a:sym typeface="Arial"/>
              </a:rPr>
              <a:t>Séquences</a:t>
            </a:r>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7" name="Shape 1407"/>
        <p:cNvGrpSpPr/>
        <p:nvPr/>
      </p:nvGrpSpPr>
      <p:grpSpPr>
        <a:xfrm>
          <a:off x="0" y="0"/>
          <a:ext cx="0" cy="0"/>
          <a:chOff x="0" y="0"/>
          <a:chExt cx="0" cy="0"/>
        </a:xfrm>
      </p:grpSpPr>
      <p:sp>
        <p:nvSpPr>
          <p:cNvPr id="1408" name="Google Shape;1408;p12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1" i="0" lang="en-US" sz="4400" u="none">
                <a:solidFill>
                  <a:schemeClr val="dk2"/>
                </a:solidFill>
                <a:latin typeface="Arial"/>
                <a:ea typeface="Arial"/>
                <a:cs typeface="Arial"/>
                <a:sym typeface="Arial"/>
              </a:rPr>
              <a:t>Le diagramme de séquence</a:t>
            </a:r>
            <a:endParaRPr/>
          </a:p>
        </p:txBody>
      </p:sp>
      <p:sp>
        <p:nvSpPr>
          <p:cNvPr id="1409" name="Google Shape;1409;p12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None/>
            </a:pPr>
            <a:r>
              <a:t/>
            </a:r>
            <a:endParaRPr b="1" i="0" sz="3200" u="none">
              <a:solidFill>
                <a:schemeClr val="dk1"/>
              </a:solidFill>
              <a:latin typeface="Arial"/>
              <a:ea typeface="Arial"/>
              <a:cs typeface="Arial"/>
              <a:sym typeface="Arial"/>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Ce diagramme met en évidence les relations temporelles inter-objet.</a:t>
            </a:r>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3" name="Shape 1413"/>
        <p:cNvGrpSpPr/>
        <p:nvPr/>
      </p:nvGrpSpPr>
      <p:grpSpPr>
        <a:xfrm>
          <a:off x="0" y="0"/>
          <a:ext cx="0" cy="0"/>
          <a:chOff x="0" y="0"/>
          <a:chExt cx="0" cy="0"/>
        </a:xfrm>
      </p:grpSpPr>
      <p:sp>
        <p:nvSpPr>
          <p:cNvPr id="1414" name="Google Shape;1414;p12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Diagrammes d'interaction</a:t>
            </a:r>
            <a:endParaRPr/>
          </a:p>
        </p:txBody>
      </p:sp>
      <p:sp>
        <p:nvSpPr>
          <p:cNvPr id="1415" name="Google Shape;1415;p12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000000"/>
              </a:buClr>
              <a:buSzPts val="2400"/>
              <a:buFont typeface="Arial"/>
              <a:buChar char="•"/>
            </a:pPr>
            <a:r>
              <a:rPr b="1" i="0" lang="en-US" sz="2400" u="none">
                <a:solidFill>
                  <a:srgbClr val="000000"/>
                </a:solidFill>
                <a:latin typeface="Arial"/>
                <a:ea typeface="Arial"/>
                <a:cs typeface="Arial"/>
                <a:sym typeface="Arial"/>
              </a:rPr>
              <a:t>Les diagrammes de </a:t>
            </a:r>
            <a:r>
              <a:rPr b="1" i="1" lang="en-US" sz="2400" u="none">
                <a:solidFill>
                  <a:srgbClr val="FF0000"/>
                </a:solidFill>
                <a:latin typeface="Arial"/>
                <a:ea typeface="Arial"/>
                <a:cs typeface="Arial"/>
                <a:sym typeface="Arial"/>
              </a:rPr>
              <a:t>séquence</a:t>
            </a:r>
            <a:r>
              <a:rPr b="1" i="0" lang="en-US" sz="2400" u="none">
                <a:solidFill>
                  <a:srgbClr val="000000"/>
                </a:solidFill>
                <a:latin typeface="Arial"/>
                <a:ea typeface="Arial"/>
                <a:cs typeface="Arial"/>
                <a:sym typeface="Arial"/>
              </a:rPr>
              <a:t> et les diagrammes de </a:t>
            </a:r>
            <a:r>
              <a:rPr b="1" i="1" lang="en-US" sz="2400" u="none">
                <a:solidFill>
                  <a:srgbClr val="FF0000"/>
                </a:solidFill>
                <a:latin typeface="Arial"/>
                <a:ea typeface="Arial"/>
                <a:cs typeface="Arial"/>
                <a:sym typeface="Arial"/>
              </a:rPr>
              <a:t>collaboration d’instances</a:t>
            </a:r>
            <a:r>
              <a:rPr b="1" i="0" lang="en-US" sz="2400" u="none">
                <a:solidFill>
                  <a:srgbClr val="000000"/>
                </a:solidFill>
                <a:latin typeface="Arial"/>
                <a:ea typeface="Arial"/>
                <a:cs typeface="Arial"/>
                <a:sym typeface="Arial"/>
              </a:rPr>
              <a:t> sont deux types de diagrammes d'interaction. Les</a:t>
            </a:r>
            <a:r>
              <a:rPr b="1" i="1" lang="en-US" sz="2400" u="none">
                <a:solidFill>
                  <a:srgbClr val="000000"/>
                </a:solidFill>
                <a:latin typeface="Arial"/>
                <a:ea typeface="Arial"/>
                <a:cs typeface="Arial"/>
                <a:sym typeface="Arial"/>
              </a:rPr>
              <a:t> diagrammes d'interaction</a:t>
            </a:r>
            <a:r>
              <a:rPr b="1" i="0" lang="en-US" sz="2400" u="none">
                <a:solidFill>
                  <a:srgbClr val="000000"/>
                </a:solidFill>
                <a:latin typeface="Arial"/>
                <a:ea typeface="Arial"/>
                <a:cs typeface="Arial"/>
                <a:sym typeface="Arial"/>
              </a:rPr>
              <a:t> représentent une interaction, c'est‑à‑dire un ensemble d’objets et leurs relations, y compris les messages qu'ils peuvent échanger. Ils présentent une vue dynamique d’un système.</a:t>
            </a:r>
            <a:endParaRPr/>
          </a:p>
          <a:p>
            <a:pPr indent="-190500" lvl="0" marL="342900" rtl="0" algn="l">
              <a:lnSpc>
                <a:spcPct val="100000"/>
              </a:lnSpc>
              <a:spcBef>
                <a:spcPts val="480"/>
              </a:spcBef>
              <a:spcAft>
                <a:spcPts val="0"/>
              </a:spcAft>
              <a:buClr>
                <a:schemeClr val="dk1"/>
              </a:buClr>
              <a:buSzPts val="2400"/>
              <a:buFont typeface="Arial"/>
              <a:buNone/>
            </a:pPr>
            <a:r>
              <a:t/>
            </a:r>
            <a:endParaRPr b="1" i="0" sz="2400" u="none">
              <a:solidFill>
                <a:srgbClr val="000000"/>
              </a:solidFill>
              <a:latin typeface="Arial"/>
              <a:ea typeface="Arial"/>
              <a:cs typeface="Arial"/>
              <a:sym typeface="Arial"/>
            </a:endParaRPr>
          </a:p>
          <a:p>
            <a:pPr indent="-342900" lvl="0" marL="342900" rtl="0" algn="l">
              <a:lnSpc>
                <a:spcPct val="100000"/>
              </a:lnSpc>
              <a:spcBef>
                <a:spcPts val="480"/>
              </a:spcBef>
              <a:spcAft>
                <a:spcPts val="0"/>
              </a:spcAft>
              <a:buClr>
                <a:srgbClr val="000000"/>
              </a:buClr>
              <a:buSzPts val="2400"/>
              <a:buFont typeface="Arial"/>
              <a:buChar char="•"/>
            </a:pPr>
            <a:r>
              <a:rPr b="1" i="0" lang="en-US" sz="2400" u="none">
                <a:solidFill>
                  <a:srgbClr val="000000"/>
                </a:solidFill>
                <a:latin typeface="Arial"/>
                <a:ea typeface="Arial"/>
                <a:cs typeface="Arial"/>
                <a:sym typeface="Arial"/>
              </a:rPr>
              <a:t>Les </a:t>
            </a:r>
            <a:r>
              <a:rPr b="1" i="1" lang="en-US" sz="2400" u="none">
                <a:solidFill>
                  <a:srgbClr val="FF0033"/>
                </a:solidFill>
                <a:latin typeface="Arial"/>
                <a:ea typeface="Arial"/>
                <a:cs typeface="Arial"/>
                <a:sym typeface="Arial"/>
              </a:rPr>
              <a:t>diagrammes de séquence</a:t>
            </a:r>
            <a:r>
              <a:rPr b="1" i="0" lang="en-US" sz="2400" u="none">
                <a:solidFill>
                  <a:srgbClr val="000000"/>
                </a:solidFill>
                <a:latin typeface="Arial"/>
                <a:ea typeface="Arial"/>
                <a:cs typeface="Arial"/>
                <a:sym typeface="Arial"/>
              </a:rPr>
              <a:t> sont des diagrammes d'interaction qui mettent l'accent sur le classement chronologique des messages alors que les </a:t>
            </a:r>
            <a:r>
              <a:rPr b="1" i="1" lang="en-US" sz="2400" u="none">
                <a:solidFill>
                  <a:srgbClr val="FF0033"/>
                </a:solidFill>
                <a:latin typeface="Arial"/>
                <a:ea typeface="Arial"/>
                <a:cs typeface="Arial"/>
                <a:sym typeface="Arial"/>
              </a:rPr>
              <a:t>diagrammes de collaboration d’instances</a:t>
            </a:r>
            <a:r>
              <a:rPr b="1" i="0" lang="en-US" sz="2400" u="none">
                <a:solidFill>
                  <a:srgbClr val="000000"/>
                </a:solidFill>
                <a:latin typeface="Arial"/>
                <a:ea typeface="Arial"/>
                <a:cs typeface="Arial"/>
                <a:sym typeface="Arial"/>
              </a:rPr>
              <a:t> sont des diagrammes d'interaction qui mettent l'accent sur l'organisation structurelle des éléments qui envoient et reçoivent des messages. </a:t>
            </a:r>
            <a:endParaRPr/>
          </a:p>
          <a:p>
            <a:pPr indent="-190500" lvl="0" marL="342900" rtl="0" algn="l">
              <a:lnSpc>
                <a:spcPct val="100000"/>
              </a:lnSpc>
              <a:spcBef>
                <a:spcPts val="480"/>
              </a:spcBef>
              <a:spcAft>
                <a:spcPts val="0"/>
              </a:spcAft>
              <a:buClr>
                <a:schemeClr val="dk1"/>
              </a:buClr>
              <a:buSzPts val="2400"/>
              <a:buFont typeface="Arial"/>
              <a:buNone/>
            </a:pPr>
            <a:r>
              <a:t/>
            </a:r>
            <a:endParaRPr b="1" i="0" sz="2400" u="none">
              <a:solidFill>
                <a:srgbClr val="000000"/>
              </a:solidFill>
              <a:latin typeface="Arial"/>
              <a:ea typeface="Arial"/>
              <a:cs typeface="Arial"/>
              <a:sym typeface="Arial"/>
            </a:endParaRPr>
          </a:p>
          <a:p>
            <a:pPr indent="-342900" lvl="0" marL="342900" rtl="0" algn="l">
              <a:lnSpc>
                <a:spcPct val="100000"/>
              </a:lnSpc>
              <a:spcBef>
                <a:spcPts val="480"/>
              </a:spcBef>
              <a:spcAft>
                <a:spcPts val="0"/>
              </a:spcAft>
              <a:buClr>
                <a:srgbClr val="000000"/>
              </a:buClr>
              <a:buSzPts val="2400"/>
              <a:buFont typeface="Arial"/>
              <a:buChar char="•"/>
            </a:pPr>
            <a:r>
              <a:rPr b="1" i="0" lang="en-US" sz="2400" u="none">
                <a:solidFill>
                  <a:srgbClr val="000000"/>
                </a:solidFill>
                <a:latin typeface="Arial"/>
                <a:ea typeface="Arial"/>
                <a:cs typeface="Arial"/>
                <a:sym typeface="Arial"/>
              </a:rPr>
              <a:t>Les diagrammes de séquence et les diagrammes de collaboration d’instances sont isomorphes, c'est-à-dire que l'un peut être transformé en l'autre.</a:t>
            </a:r>
            <a:r>
              <a:rPr b="1" i="0" lang="en-US" sz="2400" u="none">
                <a:solidFill>
                  <a:schemeClr val="dk1"/>
                </a:solidFill>
                <a:latin typeface="Arial"/>
                <a:ea typeface="Arial"/>
                <a:cs typeface="Arial"/>
                <a:sym typeface="Arial"/>
              </a:rPr>
              <a:t> </a:t>
            </a:r>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0" name="Shape 1420"/>
        <p:cNvGrpSpPr/>
        <p:nvPr/>
      </p:nvGrpSpPr>
      <p:grpSpPr>
        <a:xfrm>
          <a:off x="0" y="0"/>
          <a:ext cx="0" cy="0"/>
          <a:chOff x="0" y="0"/>
          <a:chExt cx="0" cy="0"/>
        </a:xfrm>
      </p:grpSpPr>
      <p:sp>
        <p:nvSpPr>
          <p:cNvPr id="1421" name="Google Shape;1421;p12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Diagrammes de séquence</a:t>
            </a:r>
            <a:endParaRPr/>
          </a:p>
        </p:txBody>
      </p:sp>
      <p:sp>
        <p:nvSpPr>
          <p:cNvPr id="1422" name="Google Shape;1422;p126"/>
          <p:cNvSpPr txBox="1"/>
          <p:nvPr>
            <p:ph idx="1" type="body"/>
          </p:nvPr>
        </p:nvSpPr>
        <p:spPr>
          <a:xfrm>
            <a:off x="457200" y="1600200"/>
            <a:ext cx="8229600" cy="3722687"/>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Représentation des interactions entre acteurs et objets</a:t>
            </a:r>
            <a:endParaRPr/>
          </a:p>
          <a:p>
            <a:pPr indent="-342900" lvl="0" marL="342900" rtl="0" algn="l">
              <a:lnSpc>
                <a:spcPct val="9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Vision temporelle d’une interaction</a:t>
            </a:r>
            <a:endParaRPr/>
          </a:p>
          <a:p>
            <a:pPr indent="-285750" lvl="1" marL="74295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Chaque objet est symbolisé par une barre verticale</a:t>
            </a:r>
            <a:endParaRPr/>
          </a:p>
          <a:p>
            <a:pPr indent="-285750" lvl="1" marL="74295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Le temps s'écoule de haut en bas, de sorte que la numérotation des messages est optionnelle.</a:t>
            </a:r>
            <a:endParaRPr/>
          </a:p>
          <a:p>
            <a:pPr indent="-285750" lvl="1" marL="74295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Diagramme dual du diagramme de collaboration</a:t>
            </a:r>
            <a:endParaRPr/>
          </a:p>
          <a:p>
            <a:pPr indent="-342900" lvl="0" marL="342900" rtl="0" algn="l">
              <a:lnSpc>
                <a:spcPct val="9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Souvent utilisé pour représenter une instance de cas d’utilisation</a:t>
            </a:r>
            <a:endParaRPr/>
          </a:p>
          <a:p>
            <a:pPr indent="-342900" lvl="0" marL="342900" rtl="0" algn="l">
              <a:lnSpc>
                <a:spcPct val="9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De manière plus générale, représentation temporelle d’une interaction</a:t>
            </a:r>
            <a:endParaRPr/>
          </a:p>
          <a:p>
            <a:pPr indent="-285750" lvl="1" marL="74295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Bien adapté pour de longues séquences</a:t>
            </a:r>
            <a:endParaRPr/>
          </a:p>
          <a:p>
            <a:pPr indent="-285750" lvl="1" marL="74295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Ne visualise pas les liens</a:t>
            </a:r>
            <a:endParaRPr/>
          </a:p>
          <a:p>
            <a:pPr indent="-285750" lvl="1" marL="74295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Complémentaire du diagramme de collaboration</a:t>
            </a:r>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6" name="Shape 1426"/>
        <p:cNvGrpSpPr/>
        <p:nvPr/>
      </p:nvGrpSpPr>
      <p:grpSpPr>
        <a:xfrm>
          <a:off x="0" y="0"/>
          <a:ext cx="0" cy="0"/>
          <a:chOff x="0" y="0"/>
          <a:chExt cx="0" cy="0"/>
        </a:xfrm>
      </p:grpSpPr>
      <p:sp>
        <p:nvSpPr>
          <p:cNvPr id="1427" name="Google Shape;1427;p12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Premier Exemple</a:t>
            </a:r>
            <a:endParaRPr/>
          </a:p>
        </p:txBody>
      </p:sp>
      <p:pic>
        <p:nvPicPr>
          <p:cNvPr id="1428" name="Google Shape;1428;p127"/>
          <p:cNvPicPr preferRelativeResize="0"/>
          <p:nvPr>
            <p:ph idx="1" type="body"/>
          </p:nvPr>
        </p:nvPicPr>
        <p:blipFill rotWithShape="1">
          <a:blip r:embed="rId3">
            <a:alphaModFix/>
          </a:blip>
          <a:srcRect b="0" l="0" r="0" t="0"/>
          <a:stretch/>
        </p:blipFill>
        <p:spPr>
          <a:xfrm>
            <a:off x="395287" y="1700212"/>
            <a:ext cx="8064500" cy="5400675"/>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2" name="Shape 1432"/>
        <p:cNvGrpSpPr/>
        <p:nvPr/>
      </p:nvGrpSpPr>
      <p:grpSpPr>
        <a:xfrm>
          <a:off x="0" y="0"/>
          <a:ext cx="0" cy="0"/>
          <a:chOff x="0" y="0"/>
          <a:chExt cx="0" cy="0"/>
        </a:xfrm>
      </p:grpSpPr>
      <p:sp>
        <p:nvSpPr>
          <p:cNvPr id="1433" name="Google Shape;1433;p12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Définition d’un DSE</a:t>
            </a:r>
            <a:endParaRPr/>
          </a:p>
        </p:txBody>
      </p:sp>
      <p:sp>
        <p:nvSpPr>
          <p:cNvPr id="1434" name="Google Shape;1434;p12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Les diagrammes de séquence</a:t>
            </a:r>
            <a:endParaRPr/>
          </a:p>
          <a:p>
            <a:pPr indent="-342900" lvl="0" marL="34290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 Les diagrammes de séquences montrent des</a:t>
            </a:r>
            <a:endParaRPr/>
          </a:p>
          <a:p>
            <a:pPr indent="-342900" lvl="0" marL="34290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interactions entre objets selon un point de</a:t>
            </a:r>
            <a:endParaRPr/>
          </a:p>
          <a:p>
            <a:pPr indent="-342900" lvl="0" marL="34290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vue temporel.</a:t>
            </a:r>
            <a:endParaRPr/>
          </a:p>
          <a:p>
            <a:pPr indent="-342900" lvl="0" marL="34290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 Le contexte des objets n’est pas représenté</a:t>
            </a:r>
            <a:endParaRPr/>
          </a:p>
          <a:p>
            <a:pPr indent="-342900" lvl="0" marL="34290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de manière explicite comme dans les</a:t>
            </a:r>
            <a:endParaRPr/>
          </a:p>
          <a:p>
            <a:pPr indent="-342900" lvl="0" marL="34290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diagrammes de collaboration.</a:t>
            </a:r>
            <a:endParaRPr/>
          </a:p>
          <a:p>
            <a:pPr indent="-342900" lvl="0" marL="34290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 La représentation se concentre sur</a:t>
            </a:r>
            <a:endParaRPr/>
          </a:p>
          <a:p>
            <a:pPr indent="-342900" lvl="0" marL="34290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l’expression des interactions.</a:t>
            </a:r>
            <a:endParaRPr/>
          </a:p>
          <a:p>
            <a:pPr indent="-165100" lvl="0" marL="342900" rtl="0" algn="l">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8" name="Shape 1438"/>
        <p:cNvGrpSpPr/>
        <p:nvPr/>
      </p:nvGrpSpPr>
      <p:grpSpPr>
        <a:xfrm>
          <a:off x="0" y="0"/>
          <a:ext cx="0" cy="0"/>
          <a:chOff x="0" y="0"/>
          <a:chExt cx="0" cy="0"/>
        </a:xfrm>
      </p:grpSpPr>
      <p:sp>
        <p:nvSpPr>
          <p:cNvPr id="1439" name="Google Shape;1439;p12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Communication entre Objets</a:t>
            </a:r>
            <a:endParaRPr/>
          </a:p>
        </p:txBody>
      </p:sp>
      <p:sp>
        <p:nvSpPr>
          <p:cNvPr id="1440" name="Google Shape;1440;p12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Les objets communiquent en échangeant des messages</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représentés au moyen de flèches horizontales, orientées</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de l’émetteur du message vers le destinataire</a:t>
            </a:r>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4" name="Shape 1444"/>
        <p:cNvGrpSpPr/>
        <p:nvPr/>
      </p:nvGrpSpPr>
      <p:grpSpPr>
        <a:xfrm>
          <a:off x="0" y="0"/>
          <a:ext cx="0" cy="0"/>
          <a:chOff x="0" y="0"/>
          <a:chExt cx="0" cy="0"/>
        </a:xfrm>
      </p:grpSpPr>
      <p:sp>
        <p:nvSpPr>
          <p:cNvPr id="1445" name="Google Shape;1445;p13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Envoi de Messages</a:t>
            </a:r>
            <a:endParaRPr/>
          </a:p>
        </p:txBody>
      </p:sp>
      <p:sp>
        <p:nvSpPr>
          <p:cNvPr id="1446" name="Google Shape;1446;p13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L’ordre de l’envoi des messages est donné par la</a:t>
            </a:r>
            <a:endParaRPr/>
          </a:p>
          <a:p>
            <a:pPr indent="-342900" lvl="0" marL="342900" rtl="0" algn="l">
              <a:lnSpc>
                <a:spcPct val="9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position sur l’axe vertical.</a:t>
            </a:r>
            <a:endParaRPr/>
          </a:p>
          <a:p>
            <a:pPr indent="-342900" lvl="0" marL="342900" rtl="0" algn="l">
              <a:lnSpc>
                <a:spcPct val="9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 L’axe vertical peut être gradué afin d’exprimer</a:t>
            </a:r>
            <a:endParaRPr/>
          </a:p>
          <a:p>
            <a:pPr indent="-342900" lvl="0" marL="342900" rtl="0" algn="l">
              <a:lnSpc>
                <a:spcPct val="9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précisément les contraintes temporelles dans le cas de</a:t>
            </a:r>
            <a:endParaRPr/>
          </a:p>
          <a:p>
            <a:pPr indent="-342900" lvl="0" marL="342900" rtl="0" algn="l">
              <a:lnSpc>
                <a:spcPct val="9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la modélisation d’un système temps réel par exemple.</a:t>
            </a:r>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0" name="Shape 1450"/>
        <p:cNvGrpSpPr/>
        <p:nvPr/>
      </p:nvGrpSpPr>
      <p:grpSpPr>
        <a:xfrm>
          <a:off x="0" y="0"/>
          <a:ext cx="0" cy="0"/>
          <a:chOff x="0" y="0"/>
          <a:chExt cx="0" cy="0"/>
        </a:xfrm>
      </p:grpSpPr>
      <p:sp>
        <p:nvSpPr>
          <p:cNvPr id="1451" name="Google Shape;1451;p13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Notations</a:t>
            </a:r>
            <a:endParaRPr/>
          </a:p>
        </p:txBody>
      </p:sp>
      <p:sp>
        <p:nvSpPr>
          <p:cNvPr id="1452" name="Google Shape;1452;p13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139700" lvl="0" marL="342900" rtl="0" algn="l">
              <a:spcBef>
                <a:spcPts val="0"/>
              </a:spcBef>
              <a:spcAft>
                <a:spcPts val="0"/>
              </a:spcAft>
              <a:buClr>
                <a:schemeClr val="dk1"/>
              </a:buClr>
              <a:buSzPts val="3200"/>
              <a:buFont typeface="Arial"/>
              <a:buNone/>
            </a:pPr>
            <a:r>
              <a:t/>
            </a:r>
            <a:endParaRPr sz="3200">
              <a:solidFill>
                <a:schemeClr val="dk1"/>
              </a:solidFill>
              <a:latin typeface="Arial"/>
              <a:ea typeface="Arial"/>
              <a:cs typeface="Arial"/>
              <a:sym typeface="Arial"/>
            </a:endParaRPr>
          </a:p>
        </p:txBody>
      </p:sp>
      <p:pic>
        <p:nvPicPr>
          <p:cNvPr id="1453" name="Google Shape;1453;p131"/>
          <p:cNvPicPr preferRelativeResize="0"/>
          <p:nvPr/>
        </p:nvPicPr>
        <p:blipFill rotWithShape="1">
          <a:blip r:embed="rId3">
            <a:alphaModFix/>
          </a:blip>
          <a:srcRect b="0" l="0" r="0" t="0"/>
          <a:stretch/>
        </p:blipFill>
        <p:spPr>
          <a:xfrm>
            <a:off x="250825" y="1196975"/>
            <a:ext cx="9074150" cy="5184775"/>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7" name="Shape 1457"/>
        <p:cNvGrpSpPr/>
        <p:nvPr/>
      </p:nvGrpSpPr>
      <p:grpSpPr>
        <a:xfrm>
          <a:off x="0" y="0"/>
          <a:ext cx="0" cy="0"/>
          <a:chOff x="0" y="0"/>
          <a:chExt cx="0" cy="0"/>
        </a:xfrm>
      </p:grpSpPr>
      <p:sp>
        <p:nvSpPr>
          <p:cNvPr id="1458" name="Google Shape;1458;p13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Interactions entre Objets</a:t>
            </a:r>
            <a:endParaRPr/>
          </a:p>
        </p:txBody>
      </p:sp>
      <p:pic>
        <p:nvPicPr>
          <p:cNvPr id="1459" name="Google Shape;1459;p132"/>
          <p:cNvPicPr preferRelativeResize="0"/>
          <p:nvPr>
            <p:ph idx="1" type="body"/>
          </p:nvPr>
        </p:nvPicPr>
        <p:blipFill rotWithShape="1">
          <a:blip r:embed="rId3">
            <a:alphaModFix/>
          </a:blip>
          <a:srcRect b="0" l="0" r="0" t="0"/>
          <a:stretch/>
        </p:blipFill>
        <p:spPr>
          <a:xfrm>
            <a:off x="395287" y="1700212"/>
            <a:ext cx="8280400" cy="4681537"/>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3" name="Shape 1463"/>
        <p:cNvGrpSpPr/>
        <p:nvPr/>
      </p:nvGrpSpPr>
      <p:grpSpPr>
        <a:xfrm>
          <a:off x="0" y="0"/>
          <a:ext cx="0" cy="0"/>
          <a:chOff x="0" y="0"/>
          <a:chExt cx="0" cy="0"/>
        </a:xfrm>
      </p:grpSpPr>
      <p:sp>
        <p:nvSpPr>
          <p:cNvPr id="1464" name="Google Shape;1464;p13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Utilisationd’uns DSE</a:t>
            </a:r>
            <a:endParaRPr/>
          </a:p>
        </p:txBody>
      </p:sp>
      <p:pic>
        <p:nvPicPr>
          <p:cNvPr id="1465" name="Google Shape;1465;p133"/>
          <p:cNvPicPr preferRelativeResize="0"/>
          <p:nvPr>
            <p:ph idx="1" type="body"/>
          </p:nvPr>
        </p:nvPicPr>
        <p:blipFill rotWithShape="1">
          <a:blip r:embed="rId3">
            <a:alphaModFix/>
          </a:blip>
          <a:srcRect b="0" l="0" r="0" t="0"/>
          <a:stretch/>
        </p:blipFill>
        <p:spPr>
          <a:xfrm>
            <a:off x="323850" y="1484312"/>
            <a:ext cx="8280400" cy="5113337"/>
          </a:xfrm>
          <a:prstGeom prst="rect">
            <a:avLst/>
          </a:prstGeom>
          <a:noFill/>
          <a:ln>
            <a:noFill/>
          </a:ln>
        </p:spPr>
      </p:pic>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9" name="Shape 1469"/>
        <p:cNvGrpSpPr/>
        <p:nvPr/>
      </p:nvGrpSpPr>
      <p:grpSpPr>
        <a:xfrm>
          <a:off x="0" y="0"/>
          <a:ext cx="0" cy="0"/>
          <a:chOff x="0" y="0"/>
          <a:chExt cx="0" cy="0"/>
        </a:xfrm>
      </p:grpSpPr>
      <p:sp>
        <p:nvSpPr>
          <p:cNvPr id="1470" name="Google Shape;1470;p13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Utilisation d’un DSE (suite)</a:t>
            </a:r>
            <a:endParaRPr/>
          </a:p>
        </p:txBody>
      </p:sp>
      <p:pic>
        <p:nvPicPr>
          <p:cNvPr id="1471" name="Google Shape;1471;p134"/>
          <p:cNvPicPr preferRelativeResize="0"/>
          <p:nvPr>
            <p:ph idx="1" type="body"/>
          </p:nvPr>
        </p:nvPicPr>
        <p:blipFill rotWithShape="1">
          <a:blip r:embed="rId3">
            <a:alphaModFix/>
          </a:blip>
          <a:srcRect b="0" l="0" r="0" t="0"/>
          <a:stretch/>
        </p:blipFill>
        <p:spPr>
          <a:xfrm>
            <a:off x="250825" y="1484312"/>
            <a:ext cx="8497887" cy="4824412"/>
          </a:xfrm>
          <a:prstGeom prst="rect">
            <a:avLst/>
          </a:prstGeom>
          <a:noFill/>
          <a:ln>
            <a:noFill/>
          </a:ln>
        </p:spPr>
      </p:pic>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5" name="Shape 1475"/>
        <p:cNvGrpSpPr/>
        <p:nvPr/>
      </p:nvGrpSpPr>
      <p:grpSpPr>
        <a:xfrm>
          <a:off x="0" y="0"/>
          <a:ext cx="0" cy="0"/>
          <a:chOff x="0" y="0"/>
          <a:chExt cx="0" cy="0"/>
        </a:xfrm>
      </p:grpSpPr>
      <p:sp>
        <p:nvSpPr>
          <p:cNvPr id="1476" name="Google Shape;1476;p13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Catégorie de Messages</a:t>
            </a:r>
            <a:endParaRPr/>
          </a:p>
        </p:txBody>
      </p:sp>
      <p:pic>
        <p:nvPicPr>
          <p:cNvPr id="1477" name="Google Shape;1477;p135"/>
          <p:cNvPicPr preferRelativeResize="0"/>
          <p:nvPr>
            <p:ph idx="1" type="body"/>
          </p:nvPr>
        </p:nvPicPr>
        <p:blipFill rotWithShape="1">
          <a:blip r:embed="rId3">
            <a:alphaModFix/>
          </a:blip>
          <a:srcRect b="0" l="0" r="0" t="0"/>
          <a:stretch/>
        </p:blipFill>
        <p:spPr>
          <a:xfrm>
            <a:off x="250825" y="1484312"/>
            <a:ext cx="8893175" cy="5113337"/>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1" name="Shape 1481"/>
        <p:cNvGrpSpPr/>
        <p:nvPr/>
      </p:nvGrpSpPr>
      <p:grpSpPr>
        <a:xfrm>
          <a:off x="0" y="0"/>
          <a:ext cx="0" cy="0"/>
          <a:chOff x="0" y="0"/>
          <a:chExt cx="0" cy="0"/>
        </a:xfrm>
      </p:grpSpPr>
      <p:sp>
        <p:nvSpPr>
          <p:cNvPr id="1482" name="Google Shape;1482;p13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Représentation graphique</a:t>
            </a:r>
            <a:endParaRPr/>
          </a:p>
        </p:txBody>
      </p:sp>
      <p:pic>
        <p:nvPicPr>
          <p:cNvPr id="1483" name="Google Shape;1483;p136"/>
          <p:cNvPicPr preferRelativeResize="0"/>
          <p:nvPr>
            <p:ph idx="1" type="body"/>
          </p:nvPr>
        </p:nvPicPr>
        <p:blipFill rotWithShape="1">
          <a:blip r:embed="rId3">
            <a:alphaModFix/>
          </a:blip>
          <a:srcRect b="0" l="0" r="0" t="0"/>
          <a:stretch/>
        </p:blipFill>
        <p:spPr>
          <a:xfrm>
            <a:off x="395287" y="1628775"/>
            <a:ext cx="8208962" cy="4752975"/>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7" name="Shape 1487"/>
        <p:cNvGrpSpPr/>
        <p:nvPr/>
      </p:nvGrpSpPr>
      <p:grpSpPr>
        <a:xfrm>
          <a:off x="0" y="0"/>
          <a:ext cx="0" cy="0"/>
          <a:chOff x="0" y="0"/>
          <a:chExt cx="0" cy="0"/>
        </a:xfrm>
      </p:grpSpPr>
      <p:sp>
        <p:nvSpPr>
          <p:cNvPr id="1488" name="Google Shape;1488;p13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Représentation graphique (suite)</a:t>
            </a:r>
            <a:endParaRPr/>
          </a:p>
        </p:txBody>
      </p:sp>
      <p:pic>
        <p:nvPicPr>
          <p:cNvPr id="1489" name="Google Shape;1489;p137"/>
          <p:cNvPicPr preferRelativeResize="0"/>
          <p:nvPr>
            <p:ph idx="1" type="body"/>
          </p:nvPr>
        </p:nvPicPr>
        <p:blipFill rotWithShape="1">
          <a:blip r:embed="rId3">
            <a:alphaModFix/>
          </a:blip>
          <a:srcRect b="0" l="0" r="0" t="0"/>
          <a:stretch/>
        </p:blipFill>
        <p:spPr>
          <a:xfrm>
            <a:off x="468312" y="1412875"/>
            <a:ext cx="8280400" cy="4968875"/>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3" name="Shape 1493"/>
        <p:cNvGrpSpPr/>
        <p:nvPr/>
      </p:nvGrpSpPr>
      <p:grpSpPr>
        <a:xfrm>
          <a:off x="0" y="0"/>
          <a:ext cx="0" cy="0"/>
          <a:chOff x="0" y="0"/>
          <a:chExt cx="0" cy="0"/>
        </a:xfrm>
      </p:grpSpPr>
      <p:sp>
        <p:nvSpPr>
          <p:cNvPr id="1494" name="Google Shape;1494;p13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Représentation graphique (suite)</a:t>
            </a:r>
            <a:endParaRPr/>
          </a:p>
        </p:txBody>
      </p:sp>
      <p:pic>
        <p:nvPicPr>
          <p:cNvPr id="1495" name="Google Shape;1495;p138"/>
          <p:cNvPicPr preferRelativeResize="0"/>
          <p:nvPr>
            <p:ph idx="1" type="body"/>
          </p:nvPr>
        </p:nvPicPr>
        <p:blipFill rotWithShape="1">
          <a:blip r:embed="rId3">
            <a:alphaModFix/>
          </a:blip>
          <a:srcRect b="0" l="0" r="0" t="0"/>
          <a:stretch/>
        </p:blipFill>
        <p:spPr>
          <a:xfrm>
            <a:off x="323850" y="1341437"/>
            <a:ext cx="8569325" cy="5256212"/>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9" name="Shape 1499"/>
        <p:cNvGrpSpPr/>
        <p:nvPr/>
      </p:nvGrpSpPr>
      <p:grpSpPr>
        <a:xfrm>
          <a:off x="0" y="0"/>
          <a:ext cx="0" cy="0"/>
          <a:chOff x="0" y="0"/>
          <a:chExt cx="0" cy="0"/>
        </a:xfrm>
      </p:grpSpPr>
      <p:sp>
        <p:nvSpPr>
          <p:cNvPr id="1500" name="Google Shape;1500;p13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Représentation graphique (suite)</a:t>
            </a:r>
            <a:endParaRPr/>
          </a:p>
        </p:txBody>
      </p:sp>
      <p:pic>
        <p:nvPicPr>
          <p:cNvPr id="1501" name="Google Shape;1501;p139"/>
          <p:cNvPicPr preferRelativeResize="0"/>
          <p:nvPr>
            <p:ph idx="1" type="body"/>
          </p:nvPr>
        </p:nvPicPr>
        <p:blipFill rotWithShape="1">
          <a:blip r:embed="rId3">
            <a:alphaModFix/>
          </a:blip>
          <a:srcRect b="0" l="0" r="0" t="0"/>
          <a:stretch/>
        </p:blipFill>
        <p:spPr>
          <a:xfrm>
            <a:off x="539750" y="1484312"/>
            <a:ext cx="8280400" cy="5040312"/>
          </a:xfrm>
          <a:prstGeom prst="rect">
            <a:avLst/>
          </a:prstGeom>
          <a:noFill/>
          <a:ln>
            <a:noFill/>
          </a:ln>
        </p:spPr>
      </p:pic>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5" name="Shape 1505"/>
        <p:cNvGrpSpPr/>
        <p:nvPr/>
      </p:nvGrpSpPr>
      <p:grpSpPr>
        <a:xfrm>
          <a:off x="0" y="0"/>
          <a:ext cx="0" cy="0"/>
          <a:chOff x="0" y="0"/>
          <a:chExt cx="0" cy="0"/>
        </a:xfrm>
      </p:grpSpPr>
      <p:sp>
        <p:nvSpPr>
          <p:cNvPr id="1506" name="Google Shape;1506;p14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création et Destruction d’objets</a:t>
            </a:r>
            <a:endParaRPr/>
          </a:p>
        </p:txBody>
      </p:sp>
      <p:pic>
        <p:nvPicPr>
          <p:cNvPr id="1507" name="Google Shape;1507;p140"/>
          <p:cNvPicPr preferRelativeResize="0"/>
          <p:nvPr>
            <p:ph idx="1" type="body"/>
          </p:nvPr>
        </p:nvPicPr>
        <p:blipFill rotWithShape="1">
          <a:blip r:embed="rId3">
            <a:alphaModFix/>
          </a:blip>
          <a:srcRect b="0" l="0" r="0" t="0"/>
          <a:stretch/>
        </p:blipFill>
        <p:spPr>
          <a:xfrm>
            <a:off x="468312" y="1341437"/>
            <a:ext cx="8351837" cy="5327650"/>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1" name="Shape 1511"/>
        <p:cNvGrpSpPr/>
        <p:nvPr/>
      </p:nvGrpSpPr>
      <p:grpSpPr>
        <a:xfrm>
          <a:off x="0" y="0"/>
          <a:ext cx="0" cy="0"/>
          <a:chOff x="0" y="0"/>
          <a:chExt cx="0" cy="0"/>
        </a:xfrm>
      </p:grpSpPr>
      <p:sp>
        <p:nvSpPr>
          <p:cNvPr id="1512" name="Google Shape;1512;p14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Exemple</a:t>
            </a:r>
            <a:endParaRPr/>
          </a:p>
        </p:txBody>
      </p:sp>
      <p:pic>
        <p:nvPicPr>
          <p:cNvPr id="1513" name="Google Shape;1513;p141"/>
          <p:cNvPicPr preferRelativeResize="0"/>
          <p:nvPr>
            <p:ph idx="1" type="body"/>
          </p:nvPr>
        </p:nvPicPr>
        <p:blipFill rotWithShape="1">
          <a:blip r:embed="rId3">
            <a:alphaModFix/>
          </a:blip>
          <a:srcRect b="0" l="0" r="0" t="0"/>
          <a:stretch/>
        </p:blipFill>
        <p:spPr>
          <a:xfrm>
            <a:off x="684212" y="1268412"/>
            <a:ext cx="7991475" cy="5113337"/>
          </a:xfrm>
          <a:prstGeom prst="rect">
            <a:avLst/>
          </a:prstGeom>
          <a:noFill/>
          <a:ln>
            <a:noFill/>
          </a:ln>
        </p:spPr>
      </p:pic>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7" name="Shape 1517"/>
        <p:cNvGrpSpPr/>
        <p:nvPr/>
      </p:nvGrpSpPr>
      <p:grpSpPr>
        <a:xfrm>
          <a:off x="0" y="0"/>
          <a:ext cx="0" cy="0"/>
          <a:chOff x="0" y="0"/>
          <a:chExt cx="0" cy="0"/>
        </a:xfrm>
      </p:grpSpPr>
      <p:sp>
        <p:nvSpPr>
          <p:cNvPr id="1518" name="Google Shape;1518;p14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Notion d’activité</a:t>
            </a:r>
            <a:endParaRPr/>
          </a:p>
        </p:txBody>
      </p:sp>
      <p:pic>
        <p:nvPicPr>
          <p:cNvPr id="1519" name="Google Shape;1519;p142"/>
          <p:cNvPicPr preferRelativeResize="0"/>
          <p:nvPr>
            <p:ph idx="1" type="body"/>
          </p:nvPr>
        </p:nvPicPr>
        <p:blipFill rotWithShape="1">
          <a:blip r:embed="rId3">
            <a:alphaModFix/>
          </a:blip>
          <a:srcRect b="0" l="0" r="0" t="0"/>
          <a:stretch/>
        </p:blipFill>
        <p:spPr>
          <a:xfrm>
            <a:off x="468312" y="1773237"/>
            <a:ext cx="8496300" cy="4535487"/>
          </a:xfrm>
          <a:prstGeom prst="rect">
            <a:avLst/>
          </a:prstGeom>
          <a:noFill/>
          <a:ln>
            <a:noFill/>
          </a:ln>
        </p:spPr>
      </p:pic>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3" name="Shape 1523"/>
        <p:cNvGrpSpPr/>
        <p:nvPr/>
      </p:nvGrpSpPr>
      <p:grpSpPr>
        <a:xfrm>
          <a:off x="0" y="0"/>
          <a:ext cx="0" cy="0"/>
          <a:chOff x="0" y="0"/>
          <a:chExt cx="0" cy="0"/>
        </a:xfrm>
      </p:grpSpPr>
      <p:sp>
        <p:nvSpPr>
          <p:cNvPr id="1524" name="Google Shape;1524;p14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Notion d’activité (suite)</a:t>
            </a:r>
            <a:endParaRPr/>
          </a:p>
        </p:txBody>
      </p:sp>
      <p:pic>
        <p:nvPicPr>
          <p:cNvPr id="1525" name="Google Shape;1525;p143"/>
          <p:cNvPicPr preferRelativeResize="0"/>
          <p:nvPr>
            <p:ph idx="1" type="body"/>
          </p:nvPr>
        </p:nvPicPr>
        <p:blipFill rotWithShape="1">
          <a:blip r:embed="rId3">
            <a:alphaModFix/>
          </a:blip>
          <a:srcRect b="0" l="0" r="0" t="0"/>
          <a:stretch/>
        </p:blipFill>
        <p:spPr>
          <a:xfrm>
            <a:off x="468312" y="1628775"/>
            <a:ext cx="7775575" cy="4679950"/>
          </a:xfrm>
          <a:prstGeom prst="rect">
            <a:avLst/>
          </a:prstGeom>
          <a:noFill/>
          <a:ln>
            <a:noFill/>
          </a:ln>
        </p:spPr>
      </p:pic>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9" name="Shape 1529"/>
        <p:cNvGrpSpPr/>
        <p:nvPr/>
      </p:nvGrpSpPr>
      <p:grpSpPr>
        <a:xfrm>
          <a:off x="0" y="0"/>
          <a:ext cx="0" cy="0"/>
          <a:chOff x="0" y="0"/>
          <a:chExt cx="0" cy="0"/>
        </a:xfrm>
      </p:grpSpPr>
      <p:sp>
        <p:nvSpPr>
          <p:cNvPr id="1530" name="Google Shape;1530;p14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Notion d’activité (suite)</a:t>
            </a:r>
            <a:endParaRPr/>
          </a:p>
        </p:txBody>
      </p:sp>
      <p:pic>
        <p:nvPicPr>
          <p:cNvPr id="1531" name="Google Shape;1531;p144"/>
          <p:cNvPicPr preferRelativeResize="0"/>
          <p:nvPr>
            <p:ph idx="1" type="body"/>
          </p:nvPr>
        </p:nvPicPr>
        <p:blipFill rotWithShape="1">
          <a:blip r:embed="rId3">
            <a:alphaModFix/>
          </a:blip>
          <a:srcRect b="0" l="0" r="0" t="0"/>
          <a:stretch/>
        </p:blipFill>
        <p:spPr>
          <a:xfrm>
            <a:off x="2601912" y="2535237"/>
            <a:ext cx="3938587" cy="2654300"/>
          </a:xfrm>
          <a:prstGeom prst="rect">
            <a:avLst/>
          </a:prstGeom>
          <a:noFill/>
          <a:ln>
            <a:noFill/>
          </a:ln>
        </p:spPr>
      </p:pic>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5" name="Shape 1535"/>
        <p:cNvGrpSpPr/>
        <p:nvPr/>
      </p:nvGrpSpPr>
      <p:grpSpPr>
        <a:xfrm>
          <a:off x="0" y="0"/>
          <a:ext cx="0" cy="0"/>
          <a:chOff x="0" y="0"/>
          <a:chExt cx="0" cy="0"/>
        </a:xfrm>
      </p:grpSpPr>
      <p:sp>
        <p:nvSpPr>
          <p:cNvPr id="1536" name="Google Shape;1536;p14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Notion d’activité (suite)</a:t>
            </a:r>
            <a:endParaRPr/>
          </a:p>
        </p:txBody>
      </p:sp>
      <p:pic>
        <p:nvPicPr>
          <p:cNvPr id="1537" name="Google Shape;1537;p145"/>
          <p:cNvPicPr preferRelativeResize="0"/>
          <p:nvPr>
            <p:ph idx="1" type="body"/>
          </p:nvPr>
        </p:nvPicPr>
        <p:blipFill rotWithShape="1">
          <a:blip r:embed="rId3">
            <a:alphaModFix/>
          </a:blip>
          <a:srcRect b="0" l="0" r="0" t="0"/>
          <a:stretch/>
        </p:blipFill>
        <p:spPr>
          <a:xfrm>
            <a:off x="395287" y="1412875"/>
            <a:ext cx="8064500" cy="5040312"/>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1" name="Shape 1541"/>
        <p:cNvGrpSpPr/>
        <p:nvPr/>
      </p:nvGrpSpPr>
      <p:grpSpPr>
        <a:xfrm>
          <a:off x="0" y="0"/>
          <a:ext cx="0" cy="0"/>
          <a:chOff x="0" y="0"/>
          <a:chExt cx="0" cy="0"/>
        </a:xfrm>
      </p:grpSpPr>
      <p:sp>
        <p:nvSpPr>
          <p:cNvPr id="1542" name="Google Shape;1542;p14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Notion d’activité (suite)</a:t>
            </a:r>
            <a:endParaRPr/>
          </a:p>
        </p:txBody>
      </p:sp>
      <p:pic>
        <p:nvPicPr>
          <p:cNvPr id="1543" name="Google Shape;1543;p146"/>
          <p:cNvPicPr preferRelativeResize="0"/>
          <p:nvPr>
            <p:ph idx="1" type="body"/>
          </p:nvPr>
        </p:nvPicPr>
        <p:blipFill rotWithShape="1">
          <a:blip r:embed="rId3">
            <a:alphaModFix/>
          </a:blip>
          <a:srcRect b="0" l="0" r="0" t="0"/>
          <a:stretch/>
        </p:blipFill>
        <p:spPr>
          <a:xfrm>
            <a:off x="395287" y="1196975"/>
            <a:ext cx="8424862" cy="5327650"/>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7" name="Shape 1547"/>
        <p:cNvGrpSpPr/>
        <p:nvPr/>
      </p:nvGrpSpPr>
      <p:grpSpPr>
        <a:xfrm>
          <a:off x="0" y="0"/>
          <a:ext cx="0" cy="0"/>
          <a:chOff x="0" y="0"/>
          <a:chExt cx="0" cy="0"/>
        </a:xfrm>
      </p:grpSpPr>
      <p:sp>
        <p:nvSpPr>
          <p:cNvPr id="1548" name="Google Shape;1548;p14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Note</a:t>
            </a:r>
            <a:endParaRPr/>
          </a:p>
        </p:txBody>
      </p:sp>
      <p:pic>
        <p:nvPicPr>
          <p:cNvPr id="1549" name="Google Shape;1549;p147"/>
          <p:cNvPicPr preferRelativeResize="0"/>
          <p:nvPr>
            <p:ph idx="1" type="body"/>
          </p:nvPr>
        </p:nvPicPr>
        <p:blipFill rotWithShape="1">
          <a:blip r:embed="rId3">
            <a:alphaModFix/>
          </a:blip>
          <a:srcRect b="0" l="0" r="0" t="0"/>
          <a:stretch/>
        </p:blipFill>
        <p:spPr>
          <a:xfrm>
            <a:off x="611187" y="1916112"/>
            <a:ext cx="7993062" cy="4537075"/>
          </a:xfrm>
          <a:prstGeom prst="rect">
            <a:avLst/>
          </a:prstGeom>
          <a:noFill/>
          <a:ln>
            <a:noFill/>
          </a:ln>
        </p:spPr>
      </p:pic>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3" name="Shape 1553"/>
        <p:cNvGrpSpPr/>
        <p:nvPr/>
      </p:nvGrpSpPr>
      <p:grpSpPr>
        <a:xfrm>
          <a:off x="0" y="0"/>
          <a:ext cx="0" cy="0"/>
          <a:chOff x="0" y="0"/>
          <a:chExt cx="0" cy="0"/>
        </a:xfrm>
      </p:grpSpPr>
      <p:sp>
        <p:nvSpPr>
          <p:cNvPr id="1554" name="Google Shape;1554;p14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Notion d’activité</a:t>
            </a:r>
            <a:endParaRPr/>
          </a:p>
        </p:txBody>
      </p:sp>
      <p:pic>
        <p:nvPicPr>
          <p:cNvPr id="1555" name="Google Shape;1555;p148"/>
          <p:cNvPicPr preferRelativeResize="0"/>
          <p:nvPr>
            <p:ph idx="1" type="body"/>
          </p:nvPr>
        </p:nvPicPr>
        <p:blipFill rotWithShape="1">
          <a:blip r:embed="rId3">
            <a:alphaModFix/>
          </a:blip>
          <a:srcRect b="0" l="0" r="0" t="0"/>
          <a:stretch/>
        </p:blipFill>
        <p:spPr>
          <a:xfrm>
            <a:off x="755650" y="1557337"/>
            <a:ext cx="7848600" cy="4319587"/>
          </a:xfrm>
          <a:prstGeom prst="rect">
            <a:avLst/>
          </a:prstGeom>
          <a:noFill/>
          <a:ln>
            <a:noFill/>
          </a:ln>
        </p:spPr>
      </p:pic>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9" name="Shape 1559"/>
        <p:cNvGrpSpPr/>
        <p:nvPr/>
      </p:nvGrpSpPr>
      <p:grpSpPr>
        <a:xfrm>
          <a:off x="0" y="0"/>
          <a:ext cx="0" cy="0"/>
          <a:chOff x="0" y="0"/>
          <a:chExt cx="0" cy="0"/>
        </a:xfrm>
      </p:grpSpPr>
      <p:sp>
        <p:nvSpPr>
          <p:cNvPr id="1560" name="Google Shape;1560;p14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Structures de contrôle</a:t>
            </a:r>
            <a:endParaRPr/>
          </a:p>
        </p:txBody>
      </p:sp>
      <p:pic>
        <p:nvPicPr>
          <p:cNvPr id="1561" name="Google Shape;1561;p149"/>
          <p:cNvPicPr preferRelativeResize="0"/>
          <p:nvPr>
            <p:ph idx="1" type="body"/>
          </p:nvPr>
        </p:nvPicPr>
        <p:blipFill rotWithShape="1">
          <a:blip r:embed="rId3">
            <a:alphaModFix/>
          </a:blip>
          <a:srcRect b="0" l="0" r="0" t="0"/>
          <a:stretch/>
        </p:blipFill>
        <p:spPr>
          <a:xfrm>
            <a:off x="323850" y="1412875"/>
            <a:ext cx="8064500" cy="4895850"/>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5" name="Shape 1565"/>
        <p:cNvGrpSpPr/>
        <p:nvPr/>
      </p:nvGrpSpPr>
      <p:grpSpPr>
        <a:xfrm>
          <a:off x="0" y="0"/>
          <a:ext cx="0" cy="0"/>
          <a:chOff x="0" y="0"/>
          <a:chExt cx="0" cy="0"/>
        </a:xfrm>
      </p:grpSpPr>
      <p:sp>
        <p:nvSpPr>
          <p:cNvPr id="1566" name="Google Shape;1566;p15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Quelques Indications </a:t>
            </a:r>
            <a:endParaRPr/>
          </a:p>
        </p:txBody>
      </p:sp>
      <p:pic>
        <p:nvPicPr>
          <p:cNvPr id="1567" name="Google Shape;1567;p150"/>
          <p:cNvPicPr preferRelativeResize="0"/>
          <p:nvPr>
            <p:ph idx="1" type="body"/>
          </p:nvPr>
        </p:nvPicPr>
        <p:blipFill rotWithShape="1">
          <a:blip r:embed="rId3">
            <a:alphaModFix/>
          </a:blip>
          <a:srcRect b="0" l="0" r="0" t="0"/>
          <a:stretch/>
        </p:blipFill>
        <p:spPr>
          <a:xfrm>
            <a:off x="323850" y="1412875"/>
            <a:ext cx="8496300" cy="5111750"/>
          </a:xfrm>
          <a:prstGeom prst="rect">
            <a:avLst/>
          </a:prstGeom>
          <a:noFill/>
          <a:ln>
            <a:noFill/>
          </a:ln>
        </p:spPr>
      </p:pic>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1" name="Shape 1571"/>
        <p:cNvGrpSpPr/>
        <p:nvPr/>
      </p:nvGrpSpPr>
      <p:grpSpPr>
        <a:xfrm>
          <a:off x="0" y="0"/>
          <a:ext cx="0" cy="0"/>
          <a:chOff x="0" y="0"/>
          <a:chExt cx="0" cy="0"/>
        </a:xfrm>
      </p:grpSpPr>
      <p:sp>
        <p:nvSpPr>
          <p:cNvPr id="1572" name="Google Shape;1572;p15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Structures de contrôle (suite)</a:t>
            </a:r>
            <a:endParaRPr/>
          </a:p>
        </p:txBody>
      </p:sp>
      <p:pic>
        <p:nvPicPr>
          <p:cNvPr id="1573" name="Google Shape;1573;p151"/>
          <p:cNvPicPr preferRelativeResize="0"/>
          <p:nvPr>
            <p:ph idx="1" type="body"/>
          </p:nvPr>
        </p:nvPicPr>
        <p:blipFill rotWithShape="1">
          <a:blip r:embed="rId3">
            <a:alphaModFix/>
          </a:blip>
          <a:srcRect b="0" l="0" r="0" t="0"/>
          <a:stretch/>
        </p:blipFill>
        <p:spPr>
          <a:xfrm>
            <a:off x="323850" y="1484312"/>
            <a:ext cx="8496300" cy="5113337"/>
          </a:xfrm>
          <a:prstGeom prst="rect">
            <a:avLst/>
          </a:prstGeom>
          <a:noFill/>
          <a:ln>
            <a:noFill/>
          </a:ln>
        </p:spPr>
      </p:pic>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7" name="Shape 1577"/>
        <p:cNvGrpSpPr/>
        <p:nvPr/>
      </p:nvGrpSpPr>
      <p:grpSpPr>
        <a:xfrm>
          <a:off x="0" y="0"/>
          <a:ext cx="0" cy="0"/>
          <a:chOff x="0" y="0"/>
          <a:chExt cx="0" cy="0"/>
        </a:xfrm>
      </p:grpSpPr>
      <p:sp>
        <p:nvSpPr>
          <p:cNvPr id="1578" name="Google Shape;1578;p15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Structures de contrôle (suite)</a:t>
            </a:r>
            <a:endParaRPr/>
          </a:p>
        </p:txBody>
      </p:sp>
      <p:pic>
        <p:nvPicPr>
          <p:cNvPr id="1579" name="Google Shape;1579;p152"/>
          <p:cNvPicPr preferRelativeResize="0"/>
          <p:nvPr>
            <p:ph idx="1" type="body"/>
          </p:nvPr>
        </p:nvPicPr>
        <p:blipFill rotWithShape="1">
          <a:blip r:embed="rId3">
            <a:alphaModFix/>
          </a:blip>
          <a:srcRect b="0" l="0" r="0" t="0"/>
          <a:stretch/>
        </p:blipFill>
        <p:spPr>
          <a:xfrm>
            <a:off x="468312" y="1484312"/>
            <a:ext cx="7991475" cy="4968875"/>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3" name="Shape 1583"/>
        <p:cNvGrpSpPr/>
        <p:nvPr/>
      </p:nvGrpSpPr>
      <p:grpSpPr>
        <a:xfrm>
          <a:off x="0" y="0"/>
          <a:ext cx="0" cy="0"/>
          <a:chOff x="0" y="0"/>
          <a:chExt cx="0" cy="0"/>
        </a:xfrm>
      </p:grpSpPr>
      <p:sp>
        <p:nvSpPr>
          <p:cNvPr id="1584" name="Google Shape;1584;p15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Structures de contrôle (suite)</a:t>
            </a:r>
            <a:endParaRPr/>
          </a:p>
        </p:txBody>
      </p:sp>
      <p:pic>
        <p:nvPicPr>
          <p:cNvPr id="1585" name="Google Shape;1585;p153"/>
          <p:cNvPicPr preferRelativeResize="0"/>
          <p:nvPr>
            <p:ph idx="1" type="body"/>
          </p:nvPr>
        </p:nvPicPr>
        <p:blipFill rotWithShape="1">
          <a:blip r:embed="rId3">
            <a:alphaModFix/>
          </a:blip>
          <a:srcRect b="0" l="0" r="0" t="0"/>
          <a:stretch/>
        </p:blipFill>
        <p:spPr>
          <a:xfrm>
            <a:off x="395287" y="1412875"/>
            <a:ext cx="8208962" cy="5256212"/>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9" name="Shape 1589"/>
        <p:cNvGrpSpPr/>
        <p:nvPr/>
      </p:nvGrpSpPr>
      <p:grpSpPr>
        <a:xfrm>
          <a:off x="0" y="0"/>
          <a:ext cx="0" cy="0"/>
          <a:chOff x="0" y="0"/>
          <a:chExt cx="0" cy="0"/>
        </a:xfrm>
      </p:grpSpPr>
      <p:sp>
        <p:nvSpPr>
          <p:cNvPr id="1590" name="Google Shape;1590;p15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Structures de contrôle (suite)</a:t>
            </a:r>
            <a:endParaRPr/>
          </a:p>
        </p:txBody>
      </p:sp>
      <p:pic>
        <p:nvPicPr>
          <p:cNvPr id="1591" name="Google Shape;1591;p154"/>
          <p:cNvPicPr preferRelativeResize="0"/>
          <p:nvPr>
            <p:ph idx="1" type="body"/>
          </p:nvPr>
        </p:nvPicPr>
        <p:blipFill rotWithShape="1">
          <a:blip r:embed="rId3">
            <a:alphaModFix/>
          </a:blip>
          <a:srcRect b="0" l="0" r="0" t="0"/>
          <a:stretch/>
        </p:blipFill>
        <p:spPr>
          <a:xfrm>
            <a:off x="827087" y="1484312"/>
            <a:ext cx="7561262" cy="4968875"/>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5" name="Shape 1595"/>
        <p:cNvGrpSpPr/>
        <p:nvPr/>
      </p:nvGrpSpPr>
      <p:grpSpPr>
        <a:xfrm>
          <a:off x="0" y="0"/>
          <a:ext cx="0" cy="0"/>
          <a:chOff x="0" y="0"/>
          <a:chExt cx="0" cy="0"/>
        </a:xfrm>
      </p:grpSpPr>
      <p:sp>
        <p:nvSpPr>
          <p:cNvPr id="1596" name="Google Shape;1596;p15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Structures de contrôle (suite)</a:t>
            </a:r>
            <a:endParaRPr/>
          </a:p>
        </p:txBody>
      </p:sp>
      <p:pic>
        <p:nvPicPr>
          <p:cNvPr id="1597" name="Google Shape;1597;p155"/>
          <p:cNvPicPr preferRelativeResize="0"/>
          <p:nvPr>
            <p:ph idx="1" type="body"/>
          </p:nvPr>
        </p:nvPicPr>
        <p:blipFill rotWithShape="1">
          <a:blip r:embed="rId3">
            <a:alphaModFix/>
          </a:blip>
          <a:srcRect b="0" l="0" r="0" t="0"/>
          <a:stretch/>
        </p:blipFill>
        <p:spPr>
          <a:xfrm>
            <a:off x="539750" y="1484312"/>
            <a:ext cx="8353425" cy="4824412"/>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1" name="Shape 1601"/>
        <p:cNvGrpSpPr/>
        <p:nvPr/>
      </p:nvGrpSpPr>
      <p:grpSpPr>
        <a:xfrm>
          <a:off x="0" y="0"/>
          <a:ext cx="0" cy="0"/>
          <a:chOff x="0" y="0"/>
          <a:chExt cx="0" cy="0"/>
        </a:xfrm>
      </p:grpSpPr>
      <p:sp>
        <p:nvSpPr>
          <p:cNvPr id="1602" name="Google Shape;1602;p15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4400">
              <a:solidFill>
                <a:schemeClr val="dk2"/>
              </a:solidFill>
              <a:latin typeface="Arial"/>
              <a:ea typeface="Arial"/>
              <a:cs typeface="Arial"/>
              <a:sym typeface="Arial"/>
            </a:endParaRPr>
          </a:p>
        </p:txBody>
      </p:sp>
      <p:pic>
        <p:nvPicPr>
          <p:cNvPr id="1603" name="Google Shape;1603;p156"/>
          <p:cNvPicPr preferRelativeResize="0"/>
          <p:nvPr>
            <p:ph idx="1" type="body"/>
          </p:nvPr>
        </p:nvPicPr>
        <p:blipFill rotWithShape="1">
          <a:blip r:embed="rId3">
            <a:alphaModFix/>
          </a:blip>
          <a:srcRect b="0" l="0" r="0" t="0"/>
          <a:stretch/>
        </p:blipFill>
        <p:spPr>
          <a:xfrm>
            <a:off x="900112" y="2482850"/>
            <a:ext cx="5546725" cy="2759075"/>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7" name="Shape 1607"/>
        <p:cNvGrpSpPr/>
        <p:nvPr/>
      </p:nvGrpSpPr>
      <p:grpSpPr>
        <a:xfrm>
          <a:off x="0" y="0"/>
          <a:ext cx="0" cy="0"/>
          <a:chOff x="0" y="0"/>
          <a:chExt cx="0" cy="0"/>
        </a:xfrm>
      </p:grpSpPr>
      <p:sp>
        <p:nvSpPr>
          <p:cNvPr id="1608" name="Google Shape;1608;p15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Diagramme d’activité</a:t>
            </a:r>
            <a:endParaRPr/>
          </a:p>
        </p:txBody>
      </p:sp>
      <p:sp>
        <p:nvSpPr>
          <p:cNvPr id="1609" name="Google Shape;1609;p15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2400"/>
              <a:buFont typeface="Arial"/>
              <a:buNone/>
            </a:pPr>
            <a:r>
              <a:t/>
            </a:r>
            <a:endParaRPr sz="2400"/>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3" name="Shape 1613"/>
        <p:cNvGrpSpPr/>
        <p:nvPr/>
      </p:nvGrpSpPr>
      <p:grpSpPr>
        <a:xfrm>
          <a:off x="0" y="0"/>
          <a:ext cx="0" cy="0"/>
          <a:chOff x="0" y="0"/>
          <a:chExt cx="0" cy="0"/>
        </a:xfrm>
      </p:grpSpPr>
      <p:sp>
        <p:nvSpPr>
          <p:cNvPr id="1614" name="Google Shape;1614;p15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Le but du diagramme d’activité</a:t>
            </a:r>
            <a:endParaRPr/>
          </a:p>
        </p:txBody>
      </p:sp>
      <p:sp>
        <p:nvSpPr>
          <p:cNvPr id="1615" name="Google Shape;1615;p15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Diagramme d’activité est utilisé pour:</a:t>
            </a:r>
            <a:endParaRPr/>
          </a:p>
          <a:p>
            <a:pPr indent="-285750" lvl="1" marL="74295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Modéliser un workflow dans un use case ou entre plusieurs use cases.</a:t>
            </a:r>
            <a:endParaRPr/>
          </a:p>
          <a:p>
            <a:pPr indent="-285750" lvl="1" marL="74295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Spécifier une opération (décrire la logique d’une opération)</a:t>
            </a:r>
            <a:endParaRPr/>
          </a:p>
          <a:p>
            <a:pPr indent="-342900" lvl="0" marL="342900" rtl="0" algn="l">
              <a:lnSpc>
                <a:spcPct val="9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Le diagramme d’activité est le plus approprié pour modéliser la dynamique d’une une tâche, d’un use case lorsque le diagramme de classe n’est pas encore stabilisé.</a:t>
            </a:r>
            <a:endParaRPr/>
          </a:p>
          <a:p>
            <a:pPr indent="-139700" lvl="0" marL="342900" rtl="0" algn="l">
              <a:lnSpc>
                <a:spcPct val="90000"/>
              </a:lnSpc>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a:p>
            <a:pPr indent="-139700" lvl="0" marL="342900" rtl="0" algn="l">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9" name="Shape 1619"/>
        <p:cNvGrpSpPr/>
        <p:nvPr/>
      </p:nvGrpSpPr>
      <p:grpSpPr>
        <a:xfrm>
          <a:off x="0" y="0"/>
          <a:ext cx="0" cy="0"/>
          <a:chOff x="0" y="0"/>
          <a:chExt cx="0" cy="0"/>
        </a:xfrm>
      </p:grpSpPr>
      <p:sp>
        <p:nvSpPr>
          <p:cNvPr id="1620" name="Google Shape;1620;p15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Notion du diagramme d’activité</a:t>
            </a:r>
            <a:endParaRPr/>
          </a:p>
        </p:txBody>
      </p:sp>
      <p:sp>
        <p:nvSpPr>
          <p:cNvPr id="1621" name="Google Shape;1621;p15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Diagramme d’activité = </a:t>
            </a:r>
            <a:endParaRPr/>
          </a:p>
          <a:p>
            <a:pPr indent="-342900" lvl="0" marL="34290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ensemble d’activités liés par:</a:t>
            </a:r>
            <a:endParaRPr/>
          </a:p>
          <a:p>
            <a:pPr indent="-285750" lvl="1" marL="742950" rtl="0" algn="l">
              <a:lnSpc>
                <a:spcPct val="90000"/>
              </a:lnSpc>
              <a:spcBef>
                <a:spcPts val="480"/>
              </a:spcBef>
              <a:spcAft>
                <a:spcPts val="0"/>
              </a:spcAft>
              <a:buClr>
                <a:schemeClr val="dk1"/>
              </a:buClr>
              <a:buSzPts val="2400"/>
              <a:buFont typeface="Arial"/>
              <a:buChar char="–"/>
            </a:pPr>
            <a:r>
              <a:rPr b="0" i="1" lang="en-US" sz="2400" u="none">
                <a:solidFill>
                  <a:schemeClr val="dk1"/>
                </a:solidFill>
                <a:latin typeface="Arial"/>
                <a:ea typeface="Arial"/>
                <a:cs typeface="Arial"/>
                <a:sym typeface="Arial"/>
              </a:rPr>
              <a:t>Transition (sequentielle)</a:t>
            </a:r>
            <a:endParaRPr/>
          </a:p>
          <a:p>
            <a:pPr indent="-285750" lvl="1" marL="742950" rtl="0" algn="l">
              <a:lnSpc>
                <a:spcPct val="90000"/>
              </a:lnSpc>
              <a:spcBef>
                <a:spcPts val="480"/>
              </a:spcBef>
              <a:spcAft>
                <a:spcPts val="0"/>
              </a:spcAft>
              <a:buClr>
                <a:schemeClr val="dk1"/>
              </a:buClr>
              <a:buSzPts val="2400"/>
              <a:buFont typeface="Arial"/>
              <a:buChar char="–"/>
            </a:pPr>
            <a:r>
              <a:rPr b="0" i="1" lang="en-US" sz="2400" u="none">
                <a:solidFill>
                  <a:schemeClr val="dk1"/>
                </a:solidFill>
                <a:latin typeface="Arial"/>
                <a:ea typeface="Arial"/>
                <a:cs typeface="Arial"/>
                <a:sym typeface="Arial"/>
              </a:rPr>
              <a:t>Transitions alternatives (conditionnelle)</a:t>
            </a:r>
            <a:endParaRPr/>
          </a:p>
          <a:p>
            <a:pPr indent="-285750" lvl="1" marL="742950" rtl="0" algn="l">
              <a:lnSpc>
                <a:spcPct val="90000"/>
              </a:lnSpc>
              <a:spcBef>
                <a:spcPts val="480"/>
              </a:spcBef>
              <a:spcAft>
                <a:spcPts val="0"/>
              </a:spcAft>
              <a:buClr>
                <a:schemeClr val="dk1"/>
              </a:buClr>
              <a:buSzPts val="2400"/>
              <a:buFont typeface="Arial"/>
              <a:buChar char="–"/>
            </a:pPr>
            <a:r>
              <a:rPr b="0" i="1" lang="en-US" sz="2400" u="none">
                <a:solidFill>
                  <a:schemeClr val="dk1"/>
                </a:solidFill>
                <a:latin typeface="Arial"/>
                <a:ea typeface="Arial"/>
                <a:cs typeface="Arial"/>
                <a:sym typeface="Arial"/>
              </a:rPr>
              <a:t>Synchronisation (disjonction et conjonctions d’activités)</a:t>
            </a:r>
            <a:endParaRPr/>
          </a:p>
          <a:p>
            <a:pPr indent="-285750" lvl="1" marL="742950" rtl="0" algn="l">
              <a:lnSpc>
                <a:spcPct val="90000"/>
              </a:lnSpc>
              <a:spcBef>
                <a:spcPts val="480"/>
              </a:spcBef>
              <a:spcAft>
                <a:spcPts val="0"/>
              </a:spcAft>
              <a:buClr>
                <a:schemeClr val="dk1"/>
              </a:buClr>
              <a:buSzPts val="2400"/>
              <a:buFont typeface="Arial"/>
              <a:buChar char="–"/>
            </a:pPr>
            <a:r>
              <a:rPr b="0" i="1" lang="en-US" sz="2400" u="none">
                <a:solidFill>
                  <a:schemeClr val="dk1"/>
                </a:solidFill>
                <a:latin typeface="Arial"/>
                <a:ea typeface="Arial"/>
                <a:cs typeface="Arial"/>
                <a:sym typeface="Arial"/>
              </a:rPr>
              <a:t>Itération</a:t>
            </a:r>
            <a:endParaRPr/>
          </a:p>
          <a:p>
            <a:pPr indent="-342900" lvl="0" marL="342900" rtl="0" algn="l">
              <a:lnSpc>
                <a:spcPct val="90000"/>
              </a:lnSpc>
              <a:spcBef>
                <a:spcPts val="56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+ 2 </a:t>
            </a:r>
            <a:r>
              <a:rPr b="0" i="0" lang="en-US" sz="2800" u="none">
                <a:solidFill>
                  <a:schemeClr val="dk1"/>
                </a:solidFill>
                <a:latin typeface="Arial"/>
                <a:ea typeface="Arial"/>
                <a:cs typeface="Arial"/>
                <a:sym typeface="Arial"/>
              </a:rPr>
              <a:t>états: état de </a:t>
            </a:r>
            <a:r>
              <a:rPr b="0" i="1" lang="en-US" sz="2800" u="none">
                <a:solidFill>
                  <a:schemeClr val="dk1"/>
                </a:solidFill>
                <a:latin typeface="Arial"/>
                <a:ea typeface="Arial"/>
                <a:cs typeface="Arial"/>
                <a:sym typeface="Arial"/>
              </a:rPr>
              <a:t>départ </a:t>
            </a:r>
            <a:r>
              <a:rPr b="0" i="0" lang="en-US" sz="2800" u="none">
                <a:solidFill>
                  <a:schemeClr val="dk1"/>
                </a:solidFill>
                <a:latin typeface="Arial"/>
                <a:ea typeface="Arial"/>
                <a:cs typeface="Arial"/>
                <a:sym typeface="Arial"/>
              </a:rPr>
              <a:t>et état de</a:t>
            </a:r>
            <a:r>
              <a:rPr b="0" i="1" lang="en-US" sz="2800" u="none">
                <a:solidFill>
                  <a:schemeClr val="dk1"/>
                </a:solidFill>
                <a:latin typeface="Arial"/>
                <a:ea typeface="Arial"/>
                <a:cs typeface="Arial"/>
                <a:sym typeface="Arial"/>
              </a:rPr>
              <a:t> terminaison</a:t>
            </a:r>
            <a:endParaRPr/>
          </a:p>
          <a:p>
            <a:pPr indent="-342900" lvl="0" marL="342900" rtl="0" algn="l">
              <a:lnSpc>
                <a:spcPct val="90000"/>
              </a:lnSpc>
              <a:spcBef>
                <a:spcPts val="56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Swimlanes: </a:t>
            </a:r>
            <a:r>
              <a:rPr b="0" i="0" lang="en-US" sz="2800" u="none">
                <a:solidFill>
                  <a:schemeClr val="dk1"/>
                </a:solidFill>
                <a:latin typeface="Arial"/>
                <a:ea typeface="Arial"/>
                <a:cs typeface="Arial"/>
                <a:sym typeface="Arial"/>
              </a:rPr>
              <a:t>represente le lieu, le responsable des activités.</a:t>
            </a:r>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5" name="Shape 1625"/>
        <p:cNvGrpSpPr/>
        <p:nvPr/>
      </p:nvGrpSpPr>
      <p:grpSpPr>
        <a:xfrm>
          <a:off x="0" y="0"/>
          <a:ext cx="0" cy="0"/>
          <a:chOff x="0" y="0"/>
          <a:chExt cx="0" cy="0"/>
        </a:xfrm>
      </p:grpSpPr>
      <p:sp>
        <p:nvSpPr>
          <p:cNvPr id="1626" name="Google Shape;1626;p16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Notion du diagramme d’activité</a:t>
            </a:r>
            <a:endParaRPr/>
          </a:p>
        </p:txBody>
      </p:sp>
      <p:graphicFrame>
        <p:nvGraphicFramePr>
          <p:cNvPr id="1627" name="Google Shape;1627;p160"/>
          <p:cNvGraphicFramePr/>
          <p:nvPr/>
        </p:nvGraphicFramePr>
        <p:xfrm>
          <a:off x="755650" y="1700212"/>
          <a:ext cx="4581525" cy="3830637"/>
        </p:xfrm>
        <a:graphic>
          <a:graphicData uri="http://schemas.openxmlformats.org/presentationml/2006/ole">
            <mc:AlternateContent>
              <mc:Choice Requires="v">
                <p:oleObj r:id="rId4" imgH="3830637" imgW="4581525" progId="Paint.Picture" spid="_x0000_s1">
                  <p:embed/>
                </p:oleObj>
              </mc:Choice>
              <mc:Fallback>
                <p:oleObj r:id="rId5" imgH="3830637" imgW="4581525" progId="Paint.Picture">
                  <p:embed/>
                  <p:pic>
                    <p:nvPicPr>
                      <p:cNvPr id="1627" name="Google Shape;1627;p160"/>
                      <p:cNvPicPr preferRelativeResize="0"/>
                      <p:nvPr>
                        <p:ph idx="1" type="body"/>
                      </p:nvPr>
                    </p:nvPicPr>
                    <p:blipFill rotWithShape="1">
                      <a:blip r:embed="rId6">
                        <a:alphaModFix/>
                      </a:blip>
                      <a:srcRect b="0" l="0" r="0" t="0"/>
                      <a:stretch/>
                    </p:blipFill>
                    <p:spPr>
                      <a:xfrm>
                        <a:off x="755650" y="1700212"/>
                        <a:ext cx="4581525" cy="3830637"/>
                      </a:xfrm>
                      <a:prstGeom prst="rect">
                        <a:avLst/>
                      </a:prstGeom>
                      <a:noFill/>
                      <a:ln>
                        <a:noFill/>
                      </a:ln>
                    </p:spPr>
                  </p:pic>
                </p:oleObj>
              </mc:Fallback>
            </mc:AlternateContent>
          </a:graphicData>
        </a:graphic>
      </p:graphicFrame>
      <p:sp>
        <p:nvSpPr>
          <p:cNvPr id="1628" name="Google Shape;1628;p160"/>
          <p:cNvSpPr txBox="1"/>
          <p:nvPr/>
        </p:nvSpPr>
        <p:spPr>
          <a:xfrm>
            <a:off x="5867400" y="1700212"/>
            <a:ext cx="2519362" cy="1604962"/>
          </a:xfrm>
          <a:prstGeom prst="rect">
            <a:avLst/>
          </a:prstGeom>
          <a:noFill/>
          <a:ln>
            <a:noFill/>
          </a:ln>
        </p:spPr>
        <p:txBody>
          <a:bodyPr anchorCtr="0" anchor="t" bIns="45700" lIns="91425" spcFirstLastPara="1" rIns="91425" wrap="square" tIns="45700">
            <a:spAutoFit/>
          </a:bodyPr>
          <a:lstStyle/>
          <a:p>
            <a:pPr indent="-114300" lvl="0" marL="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Etat de départ</a:t>
            </a:r>
            <a:endParaRPr/>
          </a:p>
          <a:p>
            <a:pPr indent="-114300" lvl="0" marL="0" marR="0" rtl="0" algn="l">
              <a:lnSpc>
                <a:spcPct val="100000"/>
              </a:lnSpc>
              <a:spcBef>
                <a:spcPts val="90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Etat de terminaison</a:t>
            </a:r>
            <a:endParaRPr/>
          </a:p>
          <a:p>
            <a:pPr indent="-114300" lvl="0" marL="0" marR="0" rtl="0" algn="l">
              <a:lnSpc>
                <a:spcPct val="100000"/>
              </a:lnSpc>
              <a:spcBef>
                <a:spcPts val="90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Transition</a:t>
            </a:r>
            <a:endParaRPr/>
          </a:p>
          <a:p>
            <a:pPr indent="-114300" lvl="0" marL="0" marR="0" rtl="0" algn="l">
              <a:lnSpc>
                <a:spcPct val="100000"/>
              </a:lnSpc>
              <a:spcBef>
                <a:spcPts val="90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Transition Alternative</a:t>
            </a:r>
            <a:endParaRPr/>
          </a:p>
        </p:txBody>
      </p:sp>
      <p:sp>
        <p:nvSpPr>
          <p:cNvPr id="1629" name="Google Shape;1629;p160"/>
          <p:cNvSpPr txBox="1"/>
          <p:nvPr/>
        </p:nvSpPr>
        <p:spPr>
          <a:xfrm>
            <a:off x="1560512" y="3624262"/>
            <a:ext cx="227012" cy="2746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a:solidFill>
                  <a:schemeClr val="dk1"/>
                </a:solidFill>
                <a:latin typeface="Arial"/>
                <a:ea typeface="Arial"/>
                <a:cs typeface="Arial"/>
                <a:sym typeface="Arial"/>
              </a:rPr>
              <a:t>[</a:t>
            </a:r>
            <a:endParaRPr/>
          </a:p>
        </p:txBody>
      </p:sp>
      <p:sp>
        <p:nvSpPr>
          <p:cNvPr id="1630" name="Google Shape;1630;p160"/>
          <p:cNvSpPr txBox="1"/>
          <p:nvPr/>
        </p:nvSpPr>
        <p:spPr>
          <a:xfrm>
            <a:off x="1898650" y="3611562"/>
            <a:ext cx="227012" cy="2746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a:solidFill>
                  <a:schemeClr val="dk1"/>
                </a:solidFill>
                <a:latin typeface="Arial"/>
                <a:ea typeface="Arial"/>
                <a:cs typeface="Arial"/>
                <a:sym typeface="Arial"/>
              </a:rPr>
              <a:t>]</a:t>
            </a:r>
            <a:endParaRPr/>
          </a:p>
        </p:txBody>
      </p:sp>
      <p:sp>
        <p:nvSpPr>
          <p:cNvPr id="1631" name="Google Shape;1631;p160"/>
          <p:cNvSpPr txBox="1"/>
          <p:nvPr/>
        </p:nvSpPr>
        <p:spPr>
          <a:xfrm>
            <a:off x="3830637" y="3573462"/>
            <a:ext cx="227012" cy="2746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a:solidFill>
                  <a:schemeClr val="dk1"/>
                </a:solidFill>
                <a:latin typeface="Arial"/>
                <a:ea typeface="Arial"/>
                <a:cs typeface="Arial"/>
                <a:sym typeface="Arial"/>
              </a:rPr>
              <a:t>[</a:t>
            </a:r>
            <a:endParaRPr/>
          </a:p>
        </p:txBody>
      </p:sp>
      <p:sp>
        <p:nvSpPr>
          <p:cNvPr id="1632" name="Google Shape;1632;p160"/>
          <p:cNvSpPr txBox="1"/>
          <p:nvPr/>
        </p:nvSpPr>
        <p:spPr>
          <a:xfrm>
            <a:off x="4200525" y="3573462"/>
            <a:ext cx="227012" cy="2746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a:solidFill>
                  <a:schemeClr val="dk1"/>
                </a:solidFill>
                <a:latin typeface="Arial"/>
                <a:ea typeface="Arial"/>
                <a:cs typeface="Arial"/>
                <a:sym typeface="Arial"/>
              </a:rPr>
              <a:t>]</a:t>
            </a:r>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6" name="Shape 1636"/>
        <p:cNvGrpSpPr/>
        <p:nvPr/>
      </p:nvGrpSpPr>
      <p:grpSpPr>
        <a:xfrm>
          <a:off x="0" y="0"/>
          <a:ext cx="0" cy="0"/>
          <a:chOff x="0" y="0"/>
          <a:chExt cx="0" cy="0"/>
        </a:xfrm>
      </p:grpSpPr>
      <p:sp>
        <p:nvSpPr>
          <p:cNvPr id="1637" name="Google Shape;1637;p16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Notion du diagramme d’activité</a:t>
            </a:r>
            <a:endParaRPr/>
          </a:p>
        </p:txBody>
      </p:sp>
      <p:graphicFrame>
        <p:nvGraphicFramePr>
          <p:cNvPr id="1638" name="Google Shape;1638;p161"/>
          <p:cNvGraphicFramePr/>
          <p:nvPr/>
        </p:nvGraphicFramePr>
        <p:xfrm>
          <a:off x="827087" y="1484312"/>
          <a:ext cx="3636962" cy="4752975"/>
        </p:xfrm>
        <a:graphic>
          <a:graphicData uri="http://schemas.openxmlformats.org/presentationml/2006/ole">
            <mc:AlternateContent>
              <mc:Choice Requires="v">
                <p:oleObj r:id="rId4" imgH="4752975" imgW="3636962" progId="Paint.Picture" spid="_x0000_s1">
                  <p:embed/>
                </p:oleObj>
              </mc:Choice>
              <mc:Fallback>
                <p:oleObj r:id="rId5" imgH="4752975" imgW="3636962" progId="Paint.Picture">
                  <p:embed/>
                  <p:pic>
                    <p:nvPicPr>
                      <p:cNvPr id="1638" name="Google Shape;1638;p161"/>
                      <p:cNvPicPr preferRelativeResize="0"/>
                      <p:nvPr>
                        <p:ph idx="1" type="body"/>
                      </p:nvPr>
                    </p:nvPicPr>
                    <p:blipFill rotWithShape="1">
                      <a:blip r:embed="rId6">
                        <a:alphaModFix/>
                      </a:blip>
                      <a:srcRect b="0" l="0" r="0" t="0"/>
                      <a:stretch/>
                    </p:blipFill>
                    <p:spPr>
                      <a:xfrm>
                        <a:off x="827087" y="1484312"/>
                        <a:ext cx="3636962" cy="4752975"/>
                      </a:xfrm>
                      <a:prstGeom prst="rect">
                        <a:avLst/>
                      </a:prstGeom>
                      <a:noFill/>
                      <a:ln>
                        <a:noFill/>
                      </a:ln>
                    </p:spPr>
                  </p:pic>
                </p:oleObj>
              </mc:Fallback>
            </mc:AlternateContent>
          </a:graphicData>
        </a:graphic>
      </p:graphicFrame>
      <p:sp>
        <p:nvSpPr>
          <p:cNvPr id="1639" name="Google Shape;1639;p161"/>
          <p:cNvSpPr txBox="1"/>
          <p:nvPr/>
        </p:nvSpPr>
        <p:spPr>
          <a:xfrm>
            <a:off x="6084887" y="3141662"/>
            <a:ext cx="2016125" cy="9159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Synchronisation disjonctive et conjonctive</a:t>
            </a:r>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3" name="Shape 1643"/>
        <p:cNvGrpSpPr/>
        <p:nvPr/>
      </p:nvGrpSpPr>
      <p:grpSpPr>
        <a:xfrm>
          <a:off x="0" y="0"/>
          <a:ext cx="0" cy="0"/>
          <a:chOff x="0" y="0"/>
          <a:chExt cx="0" cy="0"/>
        </a:xfrm>
      </p:grpSpPr>
      <p:sp>
        <p:nvSpPr>
          <p:cNvPr id="1644" name="Google Shape;1644;p16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Notion du diagramme d’activité</a:t>
            </a:r>
            <a:endParaRPr/>
          </a:p>
        </p:txBody>
      </p:sp>
      <p:graphicFrame>
        <p:nvGraphicFramePr>
          <p:cNvPr id="1645" name="Google Shape;1645;p162"/>
          <p:cNvGraphicFramePr/>
          <p:nvPr/>
        </p:nvGraphicFramePr>
        <p:xfrm>
          <a:off x="900112" y="1341437"/>
          <a:ext cx="2925762" cy="4321175"/>
        </p:xfrm>
        <a:graphic>
          <a:graphicData uri="http://schemas.openxmlformats.org/presentationml/2006/ole">
            <mc:AlternateContent>
              <mc:Choice Requires="v">
                <p:oleObj r:id="rId4" imgH="4321175" imgW="2925762" progId="Paint.Picture" spid="_x0000_s1">
                  <p:embed/>
                </p:oleObj>
              </mc:Choice>
              <mc:Fallback>
                <p:oleObj r:id="rId5" imgH="4321175" imgW="2925762" progId="Paint.Picture">
                  <p:embed/>
                  <p:pic>
                    <p:nvPicPr>
                      <p:cNvPr id="1645" name="Google Shape;1645;p162"/>
                      <p:cNvPicPr preferRelativeResize="0"/>
                      <p:nvPr>
                        <p:ph idx="1" type="body"/>
                      </p:nvPr>
                    </p:nvPicPr>
                    <p:blipFill rotWithShape="1">
                      <a:blip r:embed="rId6">
                        <a:alphaModFix/>
                      </a:blip>
                      <a:srcRect b="0" l="0" r="0" t="0"/>
                      <a:stretch/>
                    </p:blipFill>
                    <p:spPr>
                      <a:xfrm>
                        <a:off x="900112" y="1341437"/>
                        <a:ext cx="2925762" cy="4321175"/>
                      </a:xfrm>
                      <a:prstGeom prst="rect">
                        <a:avLst/>
                      </a:prstGeom>
                      <a:noFill/>
                      <a:ln>
                        <a:noFill/>
                      </a:ln>
                    </p:spPr>
                  </p:pic>
                </p:oleObj>
              </mc:Fallback>
            </mc:AlternateContent>
          </a:graphicData>
        </a:graphic>
      </p:graphicFrame>
      <p:graphicFrame>
        <p:nvGraphicFramePr>
          <p:cNvPr id="1646" name="Google Shape;1646;p162"/>
          <p:cNvGraphicFramePr/>
          <p:nvPr/>
        </p:nvGraphicFramePr>
        <p:xfrm>
          <a:off x="5148262" y="1484312"/>
          <a:ext cx="2951162" cy="4116387"/>
        </p:xfrm>
        <a:graphic>
          <a:graphicData uri="http://schemas.openxmlformats.org/presentationml/2006/ole">
            <mc:AlternateContent>
              <mc:Choice Requires="v">
                <p:oleObj r:id="rId7" imgH="4116387" imgW="2951162" progId="Paint.Picture" spid="_x0000_s2">
                  <p:embed/>
                </p:oleObj>
              </mc:Choice>
              <mc:Fallback>
                <p:oleObj r:id="rId8" imgH="4116387" imgW="2951162" progId="Paint.Picture">
                  <p:embed/>
                  <p:pic>
                    <p:nvPicPr>
                      <p:cNvPr id="1646" name="Google Shape;1646;p162"/>
                      <p:cNvPicPr preferRelativeResize="0"/>
                      <p:nvPr>
                        <p:ph idx="2" type="body"/>
                      </p:nvPr>
                    </p:nvPicPr>
                    <p:blipFill rotWithShape="1">
                      <a:blip r:embed="rId9">
                        <a:alphaModFix/>
                      </a:blip>
                      <a:srcRect b="0" l="0" r="0" t="0"/>
                      <a:stretch/>
                    </p:blipFill>
                    <p:spPr>
                      <a:xfrm>
                        <a:off x="5148262" y="1484312"/>
                        <a:ext cx="2951162" cy="4116387"/>
                      </a:xfrm>
                      <a:prstGeom prst="rect">
                        <a:avLst/>
                      </a:prstGeom>
                      <a:noFill/>
                      <a:ln>
                        <a:noFill/>
                      </a:ln>
                    </p:spPr>
                  </p:pic>
                </p:oleObj>
              </mc:Fallback>
            </mc:AlternateContent>
          </a:graphicData>
        </a:graphic>
      </p:graphicFrame>
      <p:sp>
        <p:nvSpPr>
          <p:cNvPr id="1647" name="Google Shape;1647;p162"/>
          <p:cNvSpPr txBox="1"/>
          <p:nvPr/>
        </p:nvSpPr>
        <p:spPr>
          <a:xfrm>
            <a:off x="2195512" y="5805487"/>
            <a:ext cx="3960812"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Itération</a:t>
            </a:r>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1" name="Shape 1651"/>
        <p:cNvGrpSpPr/>
        <p:nvPr/>
      </p:nvGrpSpPr>
      <p:grpSpPr>
        <a:xfrm>
          <a:off x="0" y="0"/>
          <a:ext cx="0" cy="0"/>
          <a:chOff x="0" y="0"/>
          <a:chExt cx="0" cy="0"/>
        </a:xfrm>
      </p:grpSpPr>
      <p:sp>
        <p:nvSpPr>
          <p:cNvPr id="1652" name="Google Shape;1652;p16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Notion du diagramme d’activité</a:t>
            </a:r>
            <a:endParaRPr/>
          </a:p>
        </p:txBody>
      </p:sp>
      <p:graphicFrame>
        <p:nvGraphicFramePr>
          <p:cNvPr id="1653" name="Google Shape;1653;p163"/>
          <p:cNvGraphicFramePr/>
          <p:nvPr/>
        </p:nvGraphicFramePr>
        <p:xfrm>
          <a:off x="900112" y="1700212"/>
          <a:ext cx="3771900" cy="4057650"/>
        </p:xfrm>
        <a:graphic>
          <a:graphicData uri="http://schemas.openxmlformats.org/presentationml/2006/ole">
            <mc:AlternateContent>
              <mc:Choice Requires="v">
                <p:oleObj r:id="rId4" imgH="4057650" imgW="3771900" progId="Paint.Picture" spid="_x0000_s1">
                  <p:embed/>
                </p:oleObj>
              </mc:Choice>
              <mc:Fallback>
                <p:oleObj r:id="rId5" imgH="4057650" imgW="3771900" progId="Paint.Picture">
                  <p:embed/>
                  <p:pic>
                    <p:nvPicPr>
                      <p:cNvPr id="1653" name="Google Shape;1653;p163"/>
                      <p:cNvPicPr preferRelativeResize="0"/>
                      <p:nvPr>
                        <p:ph idx="1" type="body"/>
                      </p:nvPr>
                    </p:nvPicPr>
                    <p:blipFill rotWithShape="1">
                      <a:blip r:embed="rId6">
                        <a:alphaModFix/>
                      </a:blip>
                      <a:srcRect b="0" l="0" r="0" t="0"/>
                      <a:stretch/>
                    </p:blipFill>
                    <p:spPr>
                      <a:xfrm>
                        <a:off x="900112" y="1700212"/>
                        <a:ext cx="3771900" cy="4057650"/>
                      </a:xfrm>
                      <a:prstGeom prst="rect">
                        <a:avLst/>
                      </a:prstGeom>
                      <a:noFill/>
                      <a:ln>
                        <a:noFill/>
                      </a:ln>
                    </p:spPr>
                  </p:pic>
                </p:oleObj>
              </mc:Fallback>
            </mc:AlternateContent>
          </a:graphicData>
        </a:graphic>
      </p:graphicFrame>
      <p:sp>
        <p:nvSpPr>
          <p:cNvPr id="1654" name="Google Shape;1654;p163"/>
          <p:cNvSpPr txBox="1"/>
          <p:nvPr/>
        </p:nvSpPr>
        <p:spPr>
          <a:xfrm>
            <a:off x="6300787" y="3141662"/>
            <a:ext cx="12890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Swimlanes</a:t>
            </a:r>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8" name="Shape 1658"/>
        <p:cNvGrpSpPr/>
        <p:nvPr/>
      </p:nvGrpSpPr>
      <p:grpSpPr>
        <a:xfrm>
          <a:off x="0" y="0"/>
          <a:ext cx="0" cy="0"/>
          <a:chOff x="0" y="0"/>
          <a:chExt cx="0" cy="0"/>
        </a:xfrm>
      </p:grpSpPr>
      <p:sp>
        <p:nvSpPr>
          <p:cNvPr id="1659" name="Google Shape;1659;p16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Construction un diagramme d’activité</a:t>
            </a:r>
            <a:endParaRPr/>
          </a:p>
        </p:txBody>
      </p:sp>
      <p:sp>
        <p:nvSpPr>
          <p:cNvPr id="1660" name="Google Shape;1660;p16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81000" lvl="0" marL="381000" rtl="0" algn="l">
              <a:lnSpc>
                <a:spcPct val="80000"/>
              </a:lnSpc>
              <a:spcBef>
                <a:spcPts val="0"/>
              </a:spcBef>
              <a:spcAft>
                <a:spcPts val="0"/>
              </a:spcAft>
              <a:buClr>
                <a:schemeClr val="dk1"/>
              </a:buClr>
              <a:buSzPts val="2000"/>
              <a:buFont typeface="Arial"/>
              <a:buAutoNum type="arabicPeriod"/>
            </a:pPr>
            <a:r>
              <a:rPr b="1" i="0" lang="en-US" sz="2000" u="none">
                <a:solidFill>
                  <a:schemeClr val="dk1"/>
                </a:solidFill>
                <a:latin typeface="Arial"/>
                <a:ea typeface="Arial"/>
                <a:cs typeface="Arial"/>
                <a:sym typeface="Arial"/>
              </a:rPr>
              <a:t>Identifiez la portée (« scope ») du diagramme d'activité</a:t>
            </a:r>
            <a:br>
              <a:rPr b="1" i="0" lang="en-US" sz="2000" u="none">
                <a:solidFill>
                  <a:schemeClr val="dk1"/>
                </a:solidFill>
                <a:latin typeface="Arial"/>
                <a:ea typeface="Arial"/>
                <a:cs typeface="Arial"/>
                <a:sym typeface="Arial"/>
              </a:rPr>
            </a:br>
            <a:r>
              <a:rPr b="0" i="0" lang="en-US" sz="2000" u="none">
                <a:solidFill>
                  <a:schemeClr val="dk1"/>
                </a:solidFill>
                <a:latin typeface="Arial"/>
                <a:ea typeface="Arial"/>
                <a:cs typeface="Arial"/>
                <a:sym typeface="Arial"/>
              </a:rPr>
              <a:t>Commencez en identifiant ce que vous allez modéliser. Un seul use case? Une partie d'un use case ? Un « workflow » qui inclut plusieurs use cases ? Une méthode de classe ?</a:t>
            </a:r>
            <a:endParaRPr/>
          </a:p>
          <a:p>
            <a:pPr indent="-381000" lvl="0" marL="381000" rtl="0" algn="l">
              <a:lnSpc>
                <a:spcPct val="80000"/>
              </a:lnSpc>
              <a:spcBef>
                <a:spcPts val="400"/>
              </a:spcBef>
              <a:spcAft>
                <a:spcPts val="0"/>
              </a:spcAft>
              <a:buClr>
                <a:schemeClr val="dk1"/>
              </a:buClr>
              <a:buSzPts val="2000"/>
              <a:buFont typeface="Arial"/>
              <a:buAutoNum type="arabicPeriod"/>
            </a:pPr>
            <a:r>
              <a:rPr b="1" i="0" lang="en-US" sz="2000" u="none">
                <a:solidFill>
                  <a:schemeClr val="dk1"/>
                </a:solidFill>
                <a:latin typeface="Arial"/>
                <a:ea typeface="Arial"/>
                <a:cs typeface="Arial"/>
                <a:sym typeface="Arial"/>
              </a:rPr>
              <a:t>Ajouter l’état de </a:t>
            </a:r>
            <a:r>
              <a:rPr b="1" i="1" lang="en-US" sz="2000" u="none">
                <a:solidFill>
                  <a:schemeClr val="dk1"/>
                </a:solidFill>
                <a:latin typeface="Arial"/>
                <a:ea typeface="Arial"/>
                <a:cs typeface="Arial"/>
                <a:sym typeface="Arial"/>
              </a:rPr>
              <a:t>départ </a:t>
            </a:r>
            <a:r>
              <a:rPr b="1" i="0" lang="en-US" sz="2000" u="none">
                <a:solidFill>
                  <a:schemeClr val="dk1"/>
                </a:solidFill>
                <a:latin typeface="Arial"/>
                <a:ea typeface="Arial"/>
                <a:cs typeface="Arial"/>
                <a:sym typeface="Arial"/>
              </a:rPr>
              <a:t>et de </a:t>
            </a:r>
            <a:r>
              <a:rPr b="1" i="1" lang="en-US" sz="2000" u="none">
                <a:solidFill>
                  <a:schemeClr val="dk1"/>
                </a:solidFill>
                <a:latin typeface="Arial"/>
                <a:ea typeface="Arial"/>
                <a:cs typeface="Arial"/>
                <a:sym typeface="Arial"/>
              </a:rPr>
              <a:t>terminaison</a:t>
            </a:r>
            <a:endParaRPr/>
          </a:p>
          <a:p>
            <a:pPr indent="-381000" lvl="0" marL="381000" rtl="0" algn="l">
              <a:lnSpc>
                <a:spcPct val="80000"/>
              </a:lnSpc>
              <a:spcBef>
                <a:spcPts val="400"/>
              </a:spcBef>
              <a:spcAft>
                <a:spcPts val="0"/>
              </a:spcAft>
              <a:buClr>
                <a:schemeClr val="dk1"/>
              </a:buClr>
              <a:buSzPts val="2000"/>
              <a:buFont typeface="Arial"/>
              <a:buAutoNum type="arabicPeriod"/>
            </a:pPr>
            <a:r>
              <a:rPr b="1" i="0" lang="en-US" sz="2000" u="none">
                <a:solidFill>
                  <a:schemeClr val="dk1"/>
                </a:solidFill>
                <a:latin typeface="Arial"/>
                <a:ea typeface="Arial"/>
                <a:cs typeface="Arial"/>
                <a:sym typeface="Arial"/>
              </a:rPr>
              <a:t>Ajouter les activités</a:t>
            </a:r>
            <a:br>
              <a:rPr b="1" i="0" lang="en-US" sz="2000" u="none">
                <a:solidFill>
                  <a:schemeClr val="dk1"/>
                </a:solidFill>
                <a:latin typeface="Arial"/>
                <a:ea typeface="Arial"/>
                <a:cs typeface="Arial"/>
                <a:sym typeface="Arial"/>
              </a:rPr>
            </a:br>
            <a:r>
              <a:rPr b="0" i="0" lang="en-US" sz="2000" u="none">
                <a:solidFill>
                  <a:schemeClr val="dk1"/>
                </a:solidFill>
                <a:latin typeface="Arial"/>
                <a:ea typeface="Arial"/>
                <a:cs typeface="Arial"/>
                <a:sym typeface="Arial"/>
              </a:rPr>
              <a:t>Si vous modélisez un use case, introduisez une activité pour chaque use case principal. Si vous modélisez un « workflow », introduisez une activité pour chaque processus principal, souvent un use case. Enfin, si vous modélisez une méthode, il est souvent nécessaire d’avoir une activité pour chaque grand étape de la méthode.</a:t>
            </a:r>
            <a:endParaRPr/>
          </a:p>
          <a:p>
            <a:pPr indent="-381000" lvl="0" marL="381000" rtl="0" algn="l">
              <a:lnSpc>
                <a:spcPct val="80000"/>
              </a:lnSpc>
              <a:spcBef>
                <a:spcPts val="400"/>
              </a:spcBef>
              <a:spcAft>
                <a:spcPts val="0"/>
              </a:spcAft>
              <a:buClr>
                <a:schemeClr val="dk1"/>
              </a:buClr>
              <a:buSzPts val="2000"/>
              <a:buFont typeface="Arial"/>
              <a:buAutoNum type="arabicPeriod"/>
            </a:pPr>
            <a:r>
              <a:rPr b="1" i="0" lang="en-US" sz="2000" u="none">
                <a:solidFill>
                  <a:schemeClr val="dk1"/>
                </a:solidFill>
                <a:latin typeface="Arial"/>
                <a:ea typeface="Arial"/>
                <a:cs typeface="Arial"/>
                <a:sym typeface="Arial"/>
              </a:rPr>
              <a:t>Ajouter des transitions (séquentielles), des transitions alternatives (conditionelles), des synchronisations entre des activités, des itérations.</a:t>
            </a:r>
            <a:endParaRPr/>
          </a:p>
          <a:p>
            <a:pPr indent="-381000" lvl="0" marL="381000" rtl="0" algn="l">
              <a:lnSpc>
                <a:spcPct val="80000"/>
              </a:lnSpc>
              <a:spcBef>
                <a:spcPts val="400"/>
              </a:spcBef>
              <a:spcAft>
                <a:spcPts val="0"/>
              </a:spcAft>
              <a:buClr>
                <a:schemeClr val="dk1"/>
              </a:buClr>
              <a:buSzPts val="2000"/>
              <a:buFont typeface="Arial"/>
              <a:buAutoNum type="arabicPeriod"/>
            </a:pPr>
            <a:r>
              <a:rPr b="1" i="0" lang="en-US" sz="2000" u="none">
                <a:solidFill>
                  <a:schemeClr val="dk1"/>
                </a:solidFill>
                <a:latin typeface="Arial"/>
                <a:ea typeface="Arial"/>
                <a:cs typeface="Arial"/>
                <a:sym typeface="Arial"/>
              </a:rPr>
              <a:t>Identifier des swimlanes et répartir des activités identifiées dans ces swimlanes.</a:t>
            </a:r>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4" name="Shape 1664"/>
        <p:cNvGrpSpPr/>
        <p:nvPr/>
      </p:nvGrpSpPr>
      <p:grpSpPr>
        <a:xfrm>
          <a:off x="0" y="0"/>
          <a:ext cx="0" cy="0"/>
          <a:chOff x="0" y="0"/>
          <a:chExt cx="0" cy="0"/>
        </a:xfrm>
      </p:grpSpPr>
      <p:sp>
        <p:nvSpPr>
          <p:cNvPr id="1665" name="Google Shape;1665;p16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Exercice 1: Cafetière</a:t>
            </a:r>
            <a:endParaRPr/>
          </a:p>
        </p:txBody>
      </p:sp>
      <p:sp>
        <p:nvSpPr>
          <p:cNvPr id="1666" name="Google Shape;1666;p16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Construire un diagramme d’activité représentant l’utilisation d’une cafetière électrique:</a:t>
            </a:r>
            <a:endParaRPr/>
          </a:p>
          <a:p>
            <a:pPr indent="-285750" lvl="1" marL="74295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premier état: chercher du café</a:t>
            </a:r>
            <a:endParaRPr/>
          </a:p>
          <a:p>
            <a:pPr indent="-285750" lvl="1" marL="74295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dernier état: Servir du café</a:t>
            </a:r>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0" name="Shape 1670"/>
        <p:cNvGrpSpPr/>
        <p:nvPr/>
      </p:nvGrpSpPr>
      <p:grpSpPr>
        <a:xfrm>
          <a:off x="0" y="0"/>
          <a:ext cx="0" cy="0"/>
          <a:chOff x="0" y="0"/>
          <a:chExt cx="0" cy="0"/>
        </a:xfrm>
      </p:grpSpPr>
      <p:sp>
        <p:nvSpPr>
          <p:cNvPr id="1671" name="Google Shape;1671;p16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Cafetière: Solution possible</a:t>
            </a:r>
            <a:endParaRPr/>
          </a:p>
        </p:txBody>
      </p:sp>
      <p:graphicFrame>
        <p:nvGraphicFramePr>
          <p:cNvPr id="1672" name="Google Shape;1672;p166"/>
          <p:cNvGraphicFramePr/>
          <p:nvPr/>
        </p:nvGraphicFramePr>
        <p:xfrm>
          <a:off x="1042987" y="1268412"/>
          <a:ext cx="6248400" cy="5335587"/>
        </p:xfrm>
        <a:graphic>
          <a:graphicData uri="http://schemas.openxmlformats.org/presentationml/2006/ole">
            <mc:AlternateContent>
              <mc:Choice Requires="v">
                <p:oleObj r:id="rId4" imgH="5335587" imgW="6248400" progId="Paint.Picture" spid="_x0000_s1">
                  <p:embed/>
                </p:oleObj>
              </mc:Choice>
              <mc:Fallback>
                <p:oleObj r:id="rId5" imgH="5335587" imgW="6248400" progId="Paint.Picture">
                  <p:embed/>
                  <p:pic>
                    <p:nvPicPr>
                      <p:cNvPr id="1672" name="Google Shape;1672;p166"/>
                      <p:cNvPicPr preferRelativeResize="0"/>
                      <p:nvPr>
                        <p:ph idx="1" type="body"/>
                      </p:nvPr>
                    </p:nvPicPr>
                    <p:blipFill rotWithShape="1">
                      <a:blip r:embed="rId6">
                        <a:alphaModFix/>
                      </a:blip>
                      <a:srcRect b="0" l="0" r="0" t="0"/>
                      <a:stretch/>
                    </p:blipFill>
                    <p:spPr>
                      <a:xfrm>
                        <a:off x="1042987" y="1268412"/>
                        <a:ext cx="6248400" cy="5335587"/>
                      </a:xfrm>
                      <a:prstGeom prst="rect">
                        <a:avLst/>
                      </a:prstGeom>
                      <a:noFill/>
                      <a:ln>
                        <a:noFill/>
                      </a:ln>
                    </p:spPr>
                  </p:pic>
                </p:oleObj>
              </mc:Fallback>
            </mc:AlternateContent>
          </a:graphicData>
        </a:graphic>
      </p:graphicFrame>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6" name="Shape 1676"/>
        <p:cNvGrpSpPr/>
        <p:nvPr/>
      </p:nvGrpSpPr>
      <p:grpSpPr>
        <a:xfrm>
          <a:off x="0" y="0"/>
          <a:ext cx="0" cy="0"/>
          <a:chOff x="0" y="0"/>
          <a:chExt cx="0" cy="0"/>
        </a:xfrm>
      </p:grpSpPr>
      <p:sp>
        <p:nvSpPr>
          <p:cNvPr id="1677" name="Google Shape;1677;p16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Exercice 2: Commander un produit</a:t>
            </a:r>
            <a:endParaRPr/>
          </a:p>
        </p:txBody>
      </p:sp>
      <p:sp>
        <p:nvSpPr>
          <p:cNvPr id="1678" name="Google Shape;1678;p16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Construire un diagramme d’activité pour modéliser le processus de commander d’un produit. Le processus concerne les acteurs suivants:</a:t>
            </a:r>
            <a:endParaRPr/>
          </a:p>
          <a:p>
            <a:pPr indent="-285750" lvl="1" marL="742950" rtl="0" algn="l">
              <a:lnSpc>
                <a:spcPct val="100000"/>
              </a:lnSpc>
              <a:spcBef>
                <a:spcPts val="480"/>
              </a:spcBef>
              <a:spcAft>
                <a:spcPts val="0"/>
              </a:spcAft>
              <a:buClr>
                <a:schemeClr val="dk1"/>
              </a:buClr>
              <a:buSzPts val="2400"/>
              <a:buFont typeface="Arial"/>
              <a:buChar char="–"/>
            </a:pPr>
            <a:r>
              <a:rPr b="1" i="0" lang="en-US" sz="2400" u="none">
                <a:solidFill>
                  <a:schemeClr val="dk1"/>
                </a:solidFill>
                <a:latin typeface="Arial"/>
                <a:ea typeface="Arial"/>
                <a:cs typeface="Arial"/>
                <a:sym typeface="Arial"/>
              </a:rPr>
              <a:t>Client</a:t>
            </a:r>
            <a:r>
              <a:rPr b="0" i="0" lang="en-US" sz="2400" u="none">
                <a:solidFill>
                  <a:schemeClr val="dk1"/>
                </a:solidFill>
                <a:latin typeface="Arial"/>
                <a:ea typeface="Arial"/>
                <a:cs typeface="Arial"/>
                <a:sym typeface="Arial"/>
              </a:rPr>
              <a:t>: qui commande un produit et qui paie la facture</a:t>
            </a:r>
            <a:endParaRPr/>
          </a:p>
          <a:p>
            <a:pPr indent="-285750" lvl="1" marL="742950" rtl="0" algn="l">
              <a:lnSpc>
                <a:spcPct val="100000"/>
              </a:lnSpc>
              <a:spcBef>
                <a:spcPts val="480"/>
              </a:spcBef>
              <a:spcAft>
                <a:spcPts val="0"/>
              </a:spcAft>
              <a:buClr>
                <a:schemeClr val="dk1"/>
              </a:buClr>
              <a:buSzPts val="2400"/>
              <a:buFont typeface="Arial"/>
              <a:buChar char="–"/>
            </a:pPr>
            <a:r>
              <a:rPr b="1" i="0" lang="en-US" sz="2400" u="none">
                <a:solidFill>
                  <a:schemeClr val="dk1"/>
                </a:solidFill>
                <a:latin typeface="Arial"/>
                <a:ea typeface="Arial"/>
                <a:cs typeface="Arial"/>
                <a:sym typeface="Arial"/>
              </a:rPr>
              <a:t>Caisse</a:t>
            </a:r>
            <a:r>
              <a:rPr b="0" i="0" lang="en-US" sz="2400" u="none">
                <a:solidFill>
                  <a:schemeClr val="dk1"/>
                </a:solidFill>
                <a:latin typeface="Arial"/>
                <a:ea typeface="Arial"/>
                <a:cs typeface="Arial"/>
                <a:sym typeface="Arial"/>
              </a:rPr>
              <a:t>: qui encaisse l’argent du client</a:t>
            </a:r>
            <a:endParaRPr/>
          </a:p>
          <a:p>
            <a:pPr indent="-285750" lvl="1" marL="742950" rtl="0" algn="l">
              <a:lnSpc>
                <a:spcPct val="100000"/>
              </a:lnSpc>
              <a:spcBef>
                <a:spcPts val="480"/>
              </a:spcBef>
              <a:spcAft>
                <a:spcPts val="0"/>
              </a:spcAft>
              <a:buClr>
                <a:schemeClr val="dk1"/>
              </a:buClr>
              <a:buSzPts val="2400"/>
              <a:buFont typeface="Arial"/>
              <a:buChar char="–"/>
            </a:pPr>
            <a:r>
              <a:rPr b="1" i="0" lang="en-US" sz="2400" u="none">
                <a:solidFill>
                  <a:schemeClr val="dk1"/>
                </a:solidFill>
                <a:latin typeface="Arial"/>
                <a:ea typeface="Arial"/>
                <a:cs typeface="Arial"/>
                <a:sym typeface="Arial"/>
              </a:rPr>
              <a:t>Vente</a:t>
            </a:r>
            <a:r>
              <a:rPr b="0" i="0" lang="en-US" sz="2400" u="none">
                <a:solidFill>
                  <a:schemeClr val="dk1"/>
                </a:solidFill>
                <a:latin typeface="Arial"/>
                <a:ea typeface="Arial"/>
                <a:cs typeface="Arial"/>
                <a:sym typeface="Arial"/>
              </a:rPr>
              <a:t>: qui s’occupe de traiter et de facturer la commande du client</a:t>
            </a:r>
            <a:endParaRPr/>
          </a:p>
          <a:p>
            <a:pPr indent="-285750" lvl="1" marL="742950" rtl="0" algn="l">
              <a:lnSpc>
                <a:spcPct val="100000"/>
              </a:lnSpc>
              <a:spcBef>
                <a:spcPts val="480"/>
              </a:spcBef>
              <a:spcAft>
                <a:spcPts val="0"/>
              </a:spcAft>
              <a:buClr>
                <a:schemeClr val="dk1"/>
              </a:buClr>
              <a:buSzPts val="2400"/>
              <a:buFont typeface="Arial"/>
              <a:buChar char="–"/>
            </a:pPr>
            <a:r>
              <a:rPr b="1" i="0" lang="en-US" sz="2400" u="none">
                <a:solidFill>
                  <a:schemeClr val="dk1"/>
                </a:solidFill>
                <a:latin typeface="Arial"/>
                <a:ea typeface="Arial"/>
                <a:cs typeface="Arial"/>
                <a:sym typeface="Arial"/>
              </a:rPr>
              <a:t>Entrepôt</a:t>
            </a:r>
            <a:r>
              <a:rPr b="0" i="0" lang="en-US" sz="2400" u="none">
                <a:solidFill>
                  <a:schemeClr val="dk1"/>
                </a:solidFill>
                <a:latin typeface="Arial"/>
                <a:ea typeface="Arial"/>
                <a:cs typeface="Arial"/>
                <a:sym typeface="Arial"/>
              </a:rPr>
              <a:t>: qui est responsable de sortir les articles et d’expédier la commande.</a:t>
            </a:r>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3" name="Shape 1683"/>
        <p:cNvGrpSpPr/>
        <p:nvPr/>
      </p:nvGrpSpPr>
      <p:grpSpPr>
        <a:xfrm>
          <a:off x="0" y="0"/>
          <a:ext cx="0" cy="0"/>
          <a:chOff x="0" y="0"/>
          <a:chExt cx="0" cy="0"/>
        </a:xfrm>
      </p:grpSpPr>
      <p:sp>
        <p:nvSpPr>
          <p:cNvPr id="1684" name="Google Shape;1684;p168"/>
          <p:cNvSpPr txBox="1"/>
          <p:nvPr>
            <p:ph type="title"/>
          </p:nvPr>
        </p:nvSpPr>
        <p:spPr>
          <a:xfrm>
            <a:off x="179387" y="274637"/>
            <a:ext cx="8713787" cy="7778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Commander un Produit: Solution possible</a:t>
            </a:r>
            <a:endParaRPr/>
          </a:p>
        </p:txBody>
      </p:sp>
      <p:graphicFrame>
        <p:nvGraphicFramePr>
          <p:cNvPr id="1685" name="Google Shape;1685;p168"/>
          <p:cNvGraphicFramePr/>
          <p:nvPr/>
        </p:nvGraphicFramePr>
        <p:xfrm>
          <a:off x="900112" y="1268412"/>
          <a:ext cx="6911975" cy="5375275"/>
        </p:xfrm>
        <a:graphic>
          <a:graphicData uri="http://schemas.openxmlformats.org/presentationml/2006/ole">
            <mc:AlternateContent>
              <mc:Choice Requires="v">
                <p:oleObj r:id="rId4" imgH="5375275" imgW="6911975" progId="Paint.Picture" spid="_x0000_s1">
                  <p:embed/>
                </p:oleObj>
              </mc:Choice>
              <mc:Fallback>
                <p:oleObj r:id="rId5" imgH="5375275" imgW="6911975" progId="Paint.Picture">
                  <p:embed/>
                  <p:pic>
                    <p:nvPicPr>
                      <p:cNvPr id="1685" name="Google Shape;1685;p168"/>
                      <p:cNvPicPr preferRelativeResize="0"/>
                      <p:nvPr/>
                    </p:nvPicPr>
                    <p:blipFill rotWithShape="1">
                      <a:blip r:embed="rId6">
                        <a:alphaModFix/>
                      </a:blip>
                      <a:srcRect b="0" l="0" r="0" t="0"/>
                      <a:stretch/>
                    </p:blipFill>
                    <p:spPr>
                      <a:xfrm>
                        <a:off x="900112" y="1268412"/>
                        <a:ext cx="6911975" cy="5375275"/>
                      </a:xfrm>
                      <a:prstGeom prst="rect">
                        <a:avLst/>
                      </a:prstGeom>
                      <a:noFill/>
                      <a:ln>
                        <a:noFill/>
                      </a:ln>
                    </p:spPr>
                  </p:pic>
                </p:oleObj>
              </mc:Fallback>
            </mc:AlternateContent>
          </a:graphicData>
        </a:graphic>
      </p:graphicFrame>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9" name="Shape 1689"/>
        <p:cNvGrpSpPr/>
        <p:nvPr/>
      </p:nvGrpSpPr>
      <p:grpSpPr>
        <a:xfrm>
          <a:off x="0" y="0"/>
          <a:ext cx="0" cy="0"/>
          <a:chOff x="0" y="0"/>
          <a:chExt cx="0" cy="0"/>
        </a:xfrm>
      </p:grpSpPr>
      <p:sp>
        <p:nvSpPr>
          <p:cNvPr id="1690" name="Google Shape;1690;p16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MonAuto : Use Case</a:t>
            </a:r>
            <a:endParaRPr/>
          </a:p>
        </p:txBody>
      </p:sp>
      <p:sp>
        <p:nvSpPr>
          <p:cNvPr id="1691" name="Google Shape;1691;p169"/>
          <p:cNvSpPr txBox="1"/>
          <p:nvPr>
            <p:ph idx="1" type="body"/>
          </p:nvPr>
        </p:nvSpPr>
        <p:spPr>
          <a:xfrm>
            <a:off x="457200" y="1600200"/>
            <a:ext cx="8229600" cy="4492625"/>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1700"/>
              <a:buFont typeface="Arial"/>
              <a:buNone/>
            </a:pPr>
            <a:r>
              <a:rPr b="0" i="0" lang="en-US" sz="1700" u="none">
                <a:solidFill>
                  <a:schemeClr val="dk1"/>
                </a:solidFill>
                <a:latin typeface="Arial"/>
                <a:ea typeface="Arial"/>
                <a:cs typeface="Arial"/>
                <a:sym typeface="Arial"/>
              </a:rPr>
              <a:t>Le logiciel de gestion des réparations est destiné en priorité au chef d'atelier, il devra lui permettre de saisir les fiches de réparations et le travail effectué par les divers employés de l'atelier.</a:t>
            </a:r>
            <a:br>
              <a:rPr b="0" i="0" lang="en-US" sz="1700" u="none">
                <a:solidFill>
                  <a:schemeClr val="dk1"/>
                </a:solidFill>
                <a:latin typeface="Arial"/>
                <a:ea typeface="Arial"/>
                <a:cs typeface="Arial"/>
                <a:sym typeface="Arial"/>
              </a:rPr>
            </a:br>
            <a:r>
              <a:rPr b="0" i="0" lang="en-US" sz="1700" u="none">
                <a:solidFill>
                  <a:schemeClr val="dk1"/>
                </a:solidFill>
                <a:latin typeface="Arial"/>
                <a:ea typeface="Arial"/>
                <a:cs typeface="Arial"/>
                <a:sym typeface="Arial"/>
              </a:rPr>
              <a:t>Pour effectuer leur travail, les mécaniciens et autres employés de l'atelier vont chercher des pièces de rechange au magasin. Lorsque le logiciel sera installé, les magasiniers ne fourniront des pièces que pour les véhicules pour lesquels une fiche de réparation est ouverte; ils saisiront directement les pièces fournies depuis un terminal installé au magasin.</a:t>
            </a:r>
            <a:endParaRPr/>
          </a:p>
          <a:p>
            <a:pPr indent="-342900" lvl="0" marL="342900" rtl="0" algn="l">
              <a:lnSpc>
                <a:spcPct val="80000"/>
              </a:lnSpc>
              <a:spcBef>
                <a:spcPts val="340"/>
              </a:spcBef>
              <a:spcAft>
                <a:spcPts val="0"/>
              </a:spcAft>
              <a:buClr>
                <a:schemeClr val="dk1"/>
              </a:buClr>
              <a:buSzPts val="1700"/>
              <a:buFont typeface="Arial"/>
              <a:buNone/>
            </a:pPr>
            <a:r>
              <a:rPr b="0" i="0" lang="en-US" sz="1700" u="none">
                <a:solidFill>
                  <a:schemeClr val="dk1"/>
                </a:solidFill>
                <a:latin typeface="Arial"/>
                <a:ea typeface="Arial"/>
                <a:cs typeface="Arial"/>
                <a:sym typeface="Arial"/>
              </a:rPr>
              <a:t>Lorsqu'une réparation est terminée, le chef d'atelier va essayer la voiture. Si tout est en ordre, il met la voiture sur le parc clientèle et bouclera la fiche de réparation informatisée. Les fiches de réparations bouclées par le chef d'atelier devront pouvoir être importées par le comptable dans le logiciel comptable. </a:t>
            </a:r>
            <a:endParaRPr/>
          </a:p>
          <a:p>
            <a:pPr indent="-342900" lvl="0" marL="342900" rtl="0" algn="l">
              <a:lnSpc>
                <a:spcPct val="80000"/>
              </a:lnSpc>
              <a:spcBef>
                <a:spcPts val="340"/>
              </a:spcBef>
              <a:spcAft>
                <a:spcPts val="0"/>
              </a:spcAft>
              <a:buClr>
                <a:schemeClr val="dk1"/>
              </a:buClr>
              <a:buSzPts val="1700"/>
              <a:buFont typeface="Arial"/>
              <a:buNone/>
            </a:pPr>
            <a:r>
              <a:t/>
            </a:r>
            <a:endParaRPr b="0" i="0" sz="1700" u="none">
              <a:solidFill>
                <a:schemeClr val="dk1"/>
              </a:solidFill>
              <a:latin typeface="Arial"/>
              <a:ea typeface="Arial"/>
              <a:cs typeface="Arial"/>
              <a:sym typeface="Arial"/>
            </a:endParaRPr>
          </a:p>
          <a:p>
            <a:pPr indent="-342900" lvl="0" marL="342900" rtl="0" algn="l">
              <a:lnSpc>
                <a:spcPct val="80000"/>
              </a:lnSpc>
              <a:spcBef>
                <a:spcPts val="340"/>
              </a:spcBef>
              <a:spcAft>
                <a:spcPts val="0"/>
              </a:spcAft>
              <a:buClr>
                <a:schemeClr val="dk1"/>
              </a:buClr>
              <a:buSzPts val="1700"/>
              <a:buFont typeface="Arial"/>
              <a:buNone/>
            </a:pPr>
            <a:r>
              <a:rPr b="1" i="0" lang="en-US" sz="1700" u="none">
                <a:solidFill>
                  <a:schemeClr val="dk1"/>
                </a:solidFill>
                <a:latin typeface="Arial"/>
                <a:ea typeface="Arial"/>
                <a:cs typeface="Arial"/>
                <a:sym typeface="Arial"/>
              </a:rPr>
              <a:t>Exercice 3.</a:t>
            </a:r>
            <a:r>
              <a:rPr b="0" i="0" lang="en-US" sz="1700" u="none">
                <a:solidFill>
                  <a:schemeClr val="dk1"/>
                </a:solidFill>
                <a:latin typeface="Arial"/>
                <a:ea typeface="Arial"/>
                <a:cs typeface="Arial"/>
                <a:sym typeface="Arial"/>
              </a:rPr>
              <a:t> Créer un diagramme d’activité pour tout le traitement d’une réparation.</a:t>
            </a:r>
            <a:endParaRPr/>
          </a:p>
          <a:p>
            <a:pPr indent="-342900" lvl="0" marL="342900" rtl="0" algn="l">
              <a:lnSpc>
                <a:spcPct val="80000"/>
              </a:lnSpc>
              <a:spcBef>
                <a:spcPts val="340"/>
              </a:spcBef>
              <a:spcAft>
                <a:spcPts val="0"/>
              </a:spcAft>
              <a:buClr>
                <a:schemeClr val="dk1"/>
              </a:buClr>
              <a:buSzPts val="1700"/>
              <a:buFont typeface="Arial"/>
              <a:buNone/>
            </a:pPr>
            <a:r>
              <a:t/>
            </a:r>
            <a:endParaRPr b="0" i="0" sz="1700" u="none">
              <a:solidFill>
                <a:schemeClr val="dk1"/>
              </a:solidFill>
              <a:latin typeface="Arial"/>
              <a:ea typeface="Arial"/>
              <a:cs typeface="Arial"/>
              <a:sym typeface="Arial"/>
            </a:endParaRPr>
          </a:p>
          <a:p>
            <a:pPr indent="-342900" lvl="0" marL="342900" rtl="0" algn="l">
              <a:lnSpc>
                <a:spcPct val="80000"/>
              </a:lnSpc>
              <a:spcBef>
                <a:spcPts val="340"/>
              </a:spcBef>
              <a:spcAft>
                <a:spcPts val="0"/>
              </a:spcAft>
              <a:buClr>
                <a:schemeClr val="dk1"/>
              </a:buClr>
              <a:buSzPts val="1700"/>
              <a:buFont typeface="Arial"/>
              <a:buNone/>
            </a:pPr>
            <a:r>
              <a:rPr b="1" i="0" lang="en-US" sz="1700" u="none">
                <a:solidFill>
                  <a:schemeClr val="dk1"/>
                </a:solidFill>
                <a:latin typeface="Arial"/>
                <a:ea typeface="Arial"/>
                <a:cs typeface="Arial"/>
                <a:sym typeface="Arial"/>
              </a:rPr>
              <a:t>Exercice 4.</a:t>
            </a:r>
            <a:r>
              <a:rPr b="0" i="0" lang="en-US" sz="1700" u="none">
                <a:solidFill>
                  <a:schemeClr val="dk1"/>
                </a:solidFill>
                <a:latin typeface="Arial"/>
                <a:ea typeface="Arial"/>
                <a:cs typeface="Arial"/>
                <a:sym typeface="Arial"/>
              </a:rPr>
              <a:t> Créer un diagramme d’activité pour le use case « Créer une fiche de réparation »</a:t>
            </a:r>
            <a:endParaRPr/>
          </a:p>
          <a:p>
            <a:pPr indent="-342900" lvl="0" marL="342900" rtl="0" algn="l">
              <a:lnSpc>
                <a:spcPct val="80000"/>
              </a:lnSpc>
              <a:spcBef>
                <a:spcPts val="340"/>
              </a:spcBef>
              <a:spcAft>
                <a:spcPts val="0"/>
              </a:spcAft>
              <a:buClr>
                <a:schemeClr val="dk1"/>
              </a:buClr>
              <a:buSzPts val="1700"/>
              <a:buFont typeface="Arial"/>
              <a:buNone/>
            </a:pPr>
            <a:r>
              <a:t/>
            </a:r>
            <a:endParaRPr b="0" i="0" sz="1700" u="none">
              <a:solidFill>
                <a:schemeClr val="dk1"/>
              </a:solidFill>
              <a:latin typeface="Arial"/>
              <a:ea typeface="Arial"/>
              <a:cs typeface="Arial"/>
              <a:sym typeface="Arial"/>
            </a:endParaRPr>
          </a:p>
          <a:p>
            <a:pPr indent="-234950" lvl="0" marL="342900" rtl="0" algn="l">
              <a:spcBef>
                <a:spcPts val="340"/>
              </a:spcBef>
              <a:spcAft>
                <a:spcPts val="0"/>
              </a:spcAft>
              <a:buClr>
                <a:schemeClr val="dk1"/>
              </a:buClr>
              <a:buSzPts val="1700"/>
              <a:buFont typeface="Arial"/>
              <a:buNone/>
            </a:pPr>
            <a:r>
              <a:t/>
            </a:r>
            <a:endParaRPr b="0" i="0" sz="1700" u="none">
              <a:solidFill>
                <a:schemeClr val="dk1"/>
              </a:solidFill>
              <a:latin typeface="Arial"/>
              <a:ea typeface="Arial"/>
              <a:cs typeface="Arial"/>
              <a:sym typeface="Arial"/>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5" name="Shape 1695"/>
        <p:cNvGrpSpPr/>
        <p:nvPr/>
      </p:nvGrpSpPr>
      <p:grpSpPr>
        <a:xfrm>
          <a:off x="0" y="0"/>
          <a:ext cx="0" cy="0"/>
          <a:chOff x="0" y="0"/>
          <a:chExt cx="0" cy="0"/>
        </a:xfrm>
      </p:grpSpPr>
      <p:sp>
        <p:nvSpPr>
          <p:cNvPr id="1696" name="Google Shape;1696;p170"/>
          <p:cNvSpPr txBox="1"/>
          <p:nvPr>
            <p:ph type="title"/>
          </p:nvPr>
        </p:nvSpPr>
        <p:spPr>
          <a:xfrm>
            <a:off x="457200" y="260350"/>
            <a:ext cx="8229600" cy="5048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MonAuto: Solution possible</a:t>
            </a:r>
            <a:endParaRPr/>
          </a:p>
        </p:txBody>
      </p:sp>
      <p:graphicFrame>
        <p:nvGraphicFramePr>
          <p:cNvPr id="1697" name="Google Shape;1697;p170"/>
          <p:cNvGraphicFramePr/>
          <p:nvPr/>
        </p:nvGraphicFramePr>
        <p:xfrm>
          <a:off x="1187450" y="939800"/>
          <a:ext cx="6769100" cy="5186362"/>
        </p:xfrm>
        <a:graphic>
          <a:graphicData uri="http://schemas.openxmlformats.org/presentationml/2006/ole">
            <mc:AlternateContent>
              <mc:Choice Requires="v">
                <p:oleObj r:id="rId4" imgH="5186362" imgW="6769100" progId="Paint.Picture" spid="_x0000_s1">
                  <p:embed/>
                </p:oleObj>
              </mc:Choice>
              <mc:Fallback>
                <p:oleObj r:id="rId5" imgH="5186362" imgW="6769100" progId="Paint.Picture">
                  <p:embed/>
                  <p:pic>
                    <p:nvPicPr>
                      <p:cNvPr id="1697" name="Google Shape;1697;p170"/>
                      <p:cNvPicPr preferRelativeResize="0"/>
                      <p:nvPr>
                        <p:ph idx="1" type="body"/>
                      </p:nvPr>
                    </p:nvPicPr>
                    <p:blipFill rotWithShape="1">
                      <a:blip r:embed="rId6">
                        <a:alphaModFix/>
                      </a:blip>
                      <a:srcRect b="0" l="0" r="0" t="0"/>
                      <a:stretch/>
                    </p:blipFill>
                    <p:spPr>
                      <a:xfrm>
                        <a:off x="1187450" y="939800"/>
                        <a:ext cx="6769100" cy="5186362"/>
                      </a:xfrm>
                      <a:prstGeom prst="rect">
                        <a:avLst/>
                      </a:prstGeom>
                      <a:noFill/>
                      <a:ln>
                        <a:noFill/>
                      </a:ln>
                    </p:spPr>
                  </p:pic>
                </p:oleObj>
              </mc:Fallback>
            </mc:AlternateContent>
          </a:graphicData>
        </a:graphic>
      </p:graphicFrame>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1" name="Shape 1701"/>
        <p:cNvGrpSpPr/>
        <p:nvPr/>
      </p:nvGrpSpPr>
      <p:grpSpPr>
        <a:xfrm>
          <a:off x="0" y="0"/>
          <a:ext cx="0" cy="0"/>
          <a:chOff x="0" y="0"/>
          <a:chExt cx="0" cy="0"/>
        </a:xfrm>
      </p:grpSpPr>
      <p:sp>
        <p:nvSpPr>
          <p:cNvPr id="1702" name="Google Shape;1702;p17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MonAuto : Use Case</a:t>
            </a:r>
            <a:endParaRPr/>
          </a:p>
        </p:txBody>
      </p:sp>
      <p:sp>
        <p:nvSpPr>
          <p:cNvPr id="1703" name="Google Shape;1703;p171"/>
          <p:cNvSpPr txBox="1"/>
          <p:nvPr>
            <p:ph idx="1" type="body"/>
          </p:nvPr>
        </p:nvSpPr>
        <p:spPr>
          <a:xfrm>
            <a:off x="457200" y="1600200"/>
            <a:ext cx="8229600" cy="4492625"/>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2100"/>
              <a:buFont typeface="Arial"/>
              <a:buNone/>
            </a:pPr>
            <a:r>
              <a:rPr b="1" i="0" lang="en-US" sz="2100" u="none">
                <a:solidFill>
                  <a:schemeClr val="dk1"/>
                </a:solidFill>
                <a:latin typeface="Arial"/>
                <a:ea typeface="Arial"/>
                <a:cs typeface="Arial"/>
                <a:sym typeface="Arial"/>
              </a:rPr>
              <a:t>Exercice 2.</a:t>
            </a:r>
            <a:r>
              <a:rPr b="0" i="0" lang="en-US" sz="2100" u="none">
                <a:solidFill>
                  <a:schemeClr val="dk1"/>
                </a:solidFill>
                <a:latin typeface="Arial"/>
                <a:ea typeface="Arial"/>
                <a:cs typeface="Arial"/>
                <a:sym typeface="Arial"/>
              </a:rPr>
              <a:t> Créer un diagramme d’activité pour le use case « Créer une fiche de réparation »</a:t>
            </a:r>
            <a:endParaRPr/>
          </a:p>
          <a:p>
            <a:pPr indent="-342900" lvl="0" marL="342900" rtl="0" algn="l">
              <a:lnSpc>
                <a:spcPct val="80000"/>
              </a:lnSpc>
              <a:spcBef>
                <a:spcPts val="420"/>
              </a:spcBef>
              <a:spcAft>
                <a:spcPts val="0"/>
              </a:spcAft>
              <a:buClr>
                <a:schemeClr val="dk1"/>
              </a:buClr>
              <a:buSzPts val="2100"/>
              <a:buFont typeface="Arial"/>
              <a:buNone/>
            </a:pPr>
            <a:r>
              <a:rPr b="0" i="0" lang="en-US" sz="2100" u="none">
                <a:solidFill>
                  <a:schemeClr val="dk1"/>
                </a:solidFill>
                <a:latin typeface="Arial"/>
                <a:ea typeface="Arial"/>
                <a:cs typeface="Arial"/>
                <a:sym typeface="Arial"/>
              </a:rPr>
              <a:t>Pour créer une fiche de réparation, le chef d’atelier saisit les critères de recherche de voitures dans le système. Le logiciel de gestion des réparation lui donne la liste des voitures correspondant aux critères entrés. Si la voiture existe, le chef d’atelier va sélectionner la voiture. Le logiciel va, ensuite, fournir les informations sur le véhicule. Si la voiture est sous garantie, le chef devra saisir la date de demande de réparation. Si la voiture n’existe pas, le chef va saisir les informations concernant  ce nouveau véhicule. Dans tous les cas, le chef d’atelier devra saisir la date de réception et de restitution. Si le dommage de la voiture est payé par l’assurance, le logiciel va fournir une liste d’assurances au chef d’atelier. Ce dernier sélectionnera l’assurance adéquate. Enfin, le logiciel enregistre la fiche de réparation.</a:t>
            </a:r>
            <a:endParaRPr/>
          </a:p>
          <a:p>
            <a:pPr indent="-342900" lvl="0" marL="342900" rtl="0" algn="l">
              <a:lnSpc>
                <a:spcPct val="80000"/>
              </a:lnSpc>
              <a:spcBef>
                <a:spcPts val="420"/>
              </a:spcBef>
              <a:spcAft>
                <a:spcPts val="0"/>
              </a:spcAft>
              <a:buClr>
                <a:schemeClr val="dk1"/>
              </a:buClr>
              <a:buSzPts val="2100"/>
              <a:buFont typeface="Arial"/>
              <a:buNone/>
            </a:pPr>
            <a:r>
              <a:t/>
            </a:r>
            <a:endParaRPr b="0" i="0" sz="2100" u="none">
              <a:solidFill>
                <a:schemeClr val="dk1"/>
              </a:solidFill>
              <a:latin typeface="Arial"/>
              <a:ea typeface="Arial"/>
              <a:cs typeface="Arial"/>
              <a:sym typeface="Arial"/>
            </a:endParaRPr>
          </a:p>
          <a:p>
            <a:pPr indent="-209550" lvl="0" marL="342900" rtl="0" algn="l">
              <a:spcBef>
                <a:spcPts val="420"/>
              </a:spcBef>
              <a:spcAft>
                <a:spcPts val="0"/>
              </a:spcAft>
              <a:buClr>
                <a:schemeClr val="dk1"/>
              </a:buClr>
              <a:buSzPts val="2100"/>
              <a:buFont typeface="Arial"/>
              <a:buNone/>
            </a:pPr>
            <a:r>
              <a:t/>
            </a:r>
            <a:endParaRPr b="0" i="0" sz="2100" u="none">
              <a:solidFill>
                <a:schemeClr val="dk1"/>
              </a:solidFill>
              <a:latin typeface="Arial"/>
              <a:ea typeface="Arial"/>
              <a:cs typeface="Arial"/>
              <a:sym typeface="Arial"/>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7" name="Shape 1707"/>
        <p:cNvGrpSpPr/>
        <p:nvPr/>
      </p:nvGrpSpPr>
      <p:grpSpPr>
        <a:xfrm>
          <a:off x="0" y="0"/>
          <a:ext cx="0" cy="0"/>
          <a:chOff x="0" y="0"/>
          <a:chExt cx="0" cy="0"/>
        </a:xfrm>
      </p:grpSpPr>
      <p:sp>
        <p:nvSpPr>
          <p:cNvPr id="1708" name="Google Shape;1708;p172"/>
          <p:cNvSpPr txBox="1"/>
          <p:nvPr>
            <p:ph type="title"/>
          </p:nvPr>
        </p:nvSpPr>
        <p:spPr>
          <a:xfrm>
            <a:off x="457200" y="274637"/>
            <a:ext cx="8229600" cy="63341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MonAuto :  Solution possible</a:t>
            </a:r>
            <a:endParaRPr/>
          </a:p>
        </p:txBody>
      </p:sp>
      <p:pic>
        <p:nvPicPr>
          <p:cNvPr descr="sol1_activites_creerfiche" id="1709" name="Google Shape;1709;p172"/>
          <p:cNvPicPr preferRelativeResize="0"/>
          <p:nvPr>
            <p:ph idx="1" type="body"/>
          </p:nvPr>
        </p:nvPicPr>
        <p:blipFill rotWithShape="1">
          <a:blip r:embed="rId3">
            <a:alphaModFix/>
          </a:blip>
          <a:srcRect b="0" l="0" r="0" t="0"/>
          <a:stretch/>
        </p:blipFill>
        <p:spPr>
          <a:xfrm>
            <a:off x="2160587" y="981075"/>
            <a:ext cx="5003800" cy="5716587"/>
          </a:xfrm>
          <a:prstGeom prst="rect">
            <a:avLst/>
          </a:prstGeom>
          <a:noFill/>
          <a:ln>
            <a:noFill/>
          </a:ln>
        </p:spPr>
      </p:pic>
      <p:sp>
        <p:nvSpPr>
          <p:cNvPr id="1710" name="Google Shape;1710;p172"/>
          <p:cNvSpPr txBox="1"/>
          <p:nvPr/>
        </p:nvSpPr>
        <p:spPr>
          <a:xfrm>
            <a:off x="2314575" y="2682875"/>
            <a:ext cx="219075" cy="244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a:t>
            </a:r>
            <a:endParaRPr/>
          </a:p>
        </p:txBody>
      </p:sp>
      <p:sp>
        <p:nvSpPr>
          <p:cNvPr id="1711" name="Google Shape;1711;p172"/>
          <p:cNvSpPr txBox="1"/>
          <p:nvPr/>
        </p:nvSpPr>
        <p:spPr>
          <a:xfrm>
            <a:off x="4424362" y="2649537"/>
            <a:ext cx="219075" cy="244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a:t>
            </a:r>
            <a:endParaRPr/>
          </a:p>
        </p:txBody>
      </p:sp>
      <p:sp>
        <p:nvSpPr>
          <p:cNvPr id="1712" name="Google Shape;1712;p172"/>
          <p:cNvSpPr txBox="1"/>
          <p:nvPr/>
        </p:nvSpPr>
        <p:spPr>
          <a:xfrm>
            <a:off x="4178300" y="2649537"/>
            <a:ext cx="219075" cy="244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a:t>
            </a:r>
            <a:endParaRPr/>
          </a:p>
        </p:txBody>
      </p:sp>
      <p:sp>
        <p:nvSpPr>
          <p:cNvPr id="1713" name="Google Shape;1713;p172"/>
          <p:cNvSpPr txBox="1"/>
          <p:nvPr/>
        </p:nvSpPr>
        <p:spPr>
          <a:xfrm>
            <a:off x="2552700" y="2682875"/>
            <a:ext cx="219075" cy="244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a:t>
            </a:r>
            <a:endParaRPr/>
          </a:p>
        </p:txBody>
      </p:sp>
      <p:sp>
        <p:nvSpPr>
          <p:cNvPr id="1714" name="Google Shape;1714;p172"/>
          <p:cNvSpPr txBox="1"/>
          <p:nvPr/>
        </p:nvSpPr>
        <p:spPr>
          <a:xfrm>
            <a:off x="3128962" y="3644900"/>
            <a:ext cx="219075" cy="244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a:t>
            </a:r>
            <a:endParaRPr/>
          </a:p>
        </p:txBody>
      </p:sp>
      <p:sp>
        <p:nvSpPr>
          <p:cNvPr id="1715" name="Google Shape;1715;p172"/>
          <p:cNvSpPr txBox="1"/>
          <p:nvPr/>
        </p:nvSpPr>
        <p:spPr>
          <a:xfrm>
            <a:off x="4500562" y="3976687"/>
            <a:ext cx="219075" cy="244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a:t>
            </a:r>
            <a:endParaRPr/>
          </a:p>
        </p:txBody>
      </p:sp>
      <p:sp>
        <p:nvSpPr>
          <p:cNvPr id="1716" name="Google Shape;1716;p172"/>
          <p:cNvSpPr txBox="1"/>
          <p:nvPr/>
        </p:nvSpPr>
        <p:spPr>
          <a:xfrm>
            <a:off x="3995737" y="4730750"/>
            <a:ext cx="219075" cy="244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a:t>
            </a:r>
            <a:endParaRPr/>
          </a:p>
        </p:txBody>
      </p:sp>
      <p:sp>
        <p:nvSpPr>
          <p:cNvPr id="1717" name="Google Shape;1717;p172"/>
          <p:cNvSpPr txBox="1"/>
          <p:nvPr/>
        </p:nvSpPr>
        <p:spPr>
          <a:xfrm>
            <a:off x="2522537" y="5132387"/>
            <a:ext cx="219075" cy="244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a:t>
            </a:r>
            <a:endParaRPr/>
          </a:p>
        </p:txBody>
      </p:sp>
      <p:sp>
        <p:nvSpPr>
          <p:cNvPr id="1718" name="Google Shape;1718;p172"/>
          <p:cNvSpPr txBox="1"/>
          <p:nvPr/>
        </p:nvSpPr>
        <p:spPr>
          <a:xfrm>
            <a:off x="3416300" y="3644900"/>
            <a:ext cx="219075" cy="244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a:t>
            </a:r>
            <a:endParaRPr/>
          </a:p>
        </p:txBody>
      </p:sp>
      <p:sp>
        <p:nvSpPr>
          <p:cNvPr id="1719" name="Google Shape;1719;p172"/>
          <p:cNvSpPr txBox="1"/>
          <p:nvPr/>
        </p:nvSpPr>
        <p:spPr>
          <a:xfrm>
            <a:off x="4733925" y="3976687"/>
            <a:ext cx="219075" cy="244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a:t>
            </a:r>
            <a:endParaRPr/>
          </a:p>
        </p:txBody>
      </p:sp>
      <p:sp>
        <p:nvSpPr>
          <p:cNvPr id="1720" name="Google Shape;1720;p172"/>
          <p:cNvSpPr txBox="1"/>
          <p:nvPr/>
        </p:nvSpPr>
        <p:spPr>
          <a:xfrm>
            <a:off x="4243387" y="4733925"/>
            <a:ext cx="219075" cy="244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a:t>
            </a:r>
            <a:endParaRPr/>
          </a:p>
        </p:txBody>
      </p:sp>
      <p:sp>
        <p:nvSpPr>
          <p:cNvPr id="1721" name="Google Shape;1721;p172"/>
          <p:cNvSpPr txBox="1"/>
          <p:nvPr/>
        </p:nvSpPr>
        <p:spPr>
          <a:xfrm>
            <a:off x="2801937" y="5129212"/>
            <a:ext cx="219075" cy="244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a:t>
            </a:r>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5" name="Shape 1725"/>
        <p:cNvGrpSpPr/>
        <p:nvPr/>
      </p:nvGrpSpPr>
      <p:grpSpPr>
        <a:xfrm>
          <a:off x="0" y="0"/>
          <a:ext cx="0" cy="0"/>
          <a:chOff x="0" y="0"/>
          <a:chExt cx="0" cy="0"/>
        </a:xfrm>
      </p:grpSpPr>
      <p:sp>
        <p:nvSpPr>
          <p:cNvPr id="1726" name="Google Shape;1726;p17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Exercice</a:t>
            </a:r>
            <a:endParaRPr/>
          </a:p>
        </p:txBody>
      </p:sp>
      <p:pic>
        <p:nvPicPr>
          <p:cNvPr id="1727" name="Google Shape;1727;p173"/>
          <p:cNvPicPr preferRelativeResize="0"/>
          <p:nvPr>
            <p:ph idx="1" type="body"/>
          </p:nvPr>
        </p:nvPicPr>
        <p:blipFill rotWithShape="1">
          <a:blip r:embed="rId3">
            <a:alphaModFix/>
          </a:blip>
          <a:srcRect b="0" l="0" r="0" t="0"/>
          <a:stretch/>
        </p:blipFill>
        <p:spPr>
          <a:xfrm>
            <a:off x="457200" y="1600200"/>
            <a:ext cx="8229600" cy="4997450"/>
          </a:xfrm>
          <a:prstGeom prst="rect">
            <a:avLst/>
          </a:prstGeom>
          <a:noFill/>
          <a:ln>
            <a:noFill/>
          </a:ln>
        </p:spPr>
      </p:pic>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1" name="Shape 1731"/>
        <p:cNvGrpSpPr/>
        <p:nvPr/>
      </p:nvGrpSpPr>
      <p:grpSpPr>
        <a:xfrm>
          <a:off x="0" y="0"/>
          <a:ext cx="0" cy="0"/>
          <a:chOff x="0" y="0"/>
          <a:chExt cx="0" cy="0"/>
        </a:xfrm>
      </p:grpSpPr>
      <p:sp>
        <p:nvSpPr>
          <p:cNvPr id="1732" name="Google Shape;1732;p174"/>
          <p:cNvSpPr txBox="1"/>
          <p:nvPr>
            <p:ph type="ctrTitle"/>
          </p:nvPr>
        </p:nvSpPr>
        <p:spPr>
          <a:xfrm>
            <a:off x="711200" y="1219200"/>
            <a:ext cx="7975600" cy="1676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Diagrammes de Composants </a:t>
            </a:r>
            <a:br>
              <a:rPr b="0" i="0" lang="en-US" sz="4400" u="none">
                <a:solidFill>
                  <a:schemeClr val="dk2"/>
                </a:solidFill>
                <a:latin typeface="Arial"/>
                <a:ea typeface="Arial"/>
                <a:cs typeface="Arial"/>
                <a:sym typeface="Arial"/>
              </a:rPr>
            </a:br>
            <a:r>
              <a:rPr b="0" i="0" lang="en-US" sz="4400" u="none">
                <a:solidFill>
                  <a:schemeClr val="dk2"/>
                </a:solidFill>
                <a:latin typeface="Arial"/>
                <a:ea typeface="Arial"/>
                <a:cs typeface="Arial"/>
                <a:sym typeface="Arial"/>
              </a:rPr>
              <a:t>et </a:t>
            </a:r>
            <a:br>
              <a:rPr b="0" i="0" lang="en-US" sz="4400" u="none">
                <a:solidFill>
                  <a:schemeClr val="dk2"/>
                </a:solidFill>
                <a:latin typeface="Arial"/>
                <a:ea typeface="Arial"/>
                <a:cs typeface="Arial"/>
                <a:sym typeface="Arial"/>
              </a:rPr>
            </a:br>
            <a:r>
              <a:rPr b="0" i="0" lang="en-US" sz="4400" u="none">
                <a:solidFill>
                  <a:schemeClr val="dk2"/>
                </a:solidFill>
                <a:latin typeface="Arial"/>
                <a:ea typeface="Arial"/>
                <a:cs typeface="Arial"/>
                <a:sym typeface="Arial"/>
              </a:rPr>
              <a:t>Diagrammes de Déploiement</a:t>
            </a:r>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6" name="Shape 1736"/>
        <p:cNvGrpSpPr/>
        <p:nvPr/>
      </p:nvGrpSpPr>
      <p:grpSpPr>
        <a:xfrm>
          <a:off x="0" y="0"/>
          <a:ext cx="0" cy="0"/>
          <a:chOff x="0" y="0"/>
          <a:chExt cx="0" cy="0"/>
        </a:xfrm>
      </p:grpSpPr>
      <p:sp>
        <p:nvSpPr>
          <p:cNvPr id="1737" name="Google Shape;1737;p17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Objectif</a:t>
            </a:r>
            <a:endParaRPr/>
          </a:p>
        </p:txBody>
      </p:sp>
      <p:sp>
        <p:nvSpPr>
          <p:cNvPr id="1738" name="Google Shape;1738;p17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Présenter les concepts requis pour la création de diagrammes de composants</a:t>
            </a:r>
            <a:endParaRPr/>
          </a:p>
          <a:p>
            <a:pPr indent="-285750" lvl="1" marL="74295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Définition</a:t>
            </a:r>
            <a:endParaRPr/>
          </a:p>
          <a:p>
            <a:pPr indent="-285750" lvl="1" marL="74295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Notation UML</a:t>
            </a:r>
            <a:endParaRPr/>
          </a:p>
          <a:p>
            <a:pPr indent="-285750" lvl="1" marL="74295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Exemple</a:t>
            </a:r>
            <a:endParaRPr/>
          </a:p>
          <a:p>
            <a:pPr indent="-342900" lvl="0" marL="34290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Présenter les concepts requis pour la création de diagrammes de déploiement</a:t>
            </a:r>
            <a:endParaRPr/>
          </a:p>
          <a:p>
            <a:pPr indent="-285750" lvl="1" marL="74295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Définition</a:t>
            </a:r>
            <a:endParaRPr/>
          </a:p>
          <a:p>
            <a:pPr indent="-285750" lvl="1" marL="74295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Notation UML</a:t>
            </a:r>
            <a:endParaRPr/>
          </a:p>
          <a:p>
            <a:pPr indent="-285750" lvl="1" marL="74295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Exemple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8">
                                            <p:txEl>
                                              <p:pRg end="0" st="0"/>
                                            </p:txEl>
                                          </p:spTgt>
                                        </p:tgtEl>
                                        <p:attrNameLst>
                                          <p:attrName>style.visibility</p:attrName>
                                        </p:attrNameLst>
                                      </p:cBhvr>
                                      <p:to>
                                        <p:strVal val="visible"/>
                                      </p:to>
                                    </p:set>
                                    <p:animEffect filter="fade" transition="in">
                                      <p:cBhvr>
                                        <p:cTn dur="500"/>
                                        <p:tgtEl>
                                          <p:spTgt spid="173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8">
                                            <p:txEl>
                                              <p:pRg end="1" st="1"/>
                                            </p:txEl>
                                          </p:spTgt>
                                        </p:tgtEl>
                                        <p:attrNameLst>
                                          <p:attrName>style.visibility</p:attrName>
                                        </p:attrNameLst>
                                      </p:cBhvr>
                                      <p:to>
                                        <p:strVal val="visible"/>
                                      </p:to>
                                    </p:set>
                                    <p:animEffect filter="fade" transition="in">
                                      <p:cBhvr>
                                        <p:cTn dur="500"/>
                                        <p:tgtEl>
                                          <p:spTgt spid="173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8">
                                            <p:txEl>
                                              <p:pRg end="2" st="2"/>
                                            </p:txEl>
                                          </p:spTgt>
                                        </p:tgtEl>
                                        <p:attrNameLst>
                                          <p:attrName>style.visibility</p:attrName>
                                        </p:attrNameLst>
                                      </p:cBhvr>
                                      <p:to>
                                        <p:strVal val="visible"/>
                                      </p:to>
                                    </p:set>
                                    <p:animEffect filter="fade" transition="in">
                                      <p:cBhvr>
                                        <p:cTn dur="500"/>
                                        <p:tgtEl>
                                          <p:spTgt spid="173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8">
                                            <p:txEl>
                                              <p:pRg end="3" st="3"/>
                                            </p:txEl>
                                          </p:spTgt>
                                        </p:tgtEl>
                                        <p:attrNameLst>
                                          <p:attrName>style.visibility</p:attrName>
                                        </p:attrNameLst>
                                      </p:cBhvr>
                                      <p:to>
                                        <p:strVal val="visible"/>
                                      </p:to>
                                    </p:set>
                                    <p:animEffect filter="fade" transition="in">
                                      <p:cBhvr>
                                        <p:cTn dur="500"/>
                                        <p:tgtEl>
                                          <p:spTgt spid="173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8">
                                            <p:txEl>
                                              <p:pRg end="4" st="4"/>
                                            </p:txEl>
                                          </p:spTgt>
                                        </p:tgtEl>
                                        <p:attrNameLst>
                                          <p:attrName>style.visibility</p:attrName>
                                        </p:attrNameLst>
                                      </p:cBhvr>
                                      <p:to>
                                        <p:strVal val="visible"/>
                                      </p:to>
                                    </p:set>
                                    <p:animEffect filter="fade" transition="in">
                                      <p:cBhvr>
                                        <p:cTn dur="500"/>
                                        <p:tgtEl>
                                          <p:spTgt spid="173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8">
                                            <p:txEl>
                                              <p:pRg end="5" st="5"/>
                                            </p:txEl>
                                          </p:spTgt>
                                        </p:tgtEl>
                                        <p:attrNameLst>
                                          <p:attrName>style.visibility</p:attrName>
                                        </p:attrNameLst>
                                      </p:cBhvr>
                                      <p:to>
                                        <p:strVal val="visible"/>
                                      </p:to>
                                    </p:set>
                                    <p:animEffect filter="fade" transition="in">
                                      <p:cBhvr>
                                        <p:cTn dur="500"/>
                                        <p:tgtEl>
                                          <p:spTgt spid="173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8">
                                            <p:txEl>
                                              <p:pRg end="6" st="6"/>
                                            </p:txEl>
                                          </p:spTgt>
                                        </p:tgtEl>
                                        <p:attrNameLst>
                                          <p:attrName>style.visibility</p:attrName>
                                        </p:attrNameLst>
                                      </p:cBhvr>
                                      <p:to>
                                        <p:strVal val="visible"/>
                                      </p:to>
                                    </p:set>
                                    <p:animEffect filter="fade" transition="in">
                                      <p:cBhvr>
                                        <p:cTn dur="500"/>
                                        <p:tgtEl>
                                          <p:spTgt spid="173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8">
                                            <p:txEl>
                                              <p:pRg end="7" st="7"/>
                                            </p:txEl>
                                          </p:spTgt>
                                        </p:tgtEl>
                                        <p:attrNameLst>
                                          <p:attrName>style.visibility</p:attrName>
                                        </p:attrNameLst>
                                      </p:cBhvr>
                                      <p:to>
                                        <p:strVal val="visible"/>
                                      </p:to>
                                    </p:set>
                                    <p:animEffect filter="fade" transition="in">
                                      <p:cBhvr>
                                        <p:cTn dur="500"/>
                                        <p:tgtEl>
                                          <p:spTgt spid="1738">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2" name="Shape 1742"/>
        <p:cNvGrpSpPr/>
        <p:nvPr/>
      </p:nvGrpSpPr>
      <p:grpSpPr>
        <a:xfrm>
          <a:off x="0" y="0"/>
          <a:ext cx="0" cy="0"/>
          <a:chOff x="0" y="0"/>
          <a:chExt cx="0" cy="0"/>
        </a:xfrm>
      </p:grpSpPr>
      <p:sp>
        <p:nvSpPr>
          <p:cNvPr id="1743" name="Google Shape;1743;p176"/>
          <p:cNvSpPr txBox="1"/>
          <p:nvPr>
            <p:ph type="title"/>
          </p:nvPr>
        </p:nvSpPr>
        <p:spPr>
          <a:xfrm>
            <a:off x="762000" y="850900"/>
            <a:ext cx="8153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Diagrammes de Composants </a:t>
            </a:r>
            <a:br>
              <a:rPr b="0" i="0" lang="en-US" sz="4400" u="none">
                <a:solidFill>
                  <a:schemeClr val="dk2"/>
                </a:solidFill>
                <a:latin typeface="Arial"/>
                <a:ea typeface="Arial"/>
                <a:cs typeface="Arial"/>
                <a:sym typeface="Arial"/>
              </a:rPr>
            </a:br>
            <a:r>
              <a:rPr b="0" i="0" lang="en-US" sz="4400" u="none">
                <a:solidFill>
                  <a:schemeClr val="dk2"/>
                </a:solidFill>
                <a:latin typeface="Arial"/>
                <a:ea typeface="Arial"/>
                <a:cs typeface="Arial"/>
                <a:sym typeface="Arial"/>
              </a:rPr>
              <a:t>et </a:t>
            </a:r>
            <a:br>
              <a:rPr b="0" i="0" lang="en-US" sz="4400" u="none">
                <a:solidFill>
                  <a:schemeClr val="dk2"/>
                </a:solidFill>
                <a:latin typeface="Arial"/>
                <a:ea typeface="Arial"/>
                <a:cs typeface="Arial"/>
                <a:sym typeface="Arial"/>
              </a:rPr>
            </a:br>
            <a:r>
              <a:rPr b="0" i="0" lang="en-US" sz="4400" u="none">
                <a:solidFill>
                  <a:schemeClr val="dk2"/>
                </a:solidFill>
                <a:latin typeface="Arial"/>
                <a:ea typeface="Arial"/>
                <a:cs typeface="Arial"/>
                <a:sym typeface="Arial"/>
              </a:rPr>
              <a:t>Diagrammes de Déploiement</a:t>
            </a:r>
            <a:endParaRPr/>
          </a:p>
        </p:txBody>
      </p:sp>
      <p:sp>
        <p:nvSpPr>
          <p:cNvPr id="1744" name="Google Shape;1744;p176"/>
          <p:cNvSpPr txBox="1"/>
          <p:nvPr>
            <p:ph idx="1" type="body"/>
          </p:nvPr>
        </p:nvSpPr>
        <p:spPr>
          <a:xfrm>
            <a:off x="762000" y="3251200"/>
            <a:ext cx="8001000" cy="22653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Permettent de modéliser les aspects physiques d’un système orienté-objet</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Diagramme de Composants : se focalise sur l’organisation et les dépendances entre un ensemble de composants</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Diagrammes de Déploiement : se focalise sur la configuration en temps d'exécution des nœuds de traitement et de composants qui sont actifs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4">
                                            <p:txEl>
                                              <p:pRg end="0" st="0"/>
                                            </p:txEl>
                                          </p:spTgt>
                                        </p:tgtEl>
                                        <p:attrNameLst>
                                          <p:attrName>style.visibility</p:attrName>
                                        </p:attrNameLst>
                                      </p:cBhvr>
                                      <p:to>
                                        <p:strVal val="visible"/>
                                      </p:to>
                                    </p:set>
                                    <p:animEffect filter="fade" transition="in">
                                      <p:cBhvr>
                                        <p:cTn dur="500"/>
                                        <p:tgtEl>
                                          <p:spTgt spid="174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4">
                                            <p:txEl>
                                              <p:pRg end="1" st="1"/>
                                            </p:txEl>
                                          </p:spTgt>
                                        </p:tgtEl>
                                        <p:attrNameLst>
                                          <p:attrName>style.visibility</p:attrName>
                                        </p:attrNameLst>
                                      </p:cBhvr>
                                      <p:to>
                                        <p:strVal val="visible"/>
                                      </p:to>
                                    </p:set>
                                    <p:animEffect filter="fade" transition="in">
                                      <p:cBhvr>
                                        <p:cTn dur="500"/>
                                        <p:tgtEl>
                                          <p:spTgt spid="174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4">
                                            <p:txEl>
                                              <p:pRg end="2" st="2"/>
                                            </p:txEl>
                                          </p:spTgt>
                                        </p:tgtEl>
                                        <p:attrNameLst>
                                          <p:attrName>style.visibility</p:attrName>
                                        </p:attrNameLst>
                                      </p:cBhvr>
                                      <p:to>
                                        <p:strVal val="visible"/>
                                      </p:to>
                                    </p:set>
                                    <p:animEffect filter="fade" transition="in">
                                      <p:cBhvr>
                                        <p:cTn dur="500"/>
                                        <p:tgtEl>
                                          <p:spTgt spid="1744">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8" name="Shape 1748"/>
        <p:cNvGrpSpPr/>
        <p:nvPr/>
      </p:nvGrpSpPr>
      <p:grpSpPr>
        <a:xfrm>
          <a:off x="0" y="0"/>
          <a:ext cx="0" cy="0"/>
          <a:chOff x="0" y="0"/>
          <a:chExt cx="0" cy="0"/>
        </a:xfrm>
      </p:grpSpPr>
      <p:sp>
        <p:nvSpPr>
          <p:cNvPr id="1749" name="Google Shape;1749;p17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Diagramme de composants </a:t>
            </a:r>
            <a:endParaRPr/>
          </a:p>
        </p:txBody>
      </p:sp>
      <p:sp>
        <p:nvSpPr>
          <p:cNvPr id="1750" name="Google Shape;1750;p17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Permet de décrire l'architecture physique et statique d'une application en terme de composants :</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code source,</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bibliothèques, </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exécutables, </a:t>
            </a:r>
            <a:endParaRPr/>
          </a:p>
          <a:p>
            <a:pPr indent="-342900" lvl="0" marL="34290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Ils montrent la mise en oeuvre physique des modèles de la vue logique dans l'environnement de développement</a:t>
            </a:r>
            <a:endParaRPr/>
          </a:p>
          <a:p>
            <a:pPr indent="-342900" lvl="0" marL="34290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Permet de spécifier :</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Composants</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Interfaces</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Relations (dépendance, généralisation, association, réalisation).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0">
                                            <p:txEl>
                                              <p:pRg end="0" st="0"/>
                                            </p:txEl>
                                          </p:spTgt>
                                        </p:tgtEl>
                                        <p:attrNameLst>
                                          <p:attrName>style.visibility</p:attrName>
                                        </p:attrNameLst>
                                      </p:cBhvr>
                                      <p:to>
                                        <p:strVal val="visible"/>
                                      </p:to>
                                    </p:set>
                                    <p:animEffect filter="fade" transition="in">
                                      <p:cBhvr>
                                        <p:cTn dur="500"/>
                                        <p:tgtEl>
                                          <p:spTgt spid="175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0">
                                            <p:txEl>
                                              <p:pRg end="1" st="1"/>
                                            </p:txEl>
                                          </p:spTgt>
                                        </p:tgtEl>
                                        <p:attrNameLst>
                                          <p:attrName>style.visibility</p:attrName>
                                        </p:attrNameLst>
                                      </p:cBhvr>
                                      <p:to>
                                        <p:strVal val="visible"/>
                                      </p:to>
                                    </p:set>
                                    <p:animEffect filter="fade" transition="in">
                                      <p:cBhvr>
                                        <p:cTn dur="500"/>
                                        <p:tgtEl>
                                          <p:spTgt spid="175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0">
                                            <p:txEl>
                                              <p:pRg end="2" st="2"/>
                                            </p:txEl>
                                          </p:spTgt>
                                        </p:tgtEl>
                                        <p:attrNameLst>
                                          <p:attrName>style.visibility</p:attrName>
                                        </p:attrNameLst>
                                      </p:cBhvr>
                                      <p:to>
                                        <p:strVal val="visible"/>
                                      </p:to>
                                    </p:set>
                                    <p:animEffect filter="fade" transition="in">
                                      <p:cBhvr>
                                        <p:cTn dur="500"/>
                                        <p:tgtEl>
                                          <p:spTgt spid="175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0">
                                            <p:txEl>
                                              <p:pRg end="3" st="3"/>
                                            </p:txEl>
                                          </p:spTgt>
                                        </p:tgtEl>
                                        <p:attrNameLst>
                                          <p:attrName>style.visibility</p:attrName>
                                        </p:attrNameLst>
                                      </p:cBhvr>
                                      <p:to>
                                        <p:strVal val="visible"/>
                                      </p:to>
                                    </p:set>
                                    <p:animEffect filter="fade" transition="in">
                                      <p:cBhvr>
                                        <p:cTn dur="500"/>
                                        <p:tgtEl>
                                          <p:spTgt spid="175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0">
                                            <p:txEl>
                                              <p:pRg end="4" st="4"/>
                                            </p:txEl>
                                          </p:spTgt>
                                        </p:tgtEl>
                                        <p:attrNameLst>
                                          <p:attrName>style.visibility</p:attrName>
                                        </p:attrNameLst>
                                      </p:cBhvr>
                                      <p:to>
                                        <p:strVal val="visible"/>
                                      </p:to>
                                    </p:set>
                                    <p:animEffect filter="fade" transition="in">
                                      <p:cBhvr>
                                        <p:cTn dur="500"/>
                                        <p:tgtEl>
                                          <p:spTgt spid="175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0">
                                            <p:txEl>
                                              <p:pRg end="5" st="5"/>
                                            </p:txEl>
                                          </p:spTgt>
                                        </p:tgtEl>
                                        <p:attrNameLst>
                                          <p:attrName>style.visibility</p:attrName>
                                        </p:attrNameLst>
                                      </p:cBhvr>
                                      <p:to>
                                        <p:strVal val="visible"/>
                                      </p:to>
                                    </p:set>
                                    <p:animEffect filter="fade" transition="in">
                                      <p:cBhvr>
                                        <p:cTn dur="500"/>
                                        <p:tgtEl>
                                          <p:spTgt spid="175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0">
                                            <p:txEl>
                                              <p:pRg end="6" st="6"/>
                                            </p:txEl>
                                          </p:spTgt>
                                        </p:tgtEl>
                                        <p:attrNameLst>
                                          <p:attrName>style.visibility</p:attrName>
                                        </p:attrNameLst>
                                      </p:cBhvr>
                                      <p:to>
                                        <p:strVal val="visible"/>
                                      </p:to>
                                    </p:set>
                                    <p:animEffect filter="fade" transition="in">
                                      <p:cBhvr>
                                        <p:cTn dur="500"/>
                                        <p:tgtEl>
                                          <p:spTgt spid="175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0">
                                            <p:txEl>
                                              <p:pRg end="7" st="7"/>
                                            </p:txEl>
                                          </p:spTgt>
                                        </p:tgtEl>
                                        <p:attrNameLst>
                                          <p:attrName>style.visibility</p:attrName>
                                        </p:attrNameLst>
                                      </p:cBhvr>
                                      <p:to>
                                        <p:strVal val="visible"/>
                                      </p:to>
                                    </p:set>
                                    <p:animEffect filter="fade" transition="in">
                                      <p:cBhvr>
                                        <p:cTn dur="500"/>
                                        <p:tgtEl>
                                          <p:spTgt spid="175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0">
                                            <p:txEl>
                                              <p:pRg end="8" st="8"/>
                                            </p:txEl>
                                          </p:spTgt>
                                        </p:tgtEl>
                                        <p:attrNameLst>
                                          <p:attrName>style.visibility</p:attrName>
                                        </p:attrNameLst>
                                      </p:cBhvr>
                                      <p:to>
                                        <p:strVal val="visible"/>
                                      </p:to>
                                    </p:set>
                                    <p:animEffect filter="fade" transition="in">
                                      <p:cBhvr>
                                        <p:cTn dur="500"/>
                                        <p:tgtEl>
                                          <p:spTgt spid="1750">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4" name="Shape 1754"/>
        <p:cNvGrpSpPr/>
        <p:nvPr/>
      </p:nvGrpSpPr>
      <p:grpSpPr>
        <a:xfrm>
          <a:off x="0" y="0"/>
          <a:ext cx="0" cy="0"/>
          <a:chOff x="0" y="0"/>
          <a:chExt cx="0" cy="0"/>
        </a:xfrm>
      </p:grpSpPr>
      <p:sp>
        <p:nvSpPr>
          <p:cNvPr id="1755" name="Google Shape;1755;p17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Diagramme de composants </a:t>
            </a:r>
            <a:endParaRPr/>
          </a:p>
        </p:txBody>
      </p:sp>
      <p:sp>
        <p:nvSpPr>
          <p:cNvPr id="1756" name="Google Shape;1756;p178"/>
          <p:cNvSpPr txBox="1"/>
          <p:nvPr>
            <p:ph idx="1" type="body"/>
          </p:nvPr>
        </p:nvSpPr>
        <p:spPr>
          <a:xfrm>
            <a:off x="457200" y="1600200"/>
            <a:ext cx="8229600" cy="25622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Concepts :</a:t>
            </a:r>
            <a:endParaRPr/>
          </a:p>
          <a:p>
            <a:pPr indent="-285750" lvl="1" marL="742950" rtl="0" algn="l">
              <a:lnSpc>
                <a:spcPct val="100000"/>
              </a:lnSpc>
              <a:spcBef>
                <a:spcPts val="480"/>
              </a:spcBef>
              <a:spcAft>
                <a:spcPts val="0"/>
              </a:spcAft>
              <a:buClr>
                <a:srgbClr val="990033"/>
              </a:buClr>
              <a:buSzPts val="2400"/>
              <a:buFont typeface="Arial"/>
              <a:buChar char="–"/>
            </a:pPr>
            <a:r>
              <a:rPr b="1" i="0" lang="en-US" sz="2400" u="none">
                <a:solidFill>
                  <a:srgbClr val="990033"/>
                </a:solidFill>
                <a:latin typeface="Arial"/>
                <a:ea typeface="Arial"/>
                <a:cs typeface="Arial"/>
                <a:sym typeface="Arial"/>
              </a:rPr>
              <a:t>Composant</a:t>
            </a:r>
            <a:r>
              <a:rPr b="0" i="0" lang="en-US" sz="2400" u="none">
                <a:solidFill>
                  <a:schemeClr val="dk1"/>
                </a:solidFill>
                <a:latin typeface="Arial"/>
                <a:ea typeface="Arial"/>
                <a:cs typeface="Arial"/>
                <a:sym typeface="Arial"/>
              </a:rPr>
              <a:t> : </a:t>
            </a:r>
            <a:endParaRPr/>
          </a:p>
          <a:p>
            <a:pPr indent="-228600" lvl="2" marL="114300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Est une partie physique et remplaçable d’un système qui :</a:t>
            </a:r>
            <a:endParaRPr/>
          </a:p>
          <a:p>
            <a:pPr indent="-228600" lvl="3" marL="1600200" rtl="0" algn="l">
              <a:lnSpc>
                <a:spcPct val="10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se conforme à un ensemble d'interfaces </a:t>
            </a:r>
            <a:endParaRPr/>
          </a:p>
          <a:p>
            <a:pPr indent="-228600" lvl="3" marL="1600200" rtl="0" algn="l">
              <a:lnSpc>
                <a:spcPct val="10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fournit la réalisation d'un ensemble d'interfaces </a:t>
            </a:r>
            <a:endParaRPr/>
          </a:p>
        </p:txBody>
      </p:sp>
      <p:sp>
        <p:nvSpPr>
          <p:cNvPr id="1757" name="Google Shape;1757;p178"/>
          <p:cNvSpPr/>
          <p:nvPr/>
        </p:nvSpPr>
        <p:spPr>
          <a:xfrm>
            <a:off x="6832600" y="4949825"/>
            <a:ext cx="2235200" cy="1498600"/>
          </a:xfrm>
          <a:prstGeom prst="wedgeEllipseCallout">
            <a:avLst>
              <a:gd fmla="val -10601" name="adj1"/>
              <a:gd fmla="val -22218" name="adj2"/>
            </a:avLst>
          </a:prstGeom>
          <a:solidFill>
            <a:srgbClr val="FFFFDD"/>
          </a:solidFill>
          <a:ln cap="flat" cmpd="sng" w="9525">
            <a:solidFill>
              <a:srgbClr val="663300"/>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lnSpc>
                <a:spcPct val="100000"/>
              </a:lnSpc>
              <a:spcBef>
                <a:spcPts val="0"/>
              </a:spcBef>
              <a:spcAft>
                <a:spcPts val="0"/>
              </a:spcAft>
              <a:buClr>
                <a:schemeClr val="accent2"/>
              </a:buClr>
              <a:buSzPts val="1400"/>
              <a:buFont typeface="Arial"/>
              <a:buNone/>
            </a:pPr>
            <a:r>
              <a:rPr b="0" i="0" lang="en-US" sz="1400" u="none">
                <a:solidFill>
                  <a:schemeClr val="accent2"/>
                </a:solidFill>
                <a:latin typeface="Arial"/>
                <a:ea typeface="Arial"/>
                <a:cs typeface="Arial"/>
                <a:sym typeface="Arial"/>
              </a:rPr>
              <a:t>Un composant peut être remplacé par un autre qui est conforme à la même interface</a:t>
            </a:r>
            <a:endParaRPr/>
          </a:p>
        </p:txBody>
      </p:sp>
      <p:sp>
        <p:nvSpPr>
          <p:cNvPr id="1758" name="Google Shape;1758;p178"/>
          <p:cNvSpPr txBox="1"/>
          <p:nvPr/>
        </p:nvSpPr>
        <p:spPr>
          <a:xfrm>
            <a:off x="1574800" y="3975100"/>
            <a:ext cx="6375400" cy="17240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2000"/>
              <a:buFont typeface="Libre Baskerville"/>
              <a:buChar char="•"/>
            </a:pPr>
            <a:r>
              <a:rPr b="0" i="0" lang="en-US" sz="2000" u="none">
                <a:solidFill>
                  <a:schemeClr val="dk1"/>
                </a:solidFill>
                <a:latin typeface="Libre Baskerville"/>
                <a:ea typeface="Libre Baskerville"/>
                <a:cs typeface="Libre Baskerville"/>
                <a:sym typeface="Libre Baskerville"/>
              </a:rPr>
              <a:t>Représente le conditionnement physique des éléments de modélisation tels que classes, interfaces et collaborations</a:t>
            </a:r>
            <a:endParaRPr/>
          </a:p>
          <a:p>
            <a:pPr indent="-342900" lvl="0" marL="342900" marR="0" rtl="0" algn="l">
              <a:lnSpc>
                <a:spcPct val="90000"/>
              </a:lnSpc>
              <a:spcBef>
                <a:spcPts val="400"/>
              </a:spcBef>
              <a:spcAft>
                <a:spcPts val="0"/>
              </a:spcAft>
              <a:buClr>
                <a:schemeClr val="dk1"/>
              </a:buClr>
              <a:buSzPts val="2000"/>
              <a:buFont typeface="Libre Baskerville"/>
              <a:buChar char="•"/>
            </a:pPr>
            <a:r>
              <a:rPr b="0" i="0" lang="en-US" sz="2000" u="none">
                <a:solidFill>
                  <a:schemeClr val="dk1"/>
                </a:solidFill>
                <a:latin typeface="Libre Baskerville"/>
                <a:ea typeface="Libre Baskerville"/>
                <a:cs typeface="Libre Baskerville"/>
                <a:sym typeface="Libre Baskerville"/>
              </a:rPr>
              <a:t>Le composants peuvent être organisés en paquetages, qui définissent des sous-systèmes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6">
                                            <p:txEl>
                                              <p:pRg end="0" st="0"/>
                                            </p:txEl>
                                          </p:spTgt>
                                        </p:tgtEl>
                                        <p:attrNameLst>
                                          <p:attrName>style.visibility</p:attrName>
                                        </p:attrNameLst>
                                      </p:cBhvr>
                                      <p:to>
                                        <p:strVal val="visible"/>
                                      </p:to>
                                    </p:set>
                                    <p:animEffect filter="fade" transition="in">
                                      <p:cBhvr>
                                        <p:cTn dur="500"/>
                                        <p:tgtEl>
                                          <p:spTgt spid="175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6">
                                            <p:txEl>
                                              <p:pRg end="1" st="1"/>
                                            </p:txEl>
                                          </p:spTgt>
                                        </p:tgtEl>
                                        <p:attrNameLst>
                                          <p:attrName>style.visibility</p:attrName>
                                        </p:attrNameLst>
                                      </p:cBhvr>
                                      <p:to>
                                        <p:strVal val="visible"/>
                                      </p:to>
                                    </p:set>
                                    <p:animEffect filter="fade" transition="in">
                                      <p:cBhvr>
                                        <p:cTn dur="500"/>
                                        <p:tgtEl>
                                          <p:spTgt spid="175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6">
                                            <p:txEl>
                                              <p:pRg end="2" st="2"/>
                                            </p:txEl>
                                          </p:spTgt>
                                        </p:tgtEl>
                                        <p:attrNameLst>
                                          <p:attrName>style.visibility</p:attrName>
                                        </p:attrNameLst>
                                      </p:cBhvr>
                                      <p:to>
                                        <p:strVal val="visible"/>
                                      </p:to>
                                    </p:set>
                                    <p:animEffect filter="fade" transition="in">
                                      <p:cBhvr>
                                        <p:cTn dur="500"/>
                                        <p:tgtEl>
                                          <p:spTgt spid="175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6">
                                            <p:txEl>
                                              <p:pRg end="3" st="3"/>
                                            </p:txEl>
                                          </p:spTgt>
                                        </p:tgtEl>
                                        <p:attrNameLst>
                                          <p:attrName>style.visibility</p:attrName>
                                        </p:attrNameLst>
                                      </p:cBhvr>
                                      <p:to>
                                        <p:strVal val="visible"/>
                                      </p:to>
                                    </p:set>
                                    <p:animEffect filter="fade" transition="in">
                                      <p:cBhvr>
                                        <p:cTn dur="500"/>
                                        <p:tgtEl>
                                          <p:spTgt spid="175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6">
                                            <p:txEl>
                                              <p:pRg end="4" st="4"/>
                                            </p:txEl>
                                          </p:spTgt>
                                        </p:tgtEl>
                                        <p:attrNameLst>
                                          <p:attrName>style.visibility</p:attrName>
                                        </p:attrNameLst>
                                      </p:cBhvr>
                                      <p:to>
                                        <p:strVal val="visible"/>
                                      </p:to>
                                    </p:set>
                                    <p:animEffect filter="fade" transition="in">
                                      <p:cBhvr>
                                        <p:cTn dur="500"/>
                                        <p:tgtEl>
                                          <p:spTgt spid="175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7"/>
                                        </p:tgtEl>
                                        <p:attrNameLst>
                                          <p:attrName>style.visibility</p:attrName>
                                        </p:attrNameLst>
                                      </p:cBhvr>
                                      <p:to>
                                        <p:strVal val="visible"/>
                                      </p:to>
                                    </p:set>
                                    <p:animEffect filter="fade" transition="in">
                                      <p:cBhvr>
                                        <p:cTn dur="500"/>
                                        <p:tgtEl>
                                          <p:spTgt spid="17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8">
                                            <p:txEl>
                                              <p:pRg end="0" st="0"/>
                                            </p:txEl>
                                          </p:spTgt>
                                        </p:tgtEl>
                                        <p:attrNameLst>
                                          <p:attrName>style.visibility</p:attrName>
                                        </p:attrNameLst>
                                      </p:cBhvr>
                                      <p:to>
                                        <p:strVal val="visible"/>
                                      </p:to>
                                    </p:set>
                                    <p:animEffect filter="fade" transition="in">
                                      <p:cBhvr>
                                        <p:cTn dur="500"/>
                                        <p:tgtEl>
                                          <p:spTgt spid="17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8">
                                            <p:txEl>
                                              <p:pRg end="1" st="1"/>
                                            </p:txEl>
                                          </p:spTgt>
                                        </p:tgtEl>
                                        <p:attrNameLst>
                                          <p:attrName>style.visibility</p:attrName>
                                        </p:attrNameLst>
                                      </p:cBhvr>
                                      <p:to>
                                        <p:strVal val="visible"/>
                                      </p:to>
                                    </p:set>
                                    <p:animEffect filter="fade" transition="in">
                                      <p:cBhvr>
                                        <p:cTn dur="500"/>
                                        <p:tgtEl>
                                          <p:spTgt spid="1758">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2" name="Shape 1762"/>
        <p:cNvGrpSpPr/>
        <p:nvPr/>
      </p:nvGrpSpPr>
      <p:grpSpPr>
        <a:xfrm>
          <a:off x="0" y="0"/>
          <a:ext cx="0" cy="0"/>
          <a:chOff x="0" y="0"/>
          <a:chExt cx="0" cy="0"/>
        </a:xfrm>
      </p:grpSpPr>
      <p:sp>
        <p:nvSpPr>
          <p:cNvPr id="1763" name="Google Shape;1763;p17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Composant</a:t>
            </a:r>
            <a:br>
              <a:rPr b="0" i="0" lang="en-US" sz="4400" u="none">
                <a:solidFill>
                  <a:schemeClr val="dk2"/>
                </a:solidFill>
                <a:latin typeface="Arial"/>
                <a:ea typeface="Arial"/>
                <a:cs typeface="Arial"/>
                <a:sym typeface="Arial"/>
              </a:rPr>
            </a:br>
            <a:r>
              <a:rPr b="0" i="0" lang="en-US" sz="4400" u="none">
                <a:solidFill>
                  <a:schemeClr val="dk2"/>
                </a:solidFill>
                <a:latin typeface="Arial"/>
                <a:ea typeface="Arial"/>
                <a:cs typeface="Arial"/>
                <a:sym typeface="Arial"/>
              </a:rPr>
              <a:t>(notation UML)</a:t>
            </a:r>
            <a:endParaRPr/>
          </a:p>
        </p:txBody>
      </p:sp>
      <p:sp>
        <p:nvSpPr>
          <p:cNvPr id="1764" name="Google Shape;1764;p179"/>
          <p:cNvSpPr txBox="1"/>
          <p:nvPr>
            <p:ph idx="1" type="body"/>
          </p:nvPr>
        </p:nvSpPr>
        <p:spPr>
          <a:xfrm>
            <a:off x="704850" y="3208337"/>
            <a:ext cx="7808912" cy="30527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accent2"/>
              </a:buClr>
              <a:buSzPts val="1800"/>
              <a:buFont typeface="Arial"/>
              <a:buChar char="•"/>
            </a:pPr>
            <a:r>
              <a:rPr b="1" i="0" lang="en-US" sz="1800" u="none">
                <a:solidFill>
                  <a:schemeClr val="accent2"/>
                </a:solidFill>
                <a:latin typeface="Arial"/>
                <a:ea typeface="Arial"/>
                <a:cs typeface="Arial"/>
                <a:sym typeface="Arial"/>
              </a:rPr>
              <a:t>Nom du composant </a:t>
            </a:r>
            <a:r>
              <a:rPr b="0" i="0" lang="en-US" sz="2000" u="none">
                <a:solidFill>
                  <a:schemeClr val="accent2"/>
                </a:solidFill>
                <a:latin typeface="Arial"/>
                <a:ea typeface="Arial"/>
                <a:cs typeface="Arial"/>
                <a:sym typeface="Arial"/>
              </a:rPr>
              <a:t>:</a:t>
            </a:r>
            <a:endParaRPr/>
          </a:p>
          <a:p>
            <a:pPr indent="-285750" lvl="1" marL="742950" rtl="0" algn="l">
              <a:lnSpc>
                <a:spcPct val="9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Permet de distinguer un composant des autres composants</a:t>
            </a:r>
            <a:endParaRPr/>
          </a:p>
          <a:p>
            <a:pPr indent="-285750" lvl="1" marL="742950" rtl="0" algn="l">
              <a:lnSpc>
                <a:spcPct val="9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Il peut être un nom simple ou un nom composé qui indique le paquetage auquel appartient le composant</a:t>
            </a:r>
            <a:endParaRPr/>
          </a:p>
          <a:p>
            <a:pPr indent="-342900" lvl="0" marL="342900" rtl="0" algn="l">
              <a:lnSpc>
                <a:spcPct val="90000"/>
              </a:lnSpc>
              <a:spcBef>
                <a:spcPts val="400"/>
              </a:spcBef>
              <a:spcAft>
                <a:spcPts val="0"/>
              </a:spcAft>
              <a:buClr>
                <a:schemeClr val="accent2"/>
              </a:buClr>
              <a:buSzPts val="1800"/>
              <a:buFont typeface="Arial"/>
              <a:buChar char="•"/>
            </a:pPr>
            <a:r>
              <a:rPr b="1" i="0" lang="en-US" sz="1800" u="none">
                <a:solidFill>
                  <a:schemeClr val="accent2"/>
                </a:solidFill>
                <a:latin typeface="Arial"/>
                <a:ea typeface="Arial"/>
                <a:cs typeface="Arial"/>
                <a:sym typeface="Arial"/>
              </a:rPr>
              <a:t>Stéréotypes </a:t>
            </a:r>
            <a:r>
              <a:rPr b="0" i="0" lang="en-US" sz="2000" u="none">
                <a:solidFill>
                  <a:schemeClr val="accent2"/>
                </a:solidFill>
                <a:latin typeface="Arial"/>
                <a:ea typeface="Arial"/>
                <a:cs typeface="Arial"/>
                <a:sym typeface="Arial"/>
              </a:rPr>
              <a:t>:</a:t>
            </a:r>
            <a:r>
              <a:rPr b="0" i="0" lang="en-US" sz="2000" u="none">
                <a:solidFill>
                  <a:schemeClr val="dk1"/>
                </a:solidFill>
                <a:latin typeface="Arial"/>
                <a:ea typeface="Arial"/>
                <a:cs typeface="Arial"/>
                <a:sym typeface="Arial"/>
              </a:rPr>
              <a:t> </a:t>
            </a:r>
            <a:r>
              <a:rPr b="0" i="0" lang="en-US" sz="1800" u="none">
                <a:solidFill>
                  <a:schemeClr val="dk1"/>
                </a:solidFill>
                <a:latin typeface="Arial"/>
                <a:ea typeface="Arial"/>
                <a:cs typeface="Arial"/>
                <a:sym typeface="Arial"/>
              </a:rPr>
              <a:t>spécifient un composant qui désigne:</a:t>
            </a:r>
            <a:endParaRPr/>
          </a:p>
          <a:p>
            <a:pPr indent="-285750" lvl="1" marL="742950" rtl="0" algn="l">
              <a:lnSpc>
                <a:spcPct val="9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 </a:t>
            </a:r>
            <a:r>
              <a:rPr b="0" i="1" lang="en-US" sz="1800" u="none">
                <a:solidFill>
                  <a:schemeClr val="dk1"/>
                </a:solidFill>
                <a:latin typeface="Arial"/>
                <a:ea typeface="Arial"/>
                <a:cs typeface="Arial"/>
                <a:sym typeface="Arial"/>
              </a:rPr>
              <a:t>executable</a:t>
            </a:r>
            <a:r>
              <a:rPr b="0" i="0" lang="en-US" sz="1800" u="none">
                <a:solidFill>
                  <a:schemeClr val="dk1"/>
                </a:solidFill>
                <a:latin typeface="Arial"/>
                <a:ea typeface="Arial"/>
                <a:cs typeface="Arial"/>
                <a:sym typeface="Arial"/>
              </a:rPr>
              <a:t> »: un programme pouvant s’exécuter sur un nœud </a:t>
            </a:r>
            <a:endParaRPr/>
          </a:p>
          <a:p>
            <a:pPr indent="-285750" lvl="1" marL="742950" rtl="0" algn="l">
              <a:lnSpc>
                <a:spcPct val="9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 </a:t>
            </a:r>
            <a:r>
              <a:rPr b="0" i="1" lang="en-US" sz="1800" u="none">
                <a:solidFill>
                  <a:schemeClr val="dk1"/>
                </a:solidFill>
                <a:latin typeface="Arial"/>
                <a:ea typeface="Arial"/>
                <a:cs typeface="Arial"/>
                <a:sym typeface="Arial"/>
              </a:rPr>
              <a:t>library</a:t>
            </a:r>
            <a:r>
              <a:rPr b="0" i="0" lang="en-US" sz="1800" u="none">
                <a:solidFill>
                  <a:schemeClr val="dk1"/>
                </a:solidFill>
                <a:latin typeface="Arial"/>
                <a:ea typeface="Arial"/>
                <a:cs typeface="Arial"/>
                <a:sym typeface="Arial"/>
              </a:rPr>
              <a:t> » : une bibliothèque statique ou dynamique</a:t>
            </a:r>
            <a:endParaRPr/>
          </a:p>
          <a:p>
            <a:pPr indent="-285750" lvl="1" marL="742950" rtl="0" algn="l">
              <a:lnSpc>
                <a:spcPct val="9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 </a:t>
            </a:r>
            <a:r>
              <a:rPr b="0" i="1" lang="en-US" sz="1800" u="none">
                <a:solidFill>
                  <a:schemeClr val="dk1"/>
                </a:solidFill>
                <a:latin typeface="Arial"/>
                <a:ea typeface="Arial"/>
                <a:cs typeface="Arial"/>
                <a:sym typeface="Arial"/>
              </a:rPr>
              <a:t>table</a:t>
            </a:r>
            <a:r>
              <a:rPr b="0" i="0" lang="en-US" sz="1800" u="none">
                <a:solidFill>
                  <a:schemeClr val="dk1"/>
                </a:solidFill>
                <a:latin typeface="Arial"/>
                <a:ea typeface="Arial"/>
                <a:cs typeface="Arial"/>
                <a:sym typeface="Arial"/>
              </a:rPr>
              <a:t> »: une table de base de données</a:t>
            </a:r>
            <a:endParaRPr/>
          </a:p>
          <a:p>
            <a:pPr indent="-285750" lvl="1" marL="742950" rtl="0" algn="l">
              <a:lnSpc>
                <a:spcPct val="9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 </a:t>
            </a:r>
            <a:r>
              <a:rPr b="0" i="1" lang="en-US" sz="1800" u="none">
                <a:solidFill>
                  <a:schemeClr val="dk1"/>
                </a:solidFill>
                <a:latin typeface="Arial"/>
                <a:ea typeface="Arial"/>
                <a:cs typeface="Arial"/>
                <a:sym typeface="Arial"/>
              </a:rPr>
              <a:t>file</a:t>
            </a:r>
            <a:r>
              <a:rPr b="0" i="0" lang="en-US" sz="1800" u="none">
                <a:solidFill>
                  <a:schemeClr val="dk1"/>
                </a:solidFill>
                <a:latin typeface="Arial"/>
                <a:ea typeface="Arial"/>
                <a:cs typeface="Arial"/>
                <a:sym typeface="Arial"/>
              </a:rPr>
              <a:t> » : un fichier contenant du code source ou des données</a:t>
            </a:r>
            <a:endParaRPr/>
          </a:p>
          <a:p>
            <a:pPr indent="-285750" lvl="1" marL="742950" rtl="0" algn="l">
              <a:lnSpc>
                <a:spcPct val="9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 </a:t>
            </a:r>
            <a:r>
              <a:rPr b="0" i="1" lang="en-US" sz="1800" u="none">
                <a:solidFill>
                  <a:schemeClr val="dk1"/>
                </a:solidFill>
                <a:latin typeface="Arial"/>
                <a:ea typeface="Arial"/>
                <a:cs typeface="Arial"/>
                <a:sym typeface="Arial"/>
              </a:rPr>
              <a:t>document</a:t>
            </a:r>
            <a:r>
              <a:rPr b="0" i="0" lang="en-US" sz="1800" u="none">
                <a:solidFill>
                  <a:schemeClr val="dk1"/>
                </a:solidFill>
                <a:latin typeface="Arial"/>
                <a:ea typeface="Arial"/>
                <a:cs typeface="Arial"/>
                <a:sym typeface="Arial"/>
              </a:rPr>
              <a:t> » : un document</a:t>
            </a:r>
            <a:endParaRPr/>
          </a:p>
        </p:txBody>
      </p:sp>
      <p:grpSp>
        <p:nvGrpSpPr>
          <p:cNvPr id="1765" name="Google Shape;1765;p179"/>
          <p:cNvGrpSpPr/>
          <p:nvPr/>
        </p:nvGrpSpPr>
        <p:grpSpPr>
          <a:xfrm>
            <a:off x="5289550" y="2200275"/>
            <a:ext cx="1638300" cy="776287"/>
            <a:chOff x="3332" y="1658"/>
            <a:chExt cx="1032" cy="489"/>
          </a:xfrm>
        </p:grpSpPr>
        <p:sp>
          <p:nvSpPr>
            <p:cNvPr id="1766" name="Google Shape;1766;p179"/>
            <p:cNvSpPr txBox="1"/>
            <p:nvPr/>
          </p:nvSpPr>
          <p:spPr>
            <a:xfrm>
              <a:off x="3404" y="1658"/>
              <a:ext cx="960" cy="489"/>
            </a:xfrm>
            <a:prstGeom prst="rect">
              <a:avLst/>
            </a:prstGeom>
            <a:solidFill>
              <a:srgbClr val="FFCC99"/>
            </a:solidFill>
            <a:ln cap="flat" cmpd="sng" w="9525">
              <a:solidFill>
                <a:srgbClr val="6633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767" name="Google Shape;1767;p179"/>
            <p:cNvSpPr txBox="1"/>
            <p:nvPr/>
          </p:nvSpPr>
          <p:spPr>
            <a:xfrm>
              <a:off x="3332" y="1779"/>
              <a:ext cx="245" cy="97"/>
            </a:xfrm>
            <a:prstGeom prst="rect">
              <a:avLst/>
            </a:prstGeom>
            <a:solidFill>
              <a:srgbClr val="FFCC99"/>
            </a:solidFill>
            <a:ln cap="flat" cmpd="sng" w="9525">
              <a:solidFill>
                <a:srgbClr val="6633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768" name="Google Shape;1768;p179"/>
            <p:cNvSpPr txBox="1"/>
            <p:nvPr/>
          </p:nvSpPr>
          <p:spPr>
            <a:xfrm>
              <a:off x="3332" y="1980"/>
              <a:ext cx="245" cy="97"/>
            </a:xfrm>
            <a:prstGeom prst="rect">
              <a:avLst/>
            </a:prstGeom>
            <a:solidFill>
              <a:srgbClr val="FFCC99"/>
            </a:solidFill>
            <a:ln cap="flat" cmpd="sng" w="9525">
              <a:solidFill>
                <a:srgbClr val="6633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1769" name="Google Shape;1769;p179"/>
            <p:cNvGrpSpPr/>
            <p:nvPr/>
          </p:nvGrpSpPr>
          <p:grpSpPr>
            <a:xfrm>
              <a:off x="3600" y="1792"/>
              <a:ext cx="665" cy="208"/>
              <a:chOff x="3600" y="1792"/>
              <a:chExt cx="665" cy="208"/>
            </a:xfrm>
          </p:grpSpPr>
          <p:sp>
            <p:nvSpPr>
              <p:cNvPr id="1770" name="Google Shape;1770;p179"/>
              <p:cNvSpPr txBox="1"/>
              <p:nvPr/>
            </p:nvSpPr>
            <p:spPr>
              <a:xfrm>
                <a:off x="3678" y="1838"/>
                <a:ext cx="587"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CC3300"/>
                  </a:buClr>
                  <a:buSzPts val="1200"/>
                  <a:buFont typeface="Arial"/>
                  <a:buNone/>
                </a:pPr>
                <a:r>
                  <a:rPr b="1" i="0" lang="en-US" sz="1200" u="none">
                    <a:solidFill>
                      <a:srgbClr val="CC3300"/>
                    </a:solidFill>
                    <a:latin typeface="Arial"/>
                    <a:ea typeface="Arial"/>
                    <a:cs typeface="Arial"/>
                    <a:sym typeface="Arial"/>
                  </a:rPr>
                  <a:t>Component1</a:t>
                </a:r>
                <a:endParaRPr/>
              </a:p>
            </p:txBody>
          </p:sp>
          <p:sp>
            <p:nvSpPr>
              <p:cNvPr id="1771" name="Google Shape;1771;p179"/>
              <p:cNvSpPr txBox="1"/>
              <p:nvPr/>
            </p:nvSpPr>
            <p:spPr>
              <a:xfrm>
                <a:off x="3600" y="1792"/>
                <a:ext cx="264" cy="208"/>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grpSp>
      <p:sp>
        <p:nvSpPr>
          <p:cNvPr id="1772" name="Google Shape;1772;p179"/>
          <p:cNvSpPr txBox="1"/>
          <p:nvPr/>
        </p:nvSpPr>
        <p:spPr>
          <a:xfrm>
            <a:off x="2100262" y="2400300"/>
            <a:ext cx="2314575" cy="366712"/>
          </a:xfrm>
          <a:prstGeom prst="rect">
            <a:avLst/>
          </a:prstGeom>
          <a:noFill/>
          <a:ln>
            <a:noFill/>
          </a:ln>
        </p:spPr>
        <p:txBody>
          <a:bodyPr anchorCtr="0" anchor="t" bIns="46800" lIns="90000" spcFirstLastPara="1" rIns="90000" wrap="square" tIns="46800">
            <a:spAutoFit/>
          </a:bodyPr>
          <a:lstStyle/>
          <a:p>
            <a:pPr indent="0" lvl="0" marL="0" marR="0" rtl="0" algn="l">
              <a:lnSpc>
                <a:spcPct val="100000"/>
              </a:lnSpc>
              <a:spcBef>
                <a:spcPts val="0"/>
              </a:spcBef>
              <a:spcAft>
                <a:spcPts val="0"/>
              </a:spcAft>
              <a:buClr>
                <a:schemeClr val="accent2"/>
              </a:buClr>
              <a:buSzPts val="1800"/>
              <a:buFont typeface="Arial"/>
              <a:buNone/>
            </a:pPr>
            <a:r>
              <a:rPr b="0" i="0" lang="en-US" sz="1800" u="none">
                <a:solidFill>
                  <a:schemeClr val="accent2"/>
                </a:solidFill>
                <a:latin typeface="Arial"/>
                <a:ea typeface="Arial"/>
                <a:cs typeface="Arial"/>
                <a:sym typeface="Arial"/>
              </a:rPr>
              <a:t>Nom du composant</a:t>
            </a:r>
            <a:endParaRPr/>
          </a:p>
        </p:txBody>
      </p:sp>
      <p:cxnSp>
        <p:nvCxnSpPr>
          <p:cNvPr id="1773" name="Google Shape;1773;p179"/>
          <p:cNvCxnSpPr/>
          <p:nvPr/>
        </p:nvCxnSpPr>
        <p:spPr>
          <a:xfrm flipH="1">
            <a:off x="4414837" y="2578100"/>
            <a:ext cx="1300162" cy="6350"/>
          </a:xfrm>
          <a:prstGeom prst="straightConnector1">
            <a:avLst/>
          </a:prstGeom>
          <a:noFill/>
          <a:ln cap="flat" cmpd="sng" w="9525">
            <a:solidFill>
              <a:schemeClr val="dk1"/>
            </a:solidFill>
            <a:prstDash val="solid"/>
            <a:miter lim="800000"/>
            <a:headEnd len="med" w="med" type="oval"/>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4">
                                            <p:txEl>
                                              <p:pRg end="0" st="0"/>
                                            </p:txEl>
                                          </p:spTgt>
                                        </p:tgtEl>
                                        <p:attrNameLst>
                                          <p:attrName>style.visibility</p:attrName>
                                        </p:attrNameLst>
                                      </p:cBhvr>
                                      <p:to>
                                        <p:strVal val="visible"/>
                                      </p:to>
                                    </p:set>
                                    <p:animEffect filter="fade" transition="in">
                                      <p:cBhvr>
                                        <p:cTn dur="500"/>
                                        <p:tgtEl>
                                          <p:spTgt spid="17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4">
                                            <p:txEl>
                                              <p:pRg end="1" st="1"/>
                                            </p:txEl>
                                          </p:spTgt>
                                        </p:tgtEl>
                                        <p:attrNameLst>
                                          <p:attrName>style.visibility</p:attrName>
                                        </p:attrNameLst>
                                      </p:cBhvr>
                                      <p:to>
                                        <p:strVal val="visible"/>
                                      </p:to>
                                    </p:set>
                                    <p:animEffect filter="fade" transition="in">
                                      <p:cBhvr>
                                        <p:cTn dur="500"/>
                                        <p:tgtEl>
                                          <p:spTgt spid="176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4">
                                            <p:txEl>
                                              <p:pRg end="2" st="2"/>
                                            </p:txEl>
                                          </p:spTgt>
                                        </p:tgtEl>
                                        <p:attrNameLst>
                                          <p:attrName>style.visibility</p:attrName>
                                        </p:attrNameLst>
                                      </p:cBhvr>
                                      <p:to>
                                        <p:strVal val="visible"/>
                                      </p:to>
                                    </p:set>
                                    <p:animEffect filter="fade" transition="in">
                                      <p:cBhvr>
                                        <p:cTn dur="500"/>
                                        <p:tgtEl>
                                          <p:spTgt spid="176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4">
                                            <p:txEl>
                                              <p:pRg end="3" st="3"/>
                                            </p:txEl>
                                          </p:spTgt>
                                        </p:tgtEl>
                                        <p:attrNameLst>
                                          <p:attrName>style.visibility</p:attrName>
                                        </p:attrNameLst>
                                      </p:cBhvr>
                                      <p:to>
                                        <p:strVal val="visible"/>
                                      </p:to>
                                    </p:set>
                                    <p:animEffect filter="fade" transition="in">
                                      <p:cBhvr>
                                        <p:cTn dur="500"/>
                                        <p:tgtEl>
                                          <p:spTgt spid="176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4">
                                            <p:txEl>
                                              <p:pRg end="4" st="4"/>
                                            </p:txEl>
                                          </p:spTgt>
                                        </p:tgtEl>
                                        <p:attrNameLst>
                                          <p:attrName>style.visibility</p:attrName>
                                        </p:attrNameLst>
                                      </p:cBhvr>
                                      <p:to>
                                        <p:strVal val="visible"/>
                                      </p:to>
                                    </p:set>
                                    <p:animEffect filter="fade" transition="in">
                                      <p:cBhvr>
                                        <p:cTn dur="500"/>
                                        <p:tgtEl>
                                          <p:spTgt spid="176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4">
                                            <p:txEl>
                                              <p:pRg end="5" st="5"/>
                                            </p:txEl>
                                          </p:spTgt>
                                        </p:tgtEl>
                                        <p:attrNameLst>
                                          <p:attrName>style.visibility</p:attrName>
                                        </p:attrNameLst>
                                      </p:cBhvr>
                                      <p:to>
                                        <p:strVal val="visible"/>
                                      </p:to>
                                    </p:set>
                                    <p:animEffect filter="fade" transition="in">
                                      <p:cBhvr>
                                        <p:cTn dur="500"/>
                                        <p:tgtEl>
                                          <p:spTgt spid="176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4">
                                            <p:txEl>
                                              <p:pRg end="6" st="6"/>
                                            </p:txEl>
                                          </p:spTgt>
                                        </p:tgtEl>
                                        <p:attrNameLst>
                                          <p:attrName>style.visibility</p:attrName>
                                        </p:attrNameLst>
                                      </p:cBhvr>
                                      <p:to>
                                        <p:strVal val="visible"/>
                                      </p:to>
                                    </p:set>
                                    <p:animEffect filter="fade" transition="in">
                                      <p:cBhvr>
                                        <p:cTn dur="500"/>
                                        <p:tgtEl>
                                          <p:spTgt spid="176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4">
                                            <p:txEl>
                                              <p:pRg end="7" st="7"/>
                                            </p:txEl>
                                          </p:spTgt>
                                        </p:tgtEl>
                                        <p:attrNameLst>
                                          <p:attrName>style.visibility</p:attrName>
                                        </p:attrNameLst>
                                      </p:cBhvr>
                                      <p:to>
                                        <p:strVal val="visible"/>
                                      </p:to>
                                    </p:set>
                                    <p:animEffect filter="fade" transition="in">
                                      <p:cBhvr>
                                        <p:cTn dur="500"/>
                                        <p:tgtEl>
                                          <p:spTgt spid="176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4">
                                            <p:txEl>
                                              <p:pRg end="8" st="8"/>
                                            </p:txEl>
                                          </p:spTgt>
                                        </p:tgtEl>
                                        <p:attrNameLst>
                                          <p:attrName>style.visibility</p:attrName>
                                        </p:attrNameLst>
                                      </p:cBhvr>
                                      <p:to>
                                        <p:strVal val="visible"/>
                                      </p:to>
                                    </p:set>
                                    <p:animEffect filter="fade" transition="in">
                                      <p:cBhvr>
                                        <p:cTn dur="500"/>
                                        <p:tgtEl>
                                          <p:spTgt spid="1764">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7" name="Shape 1777"/>
        <p:cNvGrpSpPr/>
        <p:nvPr/>
      </p:nvGrpSpPr>
      <p:grpSpPr>
        <a:xfrm>
          <a:off x="0" y="0"/>
          <a:ext cx="0" cy="0"/>
          <a:chOff x="0" y="0"/>
          <a:chExt cx="0" cy="0"/>
        </a:xfrm>
      </p:grpSpPr>
      <p:sp>
        <p:nvSpPr>
          <p:cNvPr id="1778" name="Google Shape;1778;p18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Diagramme de composants </a:t>
            </a:r>
            <a:endParaRPr/>
          </a:p>
        </p:txBody>
      </p:sp>
      <p:sp>
        <p:nvSpPr>
          <p:cNvPr id="1779" name="Google Shape;1779;p180"/>
          <p:cNvSpPr txBox="1"/>
          <p:nvPr>
            <p:ph idx="1" type="body"/>
          </p:nvPr>
        </p:nvSpPr>
        <p:spPr>
          <a:xfrm>
            <a:off x="762000" y="1600200"/>
            <a:ext cx="7924800" cy="4543425"/>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Concepts :</a:t>
            </a:r>
            <a:endParaRPr/>
          </a:p>
          <a:p>
            <a:pPr indent="-285750" lvl="1" marL="742950" rtl="0" algn="l">
              <a:lnSpc>
                <a:spcPct val="90000"/>
              </a:lnSpc>
              <a:spcBef>
                <a:spcPts val="480"/>
              </a:spcBef>
              <a:spcAft>
                <a:spcPts val="0"/>
              </a:spcAft>
              <a:buClr>
                <a:schemeClr val="accent2"/>
              </a:buClr>
              <a:buSzPts val="2400"/>
              <a:buFont typeface="Arial"/>
              <a:buChar char="–"/>
            </a:pPr>
            <a:r>
              <a:rPr b="1" i="0" lang="en-US" sz="2400" u="none">
                <a:solidFill>
                  <a:schemeClr val="accent2"/>
                </a:solidFill>
                <a:latin typeface="Arial"/>
                <a:ea typeface="Arial"/>
                <a:cs typeface="Arial"/>
                <a:sym typeface="Arial"/>
              </a:rPr>
              <a:t>Interface</a:t>
            </a:r>
            <a:r>
              <a:rPr b="0" i="0" lang="en-US" sz="2400" u="none">
                <a:solidFill>
                  <a:schemeClr val="accent2"/>
                </a:solidFill>
                <a:latin typeface="Arial"/>
                <a:ea typeface="Arial"/>
                <a:cs typeface="Arial"/>
                <a:sym typeface="Arial"/>
              </a:rPr>
              <a:t> :</a:t>
            </a:r>
            <a:r>
              <a:rPr b="0" i="0" lang="en-US" sz="2400" u="none">
                <a:solidFill>
                  <a:schemeClr val="lt1"/>
                </a:solidFill>
                <a:latin typeface="Arial"/>
                <a:ea typeface="Arial"/>
                <a:cs typeface="Arial"/>
                <a:sym typeface="Arial"/>
              </a:rPr>
              <a:t> </a:t>
            </a:r>
            <a:endParaRPr/>
          </a:p>
          <a:p>
            <a:pPr indent="-228600" lvl="2" marL="114300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Est une collection d’opérations utilisées pour spécifier les services d’une classe ou d’un composant</a:t>
            </a:r>
            <a:endParaRPr/>
          </a:p>
          <a:p>
            <a:pPr indent="-285750" lvl="1" marL="742950" rtl="0" algn="l">
              <a:lnSpc>
                <a:spcPct val="90000"/>
              </a:lnSpc>
              <a:spcBef>
                <a:spcPts val="480"/>
              </a:spcBef>
              <a:spcAft>
                <a:spcPts val="0"/>
              </a:spcAft>
              <a:buClr>
                <a:schemeClr val="accent2"/>
              </a:buClr>
              <a:buSzPts val="2400"/>
              <a:buFont typeface="Arial"/>
              <a:buChar char="–"/>
            </a:pPr>
            <a:r>
              <a:rPr b="1" i="0" lang="en-US" sz="2400" u="none">
                <a:solidFill>
                  <a:schemeClr val="accent2"/>
                </a:solidFill>
                <a:latin typeface="Arial"/>
                <a:ea typeface="Arial"/>
                <a:cs typeface="Arial"/>
                <a:sym typeface="Arial"/>
              </a:rPr>
              <a:t>Relations avec</a:t>
            </a:r>
            <a:r>
              <a:rPr b="1" i="0" lang="en-US" sz="2400" u="none">
                <a:solidFill>
                  <a:schemeClr val="lt1"/>
                </a:solidFill>
                <a:latin typeface="Arial"/>
                <a:ea typeface="Arial"/>
                <a:cs typeface="Arial"/>
                <a:sym typeface="Arial"/>
              </a:rPr>
              <a:t> </a:t>
            </a:r>
            <a:r>
              <a:rPr b="1" i="0" lang="en-US" sz="2400" u="none">
                <a:solidFill>
                  <a:schemeClr val="accent2"/>
                </a:solidFill>
                <a:latin typeface="Arial"/>
                <a:ea typeface="Arial"/>
                <a:cs typeface="Arial"/>
                <a:sym typeface="Arial"/>
              </a:rPr>
              <a:t>les interfaces</a:t>
            </a:r>
            <a:endParaRPr/>
          </a:p>
          <a:p>
            <a:pPr indent="-228600" lvl="2" marL="1143000" rtl="0" algn="l">
              <a:lnSpc>
                <a:spcPct val="90000"/>
              </a:lnSpc>
              <a:spcBef>
                <a:spcPts val="400"/>
              </a:spcBef>
              <a:spcAft>
                <a:spcPts val="0"/>
              </a:spcAft>
              <a:buClr>
                <a:schemeClr val="dk1"/>
              </a:buClr>
              <a:buSzPts val="2000"/>
              <a:buFont typeface="Arial"/>
              <a:buChar char="•"/>
            </a:pPr>
            <a:r>
              <a:rPr b="1" i="0" lang="en-US" sz="2000" u="none">
                <a:solidFill>
                  <a:schemeClr val="dk1"/>
                </a:solidFill>
                <a:latin typeface="Arial"/>
                <a:ea typeface="Arial"/>
                <a:cs typeface="Arial"/>
                <a:sym typeface="Arial"/>
              </a:rPr>
              <a:t>Réalisation</a:t>
            </a:r>
            <a:r>
              <a:rPr b="0" i="0" lang="en-US" sz="2000" u="none">
                <a:solidFill>
                  <a:schemeClr val="dk1"/>
                </a:solidFill>
                <a:latin typeface="Arial"/>
                <a:ea typeface="Arial"/>
                <a:cs typeface="Arial"/>
                <a:sym typeface="Arial"/>
              </a:rPr>
              <a:t> : </a:t>
            </a:r>
            <a:endParaRPr/>
          </a:p>
          <a:p>
            <a:pPr indent="-228600" lvl="3" marL="1600200" rtl="0" algn="l">
              <a:lnSpc>
                <a:spcPct val="9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Définie entre l’interface et le composant qui fournit les services pour les autres composants </a:t>
            </a:r>
            <a:endParaRPr/>
          </a:p>
          <a:p>
            <a:pPr indent="-228600" lvl="3" marL="1600200" rtl="0" algn="l">
              <a:lnSpc>
                <a:spcPct val="9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Cette interface est appelée « </a:t>
            </a:r>
            <a:r>
              <a:rPr b="0" i="1" lang="en-US" sz="1800" u="none">
                <a:solidFill>
                  <a:schemeClr val="dk1"/>
                </a:solidFill>
                <a:latin typeface="Arial"/>
                <a:ea typeface="Arial"/>
                <a:cs typeface="Arial"/>
                <a:sym typeface="Arial"/>
              </a:rPr>
              <a:t>interface exportée</a:t>
            </a:r>
            <a:r>
              <a:rPr b="0" i="0" lang="en-US" sz="1800" u="none">
                <a:solidFill>
                  <a:schemeClr val="dk1"/>
                </a:solidFill>
                <a:latin typeface="Arial"/>
                <a:ea typeface="Arial"/>
                <a:cs typeface="Arial"/>
                <a:sym typeface="Arial"/>
              </a:rPr>
              <a:t> » </a:t>
            </a:r>
            <a:endParaRPr/>
          </a:p>
          <a:p>
            <a:pPr indent="-228600" lvl="2" marL="1143000" rtl="0" algn="l">
              <a:lnSpc>
                <a:spcPct val="90000"/>
              </a:lnSpc>
              <a:spcBef>
                <a:spcPts val="400"/>
              </a:spcBef>
              <a:spcAft>
                <a:spcPts val="0"/>
              </a:spcAft>
              <a:buClr>
                <a:schemeClr val="dk1"/>
              </a:buClr>
              <a:buSzPts val="2000"/>
              <a:buFont typeface="Arial"/>
              <a:buChar char="•"/>
            </a:pPr>
            <a:r>
              <a:rPr b="1" i="0" lang="en-US" sz="2000" u="none">
                <a:solidFill>
                  <a:schemeClr val="dk1"/>
                </a:solidFill>
                <a:latin typeface="Arial"/>
                <a:ea typeface="Arial"/>
                <a:cs typeface="Arial"/>
                <a:sym typeface="Arial"/>
              </a:rPr>
              <a:t>Dépendance </a:t>
            </a:r>
            <a:r>
              <a:rPr b="0" i="0" lang="en-US" sz="2000" u="none">
                <a:solidFill>
                  <a:schemeClr val="dk1"/>
                </a:solidFill>
                <a:latin typeface="Arial"/>
                <a:ea typeface="Arial"/>
                <a:cs typeface="Arial"/>
                <a:sym typeface="Arial"/>
              </a:rPr>
              <a:t>:</a:t>
            </a:r>
            <a:endParaRPr/>
          </a:p>
          <a:p>
            <a:pPr indent="-228600" lvl="3" marL="1600200" rtl="0" algn="l">
              <a:lnSpc>
                <a:spcPct val="9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Définie entre l’interface et le composant qui utilise les services fournis par un autre composant</a:t>
            </a:r>
            <a:endParaRPr/>
          </a:p>
          <a:p>
            <a:pPr indent="-228600" lvl="3" marL="1600200" rtl="0" algn="l">
              <a:lnSpc>
                <a:spcPct val="9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Cette interface est appelée « </a:t>
            </a:r>
            <a:r>
              <a:rPr b="0" i="1" lang="en-US" sz="1800" u="none">
                <a:solidFill>
                  <a:schemeClr val="dk1"/>
                </a:solidFill>
                <a:latin typeface="Arial"/>
                <a:ea typeface="Arial"/>
                <a:cs typeface="Arial"/>
                <a:sym typeface="Arial"/>
              </a:rPr>
              <a:t>interface importée</a:t>
            </a:r>
            <a:r>
              <a:rPr b="0" i="0" lang="en-US" sz="1800" u="none">
                <a:solidFill>
                  <a:schemeClr val="dk1"/>
                </a:solidFill>
                <a:latin typeface="Arial"/>
                <a:ea typeface="Arial"/>
                <a:cs typeface="Arial"/>
                <a:sym typeface="Arial"/>
              </a:rPr>
              <a:t> ».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9">
                                            <p:txEl>
                                              <p:pRg end="0" st="0"/>
                                            </p:txEl>
                                          </p:spTgt>
                                        </p:tgtEl>
                                        <p:attrNameLst>
                                          <p:attrName>style.visibility</p:attrName>
                                        </p:attrNameLst>
                                      </p:cBhvr>
                                      <p:to>
                                        <p:strVal val="visible"/>
                                      </p:to>
                                    </p:set>
                                    <p:animEffect filter="fade" transition="in">
                                      <p:cBhvr>
                                        <p:cTn dur="500"/>
                                        <p:tgtEl>
                                          <p:spTgt spid="177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9">
                                            <p:txEl>
                                              <p:pRg end="1" st="1"/>
                                            </p:txEl>
                                          </p:spTgt>
                                        </p:tgtEl>
                                        <p:attrNameLst>
                                          <p:attrName>style.visibility</p:attrName>
                                        </p:attrNameLst>
                                      </p:cBhvr>
                                      <p:to>
                                        <p:strVal val="visible"/>
                                      </p:to>
                                    </p:set>
                                    <p:animEffect filter="fade" transition="in">
                                      <p:cBhvr>
                                        <p:cTn dur="500"/>
                                        <p:tgtEl>
                                          <p:spTgt spid="177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9">
                                            <p:txEl>
                                              <p:pRg end="2" st="2"/>
                                            </p:txEl>
                                          </p:spTgt>
                                        </p:tgtEl>
                                        <p:attrNameLst>
                                          <p:attrName>style.visibility</p:attrName>
                                        </p:attrNameLst>
                                      </p:cBhvr>
                                      <p:to>
                                        <p:strVal val="visible"/>
                                      </p:to>
                                    </p:set>
                                    <p:animEffect filter="fade" transition="in">
                                      <p:cBhvr>
                                        <p:cTn dur="500"/>
                                        <p:tgtEl>
                                          <p:spTgt spid="177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9">
                                            <p:txEl>
                                              <p:pRg end="3" st="3"/>
                                            </p:txEl>
                                          </p:spTgt>
                                        </p:tgtEl>
                                        <p:attrNameLst>
                                          <p:attrName>style.visibility</p:attrName>
                                        </p:attrNameLst>
                                      </p:cBhvr>
                                      <p:to>
                                        <p:strVal val="visible"/>
                                      </p:to>
                                    </p:set>
                                    <p:animEffect filter="fade" transition="in">
                                      <p:cBhvr>
                                        <p:cTn dur="500"/>
                                        <p:tgtEl>
                                          <p:spTgt spid="177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9">
                                            <p:txEl>
                                              <p:pRg end="4" st="4"/>
                                            </p:txEl>
                                          </p:spTgt>
                                        </p:tgtEl>
                                        <p:attrNameLst>
                                          <p:attrName>style.visibility</p:attrName>
                                        </p:attrNameLst>
                                      </p:cBhvr>
                                      <p:to>
                                        <p:strVal val="visible"/>
                                      </p:to>
                                    </p:set>
                                    <p:animEffect filter="fade" transition="in">
                                      <p:cBhvr>
                                        <p:cTn dur="500"/>
                                        <p:tgtEl>
                                          <p:spTgt spid="177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9">
                                            <p:txEl>
                                              <p:pRg end="5" st="5"/>
                                            </p:txEl>
                                          </p:spTgt>
                                        </p:tgtEl>
                                        <p:attrNameLst>
                                          <p:attrName>style.visibility</p:attrName>
                                        </p:attrNameLst>
                                      </p:cBhvr>
                                      <p:to>
                                        <p:strVal val="visible"/>
                                      </p:to>
                                    </p:set>
                                    <p:animEffect filter="fade" transition="in">
                                      <p:cBhvr>
                                        <p:cTn dur="500"/>
                                        <p:tgtEl>
                                          <p:spTgt spid="177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9">
                                            <p:txEl>
                                              <p:pRg end="6" st="6"/>
                                            </p:txEl>
                                          </p:spTgt>
                                        </p:tgtEl>
                                        <p:attrNameLst>
                                          <p:attrName>style.visibility</p:attrName>
                                        </p:attrNameLst>
                                      </p:cBhvr>
                                      <p:to>
                                        <p:strVal val="visible"/>
                                      </p:to>
                                    </p:set>
                                    <p:animEffect filter="fade" transition="in">
                                      <p:cBhvr>
                                        <p:cTn dur="500"/>
                                        <p:tgtEl>
                                          <p:spTgt spid="177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9">
                                            <p:txEl>
                                              <p:pRg end="7" st="7"/>
                                            </p:txEl>
                                          </p:spTgt>
                                        </p:tgtEl>
                                        <p:attrNameLst>
                                          <p:attrName>style.visibility</p:attrName>
                                        </p:attrNameLst>
                                      </p:cBhvr>
                                      <p:to>
                                        <p:strVal val="visible"/>
                                      </p:to>
                                    </p:set>
                                    <p:animEffect filter="fade" transition="in">
                                      <p:cBhvr>
                                        <p:cTn dur="500"/>
                                        <p:tgtEl>
                                          <p:spTgt spid="177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9">
                                            <p:txEl>
                                              <p:pRg end="8" st="8"/>
                                            </p:txEl>
                                          </p:spTgt>
                                        </p:tgtEl>
                                        <p:attrNameLst>
                                          <p:attrName>style.visibility</p:attrName>
                                        </p:attrNameLst>
                                      </p:cBhvr>
                                      <p:to>
                                        <p:strVal val="visible"/>
                                      </p:to>
                                    </p:set>
                                    <p:animEffect filter="fade" transition="in">
                                      <p:cBhvr>
                                        <p:cTn dur="500"/>
                                        <p:tgtEl>
                                          <p:spTgt spid="177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9">
                                            <p:txEl>
                                              <p:pRg end="9" st="9"/>
                                            </p:txEl>
                                          </p:spTgt>
                                        </p:tgtEl>
                                        <p:attrNameLst>
                                          <p:attrName>style.visibility</p:attrName>
                                        </p:attrNameLst>
                                      </p:cBhvr>
                                      <p:to>
                                        <p:strVal val="visible"/>
                                      </p:to>
                                    </p:set>
                                    <p:animEffect filter="fade" transition="in">
                                      <p:cBhvr>
                                        <p:cTn dur="500"/>
                                        <p:tgtEl>
                                          <p:spTgt spid="1779">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3" name="Shape 1783"/>
        <p:cNvGrpSpPr/>
        <p:nvPr/>
      </p:nvGrpSpPr>
      <p:grpSpPr>
        <a:xfrm>
          <a:off x="0" y="0"/>
          <a:ext cx="0" cy="0"/>
          <a:chOff x="0" y="0"/>
          <a:chExt cx="0" cy="0"/>
        </a:xfrm>
      </p:grpSpPr>
      <p:sp>
        <p:nvSpPr>
          <p:cNvPr id="1784" name="Google Shape;1784;p18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Interface</a:t>
            </a:r>
            <a:br>
              <a:rPr b="0" i="0" lang="en-US" sz="4400" u="none">
                <a:solidFill>
                  <a:schemeClr val="dk2"/>
                </a:solidFill>
                <a:latin typeface="Arial"/>
                <a:ea typeface="Arial"/>
                <a:cs typeface="Arial"/>
                <a:sym typeface="Arial"/>
              </a:rPr>
            </a:br>
            <a:r>
              <a:rPr b="0" i="0" lang="en-US" sz="4400" u="none">
                <a:solidFill>
                  <a:schemeClr val="dk2"/>
                </a:solidFill>
                <a:latin typeface="Arial"/>
                <a:ea typeface="Arial"/>
                <a:cs typeface="Arial"/>
                <a:sym typeface="Arial"/>
              </a:rPr>
              <a:t>(notation UML)</a:t>
            </a:r>
            <a:endParaRPr/>
          </a:p>
        </p:txBody>
      </p:sp>
      <p:grpSp>
        <p:nvGrpSpPr>
          <p:cNvPr id="1785" name="Google Shape;1785;p181"/>
          <p:cNvGrpSpPr/>
          <p:nvPr/>
        </p:nvGrpSpPr>
        <p:grpSpPr>
          <a:xfrm>
            <a:off x="5289550" y="2200275"/>
            <a:ext cx="1638300" cy="776287"/>
            <a:chOff x="3332" y="1658"/>
            <a:chExt cx="1032" cy="489"/>
          </a:xfrm>
        </p:grpSpPr>
        <p:sp>
          <p:nvSpPr>
            <p:cNvPr id="1786" name="Google Shape;1786;p181"/>
            <p:cNvSpPr txBox="1"/>
            <p:nvPr/>
          </p:nvSpPr>
          <p:spPr>
            <a:xfrm>
              <a:off x="3404" y="1658"/>
              <a:ext cx="960" cy="489"/>
            </a:xfrm>
            <a:prstGeom prst="rect">
              <a:avLst/>
            </a:prstGeom>
            <a:solidFill>
              <a:srgbClr val="FFCC99"/>
            </a:solidFill>
            <a:ln cap="flat" cmpd="sng" w="9525">
              <a:solidFill>
                <a:srgbClr val="6633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787" name="Google Shape;1787;p181"/>
            <p:cNvSpPr txBox="1"/>
            <p:nvPr/>
          </p:nvSpPr>
          <p:spPr>
            <a:xfrm>
              <a:off x="3332" y="1779"/>
              <a:ext cx="245" cy="97"/>
            </a:xfrm>
            <a:prstGeom prst="rect">
              <a:avLst/>
            </a:prstGeom>
            <a:solidFill>
              <a:srgbClr val="FFCC99"/>
            </a:solidFill>
            <a:ln cap="flat" cmpd="sng" w="9525">
              <a:solidFill>
                <a:srgbClr val="6633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788" name="Google Shape;1788;p181"/>
            <p:cNvSpPr txBox="1"/>
            <p:nvPr/>
          </p:nvSpPr>
          <p:spPr>
            <a:xfrm>
              <a:off x="3332" y="1980"/>
              <a:ext cx="245" cy="97"/>
            </a:xfrm>
            <a:prstGeom prst="rect">
              <a:avLst/>
            </a:prstGeom>
            <a:solidFill>
              <a:srgbClr val="FFCC99"/>
            </a:solidFill>
            <a:ln cap="flat" cmpd="sng" w="9525">
              <a:solidFill>
                <a:srgbClr val="6633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1789" name="Google Shape;1789;p181"/>
            <p:cNvGrpSpPr/>
            <p:nvPr/>
          </p:nvGrpSpPr>
          <p:grpSpPr>
            <a:xfrm>
              <a:off x="3600" y="1792"/>
              <a:ext cx="665" cy="208"/>
              <a:chOff x="3600" y="1792"/>
              <a:chExt cx="665" cy="208"/>
            </a:xfrm>
          </p:grpSpPr>
          <p:sp>
            <p:nvSpPr>
              <p:cNvPr id="1790" name="Google Shape;1790;p181"/>
              <p:cNvSpPr txBox="1"/>
              <p:nvPr/>
            </p:nvSpPr>
            <p:spPr>
              <a:xfrm>
                <a:off x="3678" y="1838"/>
                <a:ext cx="587"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CC3300"/>
                  </a:buClr>
                  <a:buSzPts val="1200"/>
                  <a:buFont typeface="Arial"/>
                  <a:buNone/>
                </a:pPr>
                <a:r>
                  <a:rPr b="1" i="0" lang="en-US" sz="1200" u="none">
                    <a:solidFill>
                      <a:srgbClr val="CC3300"/>
                    </a:solidFill>
                    <a:latin typeface="Arial"/>
                    <a:ea typeface="Arial"/>
                    <a:cs typeface="Arial"/>
                    <a:sym typeface="Arial"/>
                  </a:rPr>
                  <a:t>Component2</a:t>
                </a:r>
                <a:endParaRPr/>
              </a:p>
            </p:txBody>
          </p:sp>
          <p:sp>
            <p:nvSpPr>
              <p:cNvPr id="1791" name="Google Shape;1791;p181"/>
              <p:cNvSpPr txBox="1"/>
              <p:nvPr/>
            </p:nvSpPr>
            <p:spPr>
              <a:xfrm>
                <a:off x="3600" y="1792"/>
                <a:ext cx="264" cy="208"/>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grpSp>
      <p:grpSp>
        <p:nvGrpSpPr>
          <p:cNvPr id="1792" name="Google Shape;1792;p181"/>
          <p:cNvGrpSpPr/>
          <p:nvPr/>
        </p:nvGrpSpPr>
        <p:grpSpPr>
          <a:xfrm>
            <a:off x="1733550" y="2187575"/>
            <a:ext cx="1638300" cy="776287"/>
            <a:chOff x="3332" y="1658"/>
            <a:chExt cx="1032" cy="489"/>
          </a:xfrm>
        </p:grpSpPr>
        <p:sp>
          <p:nvSpPr>
            <p:cNvPr id="1793" name="Google Shape;1793;p181"/>
            <p:cNvSpPr txBox="1"/>
            <p:nvPr/>
          </p:nvSpPr>
          <p:spPr>
            <a:xfrm>
              <a:off x="3404" y="1658"/>
              <a:ext cx="960" cy="489"/>
            </a:xfrm>
            <a:prstGeom prst="rect">
              <a:avLst/>
            </a:prstGeom>
            <a:solidFill>
              <a:srgbClr val="FFCC99"/>
            </a:solidFill>
            <a:ln cap="flat" cmpd="sng" w="9525">
              <a:solidFill>
                <a:srgbClr val="6633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794" name="Google Shape;1794;p181"/>
            <p:cNvSpPr txBox="1"/>
            <p:nvPr/>
          </p:nvSpPr>
          <p:spPr>
            <a:xfrm>
              <a:off x="3332" y="1779"/>
              <a:ext cx="245" cy="97"/>
            </a:xfrm>
            <a:prstGeom prst="rect">
              <a:avLst/>
            </a:prstGeom>
            <a:solidFill>
              <a:srgbClr val="FFCC99"/>
            </a:solidFill>
            <a:ln cap="flat" cmpd="sng" w="9525">
              <a:solidFill>
                <a:srgbClr val="6633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795" name="Google Shape;1795;p181"/>
            <p:cNvSpPr txBox="1"/>
            <p:nvPr/>
          </p:nvSpPr>
          <p:spPr>
            <a:xfrm>
              <a:off x="3332" y="1980"/>
              <a:ext cx="245" cy="97"/>
            </a:xfrm>
            <a:prstGeom prst="rect">
              <a:avLst/>
            </a:prstGeom>
            <a:solidFill>
              <a:srgbClr val="FFCC99"/>
            </a:solidFill>
            <a:ln cap="flat" cmpd="sng" w="9525">
              <a:solidFill>
                <a:srgbClr val="6633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1796" name="Google Shape;1796;p181"/>
            <p:cNvGrpSpPr/>
            <p:nvPr/>
          </p:nvGrpSpPr>
          <p:grpSpPr>
            <a:xfrm>
              <a:off x="3600" y="1792"/>
              <a:ext cx="665" cy="208"/>
              <a:chOff x="3600" y="1792"/>
              <a:chExt cx="665" cy="208"/>
            </a:xfrm>
          </p:grpSpPr>
          <p:sp>
            <p:nvSpPr>
              <p:cNvPr id="1797" name="Google Shape;1797;p181"/>
              <p:cNvSpPr txBox="1"/>
              <p:nvPr/>
            </p:nvSpPr>
            <p:spPr>
              <a:xfrm>
                <a:off x="3678" y="1838"/>
                <a:ext cx="587"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CC3300"/>
                  </a:buClr>
                  <a:buSzPts val="1200"/>
                  <a:buFont typeface="Arial"/>
                  <a:buNone/>
                </a:pPr>
                <a:r>
                  <a:rPr b="1" i="0" lang="en-US" sz="1200" u="none">
                    <a:solidFill>
                      <a:srgbClr val="CC3300"/>
                    </a:solidFill>
                    <a:latin typeface="Arial"/>
                    <a:ea typeface="Arial"/>
                    <a:cs typeface="Arial"/>
                    <a:sym typeface="Arial"/>
                  </a:rPr>
                  <a:t>Component1</a:t>
                </a:r>
                <a:endParaRPr/>
              </a:p>
            </p:txBody>
          </p:sp>
          <p:sp>
            <p:nvSpPr>
              <p:cNvPr id="1798" name="Google Shape;1798;p181"/>
              <p:cNvSpPr txBox="1"/>
              <p:nvPr/>
            </p:nvSpPr>
            <p:spPr>
              <a:xfrm>
                <a:off x="3600" y="1792"/>
                <a:ext cx="264" cy="208"/>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grpSp>
      <p:cxnSp>
        <p:nvCxnSpPr>
          <p:cNvPr id="1799" name="Google Shape;1799;p181"/>
          <p:cNvCxnSpPr/>
          <p:nvPr/>
        </p:nvCxnSpPr>
        <p:spPr>
          <a:xfrm>
            <a:off x="4521200" y="2578100"/>
            <a:ext cx="1193800" cy="0"/>
          </a:xfrm>
          <a:prstGeom prst="straightConnector1">
            <a:avLst/>
          </a:prstGeom>
          <a:noFill/>
          <a:ln cap="flat" cmpd="sng" w="9525">
            <a:solidFill>
              <a:schemeClr val="dk1"/>
            </a:solidFill>
            <a:prstDash val="solid"/>
            <a:miter lim="800000"/>
            <a:headEnd len="med" w="med" type="none"/>
            <a:tailEnd len="med" w="med" type="none"/>
          </a:ln>
        </p:spPr>
      </p:cxnSp>
      <p:cxnSp>
        <p:nvCxnSpPr>
          <p:cNvPr id="1800" name="Google Shape;1800;p181"/>
          <p:cNvCxnSpPr/>
          <p:nvPr/>
        </p:nvCxnSpPr>
        <p:spPr>
          <a:xfrm>
            <a:off x="3371850" y="2576512"/>
            <a:ext cx="895350" cy="1587"/>
          </a:xfrm>
          <a:prstGeom prst="straightConnector1">
            <a:avLst/>
          </a:prstGeom>
          <a:noFill/>
          <a:ln cap="flat" cmpd="sng" w="9525">
            <a:solidFill>
              <a:schemeClr val="dk1"/>
            </a:solidFill>
            <a:prstDash val="solid"/>
            <a:miter lim="800000"/>
            <a:headEnd len="med" w="med" type="none"/>
            <a:tailEnd len="med" w="med" type="stealth"/>
          </a:ln>
        </p:spPr>
      </p:cxnSp>
      <p:grpSp>
        <p:nvGrpSpPr>
          <p:cNvPr id="1801" name="Google Shape;1801;p181"/>
          <p:cNvGrpSpPr/>
          <p:nvPr/>
        </p:nvGrpSpPr>
        <p:grpSpPr>
          <a:xfrm>
            <a:off x="3986212" y="2463800"/>
            <a:ext cx="898525" cy="587375"/>
            <a:chOff x="2511" y="1552"/>
            <a:chExt cx="566" cy="370"/>
          </a:xfrm>
        </p:grpSpPr>
        <p:sp>
          <p:nvSpPr>
            <p:cNvPr id="1802" name="Google Shape;1802;p181"/>
            <p:cNvSpPr/>
            <p:nvPr/>
          </p:nvSpPr>
          <p:spPr>
            <a:xfrm>
              <a:off x="2688" y="1552"/>
              <a:ext cx="160" cy="144"/>
            </a:xfrm>
            <a:prstGeom prst="ellipse">
              <a:avLst/>
            </a:prstGeom>
            <a:solidFill>
              <a:srgbClr val="FFCC99"/>
            </a:solid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03" name="Google Shape;1803;p181"/>
            <p:cNvSpPr txBox="1"/>
            <p:nvPr/>
          </p:nvSpPr>
          <p:spPr>
            <a:xfrm>
              <a:off x="2511" y="1749"/>
              <a:ext cx="566" cy="173"/>
            </a:xfrm>
            <a:prstGeom prst="rect">
              <a:avLst/>
            </a:prstGeom>
            <a:noFill/>
            <a:ln>
              <a:noFill/>
            </a:ln>
          </p:spPr>
          <p:txBody>
            <a:bodyPr anchorCtr="0" anchor="t" bIns="46800" lIns="90000" spcFirstLastPara="1" rIns="90000" wrap="square" tIns="46800">
              <a:spAutoFit/>
            </a:bodyPr>
            <a:lstStyle/>
            <a:p>
              <a:pPr indent="0" lvl="0" marL="0" marR="0" rtl="0" algn="l">
                <a:lnSpc>
                  <a:spcPct val="100000"/>
                </a:lnSpc>
                <a:spcBef>
                  <a:spcPts val="0"/>
                </a:spcBef>
                <a:spcAft>
                  <a:spcPts val="0"/>
                </a:spcAft>
                <a:buClr>
                  <a:schemeClr val="accent2"/>
                </a:buClr>
                <a:buSzPts val="1200"/>
                <a:buFont typeface="Arial"/>
                <a:buNone/>
              </a:pPr>
              <a:r>
                <a:rPr b="1" i="0" lang="en-US" sz="1200" u="none">
                  <a:solidFill>
                    <a:schemeClr val="accent2"/>
                  </a:solidFill>
                  <a:latin typeface="Arial"/>
                  <a:ea typeface="Arial"/>
                  <a:cs typeface="Arial"/>
                  <a:sym typeface="Arial"/>
                </a:rPr>
                <a:t>Interface1</a:t>
              </a:r>
              <a:endParaRPr/>
            </a:p>
          </p:txBody>
        </p:sp>
      </p:grpSp>
      <p:grpSp>
        <p:nvGrpSpPr>
          <p:cNvPr id="1804" name="Google Shape;1804;p181"/>
          <p:cNvGrpSpPr/>
          <p:nvPr/>
        </p:nvGrpSpPr>
        <p:grpSpPr>
          <a:xfrm>
            <a:off x="6038850" y="4359275"/>
            <a:ext cx="1638300" cy="776287"/>
            <a:chOff x="3332" y="1658"/>
            <a:chExt cx="1032" cy="489"/>
          </a:xfrm>
        </p:grpSpPr>
        <p:sp>
          <p:nvSpPr>
            <p:cNvPr id="1805" name="Google Shape;1805;p181"/>
            <p:cNvSpPr txBox="1"/>
            <p:nvPr/>
          </p:nvSpPr>
          <p:spPr>
            <a:xfrm>
              <a:off x="3404" y="1658"/>
              <a:ext cx="960" cy="489"/>
            </a:xfrm>
            <a:prstGeom prst="rect">
              <a:avLst/>
            </a:prstGeom>
            <a:solidFill>
              <a:srgbClr val="FFCC99"/>
            </a:solidFill>
            <a:ln cap="flat" cmpd="sng" w="9525">
              <a:solidFill>
                <a:srgbClr val="6633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06" name="Google Shape;1806;p181"/>
            <p:cNvSpPr txBox="1"/>
            <p:nvPr/>
          </p:nvSpPr>
          <p:spPr>
            <a:xfrm>
              <a:off x="3332" y="1779"/>
              <a:ext cx="245" cy="97"/>
            </a:xfrm>
            <a:prstGeom prst="rect">
              <a:avLst/>
            </a:prstGeom>
            <a:solidFill>
              <a:srgbClr val="FFCC99"/>
            </a:solidFill>
            <a:ln cap="flat" cmpd="sng" w="9525">
              <a:solidFill>
                <a:srgbClr val="6633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07" name="Google Shape;1807;p181"/>
            <p:cNvSpPr txBox="1"/>
            <p:nvPr/>
          </p:nvSpPr>
          <p:spPr>
            <a:xfrm>
              <a:off x="3332" y="1980"/>
              <a:ext cx="245" cy="97"/>
            </a:xfrm>
            <a:prstGeom prst="rect">
              <a:avLst/>
            </a:prstGeom>
            <a:solidFill>
              <a:srgbClr val="FFCC99"/>
            </a:solidFill>
            <a:ln cap="flat" cmpd="sng" w="9525">
              <a:solidFill>
                <a:srgbClr val="6633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1808" name="Google Shape;1808;p181"/>
            <p:cNvGrpSpPr/>
            <p:nvPr/>
          </p:nvGrpSpPr>
          <p:grpSpPr>
            <a:xfrm>
              <a:off x="3600" y="1792"/>
              <a:ext cx="665" cy="208"/>
              <a:chOff x="3600" y="1792"/>
              <a:chExt cx="665" cy="208"/>
            </a:xfrm>
          </p:grpSpPr>
          <p:sp>
            <p:nvSpPr>
              <p:cNvPr id="1809" name="Google Shape;1809;p181"/>
              <p:cNvSpPr txBox="1"/>
              <p:nvPr/>
            </p:nvSpPr>
            <p:spPr>
              <a:xfrm>
                <a:off x="3678" y="1838"/>
                <a:ext cx="587"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CC3300"/>
                  </a:buClr>
                  <a:buSzPts val="1200"/>
                  <a:buFont typeface="Arial"/>
                  <a:buNone/>
                </a:pPr>
                <a:r>
                  <a:rPr b="1" i="0" lang="en-US" sz="1200" u="none">
                    <a:solidFill>
                      <a:srgbClr val="CC3300"/>
                    </a:solidFill>
                    <a:latin typeface="Arial"/>
                    <a:ea typeface="Arial"/>
                    <a:cs typeface="Arial"/>
                    <a:sym typeface="Arial"/>
                  </a:rPr>
                  <a:t>Component2</a:t>
                </a:r>
                <a:endParaRPr/>
              </a:p>
            </p:txBody>
          </p:sp>
          <p:sp>
            <p:nvSpPr>
              <p:cNvPr id="1810" name="Google Shape;1810;p181"/>
              <p:cNvSpPr txBox="1"/>
              <p:nvPr/>
            </p:nvSpPr>
            <p:spPr>
              <a:xfrm>
                <a:off x="3600" y="1792"/>
                <a:ext cx="264" cy="208"/>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grpSp>
      <p:grpSp>
        <p:nvGrpSpPr>
          <p:cNvPr id="1811" name="Google Shape;1811;p181"/>
          <p:cNvGrpSpPr/>
          <p:nvPr/>
        </p:nvGrpSpPr>
        <p:grpSpPr>
          <a:xfrm>
            <a:off x="1250950" y="4343400"/>
            <a:ext cx="1638300" cy="776287"/>
            <a:chOff x="3332" y="1658"/>
            <a:chExt cx="1032" cy="489"/>
          </a:xfrm>
        </p:grpSpPr>
        <p:sp>
          <p:nvSpPr>
            <p:cNvPr id="1812" name="Google Shape;1812;p181"/>
            <p:cNvSpPr txBox="1"/>
            <p:nvPr/>
          </p:nvSpPr>
          <p:spPr>
            <a:xfrm>
              <a:off x="3404" y="1658"/>
              <a:ext cx="960" cy="489"/>
            </a:xfrm>
            <a:prstGeom prst="rect">
              <a:avLst/>
            </a:prstGeom>
            <a:solidFill>
              <a:srgbClr val="FFCC99"/>
            </a:solidFill>
            <a:ln cap="flat" cmpd="sng" w="9525">
              <a:solidFill>
                <a:srgbClr val="6633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13" name="Google Shape;1813;p181"/>
            <p:cNvSpPr txBox="1"/>
            <p:nvPr/>
          </p:nvSpPr>
          <p:spPr>
            <a:xfrm>
              <a:off x="3332" y="1779"/>
              <a:ext cx="245" cy="97"/>
            </a:xfrm>
            <a:prstGeom prst="rect">
              <a:avLst/>
            </a:prstGeom>
            <a:solidFill>
              <a:srgbClr val="FFCC99"/>
            </a:solidFill>
            <a:ln cap="flat" cmpd="sng" w="9525">
              <a:solidFill>
                <a:srgbClr val="6633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14" name="Google Shape;1814;p181"/>
            <p:cNvSpPr txBox="1"/>
            <p:nvPr/>
          </p:nvSpPr>
          <p:spPr>
            <a:xfrm>
              <a:off x="3332" y="1980"/>
              <a:ext cx="245" cy="97"/>
            </a:xfrm>
            <a:prstGeom prst="rect">
              <a:avLst/>
            </a:prstGeom>
            <a:solidFill>
              <a:srgbClr val="FFCC99"/>
            </a:solidFill>
            <a:ln cap="flat" cmpd="sng" w="9525">
              <a:solidFill>
                <a:srgbClr val="6633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1815" name="Google Shape;1815;p181"/>
            <p:cNvGrpSpPr/>
            <p:nvPr/>
          </p:nvGrpSpPr>
          <p:grpSpPr>
            <a:xfrm>
              <a:off x="3600" y="1792"/>
              <a:ext cx="665" cy="208"/>
              <a:chOff x="3600" y="1792"/>
              <a:chExt cx="665" cy="208"/>
            </a:xfrm>
          </p:grpSpPr>
          <p:sp>
            <p:nvSpPr>
              <p:cNvPr id="1816" name="Google Shape;1816;p181"/>
              <p:cNvSpPr txBox="1"/>
              <p:nvPr/>
            </p:nvSpPr>
            <p:spPr>
              <a:xfrm>
                <a:off x="3678" y="1838"/>
                <a:ext cx="587"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CC3300"/>
                  </a:buClr>
                  <a:buSzPts val="1200"/>
                  <a:buFont typeface="Arial"/>
                  <a:buNone/>
                </a:pPr>
                <a:r>
                  <a:rPr b="1" i="0" lang="en-US" sz="1200" u="none">
                    <a:solidFill>
                      <a:srgbClr val="CC3300"/>
                    </a:solidFill>
                    <a:latin typeface="Arial"/>
                    <a:ea typeface="Arial"/>
                    <a:cs typeface="Arial"/>
                    <a:sym typeface="Arial"/>
                  </a:rPr>
                  <a:t>Component1</a:t>
                </a:r>
                <a:endParaRPr/>
              </a:p>
            </p:txBody>
          </p:sp>
          <p:sp>
            <p:nvSpPr>
              <p:cNvPr id="1817" name="Google Shape;1817;p181"/>
              <p:cNvSpPr txBox="1"/>
              <p:nvPr/>
            </p:nvSpPr>
            <p:spPr>
              <a:xfrm>
                <a:off x="3600" y="1792"/>
                <a:ext cx="264" cy="208"/>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grpSp>
      <p:cxnSp>
        <p:nvCxnSpPr>
          <p:cNvPr id="1818" name="Google Shape;1818;p181"/>
          <p:cNvCxnSpPr/>
          <p:nvPr/>
        </p:nvCxnSpPr>
        <p:spPr>
          <a:xfrm flipH="1" rot="10800000">
            <a:off x="2889250" y="4730750"/>
            <a:ext cx="781050" cy="1587"/>
          </a:xfrm>
          <a:prstGeom prst="straightConnector1">
            <a:avLst/>
          </a:prstGeom>
          <a:noFill/>
          <a:ln cap="flat" cmpd="sng" w="9525">
            <a:solidFill>
              <a:schemeClr val="dk1"/>
            </a:solidFill>
            <a:prstDash val="solid"/>
            <a:miter lim="800000"/>
            <a:headEnd len="med" w="med" type="none"/>
            <a:tailEnd len="med" w="med" type="stealth"/>
          </a:ln>
        </p:spPr>
      </p:cxnSp>
      <p:grpSp>
        <p:nvGrpSpPr>
          <p:cNvPr id="1819" name="Google Shape;1819;p181"/>
          <p:cNvGrpSpPr/>
          <p:nvPr/>
        </p:nvGrpSpPr>
        <p:grpSpPr>
          <a:xfrm>
            <a:off x="3670300" y="3860800"/>
            <a:ext cx="1574800" cy="1739900"/>
            <a:chOff x="2312" y="2432"/>
            <a:chExt cx="992" cy="1096"/>
          </a:xfrm>
        </p:grpSpPr>
        <p:sp>
          <p:nvSpPr>
            <p:cNvPr id="1820" name="Google Shape;1820;p181"/>
            <p:cNvSpPr txBox="1"/>
            <p:nvPr/>
          </p:nvSpPr>
          <p:spPr>
            <a:xfrm>
              <a:off x="2312" y="2432"/>
              <a:ext cx="992" cy="1096"/>
            </a:xfrm>
            <a:prstGeom prst="rect">
              <a:avLst/>
            </a:prstGeom>
            <a:solidFill>
              <a:srgbClr val="FFCC99"/>
            </a:solidFill>
            <a:ln cap="flat" cmpd="sng" w="9525">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lnSpc>
                  <a:spcPct val="100000"/>
                </a:lnSpc>
                <a:spcBef>
                  <a:spcPts val="0"/>
                </a:spcBef>
                <a:spcAft>
                  <a:spcPts val="0"/>
                </a:spcAft>
                <a:buClr>
                  <a:srgbClr val="CC3300"/>
                </a:buClr>
                <a:buSzPts val="1400"/>
                <a:buFont typeface="Arial"/>
                <a:buNone/>
              </a:pPr>
              <a:r>
                <a:rPr b="0" i="0" lang="en-US" sz="1400" u="none">
                  <a:solidFill>
                    <a:srgbClr val="CC3300"/>
                  </a:solidFill>
                  <a:latin typeface="Arial"/>
                  <a:ea typeface="Arial"/>
                  <a:cs typeface="Arial"/>
                  <a:sym typeface="Arial"/>
                </a:rPr>
                <a:t>Attributs</a:t>
              </a:r>
              <a:endParaRPr/>
            </a:p>
          </p:txBody>
        </p:sp>
        <p:sp>
          <p:nvSpPr>
            <p:cNvPr id="1821" name="Google Shape;1821;p181"/>
            <p:cNvSpPr txBox="1"/>
            <p:nvPr/>
          </p:nvSpPr>
          <p:spPr>
            <a:xfrm>
              <a:off x="2487" y="2461"/>
              <a:ext cx="673" cy="288"/>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rgbClr val="CC3300"/>
                </a:buClr>
                <a:buSzPts val="1200"/>
                <a:buFont typeface="Arial"/>
                <a:buNone/>
              </a:pPr>
              <a:r>
                <a:rPr b="1" i="0" lang="en-US" sz="1200" u="none">
                  <a:solidFill>
                    <a:srgbClr val="CC3300"/>
                  </a:solidFill>
                  <a:latin typeface="Arial"/>
                  <a:ea typeface="Arial"/>
                  <a:cs typeface="Arial"/>
                  <a:sym typeface="Arial"/>
                </a:rPr>
                <a:t>« Interface »</a:t>
              </a:r>
              <a:endParaRPr/>
            </a:p>
            <a:p>
              <a:pPr indent="0" lvl="0" marL="0" marR="0" rtl="0" algn="ctr">
                <a:lnSpc>
                  <a:spcPct val="100000"/>
                </a:lnSpc>
                <a:spcBef>
                  <a:spcPts val="0"/>
                </a:spcBef>
                <a:spcAft>
                  <a:spcPts val="0"/>
                </a:spcAft>
                <a:buClr>
                  <a:srgbClr val="CC3300"/>
                </a:buClr>
                <a:buSzPts val="1200"/>
                <a:buFont typeface="Arial"/>
                <a:buNone/>
              </a:pPr>
              <a:r>
                <a:rPr b="1" i="0" lang="en-US" sz="1200" u="none">
                  <a:solidFill>
                    <a:srgbClr val="CC3300"/>
                  </a:solidFill>
                  <a:latin typeface="Arial"/>
                  <a:ea typeface="Arial"/>
                  <a:cs typeface="Arial"/>
                  <a:sym typeface="Arial"/>
                </a:rPr>
                <a:t>Interface1</a:t>
              </a:r>
              <a:endParaRPr/>
            </a:p>
          </p:txBody>
        </p:sp>
        <p:cxnSp>
          <p:nvCxnSpPr>
            <p:cNvPr id="1822" name="Google Shape;1822;p181"/>
            <p:cNvCxnSpPr/>
            <p:nvPr/>
          </p:nvCxnSpPr>
          <p:spPr>
            <a:xfrm>
              <a:off x="2320" y="2744"/>
              <a:ext cx="976" cy="0"/>
            </a:xfrm>
            <a:prstGeom prst="straightConnector1">
              <a:avLst/>
            </a:prstGeom>
            <a:noFill/>
            <a:ln cap="flat" cmpd="sng" w="9525">
              <a:solidFill>
                <a:schemeClr val="dk1"/>
              </a:solidFill>
              <a:prstDash val="solid"/>
              <a:miter lim="800000"/>
              <a:headEnd len="med" w="med" type="none"/>
              <a:tailEnd len="med" w="med" type="none"/>
            </a:ln>
          </p:spPr>
        </p:cxnSp>
        <p:cxnSp>
          <p:nvCxnSpPr>
            <p:cNvPr id="1823" name="Google Shape;1823;p181"/>
            <p:cNvCxnSpPr/>
            <p:nvPr/>
          </p:nvCxnSpPr>
          <p:spPr>
            <a:xfrm>
              <a:off x="2320" y="3088"/>
              <a:ext cx="976" cy="0"/>
            </a:xfrm>
            <a:prstGeom prst="straightConnector1">
              <a:avLst/>
            </a:prstGeom>
            <a:noFill/>
            <a:ln cap="flat" cmpd="sng" w="9525">
              <a:solidFill>
                <a:schemeClr val="dk1"/>
              </a:solidFill>
              <a:prstDash val="solid"/>
              <a:miter lim="800000"/>
              <a:headEnd len="med" w="med" type="none"/>
              <a:tailEnd len="med" w="med" type="none"/>
            </a:ln>
          </p:spPr>
        </p:cxnSp>
        <p:sp>
          <p:nvSpPr>
            <p:cNvPr id="1824" name="Google Shape;1824;p181"/>
            <p:cNvSpPr txBox="1"/>
            <p:nvPr/>
          </p:nvSpPr>
          <p:spPr>
            <a:xfrm>
              <a:off x="2487" y="3255"/>
              <a:ext cx="660" cy="192"/>
            </a:xfrm>
            <a:prstGeom prst="rect">
              <a:avLst/>
            </a:prstGeom>
            <a:noFill/>
            <a:ln>
              <a:noFill/>
            </a:ln>
          </p:spPr>
          <p:txBody>
            <a:bodyPr anchorCtr="0" anchor="t" bIns="46800" lIns="90000" spcFirstLastPara="1" rIns="90000" wrap="square" tIns="46800">
              <a:spAutoFit/>
            </a:bodyPr>
            <a:lstStyle/>
            <a:p>
              <a:pPr indent="0" lvl="0" marL="0" marR="0" rtl="0" algn="l">
                <a:lnSpc>
                  <a:spcPct val="100000"/>
                </a:lnSpc>
                <a:spcBef>
                  <a:spcPts val="0"/>
                </a:spcBef>
                <a:spcAft>
                  <a:spcPts val="0"/>
                </a:spcAft>
                <a:buClr>
                  <a:srgbClr val="CC3300"/>
                </a:buClr>
                <a:buSzPts val="1400"/>
                <a:buFont typeface="Arial"/>
                <a:buNone/>
              </a:pPr>
              <a:r>
                <a:rPr b="0" i="0" lang="en-US" sz="1400" u="none">
                  <a:solidFill>
                    <a:srgbClr val="CC3300"/>
                  </a:solidFill>
                  <a:latin typeface="Arial"/>
                  <a:ea typeface="Arial"/>
                  <a:cs typeface="Arial"/>
                  <a:sym typeface="Arial"/>
                </a:rPr>
                <a:t>Opérations</a:t>
              </a:r>
              <a:endParaRPr/>
            </a:p>
          </p:txBody>
        </p:sp>
      </p:grpSp>
      <p:grpSp>
        <p:nvGrpSpPr>
          <p:cNvPr id="1825" name="Google Shape;1825;p181"/>
          <p:cNvGrpSpPr/>
          <p:nvPr/>
        </p:nvGrpSpPr>
        <p:grpSpPr>
          <a:xfrm>
            <a:off x="3167062" y="2628900"/>
            <a:ext cx="1149350" cy="2070100"/>
            <a:chOff x="1995" y="1656"/>
            <a:chExt cx="724" cy="1304"/>
          </a:xfrm>
        </p:grpSpPr>
        <p:sp>
          <p:nvSpPr>
            <p:cNvPr id="1826" name="Google Shape;1826;p181"/>
            <p:cNvSpPr txBox="1"/>
            <p:nvPr/>
          </p:nvSpPr>
          <p:spPr>
            <a:xfrm>
              <a:off x="2039" y="1981"/>
              <a:ext cx="680" cy="179"/>
            </a:xfrm>
            <a:prstGeom prst="rect">
              <a:avLst/>
            </a:prstGeom>
            <a:noFill/>
            <a:ln cap="flat" cmpd="sng" w="9525">
              <a:solidFill>
                <a:schemeClr val="dk1"/>
              </a:solidFill>
              <a:prstDash val="solid"/>
              <a:miter lim="800000"/>
              <a:headEnd len="sm" w="sm" type="none"/>
              <a:tailEnd len="sm" w="sm" type="none"/>
            </a:ln>
          </p:spPr>
          <p:txBody>
            <a:bodyPr anchorCtr="0" anchor="t" bIns="46800" lIns="90000" spcFirstLastPara="1" rIns="90000" wrap="square" tIns="46800">
              <a:spAutoFit/>
            </a:bodyPr>
            <a:lstStyle/>
            <a:p>
              <a:pPr indent="0" lvl="0" marL="0" marR="0" rtl="0" algn="l">
                <a:lnSpc>
                  <a:spcPct val="100000"/>
                </a:lnSpc>
                <a:spcBef>
                  <a:spcPts val="0"/>
                </a:spcBef>
                <a:spcAft>
                  <a:spcPts val="0"/>
                </a:spcAft>
                <a:buClr>
                  <a:schemeClr val="accent2"/>
                </a:buClr>
                <a:buSzPts val="1200"/>
                <a:buFont typeface="Arial"/>
                <a:buNone/>
              </a:pPr>
              <a:r>
                <a:rPr b="1" i="0" lang="en-US" sz="1200" u="none">
                  <a:solidFill>
                    <a:schemeClr val="accent2"/>
                  </a:solidFill>
                  <a:latin typeface="Arial"/>
                  <a:ea typeface="Arial"/>
                  <a:cs typeface="Arial"/>
                  <a:sym typeface="Arial"/>
                </a:rPr>
                <a:t>dépendance</a:t>
              </a:r>
              <a:endParaRPr/>
            </a:p>
          </p:txBody>
        </p:sp>
        <p:cxnSp>
          <p:nvCxnSpPr>
            <p:cNvPr id="1827" name="Google Shape;1827;p181"/>
            <p:cNvCxnSpPr/>
            <p:nvPr/>
          </p:nvCxnSpPr>
          <p:spPr>
            <a:xfrm flipH="1" rot="10800000">
              <a:off x="2370" y="1656"/>
              <a:ext cx="1" cy="325"/>
            </a:xfrm>
            <a:prstGeom prst="straightConnector1">
              <a:avLst/>
            </a:prstGeom>
            <a:noFill/>
            <a:ln cap="flat" cmpd="sng" w="9525">
              <a:solidFill>
                <a:schemeClr val="dk1"/>
              </a:solidFill>
              <a:prstDash val="solid"/>
              <a:miter lim="800000"/>
              <a:headEnd len="med" w="med" type="none"/>
              <a:tailEnd len="med" w="med" type="oval"/>
            </a:ln>
          </p:spPr>
        </p:cxnSp>
        <p:cxnSp>
          <p:nvCxnSpPr>
            <p:cNvPr id="1828" name="Google Shape;1828;p181"/>
            <p:cNvCxnSpPr/>
            <p:nvPr/>
          </p:nvCxnSpPr>
          <p:spPr>
            <a:xfrm flipH="1">
              <a:off x="1995" y="2154"/>
              <a:ext cx="375" cy="806"/>
            </a:xfrm>
            <a:prstGeom prst="straightConnector1">
              <a:avLst/>
            </a:prstGeom>
            <a:noFill/>
            <a:ln cap="flat" cmpd="sng" w="9525">
              <a:solidFill>
                <a:schemeClr val="dk1"/>
              </a:solidFill>
              <a:prstDash val="solid"/>
              <a:miter lim="800000"/>
              <a:headEnd len="med" w="med" type="none"/>
              <a:tailEnd len="med" w="med" type="oval"/>
            </a:ln>
          </p:spPr>
        </p:cxnSp>
      </p:grpSp>
      <p:grpSp>
        <p:nvGrpSpPr>
          <p:cNvPr id="1829" name="Google Shape;1829;p181"/>
          <p:cNvGrpSpPr/>
          <p:nvPr/>
        </p:nvGrpSpPr>
        <p:grpSpPr>
          <a:xfrm>
            <a:off x="4519612" y="2625725"/>
            <a:ext cx="1298575" cy="2035175"/>
            <a:chOff x="2847" y="1654"/>
            <a:chExt cx="818" cy="1282"/>
          </a:xfrm>
        </p:grpSpPr>
        <p:sp>
          <p:nvSpPr>
            <p:cNvPr id="1830" name="Google Shape;1830;p181"/>
            <p:cNvSpPr txBox="1"/>
            <p:nvPr/>
          </p:nvSpPr>
          <p:spPr>
            <a:xfrm>
              <a:off x="2847" y="1995"/>
              <a:ext cx="600" cy="179"/>
            </a:xfrm>
            <a:prstGeom prst="rect">
              <a:avLst/>
            </a:prstGeom>
            <a:noFill/>
            <a:ln cap="flat" cmpd="sng" w="9525">
              <a:solidFill>
                <a:schemeClr val="dk1"/>
              </a:solidFill>
              <a:prstDash val="solid"/>
              <a:miter lim="800000"/>
              <a:headEnd len="sm" w="sm" type="none"/>
              <a:tailEnd len="sm" w="sm" type="none"/>
            </a:ln>
          </p:spPr>
          <p:txBody>
            <a:bodyPr anchorCtr="0" anchor="t" bIns="46800" lIns="90000" spcFirstLastPara="1" rIns="90000" wrap="square" tIns="46800">
              <a:spAutoFit/>
            </a:bodyPr>
            <a:lstStyle/>
            <a:p>
              <a:pPr indent="0" lvl="0" marL="0" marR="0" rtl="0" algn="l">
                <a:lnSpc>
                  <a:spcPct val="100000"/>
                </a:lnSpc>
                <a:spcBef>
                  <a:spcPts val="0"/>
                </a:spcBef>
                <a:spcAft>
                  <a:spcPts val="0"/>
                </a:spcAft>
                <a:buClr>
                  <a:schemeClr val="accent2"/>
                </a:buClr>
                <a:buSzPts val="1200"/>
                <a:buFont typeface="Arial"/>
                <a:buNone/>
              </a:pPr>
              <a:r>
                <a:rPr b="1" i="0" lang="en-US" sz="1200" u="none">
                  <a:solidFill>
                    <a:schemeClr val="accent2"/>
                  </a:solidFill>
                  <a:latin typeface="Arial"/>
                  <a:ea typeface="Arial"/>
                  <a:cs typeface="Arial"/>
                  <a:sym typeface="Arial"/>
                </a:rPr>
                <a:t>réalisation</a:t>
              </a:r>
              <a:endParaRPr/>
            </a:p>
          </p:txBody>
        </p:sp>
        <p:cxnSp>
          <p:nvCxnSpPr>
            <p:cNvPr id="1831" name="Google Shape;1831;p181"/>
            <p:cNvCxnSpPr/>
            <p:nvPr/>
          </p:nvCxnSpPr>
          <p:spPr>
            <a:xfrm rot="10800000">
              <a:off x="3144" y="1654"/>
              <a:ext cx="0" cy="341"/>
            </a:xfrm>
            <a:prstGeom prst="straightConnector1">
              <a:avLst/>
            </a:prstGeom>
            <a:noFill/>
            <a:ln cap="flat" cmpd="sng" w="9525">
              <a:solidFill>
                <a:schemeClr val="dk1"/>
              </a:solidFill>
              <a:prstDash val="solid"/>
              <a:miter lim="800000"/>
              <a:headEnd len="med" w="med" type="none"/>
              <a:tailEnd len="med" w="med" type="oval"/>
            </a:ln>
          </p:spPr>
        </p:cxnSp>
        <p:cxnSp>
          <p:nvCxnSpPr>
            <p:cNvPr id="1832" name="Google Shape;1832;p181"/>
            <p:cNvCxnSpPr/>
            <p:nvPr/>
          </p:nvCxnSpPr>
          <p:spPr>
            <a:xfrm>
              <a:off x="3144" y="2168"/>
              <a:ext cx="521" cy="768"/>
            </a:xfrm>
            <a:prstGeom prst="straightConnector1">
              <a:avLst/>
            </a:prstGeom>
            <a:noFill/>
            <a:ln cap="flat" cmpd="sng" w="9525">
              <a:solidFill>
                <a:schemeClr val="dk1"/>
              </a:solidFill>
              <a:prstDash val="solid"/>
              <a:miter lim="800000"/>
              <a:headEnd len="med" w="med" type="none"/>
              <a:tailEnd len="med" w="med" type="oval"/>
            </a:ln>
          </p:spPr>
        </p:cxnSp>
      </p:grpSp>
      <p:grpSp>
        <p:nvGrpSpPr>
          <p:cNvPr id="1833" name="Google Shape;1833;p181"/>
          <p:cNvGrpSpPr/>
          <p:nvPr/>
        </p:nvGrpSpPr>
        <p:grpSpPr>
          <a:xfrm rot="10800000">
            <a:off x="5268912" y="4654550"/>
            <a:ext cx="882650" cy="160337"/>
            <a:chOff x="2707" y="3796"/>
            <a:chExt cx="988" cy="113"/>
          </a:xfrm>
        </p:grpSpPr>
        <p:sp>
          <p:nvSpPr>
            <p:cNvPr id="1834" name="Google Shape;1834;p181"/>
            <p:cNvSpPr/>
            <p:nvPr/>
          </p:nvSpPr>
          <p:spPr>
            <a:xfrm rot="5400000">
              <a:off x="3582" y="3796"/>
              <a:ext cx="113" cy="113"/>
            </a:xfrm>
            <a:prstGeom prst="triangle">
              <a:avLst>
                <a:gd fmla="val 10704" name="adj"/>
              </a:avLst>
            </a:prstGeom>
            <a:noFill/>
            <a:ln cap="sq"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1835" name="Google Shape;1835;p181"/>
            <p:cNvCxnSpPr/>
            <p:nvPr/>
          </p:nvCxnSpPr>
          <p:spPr>
            <a:xfrm>
              <a:off x="3141" y="3420"/>
              <a:ext cx="0" cy="868"/>
            </a:xfrm>
            <a:prstGeom prst="straightConnector1">
              <a:avLst/>
            </a:prstGeom>
            <a:noFill/>
            <a:ln cap="sq" cmpd="sng" w="12700">
              <a:solidFill>
                <a:schemeClr val="dk1"/>
              </a:solidFill>
              <a:prstDash val="solid"/>
              <a:miter lim="800000"/>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0"/>
                                        </p:tgtEl>
                                        <p:attrNameLst>
                                          <p:attrName>style.visibility</p:attrName>
                                        </p:attrNameLst>
                                      </p:cBhvr>
                                      <p:to>
                                        <p:strVal val="visible"/>
                                      </p:to>
                                    </p:set>
                                    <p:animEffect filter="fade" transition="in">
                                      <p:cBhvr>
                                        <p:cTn dur="500"/>
                                        <p:tgtEl>
                                          <p:spTgt spid="18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9"/>
                                        </p:tgtEl>
                                        <p:attrNameLst>
                                          <p:attrName>style.visibility</p:attrName>
                                        </p:attrNameLst>
                                      </p:cBhvr>
                                      <p:to>
                                        <p:strVal val="visible"/>
                                      </p:to>
                                    </p:set>
                                    <p:animEffect filter="fade" transition="in">
                                      <p:cBhvr>
                                        <p:cTn dur="500"/>
                                        <p:tgtEl>
                                          <p:spTgt spid="17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8"/>
                                        </p:tgtEl>
                                        <p:attrNameLst>
                                          <p:attrName>style.visibility</p:attrName>
                                        </p:attrNameLst>
                                      </p:cBhvr>
                                      <p:to>
                                        <p:strVal val="visible"/>
                                      </p:to>
                                    </p:set>
                                    <p:animEffect filter="fade" transition="in">
                                      <p:cBhvr>
                                        <p:cTn dur="500"/>
                                        <p:tgtEl>
                                          <p:spTgt spid="18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9" name="Shape 1839"/>
        <p:cNvGrpSpPr/>
        <p:nvPr/>
      </p:nvGrpSpPr>
      <p:grpSpPr>
        <a:xfrm>
          <a:off x="0" y="0"/>
          <a:ext cx="0" cy="0"/>
          <a:chOff x="0" y="0"/>
          <a:chExt cx="0" cy="0"/>
        </a:xfrm>
      </p:grpSpPr>
      <p:sp>
        <p:nvSpPr>
          <p:cNvPr id="1840" name="Google Shape;1840;p18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Diagramme de composants </a:t>
            </a:r>
            <a:endParaRPr/>
          </a:p>
        </p:txBody>
      </p:sp>
      <p:sp>
        <p:nvSpPr>
          <p:cNvPr id="1841" name="Google Shape;1841;p182"/>
          <p:cNvSpPr txBox="1"/>
          <p:nvPr>
            <p:ph idx="1" type="body"/>
          </p:nvPr>
        </p:nvSpPr>
        <p:spPr>
          <a:xfrm>
            <a:off x="457200" y="1600200"/>
            <a:ext cx="8229600" cy="24860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Concepts :</a:t>
            </a:r>
            <a:endParaRPr/>
          </a:p>
          <a:p>
            <a:pPr indent="-285750" lvl="1" marL="742950" rtl="0" algn="l">
              <a:lnSpc>
                <a:spcPct val="100000"/>
              </a:lnSpc>
              <a:spcBef>
                <a:spcPts val="480"/>
              </a:spcBef>
              <a:spcAft>
                <a:spcPts val="0"/>
              </a:spcAft>
              <a:buClr>
                <a:schemeClr val="accent2"/>
              </a:buClr>
              <a:buSzPts val="2400"/>
              <a:buFont typeface="Arial"/>
              <a:buChar char="–"/>
            </a:pPr>
            <a:r>
              <a:rPr b="1" i="0" lang="en-US" sz="2400" u="none">
                <a:solidFill>
                  <a:schemeClr val="accent2"/>
                </a:solidFill>
                <a:latin typeface="Arial"/>
                <a:ea typeface="Arial"/>
                <a:cs typeface="Arial"/>
                <a:sym typeface="Arial"/>
              </a:rPr>
              <a:t>Relations entre les composants</a:t>
            </a:r>
            <a:endParaRPr b="0" i="0" sz="2400" u="none">
              <a:solidFill>
                <a:schemeClr val="accent2"/>
              </a:solidFill>
              <a:latin typeface="Arial"/>
              <a:ea typeface="Arial"/>
              <a:cs typeface="Arial"/>
              <a:sym typeface="Arial"/>
            </a:endParaRPr>
          </a:p>
          <a:p>
            <a:pPr indent="-228600" lvl="2" marL="1143000" rtl="0" algn="l">
              <a:lnSpc>
                <a:spcPct val="100000"/>
              </a:lnSpc>
              <a:spcBef>
                <a:spcPts val="400"/>
              </a:spcBef>
              <a:spcAft>
                <a:spcPts val="0"/>
              </a:spcAft>
              <a:buClr>
                <a:schemeClr val="dk1"/>
              </a:buClr>
              <a:buSzPts val="2000"/>
              <a:buFont typeface="Arial"/>
              <a:buChar char="•"/>
            </a:pPr>
            <a:r>
              <a:rPr b="1" i="0" lang="en-US" sz="2000" u="none">
                <a:solidFill>
                  <a:schemeClr val="dk1"/>
                </a:solidFill>
                <a:latin typeface="Arial"/>
                <a:ea typeface="Arial"/>
                <a:cs typeface="Arial"/>
                <a:sym typeface="Arial"/>
              </a:rPr>
              <a:t>Dépendance </a:t>
            </a:r>
            <a:r>
              <a:rPr b="0" i="0" lang="en-US" sz="2000" u="none">
                <a:solidFill>
                  <a:schemeClr val="dk1"/>
                </a:solidFill>
                <a:latin typeface="Arial"/>
                <a:ea typeface="Arial"/>
                <a:cs typeface="Arial"/>
                <a:sym typeface="Arial"/>
              </a:rPr>
              <a:t>:</a:t>
            </a:r>
            <a:endParaRPr/>
          </a:p>
          <a:p>
            <a:pPr indent="-228600" lvl="3" marL="1600200" rtl="0" algn="l">
              <a:lnSpc>
                <a:spcPct val="10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Cela signifie qu’un des éléments d’un composant a besoin des services que les élément de l’autre composant réalisent</a:t>
            </a:r>
            <a:endParaRPr/>
          </a:p>
          <a:p>
            <a:pPr indent="-228600" lvl="3" marL="1600200" rtl="0" algn="l">
              <a:lnSpc>
                <a:spcPct val="10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Notation UML</a:t>
            </a:r>
            <a:endParaRPr/>
          </a:p>
        </p:txBody>
      </p:sp>
      <p:grpSp>
        <p:nvGrpSpPr>
          <p:cNvPr id="1842" name="Google Shape;1842;p182"/>
          <p:cNvGrpSpPr/>
          <p:nvPr/>
        </p:nvGrpSpPr>
        <p:grpSpPr>
          <a:xfrm>
            <a:off x="2559050" y="4613275"/>
            <a:ext cx="1638300" cy="776287"/>
            <a:chOff x="3332" y="1658"/>
            <a:chExt cx="1032" cy="489"/>
          </a:xfrm>
        </p:grpSpPr>
        <p:sp>
          <p:nvSpPr>
            <p:cNvPr id="1843" name="Google Shape;1843;p182"/>
            <p:cNvSpPr txBox="1"/>
            <p:nvPr/>
          </p:nvSpPr>
          <p:spPr>
            <a:xfrm>
              <a:off x="3404" y="1658"/>
              <a:ext cx="960" cy="489"/>
            </a:xfrm>
            <a:prstGeom prst="rect">
              <a:avLst/>
            </a:prstGeom>
            <a:solidFill>
              <a:srgbClr val="FFCC99"/>
            </a:solidFill>
            <a:ln cap="flat" cmpd="sng" w="9525">
              <a:solidFill>
                <a:srgbClr val="6633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44" name="Google Shape;1844;p182"/>
            <p:cNvSpPr txBox="1"/>
            <p:nvPr/>
          </p:nvSpPr>
          <p:spPr>
            <a:xfrm>
              <a:off x="3332" y="1779"/>
              <a:ext cx="245" cy="97"/>
            </a:xfrm>
            <a:prstGeom prst="rect">
              <a:avLst/>
            </a:prstGeom>
            <a:solidFill>
              <a:srgbClr val="FFCC99"/>
            </a:solidFill>
            <a:ln cap="flat" cmpd="sng" w="9525">
              <a:solidFill>
                <a:srgbClr val="6633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45" name="Google Shape;1845;p182"/>
            <p:cNvSpPr txBox="1"/>
            <p:nvPr/>
          </p:nvSpPr>
          <p:spPr>
            <a:xfrm>
              <a:off x="3332" y="1980"/>
              <a:ext cx="245" cy="97"/>
            </a:xfrm>
            <a:prstGeom prst="rect">
              <a:avLst/>
            </a:prstGeom>
            <a:solidFill>
              <a:srgbClr val="FFCC99"/>
            </a:solidFill>
            <a:ln cap="flat" cmpd="sng" w="9525">
              <a:solidFill>
                <a:srgbClr val="6633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1846" name="Google Shape;1846;p182"/>
            <p:cNvGrpSpPr/>
            <p:nvPr/>
          </p:nvGrpSpPr>
          <p:grpSpPr>
            <a:xfrm>
              <a:off x="3600" y="1792"/>
              <a:ext cx="665" cy="208"/>
              <a:chOff x="3600" y="1792"/>
              <a:chExt cx="665" cy="208"/>
            </a:xfrm>
          </p:grpSpPr>
          <p:sp>
            <p:nvSpPr>
              <p:cNvPr id="1847" name="Google Shape;1847;p182"/>
              <p:cNvSpPr txBox="1"/>
              <p:nvPr/>
            </p:nvSpPr>
            <p:spPr>
              <a:xfrm>
                <a:off x="3678" y="1838"/>
                <a:ext cx="587"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CC3300"/>
                  </a:buClr>
                  <a:buSzPts val="1200"/>
                  <a:buFont typeface="Arial"/>
                  <a:buNone/>
                </a:pPr>
                <a:r>
                  <a:rPr b="1" i="0" lang="en-US" sz="1200" u="none">
                    <a:solidFill>
                      <a:srgbClr val="CC3300"/>
                    </a:solidFill>
                    <a:latin typeface="Arial"/>
                    <a:ea typeface="Arial"/>
                    <a:cs typeface="Arial"/>
                    <a:sym typeface="Arial"/>
                  </a:rPr>
                  <a:t>Component1</a:t>
                </a:r>
                <a:endParaRPr/>
              </a:p>
            </p:txBody>
          </p:sp>
          <p:sp>
            <p:nvSpPr>
              <p:cNvPr id="1848" name="Google Shape;1848;p182"/>
              <p:cNvSpPr txBox="1"/>
              <p:nvPr/>
            </p:nvSpPr>
            <p:spPr>
              <a:xfrm>
                <a:off x="3600" y="1792"/>
                <a:ext cx="264" cy="208"/>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grpSp>
      <p:cxnSp>
        <p:nvCxnSpPr>
          <p:cNvPr id="1849" name="Google Shape;1849;p182"/>
          <p:cNvCxnSpPr/>
          <p:nvPr/>
        </p:nvCxnSpPr>
        <p:spPr>
          <a:xfrm>
            <a:off x="4197350" y="5002212"/>
            <a:ext cx="1873250" cy="7937"/>
          </a:xfrm>
          <a:prstGeom prst="straightConnector1">
            <a:avLst/>
          </a:prstGeom>
          <a:noFill/>
          <a:ln cap="flat" cmpd="sng" w="9525">
            <a:solidFill>
              <a:schemeClr val="dk1"/>
            </a:solidFill>
            <a:prstDash val="solid"/>
            <a:miter lim="800000"/>
            <a:headEnd len="med" w="med" type="none"/>
            <a:tailEnd len="med" w="med" type="stealth"/>
          </a:ln>
        </p:spPr>
      </p:cxnSp>
      <p:grpSp>
        <p:nvGrpSpPr>
          <p:cNvPr id="1850" name="Google Shape;1850;p182"/>
          <p:cNvGrpSpPr/>
          <p:nvPr/>
        </p:nvGrpSpPr>
        <p:grpSpPr>
          <a:xfrm>
            <a:off x="6070600" y="4625975"/>
            <a:ext cx="1682750" cy="776287"/>
            <a:chOff x="3304" y="1386"/>
            <a:chExt cx="1060" cy="489"/>
          </a:xfrm>
        </p:grpSpPr>
        <p:grpSp>
          <p:nvGrpSpPr>
            <p:cNvPr id="1851" name="Google Shape;1851;p182"/>
            <p:cNvGrpSpPr/>
            <p:nvPr/>
          </p:nvGrpSpPr>
          <p:grpSpPr>
            <a:xfrm>
              <a:off x="3332" y="1386"/>
              <a:ext cx="1032" cy="489"/>
              <a:chOff x="3332" y="1658"/>
              <a:chExt cx="1032" cy="489"/>
            </a:xfrm>
          </p:grpSpPr>
          <p:sp>
            <p:nvSpPr>
              <p:cNvPr id="1852" name="Google Shape;1852;p182"/>
              <p:cNvSpPr txBox="1"/>
              <p:nvPr/>
            </p:nvSpPr>
            <p:spPr>
              <a:xfrm>
                <a:off x="3404" y="1658"/>
                <a:ext cx="960" cy="489"/>
              </a:xfrm>
              <a:prstGeom prst="rect">
                <a:avLst/>
              </a:prstGeom>
              <a:solidFill>
                <a:srgbClr val="FFCC99"/>
              </a:solidFill>
              <a:ln cap="flat" cmpd="sng" w="9525">
                <a:solidFill>
                  <a:srgbClr val="6633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53" name="Google Shape;1853;p182"/>
              <p:cNvSpPr txBox="1"/>
              <p:nvPr/>
            </p:nvSpPr>
            <p:spPr>
              <a:xfrm>
                <a:off x="3332" y="1779"/>
                <a:ext cx="245" cy="97"/>
              </a:xfrm>
              <a:prstGeom prst="rect">
                <a:avLst/>
              </a:prstGeom>
              <a:solidFill>
                <a:srgbClr val="FFCC99"/>
              </a:solidFill>
              <a:ln cap="flat" cmpd="sng" w="9525">
                <a:solidFill>
                  <a:srgbClr val="6633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54" name="Google Shape;1854;p182"/>
              <p:cNvSpPr txBox="1"/>
              <p:nvPr/>
            </p:nvSpPr>
            <p:spPr>
              <a:xfrm>
                <a:off x="3332" y="1980"/>
                <a:ext cx="245" cy="97"/>
              </a:xfrm>
              <a:prstGeom prst="rect">
                <a:avLst/>
              </a:prstGeom>
              <a:solidFill>
                <a:srgbClr val="FFCC99"/>
              </a:solidFill>
              <a:ln cap="flat" cmpd="sng" w="9525">
                <a:solidFill>
                  <a:srgbClr val="6633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1855" name="Google Shape;1855;p182"/>
              <p:cNvGrpSpPr/>
              <p:nvPr/>
            </p:nvGrpSpPr>
            <p:grpSpPr>
              <a:xfrm>
                <a:off x="3600" y="1792"/>
                <a:ext cx="665" cy="208"/>
                <a:chOff x="3600" y="1792"/>
                <a:chExt cx="665" cy="208"/>
              </a:xfrm>
            </p:grpSpPr>
            <p:sp>
              <p:nvSpPr>
                <p:cNvPr id="1856" name="Google Shape;1856;p182"/>
                <p:cNvSpPr txBox="1"/>
                <p:nvPr/>
              </p:nvSpPr>
              <p:spPr>
                <a:xfrm>
                  <a:off x="3678" y="1838"/>
                  <a:ext cx="587"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CC3300"/>
                    </a:buClr>
                    <a:buSzPts val="1200"/>
                    <a:buFont typeface="Arial"/>
                    <a:buNone/>
                  </a:pPr>
                  <a:r>
                    <a:rPr b="1" i="0" lang="en-US" sz="1200" u="none">
                      <a:solidFill>
                        <a:srgbClr val="CC3300"/>
                      </a:solidFill>
                      <a:latin typeface="Arial"/>
                      <a:ea typeface="Arial"/>
                      <a:cs typeface="Arial"/>
                      <a:sym typeface="Arial"/>
                    </a:rPr>
                    <a:t>Component2</a:t>
                  </a:r>
                  <a:endParaRPr/>
                </a:p>
              </p:txBody>
            </p:sp>
            <p:sp>
              <p:nvSpPr>
                <p:cNvPr id="1857" name="Google Shape;1857;p182"/>
                <p:cNvSpPr txBox="1"/>
                <p:nvPr/>
              </p:nvSpPr>
              <p:spPr>
                <a:xfrm>
                  <a:off x="3600" y="1792"/>
                  <a:ext cx="264" cy="208"/>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grpSp>
        <p:sp>
          <p:nvSpPr>
            <p:cNvPr id="1858" name="Google Shape;1858;p182"/>
            <p:cNvSpPr txBox="1"/>
            <p:nvPr/>
          </p:nvSpPr>
          <p:spPr>
            <a:xfrm>
              <a:off x="3304" y="1560"/>
              <a:ext cx="112" cy="136"/>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1">
                                            <p:txEl>
                                              <p:pRg end="0" st="0"/>
                                            </p:txEl>
                                          </p:spTgt>
                                        </p:tgtEl>
                                        <p:attrNameLst>
                                          <p:attrName>style.visibility</p:attrName>
                                        </p:attrNameLst>
                                      </p:cBhvr>
                                      <p:to>
                                        <p:strVal val="visible"/>
                                      </p:to>
                                    </p:set>
                                    <p:animEffect filter="fade" transition="in">
                                      <p:cBhvr>
                                        <p:cTn dur="500"/>
                                        <p:tgtEl>
                                          <p:spTgt spid="184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1">
                                            <p:txEl>
                                              <p:pRg end="1" st="1"/>
                                            </p:txEl>
                                          </p:spTgt>
                                        </p:tgtEl>
                                        <p:attrNameLst>
                                          <p:attrName>style.visibility</p:attrName>
                                        </p:attrNameLst>
                                      </p:cBhvr>
                                      <p:to>
                                        <p:strVal val="visible"/>
                                      </p:to>
                                    </p:set>
                                    <p:animEffect filter="fade" transition="in">
                                      <p:cBhvr>
                                        <p:cTn dur="500"/>
                                        <p:tgtEl>
                                          <p:spTgt spid="184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1">
                                            <p:txEl>
                                              <p:pRg end="2" st="2"/>
                                            </p:txEl>
                                          </p:spTgt>
                                        </p:tgtEl>
                                        <p:attrNameLst>
                                          <p:attrName>style.visibility</p:attrName>
                                        </p:attrNameLst>
                                      </p:cBhvr>
                                      <p:to>
                                        <p:strVal val="visible"/>
                                      </p:to>
                                    </p:set>
                                    <p:animEffect filter="fade" transition="in">
                                      <p:cBhvr>
                                        <p:cTn dur="500"/>
                                        <p:tgtEl>
                                          <p:spTgt spid="184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1">
                                            <p:txEl>
                                              <p:pRg end="3" st="3"/>
                                            </p:txEl>
                                          </p:spTgt>
                                        </p:tgtEl>
                                        <p:attrNameLst>
                                          <p:attrName>style.visibility</p:attrName>
                                        </p:attrNameLst>
                                      </p:cBhvr>
                                      <p:to>
                                        <p:strVal val="visible"/>
                                      </p:to>
                                    </p:set>
                                    <p:animEffect filter="fade" transition="in">
                                      <p:cBhvr>
                                        <p:cTn dur="500"/>
                                        <p:tgtEl>
                                          <p:spTgt spid="184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1">
                                            <p:txEl>
                                              <p:pRg end="4" st="4"/>
                                            </p:txEl>
                                          </p:spTgt>
                                        </p:tgtEl>
                                        <p:attrNameLst>
                                          <p:attrName>style.visibility</p:attrName>
                                        </p:attrNameLst>
                                      </p:cBhvr>
                                      <p:to>
                                        <p:strVal val="visible"/>
                                      </p:to>
                                    </p:set>
                                    <p:animEffect filter="fade" transition="in">
                                      <p:cBhvr>
                                        <p:cTn dur="500"/>
                                        <p:tgtEl>
                                          <p:spTgt spid="184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9"/>
                                        </p:tgtEl>
                                        <p:attrNameLst>
                                          <p:attrName>style.visibility</p:attrName>
                                        </p:attrNameLst>
                                      </p:cBhvr>
                                      <p:to>
                                        <p:strVal val="visible"/>
                                      </p:to>
                                    </p:set>
                                    <p:animEffect filter="fade" transition="in">
                                      <p:cBhvr>
                                        <p:cTn dur="500"/>
                                        <p:tgtEl>
                                          <p:spTgt spid="18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2" name="Shape 1862"/>
        <p:cNvGrpSpPr/>
        <p:nvPr/>
      </p:nvGrpSpPr>
      <p:grpSpPr>
        <a:xfrm>
          <a:off x="0" y="0"/>
          <a:ext cx="0" cy="0"/>
          <a:chOff x="0" y="0"/>
          <a:chExt cx="0" cy="0"/>
        </a:xfrm>
      </p:grpSpPr>
      <p:sp>
        <p:nvSpPr>
          <p:cNvPr id="1863" name="Google Shape;1863;p18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Diagramme de composants </a:t>
            </a:r>
            <a:endParaRPr/>
          </a:p>
        </p:txBody>
      </p:sp>
      <p:sp>
        <p:nvSpPr>
          <p:cNvPr id="1864" name="Google Shape;1864;p183"/>
          <p:cNvSpPr txBox="1"/>
          <p:nvPr>
            <p:ph idx="1" type="body"/>
          </p:nvPr>
        </p:nvSpPr>
        <p:spPr>
          <a:xfrm>
            <a:off x="457200" y="1600200"/>
            <a:ext cx="8229600" cy="2549525"/>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Concepts :</a:t>
            </a:r>
            <a:endParaRPr/>
          </a:p>
          <a:p>
            <a:pPr indent="-285750" lvl="1" marL="742950" rtl="0" algn="l">
              <a:lnSpc>
                <a:spcPct val="90000"/>
              </a:lnSpc>
              <a:spcBef>
                <a:spcPts val="560"/>
              </a:spcBef>
              <a:spcAft>
                <a:spcPts val="0"/>
              </a:spcAft>
              <a:buClr>
                <a:schemeClr val="accent2"/>
              </a:buClr>
              <a:buSzPts val="2800"/>
              <a:buFont typeface="Arial"/>
              <a:buChar char="–"/>
            </a:pPr>
            <a:r>
              <a:rPr b="1" i="0" lang="en-US" sz="2800" u="none">
                <a:solidFill>
                  <a:schemeClr val="accent2"/>
                </a:solidFill>
                <a:latin typeface="Arial"/>
                <a:ea typeface="Arial"/>
                <a:cs typeface="Arial"/>
                <a:sym typeface="Arial"/>
              </a:rPr>
              <a:t>Relations entre les composants</a:t>
            </a:r>
            <a:endParaRPr b="0" i="0" sz="2800" u="none">
              <a:solidFill>
                <a:schemeClr val="accent2"/>
              </a:solidFill>
              <a:latin typeface="Arial"/>
              <a:ea typeface="Arial"/>
              <a:cs typeface="Arial"/>
              <a:sym typeface="Arial"/>
            </a:endParaRPr>
          </a:p>
          <a:p>
            <a:pPr indent="-228600" lvl="2" marL="1143000" rtl="0" algn="l">
              <a:lnSpc>
                <a:spcPct val="100000"/>
              </a:lnSpc>
              <a:spcBef>
                <a:spcPts val="480"/>
              </a:spcBef>
              <a:spcAft>
                <a:spcPts val="0"/>
              </a:spcAft>
              <a:buClr>
                <a:schemeClr val="dk1"/>
              </a:buClr>
              <a:buSzPts val="2400"/>
              <a:buFont typeface="Arial"/>
              <a:buChar char="•"/>
            </a:pPr>
            <a:r>
              <a:rPr b="1" i="0" lang="en-US" sz="2400" u="none">
                <a:solidFill>
                  <a:schemeClr val="dk1"/>
                </a:solidFill>
                <a:latin typeface="Arial"/>
                <a:ea typeface="Arial"/>
                <a:cs typeface="Arial"/>
                <a:sym typeface="Arial"/>
              </a:rPr>
              <a:t>Contenance</a:t>
            </a:r>
            <a:r>
              <a:rPr b="0" i="0" lang="en-US" sz="2400" u="none">
                <a:solidFill>
                  <a:schemeClr val="dk1"/>
                </a:solidFill>
                <a:latin typeface="Arial"/>
                <a:ea typeface="Arial"/>
                <a:cs typeface="Arial"/>
                <a:sym typeface="Arial"/>
              </a:rPr>
              <a:t> :</a:t>
            </a:r>
            <a:endParaRPr/>
          </a:p>
          <a:p>
            <a:pPr indent="-228600" lvl="3" marL="160020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Un composant peut être contenu dans un autre composant</a:t>
            </a:r>
            <a:endParaRPr/>
          </a:p>
          <a:p>
            <a:pPr indent="-228600" lvl="3" marL="160020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Notation UML</a:t>
            </a:r>
            <a:endParaRPr/>
          </a:p>
        </p:txBody>
      </p:sp>
      <p:sp>
        <p:nvSpPr>
          <p:cNvPr id="1865" name="Google Shape;1865;p183"/>
          <p:cNvSpPr txBox="1"/>
          <p:nvPr/>
        </p:nvSpPr>
        <p:spPr>
          <a:xfrm>
            <a:off x="762000" y="5156200"/>
            <a:ext cx="7924800" cy="1127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1866" name="Google Shape;1866;p183"/>
          <p:cNvGrpSpPr/>
          <p:nvPr/>
        </p:nvGrpSpPr>
        <p:grpSpPr>
          <a:xfrm>
            <a:off x="3695700" y="4484687"/>
            <a:ext cx="2055812" cy="922337"/>
            <a:chOff x="2360" y="2641"/>
            <a:chExt cx="1295" cy="581"/>
          </a:xfrm>
        </p:grpSpPr>
        <p:sp>
          <p:nvSpPr>
            <p:cNvPr id="1867" name="Google Shape;1867;p183"/>
            <p:cNvSpPr txBox="1"/>
            <p:nvPr/>
          </p:nvSpPr>
          <p:spPr>
            <a:xfrm>
              <a:off x="2512" y="2641"/>
              <a:ext cx="1143" cy="581"/>
            </a:xfrm>
            <a:prstGeom prst="rect">
              <a:avLst/>
            </a:prstGeom>
            <a:solidFill>
              <a:srgbClr val="FFCC99"/>
            </a:solidFill>
            <a:ln cap="flat" cmpd="sng" w="9525">
              <a:solidFill>
                <a:srgbClr val="6633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68" name="Google Shape;1868;p183"/>
            <p:cNvSpPr txBox="1"/>
            <p:nvPr/>
          </p:nvSpPr>
          <p:spPr>
            <a:xfrm>
              <a:off x="2360" y="2698"/>
              <a:ext cx="188" cy="113"/>
            </a:xfrm>
            <a:prstGeom prst="rect">
              <a:avLst/>
            </a:prstGeom>
            <a:solidFill>
              <a:srgbClr val="FFCC99"/>
            </a:solidFill>
            <a:ln cap="flat" cmpd="sng" w="9525">
              <a:solidFill>
                <a:srgbClr val="6633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69" name="Google Shape;1869;p183"/>
            <p:cNvSpPr txBox="1"/>
            <p:nvPr/>
          </p:nvSpPr>
          <p:spPr>
            <a:xfrm>
              <a:off x="2368" y="2875"/>
              <a:ext cx="180" cy="105"/>
            </a:xfrm>
            <a:prstGeom prst="rect">
              <a:avLst/>
            </a:prstGeom>
            <a:solidFill>
              <a:srgbClr val="FFCC99"/>
            </a:solidFill>
            <a:ln cap="flat" cmpd="sng" w="9525">
              <a:solidFill>
                <a:srgbClr val="6633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1870" name="Google Shape;1870;p183"/>
          <p:cNvSpPr txBox="1"/>
          <p:nvPr/>
        </p:nvSpPr>
        <p:spPr>
          <a:xfrm>
            <a:off x="4376737" y="4541837"/>
            <a:ext cx="974725" cy="18256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CC3300"/>
              </a:buClr>
              <a:buSzPts val="1200"/>
              <a:buFont typeface="Arial"/>
              <a:buNone/>
            </a:pPr>
            <a:r>
              <a:rPr b="1" i="0" lang="en-US" sz="1200" u="none">
                <a:solidFill>
                  <a:srgbClr val="CC3300"/>
                </a:solidFill>
                <a:latin typeface="Arial"/>
                <a:ea typeface="Arial"/>
                <a:cs typeface="Arial"/>
                <a:sym typeface="Arial"/>
              </a:rPr>
              <a:t>Component 1</a:t>
            </a:r>
            <a:endParaRPr/>
          </a:p>
        </p:txBody>
      </p:sp>
      <p:grpSp>
        <p:nvGrpSpPr>
          <p:cNvPr id="1871" name="Google Shape;1871;p183"/>
          <p:cNvGrpSpPr/>
          <p:nvPr/>
        </p:nvGrpSpPr>
        <p:grpSpPr>
          <a:xfrm>
            <a:off x="4275137" y="4845050"/>
            <a:ext cx="1419225" cy="449262"/>
            <a:chOff x="2725" y="2868"/>
            <a:chExt cx="894" cy="283"/>
          </a:xfrm>
        </p:grpSpPr>
        <p:sp>
          <p:nvSpPr>
            <p:cNvPr id="1872" name="Google Shape;1872;p183"/>
            <p:cNvSpPr txBox="1"/>
            <p:nvPr/>
          </p:nvSpPr>
          <p:spPr>
            <a:xfrm>
              <a:off x="2846" y="2868"/>
              <a:ext cx="773" cy="283"/>
            </a:xfrm>
            <a:prstGeom prst="rect">
              <a:avLst/>
            </a:prstGeom>
            <a:solidFill>
              <a:srgbClr val="FFCC99"/>
            </a:solidFill>
            <a:ln cap="flat" cmpd="sng" w="9525">
              <a:solidFill>
                <a:srgbClr val="6633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73" name="Google Shape;1873;p183"/>
            <p:cNvSpPr txBox="1"/>
            <p:nvPr/>
          </p:nvSpPr>
          <p:spPr>
            <a:xfrm>
              <a:off x="2959" y="2946"/>
              <a:ext cx="620" cy="121"/>
            </a:xfrm>
            <a:prstGeom prst="rect">
              <a:avLst/>
            </a:prstGeom>
            <a:solidFill>
              <a:srgbClr val="FFCC99"/>
            </a:solidFill>
            <a:ln cap="flat" cmpd="sng" w="9525">
              <a:solidFill>
                <a:srgbClr val="663300"/>
              </a:solidFill>
              <a:prstDash val="solid"/>
              <a:miter lim="800000"/>
              <a:headEnd len="sm" w="sm" type="none"/>
              <a:tailEnd len="sm" w="sm" type="none"/>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CC3300"/>
                </a:buClr>
                <a:buSzPts val="1200"/>
                <a:buFont typeface="Arial"/>
                <a:buNone/>
              </a:pPr>
              <a:r>
                <a:rPr b="1" i="0" lang="en-US" sz="1200" u="none">
                  <a:solidFill>
                    <a:srgbClr val="CC3300"/>
                  </a:solidFill>
                  <a:latin typeface="Arial"/>
                  <a:ea typeface="Arial"/>
                  <a:cs typeface="Arial"/>
                  <a:sym typeface="Arial"/>
                </a:rPr>
                <a:t>Component 2</a:t>
              </a:r>
              <a:endParaRPr/>
            </a:p>
          </p:txBody>
        </p:sp>
        <p:sp>
          <p:nvSpPr>
            <p:cNvPr id="1874" name="Google Shape;1874;p183"/>
            <p:cNvSpPr txBox="1"/>
            <p:nvPr/>
          </p:nvSpPr>
          <p:spPr>
            <a:xfrm>
              <a:off x="2846" y="2868"/>
              <a:ext cx="773" cy="283"/>
            </a:xfrm>
            <a:prstGeom prst="rect">
              <a:avLst/>
            </a:prstGeom>
            <a:solidFill>
              <a:srgbClr val="FFCC99"/>
            </a:solidFill>
            <a:ln cap="flat" cmpd="sng" w="9525">
              <a:solidFill>
                <a:srgbClr val="6633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75" name="Google Shape;1875;p183"/>
            <p:cNvSpPr txBox="1"/>
            <p:nvPr/>
          </p:nvSpPr>
          <p:spPr>
            <a:xfrm>
              <a:off x="2733" y="2908"/>
              <a:ext cx="148" cy="73"/>
            </a:xfrm>
            <a:prstGeom prst="rect">
              <a:avLst/>
            </a:prstGeom>
            <a:solidFill>
              <a:srgbClr val="FFCC99"/>
            </a:solidFill>
            <a:ln cap="flat" cmpd="sng" w="9525">
              <a:solidFill>
                <a:srgbClr val="6633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76" name="Google Shape;1876;p183"/>
            <p:cNvSpPr txBox="1"/>
            <p:nvPr/>
          </p:nvSpPr>
          <p:spPr>
            <a:xfrm>
              <a:off x="2725" y="3014"/>
              <a:ext cx="156" cy="73"/>
            </a:xfrm>
            <a:prstGeom prst="rect">
              <a:avLst/>
            </a:prstGeom>
            <a:solidFill>
              <a:srgbClr val="FFCC99"/>
            </a:solidFill>
            <a:ln cap="flat" cmpd="sng" w="9525">
              <a:solidFill>
                <a:srgbClr val="6633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77" name="Google Shape;1877;p183"/>
            <p:cNvSpPr txBox="1"/>
            <p:nvPr/>
          </p:nvSpPr>
          <p:spPr>
            <a:xfrm>
              <a:off x="2959" y="2946"/>
              <a:ext cx="614" cy="115"/>
            </a:xfrm>
            <a:prstGeom prst="rect">
              <a:avLst/>
            </a:prstGeom>
            <a:solidFill>
              <a:srgbClr val="FFCC99"/>
            </a:solid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CC3300"/>
                </a:buClr>
                <a:buSzPts val="1200"/>
                <a:buFont typeface="Arial"/>
                <a:buNone/>
              </a:pPr>
              <a:r>
                <a:rPr b="1" i="0" lang="en-US" sz="1200" u="none">
                  <a:solidFill>
                    <a:srgbClr val="CC3300"/>
                  </a:solidFill>
                  <a:latin typeface="Arial"/>
                  <a:ea typeface="Arial"/>
                  <a:cs typeface="Arial"/>
                  <a:sym typeface="Arial"/>
                </a:rPr>
                <a:t>Component 2</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4">
                                            <p:txEl>
                                              <p:pRg end="0" st="0"/>
                                            </p:txEl>
                                          </p:spTgt>
                                        </p:tgtEl>
                                        <p:attrNameLst>
                                          <p:attrName>style.visibility</p:attrName>
                                        </p:attrNameLst>
                                      </p:cBhvr>
                                      <p:to>
                                        <p:strVal val="visible"/>
                                      </p:to>
                                    </p:set>
                                    <p:animEffect filter="fade" transition="in">
                                      <p:cBhvr>
                                        <p:cTn dur="500"/>
                                        <p:tgtEl>
                                          <p:spTgt spid="18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4">
                                            <p:txEl>
                                              <p:pRg end="1" st="1"/>
                                            </p:txEl>
                                          </p:spTgt>
                                        </p:tgtEl>
                                        <p:attrNameLst>
                                          <p:attrName>style.visibility</p:attrName>
                                        </p:attrNameLst>
                                      </p:cBhvr>
                                      <p:to>
                                        <p:strVal val="visible"/>
                                      </p:to>
                                    </p:set>
                                    <p:animEffect filter="fade" transition="in">
                                      <p:cBhvr>
                                        <p:cTn dur="500"/>
                                        <p:tgtEl>
                                          <p:spTgt spid="186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4">
                                            <p:txEl>
                                              <p:pRg end="2" st="2"/>
                                            </p:txEl>
                                          </p:spTgt>
                                        </p:tgtEl>
                                        <p:attrNameLst>
                                          <p:attrName>style.visibility</p:attrName>
                                        </p:attrNameLst>
                                      </p:cBhvr>
                                      <p:to>
                                        <p:strVal val="visible"/>
                                      </p:to>
                                    </p:set>
                                    <p:animEffect filter="fade" transition="in">
                                      <p:cBhvr>
                                        <p:cTn dur="500"/>
                                        <p:tgtEl>
                                          <p:spTgt spid="186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4">
                                            <p:txEl>
                                              <p:pRg end="3" st="3"/>
                                            </p:txEl>
                                          </p:spTgt>
                                        </p:tgtEl>
                                        <p:attrNameLst>
                                          <p:attrName>style.visibility</p:attrName>
                                        </p:attrNameLst>
                                      </p:cBhvr>
                                      <p:to>
                                        <p:strVal val="visible"/>
                                      </p:to>
                                    </p:set>
                                    <p:animEffect filter="fade" transition="in">
                                      <p:cBhvr>
                                        <p:cTn dur="500"/>
                                        <p:tgtEl>
                                          <p:spTgt spid="186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4">
                                            <p:txEl>
                                              <p:pRg end="4" st="4"/>
                                            </p:txEl>
                                          </p:spTgt>
                                        </p:tgtEl>
                                        <p:attrNameLst>
                                          <p:attrName>style.visibility</p:attrName>
                                        </p:attrNameLst>
                                      </p:cBhvr>
                                      <p:to>
                                        <p:strVal val="visible"/>
                                      </p:to>
                                    </p:set>
                                    <p:animEffect filter="fade" transition="in">
                                      <p:cBhvr>
                                        <p:cTn dur="500"/>
                                        <p:tgtEl>
                                          <p:spTgt spid="186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5">
                                            <p:txEl>
                                              <p:pRg end="0" st="0"/>
                                            </p:txEl>
                                          </p:spTgt>
                                        </p:tgtEl>
                                        <p:attrNameLst>
                                          <p:attrName>style.visibility</p:attrName>
                                        </p:attrNameLst>
                                      </p:cBhvr>
                                      <p:to>
                                        <p:strVal val="visible"/>
                                      </p:to>
                                    </p:set>
                                    <p:animEffect filter="fade" transition="in">
                                      <p:cBhvr>
                                        <p:cTn dur="500"/>
                                        <p:tgtEl>
                                          <p:spTgt spid="1865">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1" name="Shape 1881"/>
        <p:cNvGrpSpPr/>
        <p:nvPr/>
      </p:nvGrpSpPr>
      <p:grpSpPr>
        <a:xfrm>
          <a:off x="0" y="0"/>
          <a:ext cx="0" cy="0"/>
          <a:chOff x="0" y="0"/>
          <a:chExt cx="0" cy="0"/>
        </a:xfrm>
      </p:grpSpPr>
      <p:sp>
        <p:nvSpPr>
          <p:cNvPr id="1882" name="Google Shape;1882;p18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Système Vente</a:t>
            </a:r>
            <a:br>
              <a:rPr b="0" i="0" lang="en-US" sz="4400" u="none">
                <a:solidFill>
                  <a:schemeClr val="dk2"/>
                </a:solidFill>
                <a:latin typeface="Arial"/>
                <a:ea typeface="Arial"/>
                <a:cs typeface="Arial"/>
                <a:sym typeface="Arial"/>
              </a:rPr>
            </a:br>
            <a:r>
              <a:rPr b="0" i="0" lang="en-US" sz="4400" u="none">
                <a:solidFill>
                  <a:schemeClr val="dk2"/>
                </a:solidFill>
                <a:latin typeface="Arial"/>
                <a:ea typeface="Arial"/>
                <a:cs typeface="Arial"/>
                <a:sym typeface="Arial"/>
              </a:rPr>
              <a:t>(diagramme de classes)</a:t>
            </a:r>
            <a:endParaRPr/>
          </a:p>
        </p:txBody>
      </p:sp>
      <p:cxnSp>
        <p:nvCxnSpPr>
          <p:cNvPr id="1883" name="Google Shape;1883;p184"/>
          <p:cNvCxnSpPr/>
          <p:nvPr/>
        </p:nvCxnSpPr>
        <p:spPr>
          <a:xfrm>
            <a:off x="4752975" y="4300537"/>
            <a:ext cx="796925" cy="1587"/>
          </a:xfrm>
          <a:prstGeom prst="straightConnector1">
            <a:avLst/>
          </a:prstGeom>
          <a:noFill/>
          <a:ln cap="flat" cmpd="sng" w="9525">
            <a:solidFill>
              <a:schemeClr val="dk1"/>
            </a:solidFill>
            <a:prstDash val="solid"/>
            <a:miter lim="800000"/>
            <a:headEnd len="med" w="med" type="none"/>
            <a:tailEnd len="med" w="med" type="none"/>
          </a:ln>
        </p:spPr>
      </p:cxnSp>
      <p:sp>
        <p:nvSpPr>
          <p:cNvPr id="1884" name="Google Shape;1884;p184"/>
          <p:cNvSpPr/>
          <p:nvPr/>
        </p:nvSpPr>
        <p:spPr>
          <a:xfrm>
            <a:off x="5481637" y="4265612"/>
            <a:ext cx="68262" cy="69850"/>
          </a:xfrm>
          <a:custGeom>
            <a:rect b="b" l="l" r="r" t="t"/>
            <a:pathLst>
              <a:path extrusionOk="0" h="44" w="43">
                <a:moveTo>
                  <a:pt x="0" y="0"/>
                </a:moveTo>
                <a:lnTo>
                  <a:pt x="43" y="22"/>
                </a:lnTo>
                <a:lnTo>
                  <a:pt x="0" y="44"/>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85" name="Google Shape;1885;p184"/>
          <p:cNvSpPr txBox="1"/>
          <p:nvPr/>
        </p:nvSpPr>
        <p:spPr>
          <a:xfrm>
            <a:off x="5027612" y="4119562"/>
            <a:ext cx="309562"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000"/>
              <a:buFont typeface="Times New Roman"/>
              <a:buNone/>
            </a:pPr>
            <a:r>
              <a:rPr b="0" i="1" lang="en-US" sz="1000" u="none">
                <a:solidFill>
                  <a:schemeClr val="accent2"/>
                </a:solidFill>
                <a:latin typeface="Times New Roman"/>
                <a:ea typeface="Times New Roman"/>
                <a:cs typeface="Times New Roman"/>
                <a:sym typeface="Times New Roman"/>
              </a:rPr>
              <a:t>utilise</a:t>
            </a:r>
            <a:endParaRPr/>
          </a:p>
        </p:txBody>
      </p:sp>
      <p:cxnSp>
        <p:nvCxnSpPr>
          <p:cNvPr id="1886" name="Google Shape;1886;p184"/>
          <p:cNvCxnSpPr/>
          <p:nvPr/>
        </p:nvCxnSpPr>
        <p:spPr>
          <a:xfrm>
            <a:off x="2838450" y="2470150"/>
            <a:ext cx="2797175" cy="1587"/>
          </a:xfrm>
          <a:prstGeom prst="straightConnector1">
            <a:avLst/>
          </a:prstGeom>
          <a:noFill/>
          <a:ln cap="flat" cmpd="sng" w="9525">
            <a:solidFill>
              <a:schemeClr val="dk1"/>
            </a:solidFill>
            <a:prstDash val="solid"/>
            <a:miter lim="800000"/>
            <a:headEnd len="med" w="med" type="none"/>
            <a:tailEnd len="med" w="med" type="none"/>
          </a:ln>
        </p:spPr>
      </p:cxnSp>
      <p:sp>
        <p:nvSpPr>
          <p:cNvPr id="1887" name="Google Shape;1887;p184"/>
          <p:cNvSpPr/>
          <p:nvPr/>
        </p:nvSpPr>
        <p:spPr>
          <a:xfrm>
            <a:off x="5567362" y="2436812"/>
            <a:ext cx="87312" cy="68262"/>
          </a:xfrm>
          <a:custGeom>
            <a:rect b="b" l="l" r="r" t="t"/>
            <a:pathLst>
              <a:path extrusionOk="0" h="43" w="43">
                <a:moveTo>
                  <a:pt x="0" y="0"/>
                </a:moveTo>
                <a:lnTo>
                  <a:pt x="43" y="21"/>
                </a:lnTo>
                <a:lnTo>
                  <a:pt x="0" y="43"/>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88" name="Google Shape;1888;p184"/>
          <p:cNvSpPr txBox="1"/>
          <p:nvPr/>
        </p:nvSpPr>
        <p:spPr>
          <a:xfrm>
            <a:off x="1114425" y="2222500"/>
            <a:ext cx="1724025" cy="51435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89" name="Google Shape;1889;p184"/>
          <p:cNvSpPr txBox="1"/>
          <p:nvPr/>
        </p:nvSpPr>
        <p:spPr>
          <a:xfrm>
            <a:off x="1452562" y="2393950"/>
            <a:ext cx="885825"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000"/>
              <a:buFont typeface="Arial"/>
              <a:buNone/>
            </a:pPr>
            <a:r>
              <a:rPr b="1" i="0" lang="en-US" sz="1000" u="none">
                <a:solidFill>
                  <a:schemeClr val="accent2"/>
                </a:solidFill>
                <a:latin typeface="Arial"/>
                <a:ea typeface="Arial"/>
                <a:cs typeface="Arial"/>
                <a:sym typeface="Arial"/>
              </a:rPr>
              <a:t>Ligne de vente</a:t>
            </a:r>
            <a:endParaRPr/>
          </a:p>
        </p:txBody>
      </p:sp>
      <p:sp>
        <p:nvSpPr>
          <p:cNvPr id="1890" name="Google Shape;1890;p184"/>
          <p:cNvSpPr txBox="1"/>
          <p:nvPr/>
        </p:nvSpPr>
        <p:spPr>
          <a:xfrm>
            <a:off x="1114425" y="2728912"/>
            <a:ext cx="1724025" cy="34290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91" name="Google Shape;1891;p184"/>
          <p:cNvSpPr txBox="1"/>
          <p:nvPr/>
        </p:nvSpPr>
        <p:spPr>
          <a:xfrm>
            <a:off x="1114425" y="2728912"/>
            <a:ext cx="1724025" cy="17145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92" name="Google Shape;1892;p184"/>
          <p:cNvSpPr txBox="1"/>
          <p:nvPr/>
        </p:nvSpPr>
        <p:spPr>
          <a:xfrm>
            <a:off x="1135062" y="2736850"/>
            <a:ext cx="904875"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000"/>
              <a:buFont typeface="Times New Roman"/>
              <a:buNone/>
            </a:pPr>
            <a:r>
              <a:rPr b="0" i="0" lang="en-US" sz="1000" u="none">
                <a:solidFill>
                  <a:schemeClr val="accent2"/>
                </a:solidFill>
                <a:latin typeface="Times New Roman"/>
                <a:ea typeface="Times New Roman"/>
                <a:cs typeface="Times New Roman"/>
                <a:sym typeface="Times New Roman"/>
              </a:rPr>
              <a:t>-quantité : integer</a:t>
            </a:r>
            <a:endParaRPr/>
          </a:p>
        </p:txBody>
      </p:sp>
      <p:sp>
        <p:nvSpPr>
          <p:cNvPr id="1893" name="Google Shape;1893;p184"/>
          <p:cNvSpPr txBox="1"/>
          <p:nvPr/>
        </p:nvSpPr>
        <p:spPr>
          <a:xfrm>
            <a:off x="1135062" y="2908300"/>
            <a:ext cx="1673225"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000"/>
              <a:buFont typeface="Times New Roman"/>
              <a:buNone/>
            </a:pPr>
            <a:r>
              <a:rPr b="0" i="0" lang="en-US" sz="1000" u="none">
                <a:solidFill>
                  <a:schemeClr val="accent2"/>
                </a:solidFill>
                <a:latin typeface="Times New Roman"/>
                <a:ea typeface="Times New Roman"/>
                <a:cs typeface="Times New Roman"/>
                <a:sym typeface="Times New Roman"/>
              </a:rPr>
              <a:t>+setQuantité(In quantité:integer)</a:t>
            </a:r>
            <a:endParaRPr/>
          </a:p>
        </p:txBody>
      </p:sp>
      <p:sp>
        <p:nvSpPr>
          <p:cNvPr id="1894" name="Google Shape;1894;p184"/>
          <p:cNvSpPr txBox="1"/>
          <p:nvPr/>
        </p:nvSpPr>
        <p:spPr>
          <a:xfrm>
            <a:off x="1193800" y="3768725"/>
            <a:ext cx="1849437" cy="34290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95" name="Google Shape;1895;p184"/>
          <p:cNvSpPr txBox="1"/>
          <p:nvPr/>
        </p:nvSpPr>
        <p:spPr>
          <a:xfrm>
            <a:off x="1830387" y="3854450"/>
            <a:ext cx="344487"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000"/>
              <a:buFont typeface="Arial"/>
              <a:buNone/>
            </a:pPr>
            <a:r>
              <a:rPr b="1" i="0" lang="en-US" sz="1000" u="none">
                <a:solidFill>
                  <a:schemeClr val="accent2"/>
                </a:solidFill>
                <a:latin typeface="Arial"/>
                <a:ea typeface="Arial"/>
                <a:cs typeface="Arial"/>
                <a:sym typeface="Arial"/>
              </a:rPr>
              <a:t>Vente</a:t>
            </a:r>
            <a:endParaRPr/>
          </a:p>
        </p:txBody>
      </p:sp>
      <p:sp>
        <p:nvSpPr>
          <p:cNvPr id="1896" name="Google Shape;1896;p184"/>
          <p:cNvSpPr txBox="1"/>
          <p:nvPr/>
        </p:nvSpPr>
        <p:spPr>
          <a:xfrm>
            <a:off x="1193800" y="4103687"/>
            <a:ext cx="1849437" cy="48895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97" name="Google Shape;1897;p184"/>
          <p:cNvSpPr txBox="1"/>
          <p:nvPr/>
        </p:nvSpPr>
        <p:spPr>
          <a:xfrm>
            <a:off x="1193800" y="4103687"/>
            <a:ext cx="1849437" cy="31750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98" name="Google Shape;1898;p184"/>
          <p:cNvSpPr txBox="1"/>
          <p:nvPr/>
        </p:nvSpPr>
        <p:spPr>
          <a:xfrm>
            <a:off x="1290637" y="4111625"/>
            <a:ext cx="892175"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000"/>
              <a:buFont typeface="Times New Roman"/>
              <a:buNone/>
            </a:pPr>
            <a:r>
              <a:rPr b="0" i="0" lang="en-US" sz="1000" u="none">
                <a:solidFill>
                  <a:schemeClr val="accent2"/>
                </a:solidFill>
                <a:latin typeface="Times New Roman"/>
                <a:ea typeface="Times New Roman"/>
                <a:cs typeface="Times New Roman"/>
                <a:sym typeface="Times New Roman"/>
              </a:rPr>
              <a:t>-Date : undefined</a:t>
            </a:r>
            <a:endParaRPr/>
          </a:p>
        </p:txBody>
      </p:sp>
      <p:sp>
        <p:nvSpPr>
          <p:cNvPr id="1899" name="Google Shape;1899;p184"/>
          <p:cNvSpPr txBox="1"/>
          <p:nvPr/>
        </p:nvSpPr>
        <p:spPr>
          <a:xfrm>
            <a:off x="1290637" y="4257675"/>
            <a:ext cx="963612"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000"/>
              <a:buFont typeface="Times New Roman"/>
              <a:buNone/>
            </a:pPr>
            <a:r>
              <a:rPr b="0" i="0" lang="en-US" sz="1000" u="none">
                <a:solidFill>
                  <a:schemeClr val="accent2"/>
                </a:solidFill>
                <a:latin typeface="Times New Roman"/>
                <a:ea typeface="Times New Roman"/>
                <a:cs typeface="Times New Roman"/>
                <a:sym typeface="Times New Roman"/>
              </a:rPr>
              <a:t>-Heure : undefined</a:t>
            </a:r>
            <a:endParaRPr/>
          </a:p>
        </p:txBody>
      </p:sp>
      <p:sp>
        <p:nvSpPr>
          <p:cNvPr id="1900" name="Google Shape;1900;p184"/>
          <p:cNvSpPr txBox="1"/>
          <p:nvPr/>
        </p:nvSpPr>
        <p:spPr>
          <a:xfrm>
            <a:off x="1290637" y="4429125"/>
            <a:ext cx="1714500"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000"/>
              <a:buFont typeface="Times New Roman"/>
              <a:buNone/>
            </a:pPr>
            <a:r>
              <a:rPr b="0" i="0" lang="en-US" sz="1000" u="none">
                <a:solidFill>
                  <a:schemeClr val="accent2"/>
                </a:solidFill>
                <a:latin typeface="Times New Roman"/>
                <a:ea typeface="Times New Roman"/>
                <a:cs typeface="Times New Roman"/>
                <a:sym typeface="Times New Roman"/>
              </a:rPr>
              <a:t>+initierPaiement(In montant:real)</a:t>
            </a:r>
            <a:endParaRPr/>
          </a:p>
        </p:txBody>
      </p:sp>
      <p:sp>
        <p:nvSpPr>
          <p:cNvPr id="1901" name="Google Shape;1901;p184"/>
          <p:cNvSpPr txBox="1"/>
          <p:nvPr/>
        </p:nvSpPr>
        <p:spPr>
          <a:xfrm>
            <a:off x="3841750" y="3940175"/>
            <a:ext cx="911225" cy="34290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02" name="Google Shape;1902;p184"/>
          <p:cNvSpPr txBox="1"/>
          <p:nvPr/>
        </p:nvSpPr>
        <p:spPr>
          <a:xfrm>
            <a:off x="4090987" y="4025900"/>
            <a:ext cx="506412"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000"/>
              <a:buFont typeface="Arial"/>
              <a:buNone/>
            </a:pPr>
            <a:r>
              <a:rPr b="1" i="0" lang="en-US" sz="1000" u="none">
                <a:solidFill>
                  <a:schemeClr val="accent2"/>
                </a:solidFill>
                <a:latin typeface="Arial"/>
                <a:ea typeface="Arial"/>
                <a:cs typeface="Arial"/>
                <a:sym typeface="Arial"/>
              </a:rPr>
              <a:t>Magasin</a:t>
            </a:r>
            <a:endParaRPr/>
          </a:p>
        </p:txBody>
      </p:sp>
      <p:sp>
        <p:nvSpPr>
          <p:cNvPr id="1903" name="Google Shape;1903;p184"/>
          <p:cNvSpPr txBox="1"/>
          <p:nvPr/>
        </p:nvSpPr>
        <p:spPr>
          <a:xfrm>
            <a:off x="3841750" y="4275137"/>
            <a:ext cx="911225" cy="403225"/>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04" name="Google Shape;1904;p184"/>
          <p:cNvSpPr txBox="1"/>
          <p:nvPr/>
        </p:nvSpPr>
        <p:spPr>
          <a:xfrm>
            <a:off x="3841750" y="4275137"/>
            <a:ext cx="911225" cy="31750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05" name="Google Shape;1905;p184"/>
          <p:cNvSpPr txBox="1"/>
          <p:nvPr/>
        </p:nvSpPr>
        <p:spPr>
          <a:xfrm>
            <a:off x="3868737" y="4283075"/>
            <a:ext cx="684212"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000"/>
              <a:buFont typeface="Times New Roman"/>
              <a:buNone/>
            </a:pPr>
            <a:r>
              <a:rPr b="0" i="0" lang="en-US" sz="1000" u="none">
                <a:solidFill>
                  <a:schemeClr val="accent2"/>
                </a:solidFill>
                <a:latin typeface="Times New Roman"/>
                <a:ea typeface="Times New Roman"/>
                <a:cs typeface="Times New Roman"/>
                <a:sym typeface="Times New Roman"/>
              </a:rPr>
              <a:t>+nom : string</a:t>
            </a:r>
            <a:endParaRPr/>
          </a:p>
        </p:txBody>
      </p:sp>
      <p:sp>
        <p:nvSpPr>
          <p:cNvPr id="1906" name="Google Shape;1906;p184"/>
          <p:cNvSpPr txBox="1"/>
          <p:nvPr/>
        </p:nvSpPr>
        <p:spPr>
          <a:xfrm>
            <a:off x="3868737" y="4429125"/>
            <a:ext cx="835025"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000"/>
              <a:buFont typeface="Times New Roman"/>
              <a:buNone/>
            </a:pPr>
            <a:r>
              <a:rPr b="0" i="0" lang="en-US" sz="1000" u="none">
                <a:solidFill>
                  <a:schemeClr val="accent2"/>
                </a:solidFill>
                <a:latin typeface="Times New Roman"/>
                <a:ea typeface="Times New Roman"/>
                <a:cs typeface="Times New Roman"/>
                <a:sym typeface="Times New Roman"/>
              </a:rPr>
              <a:t>+adresse : string</a:t>
            </a:r>
            <a:endParaRPr/>
          </a:p>
        </p:txBody>
      </p:sp>
      <p:sp>
        <p:nvSpPr>
          <p:cNvPr id="1907" name="Google Shape;1907;p184"/>
          <p:cNvSpPr txBox="1"/>
          <p:nvPr/>
        </p:nvSpPr>
        <p:spPr>
          <a:xfrm>
            <a:off x="1525587" y="5141912"/>
            <a:ext cx="1020762" cy="344487"/>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08" name="Google Shape;1908;p184"/>
          <p:cNvSpPr txBox="1"/>
          <p:nvPr/>
        </p:nvSpPr>
        <p:spPr>
          <a:xfrm>
            <a:off x="1800225" y="5227637"/>
            <a:ext cx="561975"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000"/>
              <a:buFont typeface="Arial"/>
              <a:buNone/>
            </a:pPr>
            <a:r>
              <a:rPr b="1" i="0" lang="en-US" sz="1000" u="none">
                <a:solidFill>
                  <a:schemeClr val="accent2"/>
                </a:solidFill>
                <a:latin typeface="Arial"/>
                <a:ea typeface="Arial"/>
                <a:cs typeface="Arial"/>
                <a:sym typeface="Arial"/>
              </a:rPr>
              <a:t>Paiement</a:t>
            </a:r>
            <a:endParaRPr/>
          </a:p>
        </p:txBody>
      </p:sp>
      <p:sp>
        <p:nvSpPr>
          <p:cNvPr id="1909" name="Google Shape;1909;p184"/>
          <p:cNvSpPr txBox="1"/>
          <p:nvPr/>
        </p:nvSpPr>
        <p:spPr>
          <a:xfrm>
            <a:off x="1525587" y="5476875"/>
            <a:ext cx="1020762" cy="40481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10" name="Google Shape;1910;p184"/>
          <p:cNvSpPr txBox="1"/>
          <p:nvPr/>
        </p:nvSpPr>
        <p:spPr>
          <a:xfrm>
            <a:off x="1525587" y="5476875"/>
            <a:ext cx="1020762" cy="319087"/>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11" name="Google Shape;1911;p184"/>
          <p:cNvSpPr txBox="1"/>
          <p:nvPr/>
        </p:nvSpPr>
        <p:spPr>
          <a:xfrm>
            <a:off x="1550987" y="5486400"/>
            <a:ext cx="749300"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000"/>
              <a:buFont typeface="Times New Roman"/>
              <a:buNone/>
            </a:pPr>
            <a:r>
              <a:rPr b="0" i="0" lang="en-US" sz="1000" u="none">
                <a:solidFill>
                  <a:schemeClr val="accent2"/>
                </a:solidFill>
                <a:latin typeface="Times New Roman"/>
                <a:ea typeface="Times New Roman"/>
                <a:cs typeface="Times New Roman"/>
                <a:sym typeface="Times New Roman"/>
              </a:rPr>
              <a:t>-montant : real</a:t>
            </a:r>
            <a:endParaRPr/>
          </a:p>
        </p:txBody>
      </p:sp>
      <p:sp>
        <p:nvSpPr>
          <p:cNvPr id="1912" name="Google Shape;1912;p184"/>
          <p:cNvSpPr txBox="1"/>
          <p:nvPr/>
        </p:nvSpPr>
        <p:spPr>
          <a:xfrm>
            <a:off x="1550987" y="5632450"/>
            <a:ext cx="712787"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000"/>
              <a:buFont typeface="Times New Roman"/>
              <a:buNone/>
            </a:pPr>
            <a:r>
              <a:rPr b="0" i="0" lang="en-US" sz="1000" u="none">
                <a:solidFill>
                  <a:schemeClr val="accent2"/>
                </a:solidFill>
                <a:latin typeface="Times New Roman"/>
                <a:ea typeface="Times New Roman"/>
                <a:cs typeface="Times New Roman"/>
                <a:sym typeface="Times New Roman"/>
              </a:rPr>
              <a:t>-mode : string</a:t>
            </a:r>
            <a:endParaRPr/>
          </a:p>
        </p:txBody>
      </p:sp>
      <p:sp>
        <p:nvSpPr>
          <p:cNvPr id="1913" name="Google Shape;1913;p184"/>
          <p:cNvSpPr txBox="1"/>
          <p:nvPr/>
        </p:nvSpPr>
        <p:spPr>
          <a:xfrm>
            <a:off x="1198562" y="3354387"/>
            <a:ext cx="674687"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000"/>
              <a:buFont typeface="Times New Roman"/>
              <a:buNone/>
            </a:pPr>
            <a:r>
              <a:rPr b="0" i="1" lang="en-US" sz="1000" u="none">
                <a:solidFill>
                  <a:schemeClr val="accent2"/>
                </a:solidFill>
                <a:latin typeface="Times New Roman"/>
                <a:ea typeface="Times New Roman"/>
                <a:cs typeface="Times New Roman"/>
                <a:sym typeface="Times New Roman"/>
              </a:rPr>
              <a:t>contenu dans</a:t>
            </a:r>
            <a:endParaRPr/>
          </a:p>
        </p:txBody>
      </p:sp>
      <p:sp>
        <p:nvSpPr>
          <p:cNvPr id="1914" name="Google Shape;1914;p184"/>
          <p:cNvSpPr txBox="1"/>
          <p:nvPr/>
        </p:nvSpPr>
        <p:spPr>
          <a:xfrm>
            <a:off x="2133600" y="3132137"/>
            <a:ext cx="190500"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000"/>
              <a:buFont typeface="Times New Roman"/>
              <a:buNone/>
            </a:pPr>
            <a:r>
              <a:rPr b="0" i="0" lang="en-US" sz="1000" u="none">
                <a:solidFill>
                  <a:schemeClr val="accent2"/>
                </a:solidFill>
                <a:latin typeface="Times New Roman"/>
                <a:ea typeface="Times New Roman"/>
                <a:cs typeface="Times New Roman"/>
                <a:sym typeface="Times New Roman"/>
              </a:rPr>
              <a:t>1..*</a:t>
            </a:r>
            <a:endParaRPr/>
          </a:p>
        </p:txBody>
      </p:sp>
      <p:sp>
        <p:nvSpPr>
          <p:cNvPr id="1915" name="Google Shape;1915;p184"/>
          <p:cNvSpPr txBox="1"/>
          <p:nvPr/>
        </p:nvSpPr>
        <p:spPr>
          <a:xfrm>
            <a:off x="2133600" y="3570287"/>
            <a:ext cx="63500"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000"/>
              <a:buFont typeface="Times New Roman"/>
              <a:buNone/>
            </a:pPr>
            <a:r>
              <a:rPr b="0" i="0" lang="en-US" sz="1000" u="none">
                <a:solidFill>
                  <a:schemeClr val="accent2"/>
                </a:solidFill>
                <a:latin typeface="Times New Roman"/>
                <a:ea typeface="Times New Roman"/>
                <a:cs typeface="Times New Roman"/>
                <a:sym typeface="Times New Roman"/>
              </a:rPr>
              <a:t>1</a:t>
            </a:r>
            <a:endParaRPr/>
          </a:p>
        </p:txBody>
      </p:sp>
      <p:cxnSp>
        <p:nvCxnSpPr>
          <p:cNvPr id="1916" name="Google Shape;1916;p184"/>
          <p:cNvCxnSpPr/>
          <p:nvPr/>
        </p:nvCxnSpPr>
        <p:spPr>
          <a:xfrm flipH="1" rot="10800000">
            <a:off x="2082800" y="3081337"/>
            <a:ext cx="1587" cy="677862"/>
          </a:xfrm>
          <a:prstGeom prst="straightConnector1">
            <a:avLst/>
          </a:prstGeom>
          <a:noFill/>
          <a:ln cap="flat" cmpd="sng" w="9525">
            <a:solidFill>
              <a:schemeClr val="dk1"/>
            </a:solidFill>
            <a:prstDash val="solid"/>
            <a:miter lim="800000"/>
            <a:headEnd len="med" w="med" type="none"/>
            <a:tailEnd len="med" w="med" type="none"/>
          </a:ln>
        </p:spPr>
      </p:cxnSp>
      <p:sp>
        <p:nvSpPr>
          <p:cNvPr id="1917" name="Google Shape;1917;p184"/>
          <p:cNvSpPr txBox="1"/>
          <p:nvPr/>
        </p:nvSpPr>
        <p:spPr>
          <a:xfrm>
            <a:off x="5043487" y="2522537"/>
            <a:ext cx="63500"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000"/>
              <a:buFont typeface="Times New Roman"/>
              <a:buNone/>
            </a:pPr>
            <a:r>
              <a:rPr b="0" i="0" lang="en-US" sz="1000" u="none">
                <a:solidFill>
                  <a:schemeClr val="accent2"/>
                </a:solidFill>
                <a:latin typeface="Times New Roman"/>
                <a:ea typeface="Times New Roman"/>
                <a:cs typeface="Times New Roman"/>
                <a:sym typeface="Times New Roman"/>
              </a:rPr>
              <a:t>1</a:t>
            </a:r>
            <a:endParaRPr/>
          </a:p>
        </p:txBody>
      </p:sp>
      <p:sp>
        <p:nvSpPr>
          <p:cNvPr id="1918" name="Google Shape;1918;p184"/>
          <p:cNvSpPr txBox="1"/>
          <p:nvPr/>
        </p:nvSpPr>
        <p:spPr>
          <a:xfrm>
            <a:off x="3370262" y="2522537"/>
            <a:ext cx="63500"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000"/>
              <a:buFont typeface="Times New Roman"/>
              <a:buNone/>
            </a:pPr>
            <a:r>
              <a:rPr b="0" i="0" lang="en-US" sz="1000" u="none">
                <a:solidFill>
                  <a:schemeClr val="accent2"/>
                </a:solidFill>
                <a:latin typeface="Times New Roman"/>
                <a:ea typeface="Times New Roman"/>
                <a:cs typeface="Times New Roman"/>
                <a:sym typeface="Times New Roman"/>
              </a:rPr>
              <a:t>*</a:t>
            </a:r>
            <a:endParaRPr/>
          </a:p>
        </p:txBody>
      </p:sp>
      <p:sp>
        <p:nvSpPr>
          <p:cNvPr id="1919" name="Google Shape;1919;p184"/>
          <p:cNvSpPr txBox="1"/>
          <p:nvPr/>
        </p:nvSpPr>
        <p:spPr>
          <a:xfrm>
            <a:off x="4030662" y="2290762"/>
            <a:ext cx="515937"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000"/>
              <a:buFont typeface="Times New Roman"/>
              <a:buNone/>
            </a:pPr>
            <a:r>
              <a:rPr b="0" i="1" lang="en-US" sz="1000" u="none">
                <a:solidFill>
                  <a:schemeClr val="accent2"/>
                </a:solidFill>
                <a:latin typeface="Times New Roman"/>
                <a:ea typeface="Times New Roman"/>
                <a:cs typeface="Times New Roman"/>
                <a:sym typeface="Times New Roman"/>
              </a:rPr>
              <a:t>enregistre</a:t>
            </a:r>
            <a:endParaRPr/>
          </a:p>
        </p:txBody>
      </p:sp>
      <p:sp>
        <p:nvSpPr>
          <p:cNvPr id="1920" name="Google Shape;1920;p184"/>
          <p:cNvSpPr txBox="1"/>
          <p:nvPr/>
        </p:nvSpPr>
        <p:spPr>
          <a:xfrm>
            <a:off x="1160462" y="4819650"/>
            <a:ext cx="679450"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000"/>
              <a:buFont typeface="Times New Roman"/>
              <a:buNone/>
            </a:pPr>
            <a:r>
              <a:rPr b="0" i="1" lang="en-US" sz="1000" u="none">
                <a:solidFill>
                  <a:schemeClr val="accent2"/>
                </a:solidFill>
                <a:latin typeface="Times New Roman"/>
                <a:ea typeface="Times New Roman"/>
                <a:cs typeface="Times New Roman"/>
                <a:sym typeface="Times New Roman"/>
              </a:rPr>
              <a:t>est payée par</a:t>
            </a:r>
            <a:endParaRPr/>
          </a:p>
        </p:txBody>
      </p:sp>
      <p:sp>
        <p:nvSpPr>
          <p:cNvPr id="1921" name="Google Shape;1921;p184"/>
          <p:cNvSpPr txBox="1"/>
          <p:nvPr/>
        </p:nvSpPr>
        <p:spPr>
          <a:xfrm>
            <a:off x="2117725" y="4945062"/>
            <a:ext cx="63500"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000"/>
              <a:buFont typeface="Times New Roman"/>
              <a:buNone/>
            </a:pPr>
            <a:r>
              <a:rPr b="0" i="0" lang="en-US" sz="1000" u="none">
                <a:solidFill>
                  <a:schemeClr val="accent2"/>
                </a:solidFill>
                <a:latin typeface="Times New Roman"/>
                <a:ea typeface="Times New Roman"/>
                <a:cs typeface="Times New Roman"/>
                <a:sym typeface="Times New Roman"/>
              </a:rPr>
              <a:t>1</a:t>
            </a:r>
            <a:endParaRPr/>
          </a:p>
        </p:txBody>
      </p:sp>
      <p:cxnSp>
        <p:nvCxnSpPr>
          <p:cNvPr id="1922" name="Google Shape;1922;p184"/>
          <p:cNvCxnSpPr/>
          <p:nvPr/>
        </p:nvCxnSpPr>
        <p:spPr>
          <a:xfrm flipH="1" rot="10800000">
            <a:off x="2065337" y="4600575"/>
            <a:ext cx="1587" cy="533400"/>
          </a:xfrm>
          <a:prstGeom prst="straightConnector1">
            <a:avLst/>
          </a:prstGeom>
          <a:noFill/>
          <a:ln cap="flat" cmpd="sng" w="9525">
            <a:solidFill>
              <a:schemeClr val="dk1"/>
            </a:solidFill>
            <a:prstDash val="solid"/>
            <a:miter lim="800000"/>
            <a:headEnd len="med" w="med" type="none"/>
            <a:tailEnd len="med" w="med" type="none"/>
          </a:ln>
        </p:spPr>
      </p:cxnSp>
      <p:sp>
        <p:nvSpPr>
          <p:cNvPr id="1923" name="Google Shape;1923;p184"/>
          <p:cNvSpPr txBox="1"/>
          <p:nvPr/>
        </p:nvSpPr>
        <p:spPr>
          <a:xfrm>
            <a:off x="2117725" y="4627562"/>
            <a:ext cx="63500"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000"/>
              <a:buFont typeface="Times New Roman"/>
              <a:buNone/>
            </a:pPr>
            <a:r>
              <a:rPr b="0" i="0" lang="en-US" sz="1000" u="none">
                <a:solidFill>
                  <a:schemeClr val="accent2"/>
                </a:solidFill>
                <a:latin typeface="Times New Roman"/>
                <a:ea typeface="Times New Roman"/>
                <a:cs typeface="Times New Roman"/>
                <a:sym typeface="Times New Roman"/>
              </a:rPr>
              <a:t>1</a:t>
            </a:r>
            <a:endParaRPr/>
          </a:p>
        </p:txBody>
      </p:sp>
      <p:sp>
        <p:nvSpPr>
          <p:cNvPr id="1924" name="Google Shape;1924;p184"/>
          <p:cNvSpPr txBox="1"/>
          <p:nvPr/>
        </p:nvSpPr>
        <p:spPr>
          <a:xfrm>
            <a:off x="4881562" y="4351337"/>
            <a:ext cx="63500"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000"/>
              <a:buFont typeface="Times New Roman"/>
              <a:buNone/>
            </a:pPr>
            <a:r>
              <a:rPr b="0" i="0" lang="en-US" sz="1000" u="none">
                <a:solidFill>
                  <a:schemeClr val="accent2"/>
                </a:solidFill>
                <a:latin typeface="Times New Roman"/>
                <a:ea typeface="Times New Roman"/>
                <a:cs typeface="Times New Roman"/>
                <a:sym typeface="Times New Roman"/>
              </a:rPr>
              <a:t>1</a:t>
            </a:r>
            <a:endParaRPr/>
          </a:p>
        </p:txBody>
      </p:sp>
      <p:sp>
        <p:nvSpPr>
          <p:cNvPr id="1925" name="Google Shape;1925;p184"/>
          <p:cNvSpPr txBox="1"/>
          <p:nvPr/>
        </p:nvSpPr>
        <p:spPr>
          <a:xfrm>
            <a:off x="5559425" y="4111625"/>
            <a:ext cx="2867025" cy="34290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26" name="Google Shape;1926;p184"/>
          <p:cNvSpPr txBox="1"/>
          <p:nvPr/>
        </p:nvSpPr>
        <p:spPr>
          <a:xfrm>
            <a:off x="6469062" y="4197350"/>
            <a:ext cx="550862"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000"/>
              <a:buFont typeface="Times New Roman"/>
              <a:buNone/>
            </a:pPr>
            <a:r>
              <a:rPr b="1" i="0" lang="en-US" sz="1000" u="none">
                <a:solidFill>
                  <a:schemeClr val="accent2"/>
                </a:solidFill>
                <a:latin typeface="Times New Roman"/>
                <a:ea typeface="Times New Roman"/>
                <a:cs typeface="Times New Roman"/>
                <a:sym typeface="Times New Roman"/>
              </a:rPr>
              <a:t>Catalogue</a:t>
            </a:r>
            <a:endParaRPr/>
          </a:p>
        </p:txBody>
      </p:sp>
      <p:sp>
        <p:nvSpPr>
          <p:cNvPr id="1927" name="Google Shape;1927;p184"/>
          <p:cNvSpPr txBox="1"/>
          <p:nvPr/>
        </p:nvSpPr>
        <p:spPr>
          <a:xfrm>
            <a:off x="5559425" y="4459287"/>
            <a:ext cx="2867025" cy="257175"/>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28" name="Google Shape;1928;p184"/>
          <p:cNvSpPr txBox="1"/>
          <p:nvPr/>
        </p:nvSpPr>
        <p:spPr>
          <a:xfrm>
            <a:off x="5584825" y="4540250"/>
            <a:ext cx="2789237"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000"/>
              <a:buFont typeface="Times New Roman"/>
              <a:buNone/>
            </a:pPr>
            <a:r>
              <a:rPr b="0" i="0" lang="en-US" sz="1000" u="none">
                <a:solidFill>
                  <a:schemeClr val="accent2"/>
                </a:solidFill>
                <a:latin typeface="Times New Roman"/>
                <a:ea typeface="Times New Roman"/>
                <a:cs typeface="Times New Roman"/>
                <a:sym typeface="Times New Roman"/>
              </a:rPr>
              <a:t>+ObtenirSpec(In Item:undefined):SpécificationProduit</a:t>
            </a:r>
            <a:endParaRPr/>
          </a:p>
        </p:txBody>
      </p:sp>
      <p:sp>
        <p:nvSpPr>
          <p:cNvPr id="1929" name="Google Shape;1929;p184"/>
          <p:cNvSpPr txBox="1"/>
          <p:nvPr/>
        </p:nvSpPr>
        <p:spPr>
          <a:xfrm>
            <a:off x="5645150" y="2222500"/>
            <a:ext cx="2316162" cy="34290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30" name="Google Shape;1930;p184"/>
          <p:cNvSpPr txBox="1"/>
          <p:nvPr/>
        </p:nvSpPr>
        <p:spPr>
          <a:xfrm>
            <a:off x="6197600" y="2308225"/>
            <a:ext cx="1114425"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000"/>
              <a:buFont typeface="Times New Roman"/>
              <a:buNone/>
            </a:pPr>
            <a:r>
              <a:rPr b="1" i="0" lang="en-US" sz="1000" u="none">
                <a:solidFill>
                  <a:schemeClr val="accent2"/>
                </a:solidFill>
                <a:latin typeface="Times New Roman"/>
                <a:ea typeface="Times New Roman"/>
                <a:cs typeface="Times New Roman"/>
                <a:sym typeface="Times New Roman"/>
              </a:rPr>
              <a:t>SpécificationProduit</a:t>
            </a:r>
            <a:endParaRPr/>
          </a:p>
        </p:txBody>
      </p:sp>
      <p:sp>
        <p:nvSpPr>
          <p:cNvPr id="1931" name="Google Shape;1931;p184"/>
          <p:cNvSpPr txBox="1"/>
          <p:nvPr/>
        </p:nvSpPr>
        <p:spPr>
          <a:xfrm>
            <a:off x="5645150" y="2557462"/>
            <a:ext cx="2316162" cy="63500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32" name="Google Shape;1932;p184"/>
          <p:cNvSpPr txBox="1"/>
          <p:nvPr/>
        </p:nvSpPr>
        <p:spPr>
          <a:xfrm>
            <a:off x="5645150" y="2557462"/>
            <a:ext cx="2316162" cy="31750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33" name="Google Shape;1933;p184"/>
          <p:cNvSpPr txBox="1"/>
          <p:nvPr/>
        </p:nvSpPr>
        <p:spPr>
          <a:xfrm>
            <a:off x="5670550" y="2565400"/>
            <a:ext cx="1023937"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000"/>
              <a:buFont typeface="Times New Roman"/>
              <a:buNone/>
            </a:pPr>
            <a:r>
              <a:rPr b="0" i="0" lang="en-US" sz="1000" u="none">
                <a:solidFill>
                  <a:schemeClr val="accent2"/>
                </a:solidFill>
                <a:latin typeface="Times New Roman"/>
                <a:ea typeface="Times New Roman"/>
                <a:cs typeface="Times New Roman"/>
                <a:sym typeface="Times New Roman"/>
              </a:rPr>
              <a:t>-Description : string</a:t>
            </a:r>
            <a:endParaRPr/>
          </a:p>
        </p:txBody>
      </p:sp>
      <p:sp>
        <p:nvSpPr>
          <p:cNvPr id="1934" name="Google Shape;1934;p184"/>
          <p:cNvSpPr txBox="1"/>
          <p:nvPr/>
        </p:nvSpPr>
        <p:spPr>
          <a:xfrm>
            <a:off x="5670550" y="2711450"/>
            <a:ext cx="544512"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000"/>
              <a:buFont typeface="Times New Roman"/>
              <a:buNone/>
            </a:pPr>
            <a:r>
              <a:rPr b="0" i="0" lang="en-US" sz="1000" u="none">
                <a:solidFill>
                  <a:schemeClr val="accent2"/>
                </a:solidFill>
                <a:latin typeface="Times New Roman"/>
                <a:ea typeface="Times New Roman"/>
                <a:cs typeface="Times New Roman"/>
                <a:sym typeface="Times New Roman"/>
              </a:rPr>
              <a:t>-Prix : real</a:t>
            </a:r>
            <a:endParaRPr/>
          </a:p>
        </p:txBody>
      </p:sp>
      <p:sp>
        <p:nvSpPr>
          <p:cNvPr id="1935" name="Google Shape;1935;p184"/>
          <p:cNvSpPr txBox="1"/>
          <p:nvPr/>
        </p:nvSpPr>
        <p:spPr>
          <a:xfrm>
            <a:off x="5670550" y="2889250"/>
            <a:ext cx="2181225"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000"/>
              <a:buFont typeface="Times New Roman"/>
              <a:buNone/>
            </a:pPr>
            <a:r>
              <a:rPr b="0" i="0" lang="en-US" sz="1000" u="none">
                <a:solidFill>
                  <a:schemeClr val="accent2"/>
                </a:solidFill>
                <a:latin typeface="Times New Roman"/>
                <a:ea typeface="Times New Roman"/>
                <a:cs typeface="Times New Roman"/>
                <a:sym typeface="Times New Roman"/>
              </a:rPr>
              <a:t>+getDescritption(In Item:undefined):string</a:t>
            </a:r>
            <a:endParaRPr/>
          </a:p>
        </p:txBody>
      </p:sp>
      <p:sp>
        <p:nvSpPr>
          <p:cNvPr id="1936" name="Google Shape;1936;p184"/>
          <p:cNvSpPr txBox="1"/>
          <p:nvPr/>
        </p:nvSpPr>
        <p:spPr>
          <a:xfrm>
            <a:off x="5654675" y="3040062"/>
            <a:ext cx="2127250"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000"/>
              <a:buFont typeface="Times New Roman"/>
              <a:buNone/>
            </a:pPr>
            <a:r>
              <a:rPr b="0" i="0" lang="en-US" sz="1000" u="none">
                <a:solidFill>
                  <a:schemeClr val="accent2"/>
                </a:solidFill>
                <a:latin typeface="Times New Roman"/>
                <a:ea typeface="Times New Roman"/>
                <a:cs typeface="Times New Roman"/>
                <a:sym typeface="Times New Roman"/>
              </a:rPr>
              <a:t>+getPrix(In Item:undefined):real</a:t>
            </a:r>
            <a:endParaRPr/>
          </a:p>
        </p:txBody>
      </p:sp>
      <p:sp>
        <p:nvSpPr>
          <p:cNvPr id="1937" name="Google Shape;1937;p184"/>
          <p:cNvSpPr txBox="1"/>
          <p:nvPr/>
        </p:nvSpPr>
        <p:spPr>
          <a:xfrm>
            <a:off x="5360987" y="4351337"/>
            <a:ext cx="63500"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000"/>
              <a:buFont typeface="Times New Roman"/>
              <a:buNone/>
            </a:pPr>
            <a:r>
              <a:rPr b="0" i="0" lang="en-US" sz="1000" u="none">
                <a:solidFill>
                  <a:schemeClr val="accent2"/>
                </a:solidFill>
                <a:latin typeface="Times New Roman"/>
                <a:ea typeface="Times New Roman"/>
                <a:cs typeface="Times New Roman"/>
                <a:sym typeface="Times New Roman"/>
              </a:rPr>
              <a:t>1</a:t>
            </a:r>
            <a:endParaRPr/>
          </a:p>
        </p:txBody>
      </p:sp>
      <p:sp>
        <p:nvSpPr>
          <p:cNvPr id="1938" name="Google Shape;1938;p184"/>
          <p:cNvSpPr txBox="1"/>
          <p:nvPr/>
        </p:nvSpPr>
        <p:spPr>
          <a:xfrm>
            <a:off x="6345237" y="3836987"/>
            <a:ext cx="190500"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000"/>
              <a:buFont typeface="Times New Roman"/>
              <a:buNone/>
            </a:pPr>
            <a:r>
              <a:rPr b="0" i="0" lang="en-US" sz="1000" u="none">
                <a:solidFill>
                  <a:schemeClr val="accent2"/>
                </a:solidFill>
                <a:latin typeface="Times New Roman"/>
                <a:ea typeface="Times New Roman"/>
                <a:cs typeface="Times New Roman"/>
                <a:sym typeface="Times New Roman"/>
              </a:rPr>
              <a:t>1..*</a:t>
            </a:r>
            <a:endParaRPr/>
          </a:p>
        </p:txBody>
      </p:sp>
      <p:sp>
        <p:nvSpPr>
          <p:cNvPr id="1939" name="Google Shape;1939;p184"/>
          <p:cNvSpPr txBox="1"/>
          <p:nvPr/>
        </p:nvSpPr>
        <p:spPr>
          <a:xfrm>
            <a:off x="6443662" y="3295650"/>
            <a:ext cx="63500"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000"/>
              <a:buFont typeface="Times New Roman"/>
              <a:buNone/>
            </a:pPr>
            <a:r>
              <a:rPr b="0" i="0" lang="en-US" sz="1000" u="none">
                <a:solidFill>
                  <a:schemeClr val="accent2"/>
                </a:solidFill>
                <a:latin typeface="Times New Roman"/>
                <a:ea typeface="Times New Roman"/>
                <a:cs typeface="Times New Roman"/>
                <a:sym typeface="Times New Roman"/>
              </a:rPr>
              <a:t>*</a:t>
            </a:r>
            <a:endParaRPr/>
          </a:p>
        </p:txBody>
      </p:sp>
      <p:sp>
        <p:nvSpPr>
          <p:cNvPr id="1940" name="Google Shape;1940;p184"/>
          <p:cNvSpPr txBox="1"/>
          <p:nvPr/>
        </p:nvSpPr>
        <p:spPr>
          <a:xfrm>
            <a:off x="6605587" y="3562350"/>
            <a:ext cx="436562"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000"/>
              <a:buFont typeface="Times New Roman"/>
              <a:buNone/>
            </a:pPr>
            <a:r>
              <a:rPr b="0" i="1" lang="en-US" sz="1000" u="none">
                <a:solidFill>
                  <a:schemeClr val="accent2"/>
                </a:solidFill>
                <a:latin typeface="Times New Roman"/>
                <a:ea typeface="Times New Roman"/>
                <a:cs typeface="Times New Roman"/>
                <a:sym typeface="Times New Roman"/>
              </a:rPr>
              <a:t>Contient</a:t>
            </a:r>
            <a:endParaRPr/>
          </a:p>
        </p:txBody>
      </p:sp>
      <p:cxnSp>
        <p:nvCxnSpPr>
          <p:cNvPr id="1941" name="Google Shape;1941;p184"/>
          <p:cNvCxnSpPr/>
          <p:nvPr/>
        </p:nvCxnSpPr>
        <p:spPr>
          <a:xfrm>
            <a:off x="6546850" y="3200400"/>
            <a:ext cx="1587" cy="765175"/>
          </a:xfrm>
          <a:prstGeom prst="straightConnector1">
            <a:avLst/>
          </a:prstGeom>
          <a:noFill/>
          <a:ln cap="flat" cmpd="sng" w="9525">
            <a:solidFill>
              <a:schemeClr val="dk1"/>
            </a:solidFill>
            <a:prstDash val="solid"/>
            <a:miter lim="800000"/>
            <a:headEnd len="med" w="med" type="none"/>
            <a:tailEnd len="med" w="med" type="none"/>
          </a:ln>
        </p:spPr>
      </p:cxnSp>
      <p:sp>
        <p:nvSpPr>
          <p:cNvPr id="1942" name="Google Shape;1942;p184"/>
          <p:cNvSpPr/>
          <p:nvPr/>
        </p:nvSpPr>
        <p:spPr>
          <a:xfrm>
            <a:off x="6503987" y="3965575"/>
            <a:ext cx="85725" cy="138112"/>
          </a:xfrm>
          <a:custGeom>
            <a:rect b="b" l="l" r="r" t="t"/>
            <a:pathLst>
              <a:path extrusionOk="0" h="87" w="54">
                <a:moveTo>
                  <a:pt x="27" y="0"/>
                </a:moveTo>
                <a:lnTo>
                  <a:pt x="0" y="43"/>
                </a:lnTo>
                <a:lnTo>
                  <a:pt x="27" y="87"/>
                </a:lnTo>
                <a:lnTo>
                  <a:pt x="54" y="43"/>
                </a:lnTo>
                <a:lnTo>
                  <a:pt x="27"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6" name="Shape 1946"/>
        <p:cNvGrpSpPr/>
        <p:nvPr/>
      </p:nvGrpSpPr>
      <p:grpSpPr>
        <a:xfrm>
          <a:off x="0" y="0"/>
          <a:ext cx="0" cy="0"/>
          <a:chOff x="0" y="0"/>
          <a:chExt cx="0" cy="0"/>
        </a:xfrm>
      </p:grpSpPr>
      <p:sp>
        <p:nvSpPr>
          <p:cNvPr id="1947" name="Google Shape;1947;p18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Diagramme de composants</a:t>
            </a:r>
            <a:br>
              <a:rPr b="0" i="0" lang="en-US" sz="4400" u="none">
                <a:solidFill>
                  <a:schemeClr val="dk2"/>
                </a:solidFill>
                <a:latin typeface="Arial"/>
                <a:ea typeface="Arial"/>
                <a:cs typeface="Arial"/>
                <a:sym typeface="Arial"/>
              </a:rPr>
            </a:br>
            <a:r>
              <a:rPr b="0" i="0" lang="en-US" sz="4400" u="none">
                <a:solidFill>
                  <a:schemeClr val="dk2"/>
                </a:solidFill>
                <a:latin typeface="Arial"/>
                <a:ea typeface="Arial"/>
                <a:cs typeface="Arial"/>
                <a:sym typeface="Arial"/>
              </a:rPr>
              <a:t>(Exemple)</a:t>
            </a:r>
            <a:endParaRPr/>
          </a:p>
        </p:txBody>
      </p:sp>
      <p:sp>
        <p:nvSpPr>
          <p:cNvPr id="1948" name="Google Shape;1948;p185"/>
          <p:cNvSpPr txBox="1"/>
          <p:nvPr>
            <p:ph idx="1" type="body"/>
          </p:nvPr>
        </p:nvSpPr>
        <p:spPr>
          <a:xfrm>
            <a:off x="455612" y="1600200"/>
            <a:ext cx="8229600" cy="6016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Système Vente</a:t>
            </a:r>
            <a:endParaRPr/>
          </a:p>
        </p:txBody>
      </p:sp>
      <p:sp>
        <p:nvSpPr>
          <p:cNvPr id="1949" name="Google Shape;1949;p185"/>
          <p:cNvSpPr txBox="1"/>
          <p:nvPr/>
        </p:nvSpPr>
        <p:spPr>
          <a:xfrm>
            <a:off x="1008062" y="2544762"/>
            <a:ext cx="1182687" cy="473075"/>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50" name="Google Shape;1950;p185"/>
          <p:cNvSpPr txBox="1"/>
          <p:nvPr/>
        </p:nvSpPr>
        <p:spPr>
          <a:xfrm>
            <a:off x="917575" y="2635250"/>
            <a:ext cx="158750" cy="101600"/>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51" name="Google Shape;1951;p185"/>
          <p:cNvSpPr txBox="1"/>
          <p:nvPr/>
        </p:nvSpPr>
        <p:spPr>
          <a:xfrm>
            <a:off x="917575" y="2635250"/>
            <a:ext cx="147637" cy="90487"/>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52" name="Google Shape;1952;p185"/>
          <p:cNvSpPr txBox="1"/>
          <p:nvPr/>
        </p:nvSpPr>
        <p:spPr>
          <a:xfrm>
            <a:off x="917575" y="2814637"/>
            <a:ext cx="158750" cy="101600"/>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53" name="Google Shape;1953;p185"/>
          <p:cNvSpPr txBox="1"/>
          <p:nvPr/>
        </p:nvSpPr>
        <p:spPr>
          <a:xfrm>
            <a:off x="917575" y="2814637"/>
            <a:ext cx="147637" cy="90487"/>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54" name="Google Shape;1954;p185"/>
          <p:cNvSpPr txBox="1"/>
          <p:nvPr/>
        </p:nvSpPr>
        <p:spPr>
          <a:xfrm>
            <a:off x="1154112" y="2601912"/>
            <a:ext cx="912812" cy="1682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100"/>
              <a:buFont typeface="Times New Roman"/>
              <a:buNone/>
            </a:pPr>
            <a:r>
              <a:rPr b="0" i="0" lang="en-US" sz="1100" u="none">
                <a:solidFill>
                  <a:schemeClr val="accent2"/>
                </a:solidFill>
                <a:latin typeface="Times New Roman"/>
                <a:ea typeface="Times New Roman"/>
                <a:cs typeface="Times New Roman"/>
                <a:sym typeface="Times New Roman"/>
              </a:rPr>
              <a:t>&lt;&lt;executable&gt;&gt;</a:t>
            </a:r>
            <a:endParaRPr/>
          </a:p>
        </p:txBody>
      </p:sp>
      <p:sp>
        <p:nvSpPr>
          <p:cNvPr id="1955" name="Google Shape;1955;p185"/>
          <p:cNvSpPr txBox="1"/>
          <p:nvPr/>
        </p:nvSpPr>
        <p:spPr>
          <a:xfrm>
            <a:off x="1222375" y="2792412"/>
            <a:ext cx="735012" cy="1682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100"/>
              <a:buFont typeface="Times New Roman"/>
              <a:buNone/>
            </a:pPr>
            <a:r>
              <a:rPr b="0" i="0" lang="en-US" sz="1100" u="none">
                <a:solidFill>
                  <a:schemeClr val="accent2"/>
                </a:solidFill>
                <a:latin typeface="Times New Roman"/>
                <a:ea typeface="Times New Roman"/>
                <a:cs typeface="Times New Roman"/>
                <a:sym typeface="Times New Roman"/>
              </a:rPr>
              <a:t>IHM_Caisier</a:t>
            </a:r>
            <a:endParaRPr/>
          </a:p>
        </p:txBody>
      </p:sp>
      <p:sp>
        <p:nvSpPr>
          <p:cNvPr id="1956" name="Google Shape;1956;p185"/>
          <p:cNvSpPr txBox="1"/>
          <p:nvPr/>
        </p:nvSpPr>
        <p:spPr>
          <a:xfrm>
            <a:off x="2921000" y="5694362"/>
            <a:ext cx="1373187" cy="45085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57" name="Google Shape;1957;p185"/>
          <p:cNvSpPr txBox="1"/>
          <p:nvPr/>
        </p:nvSpPr>
        <p:spPr>
          <a:xfrm>
            <a:off x="2832100" y="5784850"/>
            <a:ext cx="157162" cy="101600"/>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58" name="Google Shape;1958;p185"/>
          <p:cNvSpPr txBox="1"/>
          <p:nvPr/>
        </p:nvSpPr>
        <p:spPr>
          <a:xfrm>
            <a:off x="2832100" y="5784850"/>
            <a:ext cx="146050" cy="90487"/>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59" name="Google Shape;1959;p185"/>
          <p:cNvSpPr txBox="1"/>
          <p:nvPr/>
        </p:nvSpPr>
        <p:spPr>
          <a:xfrm>
            <a:off x="2832100" y="5964237"/>
            <a:ext cx="157162" cy="101600"/>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60" name="Google Shape;1960;p185"/>
          <p:cNvSpPr txBox="1"/>
          <p:nvPr/>
        </p:nvSpPr>
        <p:spPr>
          <a:xfrm>
            <a:off x="2832100" y="5964237"/>
            <a:ext cx="146050" cy="90487"/>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61" name="Google Shape;1961;p185"/>
          <p:cNvSpPr txBox="1"/>
          <p:nvPr/>
        </p:nvSpPr>
        <p:spPr>
          <a:xfrm>
            <a:off x="3259137" y="5740400"/>
            <a:ext cx="647700" cy="1682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100"/>
              <a:buFont typeface="Times New Roman"/>
              <a:buNone/>
            </a:pPr>
            <a:r>
              <a:rPr b="0" i="0" lang="en-US" sz="1100" u="none">
                <a:solidFill>
                  <a:schemeClr val="accent2"/>
                </a:solidFill>
                <a:latin typeface="Times New Roman"/>
                <a:ea typeface="Times New Roman"/>
                <a:cs typeface="Times New Roman"/>
                <a:sym typeface="Times New Roman"/>
              </a:rPr>
              <a:t>&lt;&lt;utility&gt;&gt;</a:t>
            </a:r>
            <a:endParaRPr/>
          </a:p>
        </p:txBody>
      </p:sp>
      <p:sp>
        <p:nvSpPr>
          <p:cNvPr id="1962" name="Google Shape;1962;p185"/>
          <p:cNvSpPr txBox="1"/>
          <p:nvPr/>
        </p:nvSpPr>
        <p:spPr>
          <a:xfrm>
            <a:off x="3090862" y="5930900"/>
            <a:ext cx="1028700" cy="1682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100"/>
              <a:buFont typeface="Times New Roman"/>
              <a:buNone/>
            </a:pPr>
            <a:r>
              <a:rPr b="0" i="0" lang="en-US" sz="1100" u="none">
                <a:solidFill>
                  <a:schemeClr val="accent2"/>
                </a:solidFill>
                <a:latin typeface="Times New Roman"/>
                <a:ea typeface="Times New Roman"/>
                <a:cs typeface="Times New Roman"/>
                <a:sym typeface="Times New Roman"/>
              </a:rPr>
              <a:t>CatalogueProduits</a:t>
            </a:r>
            <a:endParaRPr/>
          </a:p>
        </p:txBody>
      </p:sp>
      <p:sp>
        <p:nvSpPr>
          <p:cNvPr id="1963" name="Google Shape;1963;p185"/>
          <p:cNvSpPr txBox="1"/>
          <p:nvPr/>
        </p:nvSpPr>
        <p:spPr>
          <a:xfrm>
            <a:off x="3259137" y="4232275"/>
            <a:ext cx="1700212" cy="473075"/>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64" name="Google Shape;1964;p185"/>
          <p:cNvSpPr txBox="1"/>
          <p:nvPr/>
        </p:nvSpPr>
        <p:spPr>
          <a:xfrm>
            <a:off x="3168650" y="4322762"/>
            <a:ext cx="158750" cy="101600"/>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65" name="Google Shape;1965;p185"/>
          <p:cNvSpPr txBox="1"/>
          <p:nvPr/>
        </p:nvSpPr>
        <p:spPr>
          <a:xfrm>
            <a:off x="3168650" y="4502150"/>
            <a:ext cx="158750" cy="101600"/>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66" name="Google Shape;1966;p185"/>
          <p:cNvSpPr txBox="1"/>
          <p:nvPr/>
        </p:nvSpPr>
        <p:spPr>
          <a:xfrm>
            <a:off x="3168650" y="4502150"/>
            <a:ext cx="147637" cy="90487"/>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67" name="Google Shape;1967;p185"/>
          <p:cNvSpPr txBox="1"/>
          <p:nvPr/>
        </p:nvSpPr>
        <p:spPr>
          <a:xfrm>
            <a:off x="3663950" y="4289425"/>
            <a:ext cx="912812" cy="1682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100"/>
              <a:buFont typeface="Times New Roman"/>
              <a:buNone/>
            </a:pPr>
            <a:r>
              <a:rPr b="0" i="0" lang="en-US" sz="1100" u="none">
                <a:solidFill>
                  <a:schemeClr val="accent2"/>
                </a:solidFill>
                <a:latin typeface="Times New Roman"/>
                <a:ea typeface="Times New Roman"/>
                <a:cs typeface="Times New Roman"/>
                <a:sym typeface="Times New Roman"/>
              </a:rPr>
              <a:t>&lt;&lt;executable&gt;&gt;</a:t>
            </a:r>
            <a:endParaRPr/>
          </a:p>
        </p:txBody>
      </p:sp>
      <p:sp>
        <p:nvSpPr>
          <p:cNvPr id="1968" name="Google Shape;1968;p185"/>
          <p:cNvSpPr txBox="1"/>
          <p:nvPr/>
        </p:nvSpPr>
        <p:spPr>
          <a:xfrm>
            <a:off x="3438525" y="4479925"/>
            <a:ext cx="1358900" cy="1682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100"/>
              <a:buFont typeface="Times New Roman"/>
              <a:buNone/>
            </a:pPr>
            <a:r>
              <a:rPr b="0" i="0" lang="en-US" sz="1100" u="none">
                <a:solidFill>
                  <a:schemeClr val="accent2"/>
                </a:solidFill>
                <a:latin typeface="Times New Roman"/>
                <a:ea typeface="Times New Roman"/>
                <a:cs typeface="Times New Roman"/>
                <a:sym typeface="Times New Roman"/>
              </a:rPr>
              <a:t>Enregistrement-Produits</a:t>
            </a:r>
            <a:endParaRPr/>
          </a:p>
        </p:txBody>
      </p:sp>
      <p:sp>
        <p:nvSpPr>
          <p:cNvPr id="1969" name="Google Shape;1969;p185"/>
          <p:cNvSpPr txBox="1"/>
          <p:nvPr/>
        </p:nvSpPr>
        <p:spPr>
          <a:xfrm>
            <a:off x="3506787" y="3108325"/>
            <a:ext cx="1216025" cy="471487"/>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70" name="Google Shape;1970;p185"/>
          <p:cNvSpPr txBox="1"/>
          <p:nvPr/>
        </p:nvSpPr>
        <p:spPr>
          <a:xfrm>
            <a:off x="3732212" y="3152775"/>
            <a:ext cx="803275" cy="1682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100"/>
              <a:buFont typeface="Times New Roman"/>
              <a:buNone/>
            </a:pPr>
            <a:r>
              <a:rPr b="0" i="0" lang="en-US" sz="1100" u="none">
                <a:solidFill>
                  <a:schemeClr val="accent2"/>
                </a:solidFill>
                <a:latin typeface="Times New Roman"/>
                <a:ea typeface="Times New Roman"/>
                <a:cs typeface="Times New Roman"/>
                <a:sym typeface="Times New Roman"/>
              </a:rPr>
              <a:t>&lt;&lt;interface&gt;&gt;</a:t>
            </a:r>
            <a:endParaRPr/>
          </a:p>
        </p:txBody>
      </p:sp>
      <p:sp>
        <p:nvSpPr>
          <p:cNvPr id="1971" name="Google Shape;1971;p185"/>
          <p:cNvSpPr txBox="1"/>
          <p:nvPr/>
        </p:nvSpPr>
        <p:spPr>
          <a:xfrm>
            <a:off x="3675062" y="3344862"/>
            <a:ext cx="903287" cy="1682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100"/>
              <a:buFont typeface="Times New Roman"/>
              <a:buNone/>
            </a:pPr>
            <a:r>
              <a:rPr b="0" i="0" lang="en-US" sz="1100" u="none">
                <a:solidFill>
                  <a:schemeClr val="accent2"/>
                </a:solidFill>
                <a:latin typeface="Times New Roman"/>
                <a:ea typeface="Times New Roman"/>
                <a:cs typeface="Times New Roman"/>
                <a:sym typeface="Times New Roman"/>
              </a:rPr>
              <a:t>InterfaceProduit</a:t>
            </a:r>
            <a:endParaRPr/>
          </a:p>
        </p:txBody>
      </p:sp>
      <p:sp>
        <p:nvSpPr>
          <p:cNvPr id="1972" name="Google Shape;1972;p185"/>
          <p:cNvSpPr txBox="1"/>
          <p:nvPr/>
        </p:nvSpPr>
        <p:spPr>
          <a:xfrm>
            <a:off x="3000375" y="5368925"/>
            <a:ext cx="1058862" cy="1682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100"/>
              <a:buFont typeface="Times New Roman"/>
              <a:buNone/>
            </a:pPr>
            <a:r>
              <a:rPr b="0" i="0" lang="en-US" sz="1100" u="none">
                <a:solidFill>
                  <a:schemeClr val="accent2"/>
                </a:solidFill>
                <a:latin typeface="Times New Roman"/>
                <a:ea typeface="Times New Roman"/>
                <a:cs typeface="Times New Roman"/>
                <a:sym typeface="Times New Roman"/>
              </a:rPr>
              <a:t>InterfaceCatalogue</a:t>
            </a:r>
            <a:endParaRPr/>
          </a:p>
        </p:txBody>
      </p:sp>
      <p:sp>
        <p:nvSpPr>
          <p:cNvPr id="1973" name="Google Shape;1973;p185"/>
          <p:cNvSpPr txBox="1"/>
          <p:nvPr/>
        </p:nvSpPr>
        <p:spPr>
          <a:xfrm>
            <a:off x="4946650" y="5694362"/>
            <a:ext cx="1576387" cy="45085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74" name="Google Shape;1974;p185"/>
          <p:cNvSpPr txBox="1"/>
          <p:nvPr/>
        </p:nvSpPr>
        <p:spPr>
          <a:xfrm>
            <a:off x="4857750" y="5784850"/>
            <a:ext cx="157162" cy="101600"/>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75" name="Google Shape;1975;p185"/>
          <p:cNvSpPr txBox="1"/>
          <p:nvPr/>
        </p:nvSpPr>
        <p:spPr>
          <a:xfrm>
            <a:off x="4857750" y="5784850"/>
            <a:ext cx="146050" cy="90487"/>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76" name="Google Shape;1976;p185"/>
          <p:cNvSpPr txBox="1"/>
          <p:nvPr/>
        </p:nvSpPr>
        <p:spPr>
          <a:xfrm>
            <a:off x="4857750" y="5964237"/>
            <a:ext cx="157162" cy="101600"/>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77" name="Google Shape;1977;p185"/>
          <p:cNvSpPr txBox="1"/>
          <p:nvPr/>
        </p:nvSpPr>
        <p:spPr>
          <a:xfrm>
            <a:off x="4857750" y="5964237"/>
            <a:ext cx="146050" cy="90487"/>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78" name="Google Shape;1978;p185"/>
          <p:cNvSpPr txBox="1"/>
          <p:nvPr/>
        </p:nvSpPr>
        <p:spPr>
          <a:xfrm>
            <a:off x="5284787" y="5740400"/>
            <a:ext cx="912812" cy="1682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100"/>
              <a:buFont typeface="Times New Roman"/>
              <a:buNone/>
            </a:pPr>
            <a:r>
              <a:rPr b="0" i="0" lang="en-US" sz="1100" u="none">
                <a:solidFill>
                  <a:schemeClr val="accent2"/>
                </a:solidFill>
                <a:latin typeface="Times New Roman"/>
                <a:ea typeface="Times New Roman"/>
                <a:cs typeface="Times New Roman"/>
                <a:sym typeface="Times New Roman"/>
              </a:rPr>
              <a:t>&lt;&lt;executable&gt;&gt;</a:t>
            </a:r>
            <a:endParaRPr/>
          </a:p>
        </p:txBody>
      </p:sp>
      <p:sp>
        <p:nvSpPr>
          <p:cNvPr id="1979" name="Google Shape;1979;p185"/>
          <p:cNvSpPr txBox="1"/>
          <p:nvPr/>
        </p:nvSpPr>
        <p:spPr>
          <a:xfrm>
            <a:off x="5116512" y="5930900"/>
            <a:ext cx="1219200" cy="1682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100"/>
              <a:buFont typeface="Times New Roman"/>
              <a:buNone/>
            </a:pPr>
            <a:r>
              <a:rPr b="0" i="0" lang="en-US" sz="1100" u="none">
                <a:solidFill>
                  <a:schemeClr val="accent2"/>
                </a:solidFill>
                <a:latin typeface="Times New Roman"/>
                <a:ea typeface="Times New Roman"/>
                <a:cs typeface="Times New Roman"/>
                <a:sym typeface="Times New Roman"/>
              </a:rPr>
              <a:t>Gestion d'autorisation</a:t>
            </a:r>
            <a:endParaRPr/>
          </a:p>
        </p:txBody>
      </p:sp>
      <p:sp>
        <p:nvSpPr>
          <p:cNvPr id="1980" name="Google Shape;1980;p185"/>
          <p:cNvSpPr txBox="1"/>
          <p:nvPr/>
        </p:nvSpPr>
        <p:spPr>
          <a:xfrm>
            <a:off x="5138737" y="4919662"/>
            <a:ext cx="1189037" cy="1682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100"/>
              <a:buFont typeface="Times New Roman"/>
              <a:buNone/>
            </a:pPr>
            <a:r>
              <a:rPr b="0" i="0" lang="en-US" sz="1100" u="none">
                <a:solidFill>
                  <a:schemeClr val="accent2"/>
                </a:solidFill>
                <a:latin typeface="Times New Roman"/>
                <a:ea typeface="Times New Roman"/>
                <a:cs typeface="Times New Roman"/>
                <a:sym typeface="Times New Roman"/>
              </a:rPr>
              <a:t>InterfaceAutorisation</a:t>
            </a:r>
            <a:endParaRPr/>
          </a:p>
        </p:txBody>
      </p:sp>
      <p:sp>
        <p:nvSpPr>
          <p:cNvPr id="1981" name="Google Shape;1981;p185"/>
          <p:cNvSpPr txBox="1"/>
          <p:nvPr/>
        </p:nvSpPr>
        <p:spPr>
          <a:xfrm>
            <a:off x="5510212" y="4008437"/>
            <a:ext cx="1304925" cy="471487"/>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82" name="Google Shape;1982;p185"/>
          <p:cNvSpPr txBox="1"/>
          <p:nvPr/>
        </p:nvSpPr>
        <p:spPr>
          <a:xfrm>
            <a:off x="5419725" y="4097337"/>
            <a:ext cx="157162" cy="101600"/>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83" name="Google Shape;1983;p185"/>
          <p:cNvSpPr txBox="1"/>
          <p:nvPr/>
        </p:nvSpPr>
        <p:spPr>
          <a:xfrm>
            <a:off x="5419725" y="4097337"/>
            <a:ext cx="146050" cy="90487"/>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84" name="Google Shape;1984;p185"/>
          <p:cNvSpPr txBox="1"/>
          <p:nvPr/>
        </p:nvSpPr>
        <p:spPr>
          <a:xfrm>
            <a:off x="5419725" y="4278312"/>
            <a:ext cx="157162" cy="100012"/>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85" name="Google Shape;1985;p185"/>
          <p:cNvSpPr txBox="1"/>
          <p:nvPr/>
        </p:nvSpPr>
        <p:spPr>
          <a:xfrm>
            <a:off x="5419725" y="4278312"/>
            <a:ext cx="146050" cy="8890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86" name="Google Shape;1986;p185"/>
          <p:cNvSpPr txBox="1"/>
          <p:nvPr/>
        </p:nvSpPr>
        <p:spPr>
          <a:xfrm>
            <a:off x="5713412" y="4064000"/>
            <a:ext cx="912812" cy="1682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100"/>
              <a:buFont typeface="Times New Roman"/>
              <a:buNone/>
            </a:pPr>
            <a:r>
              <a:rPr b="0" i="0" lang="en-US" sz="1100" u="none">
                <a:solidFill>
                  <a:schemeClr val="accent2"/>
                </a:solidFill>
                <a:latin typeface="Times New Roman"/>
                <a:ea typeface="Times New Roman"/>
                <a:cs typeface="Times New Roman"/>
                <a:sym typeface="Times New Roman"/>
              </a:rPr>
              <a:t>&lt;&lt;executable&gt;&gt;</a:t>
            </a:r>
            <a:endParaRPr/>
          </a:p>
        </p:txBody>
      </p:sp>
      <p:sp>
        <p:nvSpPr>
          <p:cNvPr id="1987" name="Google Shape;1987;p185"/>
          <p:cNvSpPr txBox="1"/>
          <p:nvPr/>
        </p:nvSpPr>
        <p:spPr>
          <a:xfrm>
            <a:off x="5678487" y="4254500"/>
            <a:ext cx="950912" cy="1682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100"/>
              <a:buFont typeface="Times New Roman"/>
              <a:buNone/>
            </a:pPr>
            <a:r>
              <a:rPr b="0" i="0" lang="en-US" sz="1100" u="none">
                <a:solidFill>
                  <a:schemeClr val="accent2"/>
                </a:solidFill>
                <a:latin typeface="Times New Roman"/>
                <a:ea typeface="Times New Roman"/>
                <a:cs typeface="Times New Roman"/>
                <a:sym typeface="Times New Roman"/>
              </a:rPr>
              <a:t>GestionPaiement</a:t>
            </a:r>
            <a:endParaRPr/>
          </a:p>
        </p:txBody>
      </p:sp>
      <p:sp>
        <p:nvSpPr>
          <p:cNvPr id="1988" name="Google Shape;1988;p185"/>
          <p:cNvSpPr txBox="1"/>
          <p:nvPr/>
        </p:nvSpPr>
        <p:spPr>
          <a:xfrm>
            <a:off x="5589587" y="3232150"/>
            <a:ext cx="1011237" cy="1682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100"/>
              <a:buFont typeface="Times New Roman"/>
              <a:buNone/>
            </a:pPr>
            <a:r>
              <a:rPr b="0" i="0" lang="en-US" sz="1100" u="none">
                <a:solidFill>
                  <a:schemeClr val="accent2"/>
                </a:solidFill>
                <a:latin typeface="Times New Roman"/>
                <a:ea typeface="Times New Roman"/>
                <a:cs typeface="Times New Roman"/>
                <a:sym typeface="Times New Roman"/>
              </a:rPr>
              <a:t>InterfacePaiement</a:t>
            </a:r>
            <a:endParaRPr/>
          </a:p>
        </p:txBody>
      </p:sp>
      <p:sp>
        <p:nvSpPr>
          <p:cNvPr id="1989" name="Google Shape;1989;p185"/>
          <p:cNvSpPr txBox="1"/>
          <p:nvPr/>
        </p:nvSpPr>
        <p:spPr>
          <a:xfrm>
            <a:off x="1346200" y="3670300"/>
            <a:ext cx="1023937" cy="44926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90" name="Google Shape;1990;p185"/>
          <p:cNvSpPr txBox="1"/>
          <p:nvPr/>
        </p:nvSpPr>
        <p:spPr>
          <a:xfrm>
            <a:off x="1255712" y="3760787"/>
            <a:ext cx="157162" cy="100012"/>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91" name="Google Shape;1991;p185"/>
          <p:cNvSpPr txBox="1"/>
          <p:nvPr/>
        </p:nvSpPr>
        <p:spPr>
          <a:xfrm>
            <a:off x="1255712" y="3760787"/>
            <a:ext cx="146050" cy="8890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92" name="Google Shape;1992;p185"/>
          <p:cNvSpPr txBox="1"/>
          <p:nvPr/>
        </p:nvSpPr>
        <p:spPr>
          <a:xfrm>
            <a:off x="1255712" y="3940175"/>
            <a:ext cx="157162" cy="101600"/>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93" name="Google Shape;1993;p185"/>
          <p:cNvSpPr txBox="1"/>
          <p:nvPr/>
        </p:nvSpPr>
        <p:spPr>
          <a:xfrm>
            <a:off x="1255712" y="3940175"/>
            <a:ext cx="146050" cy="90487"/>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94" name="Google Shape;1994;p185"/>
          <p:cNvSpPr txBox="1"/>
          <p:nvPr/>
        </p:nvSpPr>
        <p:spPr>
          <a:xfrm>
            <a:off x="1503362" y="3714750"/>
            <a:ext cx="687387" cy="1682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100"/>
              <a:buFont typeface="Times New Roman"/>
              <a:buNone/>
            </a:pPr>
            <a:r>
              <a:rPr b="0" i="0" lang="en-US" sz="1100" u="none">
                <a:solidFill>
                  <a:schemeClr val="accent2"/>
                </a:solidFill>
                <a:latin typeface="Times New Roman"/>
                <a:ea typeface="Times New Roman"/>
                <a:cs typeface="Times New Roman"/>
                <a:sym typeface="Times New Roman"/>
              </a:rPr>
              <a:t>&lt;&lt;library&gt;&gt;</a:t>
            </a:r>
            <a:endParaRPr/>
          </a:p>
        </p:txBody>
      </p:sp>
      <p:sp>
        <p:nvSpPr>
          <p:cNvPr id="1995" name="Google Shape;1995;p185"/>
          <p:cNvSpPr txBox="1"/>
          <p:nvPr/>
        </p:nvSpPr>
        <p:spPr>
          <a:xfrm>
            <a:off x="1560512" y="3906837"/>
            <a:ext cx="604837" cy="1682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100"/>
              <a:buFont typeface="Times New Roman"/>
              <a:buNone/>
            </a:pPr>
            <a:r>
              <a:rPr b="0" i="0" lang="en-US" sz="1100" u="none">
                <a:solidFill>
                  <a:schemeClr val="accent2"/>
                </a:solidFill>
                <a:latin typeface="Times New Roman"/>
                <a:ea typeface="Times New Roman"/>
                <a:cs typeface="Times New Roman"/>
                <a:sym typeface="Times New Roman"/>
              </a:rPr>
              <a:t>JavaSwing</a:t>
            </a:r>
            <a:endParaRPr/>
          </a:p>
        </p:txBody>
      </p:sp>
      <p:sp>
        <p:nvSpPr>
          <p:cNvPr id="1996" name="Google Shape;1996;p185"/>
          <p:cNvSpPr txBox="1"/>
          <p:nvPr/>
        </p:nvSpPr>
        <p:spPr>
          <a:xfrm>
            <a:off x="6973887" y="5694362"/>
            <a:ext cx="1327150" cy="45085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97" name="Google Shape;1997;p185"/>
          <p:cNvSpPr txBox="1"/>
          <p:nvPr/>
        </p:nvSpPr>
        <p:spPr>
          <a:xfrm>
            <a:off x="6883400" y="5784850"/>
            <a:ext cx="157162" cy="101600"/>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98" name="Google Shape;1998;p185"/>
          <p:cNvSpPr txBox="1"/>
          <p:nvPr/>
        </p:nvSpPr>
        <p:spPr>
          <a:xfrm>
            <a:off x="6883400" y="5784850"/>
            <a:ext cx="146050" cy="90487"/>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99" name="Google Shape;1999;p185"/>
          <p:cNvSpPr txBox="1"/>
          <p:nvPr/>
        </p:nvSpPr>
        <p:spPr>
          <a:xfrm>
            <a:off x="6883400" y="5964237"/>
            <a:ext cx="157162" cy="101600"/>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00" name="Google Shape;2000;p185"/>
          <p:cNvSpPr txBox="1"/>
          <p:nvPr/>
        </p:nvSpPr>
        <p:spPr>
          <a:xfrm>
            <a:off x="6883400" y="5964237"/>
            <a:ext cx="146050" cy="90487"/>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01" name="Google Shape;2001;p185"/>
          <p:cNvSpPr txBox="1"/>
          <p:nvPr/>
        </p:nvSpPr>
        <p:spPr>
          <a:xfrm>
            <a:off x="7142162" y="5818187"/>
            <a:ext cx="949325" cy="1682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100"/>
              <a:buFont typeface="Times New Roman"/>
              <a:buNone/>
            </a:pPr>
            <a:r>
              <a:rPr b="0" i="0" lang="en-US" sz="1100" u="none">
                <a:solidFill>
                  <a:schemeClr val="accent2"/>
                </a:solidFill>
                <a:latin typeface="Times New Roman"/>
                <a:ea typeface="Times New Roman"/>
                <a:cs typeface="Times New Roman"/>
                <a:sym typeface="Times New Roman"/>
              </a:rPr>
              <a:t>Gestion d'Impôts</a:t>
            </a:r>
            <a:endParaRPr/>
          </a:p>
        </p:txBody>
      </p:sp>
      <p:sp>
        <p:nvSpPr>
          <p:cNvPr id="2002" name="Google Shape;2002;p185"/>
          <p:cNvSpPr txBox="1"/>
          <p:nvPr/>
        </p:nvSpPr>
        <p:spPr>
          <a:xfrm>
            <a:off x="7164387" y="4919662"/>
            <a:ext cx="879475" cy="1682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2"/>
              </a:buClr>
              <a:buSzPts val="1100"/>
              <a:buFont typeface="Times New Roman"/>
              <a:buNone/>
            </a:pPr>
            <a:r>
              <a:rPr b="0" i="0" lang="en-US" sz="1100" u="none">
                <a:solidFill>
                  <a:schemeClr val="accent2"/>
                </a:solidFill>
                <a:latin typeface="Times New Roman"/>
                <a:ea typeface="Times New Roman"/>
                <a:cs typeface="Times New Roman"/>
                <a:sym typeface="Times New Roman"/>
              </a:rPr>
              <a:t>InterfaceImpôts</a:t>
            </a:r>
            <a:endParaRPr/>
          </a:p>
        </p:txBody>
      </p:sp>
      <p:sp>
        <p:nvSpPr>
          <p:cNvPr id="2003" name="Google Shape;2003;p185"/>
          <p:cNvSpPr/>
          <p:nvPr/>
        </p:nvSpPr>
        <p:spPr>
          <a:xfrm>
            <a:off x="4068762" y="3579812"/>
            <a:ext cx="158750" cy="225425"/>
          </a:xfrm>
          <a:custGeom>
            <a:rect b="b" l="l" r="r" t="t"/>
            <a:pathLst>
              <a:path extrusionOk="0" h="142" w="100">
                <a:moveTo>
                  <a:pt x="57" y="0"/>
                </a:moveTo>
                <a:lnTo>
                  <a:pt x="100" y="142"/>
                </a:lnTo>
                <a:lnTo>
                  <a:pt x="0" y="135"/>
                </a:lnTo>
                <a:lnTo>
                  <a:pt x="57" y="0"/>
                </a:lnTo>
                <a:close/>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2004" name="Google Shape;2004;p185"/>
          <p:cNvCxnSpPr/>
          <p:nvPr/>
        </p:nvCxnSpPr>
        <p:spPr>
          <a:xfrm flipH="1">
            <a:off x="4140200" y="3794125"/>
            <a:ext cx="7937" cy="427037"/>
          </a:xfrm>
          <a:prstGeom prst="straightConnector1">
            <a:avLst/>
          </a:prstGeom>
          <a:noFill/>
          <a:ln cap="flat" cmpd="sng" w="11100">
            <a:solidFill>
              <a:schemeClr val="dk1"/>
            </a:solidFill>
            <a:prstDash val="solid"/>
            <a:miter lim="800000"/>
            <a:headEnd len="med" w="med" type="none"/>
            <a:tailEnd len="med" w="med" type="none"/>
          </a:ln>
        </p:spPr>
      </p:cxnSp>
      <p:cxnSp>
        <p:nvCxnSpPr>
          <p:cNvPr id="2005" name="Google Shape;2005;p185"/>
          <p:cNvCxnSpPr/>
          <p:nvPr/>
        </p:nvCxnSpPr>
        <p:spPr>
          <a:xfrm flipH="1">
            <a:off x="3597275" y="4705350"/>
            <a:ext cx="393700" cy="449262"/>
          </a:xfrm>
          <a:prstGeom prst="straightConnector1">
            <a:avLst/>
          </a:prstGeom>
          <a:noFill/>
          <a:ln cap="flat" cmpd="sng" w="11100">
            <a:solidFill>
              <a:schemeClr val="dk1"/>
            </a:solidFill>
            <a:prstDash val="solid"/>
            <a:miter lim="800000"/>
            <a:headEnd len="med" w="med" type="none"/>
            <a:tailEnd len="med" w="med" type="none"/>
          </a:ln>
        </p:spPr>
      </p:cxnSp>
      <p:sp>
        <p:nvSpPr>
          <p:cNvPr id="2006" name="Google Shape;2006;p185"/>
          <p:cNvSpPr/>
          <p:nvPr/>
        </p:nvSpPr>
        <p:spPr>
          <a:xfrm>
            <a:off x="3597275" y="5054600"/>
            <a:ext cx="88900" cy="100012"/>
          </a:xfrm>
          <a:custGeom>
            <a:rect b="b" l="l" r="r" t="t"/>
            <a:pathLst>
              <a:path extrusionOk="0" h="63" w="56">
                <a:moveTo>
                  <a:pt x="14" y="0"/>
                </a:moveTo>
                <a:lnTo>
                  <a:pt x="0" y="63"/>
                </a:lnTo>
                <a:lnTo>
                  <a:pt x="56" y="42"/>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2007" name="Google Shape;2007;p185"/>
          <p:cNvCxnSpPr/>
          <p:nvPr/>
        </p:nvCxnSpPr>
        <p:spPr>
          <a:xfrm rot="10800000">
            <a:off x="3517900" y="5537200"/>
            <a:ext cx="22225" cy="146050"/>
          </a:xfrm>
          <a:prstGeom prst="straightConnector1">
            <a:avLst/>
          </a:prstGeom>
          <a:noFill/>
          <a:ln cap="flat" cmpd="sng" w="9525">
            <a:solidFill>
              <a:schemeClr val="dk1"/>
            </a:solidFill>
            <a:prstDash val="solid"/>
            <a:miter lim="800000"/>
            <a:headEnd len="med" w="med" type="none"/>
            <a:tailEnd len="med" w="med" type="none"/>
          </a:ln>
        </p:spPr>
      </p:cxnSp>
      <p:cxnSp>
        <p:nvCxnSpPr>
          <p:cNvPr id="2008" name="Google Shape;2008;p185"/>
          <p:cNvCxnSpPr/>
          <p:nvPr/>
        </p:nvCxnSpPr>
        <p:spPr>
          <a:xfrm>
            <a:off x="2190750" y="2781300"/>
            <a:ext cx="1349375" cy="315912"/>
          </a:xfrm>
          <a:prstGeom prst="straightConnector1">
            <a:avLst/>
          </a:prstGeom>
          <a:noFill/>
          <a:ln cap="flat" cmpd="sng" w="11100">
            <a:solidFill>
              <a:schemeClr val="dk1"/>
            </a:solidFill>
            <a:prstDash val="solid"/>
            <a:miter lim="800000"/>
            <a:headEnd len="med" w="med" type="none"/>
            <a:tailEnd len="med" w="med" type="none"/>
          </a:ln>
        </p:spPr>
      </p:cxnSp>
      <p:sp>
        <p:nvSpPr>
          <p:cNvPr id="2009" name="Google Shape;2009;p185"/>
          <p:cNvSpPr/>
          <p:nvPr/>
        </p:nvSpPr>
        <p:spPr>
          <a:xfrm>
            <a:off x="3438525" y="3028950"/>
            <a:ext cx="101600" cy="90487"/>
          </a:xfrm>
          <a:custGeom>
            <a:rect b="b" l="l" r="r" t="t"/>
            <a:pathLst>
              <a:path extrusionOk="0" h="57" w="64">
                <a:moveTo>
                  <a:pt x="0" y="57"/>
                </a:moveTo>
                <a:lnTo>
                  <a:pt x="64" y="43"/>
                </a:lnTo>
                <a:lnTo>
                  <a:pt x="15"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2010" name="Google Shape;2010;p185"/>
          <p:cNvCxnSpPr/>
          <p:nvPr/>
        </p:nvCxnSpPr>
        <p:spPr>
          <a:xfrm flipH="1" rot="10800000">
            <a:off x="5768975" y="5087937"/>
            <a:ext cx="1587" cy="595312"/>
          </a:xfrm>
          <a:prstGeom prst="straightConnector1">
            <a:avLst/>
          </a:prstGeom>
          <a:noFill/>
          <a:ln cap="flat" cmpd="sng" w="9525">
            <a:solidFill>
              <a:schemeClr val="dk1"/>
            </a:solidFill>
            <a:prstDash val="solid"/>
            <a:miter lim="800000"/>
            <a:headEnd len="med" w="med" type="none"/>
            <a:tailEnd len="med" w="med" type="none"/>
          </a:ln>
        </p:spPr>
      </p:cxnSp>
      <p:cxnSp>
        <p:nvCxnSpPr>
          <p:cNvPr id="2011" name="Google Shape;2011;p185"/>
          <p:cNvCxnSpPr/>
          <p:nvPr/>
        </p:nvCxnSpPr>
        <p:spPr>
          <a:xfrm flipH="1" rot="10800000">
            <a:off x="6061075" y="3400425"/>
            <a:ext cx="1587" cy="595312"/>
          </a:xfrm>
          <a:prstGeom prst="straightConnector1">
            <a:avLst/>
          </a:prstGeom>
          <a:noFill/>
          <a:ln cap="flat" cmpd="sng" w="9525">
            <a:solidFill>
              <a:schemeClr val="dk1"/>
            </a:solidFill>
            <a:prstDash val="solid"/>
            <a:miter lim="800000"/>
            <a:headEnd len="med" w="med" type="none"/>
            <a:tailEnd len="med" w="med" type="none"/>
          </a:ln>
        </p:spPr>
      </p:cxnSp>
      <p:cxnSp>
        <p:nvCxnSpPr>
          <p:cNvPr id="2012" name="Google Shape;2012;p185"/>
          <p:cNvCxnSpPr/>
          <p:nvPr/>
        </p:nvCxnSpPr>
        <p:spPr>
          <a:xfrm>
            <a:off x="2190750" y="2635250"/>
            <a:ext cx="3792537" cy="415925"/>
          </a:xfrm>
          <a:prstGeom prst="straightConnector1">
            <a:avLst/>
          </a:prstGeom>
          <a:noFill/>
          <a:ln cap="flat" cmpd="sng" w="11100">
            <a:solidFill>
              <a:schemeClr val="dk1"/>
            </a:solidFill>
            <a:prstDash val="solid"/>
            <a:miter lim="800000"/>
            <a:headEnd len="med" w="med" type="none"/>
            <a:tailEnd len="med" w="med" type="none"/>
          </a:ln>
        </p:spPr>
      </p:cxnSp>
      <p:sp>
        <p:nvSpPr>
          <p:cNvPr id="2013" name="Google Shape;2013;p185"/>
          <p:cNvSpPr/>
          <p:nvPr/>
        </p:nvSpPr>
        <p:spPr>
          <a:xfrm>
            <a:off x="5892800" y="2995612"/>
            <a:ext cx="90487" cy="90487"/>
          </a:xfrm>
          <a:custGeom>
            <a:rect b="b" l="l" r="r" t="t"/>
            <a:pathLst>
              <a:path extrusionOk="0" h="57" w="57">
                <a:moveTo>
                  <a:pt x="0" y="57"/>
                </a:moveTo>
                <a:lnTo>
                  <a:pt x="57" y="35"/>
                </a:lnTo>
                <a:lnTo>
                  <a:pt x="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2014" name="Google Shape;2014;p185"/>
          <p:cNvCxnSpPr/>
          <p:nvPr/>
        </p:nvCxnSpPr>
        <p:spPr>
          <a:xfrm>
            <a:off x="5757862" y="4479925"/>
            <a:ext cx="1587" cy="192087"/>
          </a:xfrm>
          <a:prstGeom prst="straightConnector1">
            <a:avLst/>
          </a:prstGeom>
          <a:noFill/>
          <a:ln cap="flat" cmpd="sng" w="11100">
            <a:solidFill>
              <a:schemeClr val="dk1"/>
            </a:solidFill>
            <a:prstDash val="solid"/>
            <a:miter lim="800000"/>
            <a:headEnd len="med" w="med" type="none"/>
            <a:tailEnd len="med" w="med" type="none"/>
          </a:ln>
        </p:spPr>
      </p:cxnSp>
      <p:sp>
        <p:nvSpPr>
          <p:cNvPr id="2015" name="Google Shape;2015;p185"/>
          <p:cNvSpPr/>
          <p:nvPr/>
        </p:nvSpPr>
        <p:spPr>
          <a:xfrm>
            <a:off x="5713412" y="4581525"/>
            <a:ext cx="88900" cy="90487"/>
          </a:xfrm>
          <a:custGeom>
            <a:rect b="b" l="l" r="r" t="t"/>
            <a:pathLst>
              <a:path extrusionOk="0" h="57" w="56">
                <a:moveTo>
                  <a:pt x="56" y="0"/>
                </a:moveTo>
                <a:lnTo>
                  <a:pt x="28" y="57"/>
                </a:lnTo>
                <a:lnTo>
                  <a:pt x="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2016" name="Google Shape;2016;p185"/>
          <p:cNvCxnSpPr/>
          <p:nvPr/>
        </p:nvCxnSpPr>
        <p:spPr>
          <a:xfrm flipH="1">
            <a:off x="1547812" y="3017837"/>
            <a:ext cx="23812" cy="641350"/>
          </a:xfrm>
          <a:prstGeom prst="straightConnector1">
            <a:avLst/>
          </a:prstGeom>
          <a:noFill/>
          <a:ln cap="flat" cmpd="sng" w="11100">
            <a:solidFill>
              <a:schemeClr val="dk1"/>
            </a:solidFill>
            <a:prstDash val="solid"/>
            <a:miter lim="800000"/>
            <a:headEnd len="med" w="med" type="none"/>
            <a:tailEnd len="med" w="med" type="none"/>
          </a:ln>
        </p:spPr>
      </p:cxnSp>
      <p:sp>
        <p:nvSpPr>
          <p:cNvPr id="2017" name="Google Shape;2017;p185"/>
          <p:cNvSpPr/>
          <p:nvPr/>
        </p:nvSpPr>
        <p:spPr>
          <a:xfrm>
            <a:off x="1503362" y="3568700"/>
            <a:ext cx="90487" cy="90487"/>
          </a:xfrm>
          <a:custGeom>
            <a:rect b="b" l="l" r="r" t="t"/>
            <a:pathLst>
              <a:path extrusionOk="0" h="57" w="57">
                <a:moveTo>
                  <a:pt x="0" y="0"/>
                </a:moveTo>
                <a:lnTo>
                  <a:pt x="28" y="57"/>
                </a:lnTo>
                <a:lnTo>
                  <a:pt x="57"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2018" name="Google Shape;2018;p185"/>
          <p:cNvCxnSpPr/>
          <p:nvPr/>
        </p:nvCxnSpPr>
        <p:spPr>
          <a:xfrm rot="10800000">
            <a:off x="7616825" y="5087937"/>
            <a:ext cx="7937" cy="595312"/>
          </a:xfrm>
          <a:prstGeom prst="straightConnector1">
            <a:avLst/>
          </a:prstGeom>
          <a:noFill/>
          <a:ln cap="flat" cmpd="sng" w="9525">
            <a:solidFill>
              <a:schemeClr val="dk1"/>
            </a:solidFill>
            <a:prstDash val="solid"/>
            <a:miter lim="800000"/>
            <a:headEnd len="med" w="med" type="none"/>
            <a:tailEnd len="med" w="med" type="none"/>
          </a:ln>
        </p:spPr>
      </p:cxnSp>
      <p:cxnSp>
        <p:nvCxnSpPr>
          <p:cNvPr id="2019" name="Google Shape;2019;p185"/>
          <p:cNvCxnSpPr/>
          <p:nvPr/>
        </p:nvCxnSpPr>
        <p:spPr>
          <a:xfrm>
            <a:off x="6815137" y="4446587"/>
            <a:ext cx="687387" cy="292100"/>
          </a:xfrm>
          <a:prstGeom prst="straightConnector1">
            <a:avLst/>
          </a:prstGeom>
          <a:noFill/>
          <a:ln cap="flat" cmpd="sng" w="11100">
            <a:solidFill>
              <a:schemeClr val="dk1"/>
            </a:solidFill>
            <a:prstDash val="solid"/>
            <a:miter lim="800000"/>
            <a:headEnd len="med" w="med" type="none"/>
            <a:tailEnd len="med" w="med" type="none"/>
          </a:ln>
        </p:spPr>
      </p:cxnSp>
      <p:sp>
        <p:nvSpPr>
          <p:cNvPr id="2020" name="Google Shape;2020;p185"/>
          <p:cNvSpPr/>
          <p:nvPr/>
        </p:nvSpPr>
        <p:spPr>
          <a:xfrm>
            <a:off x="7400925" y="4660900"/>
            <a:ext cx="101600" cy="88900"/>
          </a:xfrm>
          <a:custGeom>
            <a:rect b="b" l="l" r="r" t="t"/>
            <a:pathLst>
              <a:path extrusionOk="0" h="56" w="64">
                <a:moveTo>
                  <a:pt x="0" y="56"/>
                </a:moveTo>
                <a:lnTo>
                  <a:pt x="64" y="49"/>
                </a:lnTo>
                <a:lnTo>
                  <a:pt x="28"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21" name="Google Shape;2021;p185"/>
          <p:cNvSpPr/>
          <p:nvPr/>
        </p:nvSpPr>
        <p:spPr>
          <a:xfrm>
            <a:off x="5972175" y="2962275"/>
            <a:ext cx="180975" cy="200025"/>
          </a:xfrm>
          <a:prstGeom prst="ellipse">
            <a:avLst/>
          </a:prstGeom>
          <a:noFill/>
          <a:ln cap="flat" cmpd="sng" w="9525">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22" name="Google Shape;2022;p185"/>
          <p:cNvSpPr/>
          <p:nvPr/>
        </p:nvSpPr>
        <p:spPr>
          <a:xfrm>
            <a:off x="3457575" y="5143500"/>
            <a:ext cx="180975" cy="200025"/>
          </a:xfrm>
          <a:prstGeom prst="ellipse">
            <a:avLst/>
          </a:prstGeom>
          <a:noFill/>
          <a:ln cap="flat" cmpd="sng" w="9525">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23" name="Google Shape;2023;p185"/>
          <p:cNvSpPr/>
          <p:nvPr/>
        </p:nvSpPr>
        <p:spPr>
          <a:xfrm>
            <a:off x="5667375" y="4686300"/>
            <a:ext cx="180975" cy="200025"/>
          </a:xfrm>
          <a:prstGeom prst="ellipse">
            <a:avLst/>
          </a:prstGeom>
          <a:noFill/>
          <a:ln cap="flat" cmpd="sng" w="9525">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24" name="Google Shape;2024;p185"/>
          <p:cNvSpPr/>
          <p:nvPr/>
        </p:nvSpPr>
        <p:spPr>
          <a:xfrm>
            <a:off x="7496175" y="4743450"/>
            <a:ext cx="180975" cy="200025"/>
          </a:xfrm>
          <a:prstGeom prst="ellipse">
            <a:avLst/>
          </a:prstGeom>
          <a:noFill/>
          <a:ln cap="flat" cmpd="sng" w="9525">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8">
                                            <p:txEl>
                                              <p:pRg end="0" st="0"/>
                                            </p:txEl>
                                          </p:spTgt>
                                        </p:tgtEl>
                                        <p:attrNameLst>
                                          <p:attrName>style.visibility</p:attrName>
                                        </p:attrNameLst>
                                      </p:cBhvr>
                                      <p:to>
                                        <p:strVal val="visible"/>
                                      </p:to>
                                    </p:set>
                                    <p:animEffect filter="fade" transition="in">
                                      <p:cBhvr>
                                        <p:cTn dur="500"/>
                                        <p:tgtEl>
                                          <p:spTgt spid="1948">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8" name="Shape 2028"/>
        <p:cNvGrpSpPr/>
        <p:nvPr/>
      </p:nvGrpSpPr>
      <p:grpSpPr>
        <a:xfrm>
          <a:off x="0" y="0"/>
          <a:ext cx="0" cy="0"/>
          <a:chOff x="0" y="0"/>
          <a:chExt cx="0" cy="0"/>
        </a:xfrm>
      </p:grpSpPr>
      <p:sp>
        <p:nvSpPr>
          <p:cNvPr id="2029" name="Google Shape;2029;p18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Diagramme de déploiement</a:t>
            </a:r>
            <a:endParaRPr/>
          </a:p>
        </p:txBody>
      </p:sp>
      <p:sp>
        <p:nvSpPr>
          <p:cNvPr id="2030" name="Google Shape;2030;p186"/>
          <p:cNvSpPr txBox="1"/>
          <p:nvPr>
            <p:ph idx="1" type="body"/>
          </p:nvPr>
        </p:nvSpPr>
        <p:spPr>
          <a:xfrm>
            <a:off x="723900" y="1565275"/>
            <a:ext cx="8001000" cy="30273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Montre la configuration des nœuds de exécution et des composants qu’y résident</a:t>
            </a:r>
            <a:endParaRPr/>
          </a:p>
          <a:p>
            <a:pPr indent="-342900" lvl="0" marL="34290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Montre les relations physiques entre les composants logiciels et matériels d’un système</a:t>
            </a:r>
            <a:endParaRPr/>
          </a:p>
          <a:p>
            <a:pPr indent="-342900" lvl="0" marL="34290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Permet de spécifier</a:t>
            </a:r>
            <a:endParaRPr/>
          </a:p>
          <a:p>
            <a:pPr indent="-285750" lvl="1" marL="74295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Nœuds </a:t>
            </a:r>
            <a:endParaRPr/>
          </a:p>
          <a:p>
            <a:pPr indent="-285750" lvl="1" marL="74295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Relations : (dépendance, associations)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0">
                                            <p:txEl>
                                              <p:pRg end="0" st="0"/>
                                            </p:txEl>
                                          </p:spTgt>
                                        </p:tgtEl>
                                        <p:attrNameLst>
                                          <p:attrName>style.visibility</p:attrName>
                                        </p:attrNameLst>
                                      </p:cBhvr>
                                      <p:to>
                                        <p:strVal val="visible"/>
                                      </p:to>
                                    </p:set>
                                    <p:animEffect filter="fade" transition="in">
                                      <p:cBhvr>
                                        <p:cTn dur="500"/>
                                        <p:tgtEl>
                                          <p:spTgt spid="203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0">
                                            <p:txEl>
                                              <p:pRg end="1" st="1"/>
                                            </p:txEl>
                                          </p:spTgt>
                                        </p:tgtEl>
                                        <p:attrNameLst>
                                          <p:attrName>style.visibility</p:attrName>
                                        </p:attrNameLst>
                                      </p:cBhvr>
                                      <p:to>
                                        <p:strVal val="visible"/>
                                      </p:to>
                                    </p:set>
                                    <p:animEffect filter="fade" transition="in">
                                      <p:cBhvr>
                                        <p:cTn dur="500"/>
                                        <p:tgtEl>
                                          <p:spTgt spid="203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0">
                                            <p:txEl>
                                              <p:pRg end="2" st="2"/>
                                            </p:txEl>
                                          </p:spTgt>
                                        </p:tgtEl>
                                        <p:attrNameLst>
                                          <p:attrName>style.visibility</p:attrName>
                                        </p:attrNameLst>
                                      </p:cBhvr>
                                      <p:to>
                                        <p:strVal val="visible"/>
                                      </p:to>
                                    </p:set>
                                    <p:animEffect filter="fade" transition="in">
                                      <p:cBhvr>
                                        <p:cTn dur="500"/>
                                        <p:tgtEl>
                                          <p:spTgt spid="203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0">
                                            <p:txEl>
                                              <p:pRg end="3" st="3"/>
                                            </p:txEl>
                                          </p:spTgt>
                                        </p:tgtEl>
                                        <p:attrNameLst>
                                          <p:attrName>style.visibility</p:attrName>
                                        </p:attrNameLst>
                                      </p:cBhvr>
                                      <p:to>
                                        <p:strVal val="visible"/>
                                      </p:to>
                                    </p:set>
                                    <p:animEffect filter="fade" transition="in">
                                      <p:cBhvr>
                                        <p:cTn dur="500"/>
                                        <p:tgtEl>
                                          <p:spTgt spid="203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0">
                                            <p:txEl>
                                              <p:pRg end="4" st="4"/>
                                            </p:txEl>
                                          </p:spTgt>
                                        </p:tgtEl>
                                        <p:attrNameLst>
                                          <p:attrName>style.visibility</p:attrName>
                                        </p:attrNameLst>
                                      </p:cBhvr>
                                      <p:to>
                                        <p:strVal val="visible"/>
                                      </p:to>
                                    </p:set>
                                    <p:animEffect filter="fade" transition="in">
                                      <p:cBhvr>
                                        <p:cTn dur="500"/>
                                        <p:tgtEl>
                                          <p:spTgt spid="2030">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4" name="Shape 2034"/>
        <p:cNvGrpSpPr/>
        <p:nvPr/>
      </p:nvGrpSpPr>
      <p:grpSpPr>
        <a:xfrm>
          <a:off x="0" y="0"/>
          <a:ext cx="0" cy="0"/>
          <a:chOff x="0" y="0"/>
          <a:chExt cx="0" cy="0"/>
        </a:xfrm>
      </p:grpSpPr>
      <p:sp>
        <p:nvSpPr>
          <p:cNvPr id="2035" name="Google Shape;2035;p18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Diagramme de déploiement </a:t>
            </a:r>
            <a:endParaRPr/>
          </a:p>
        </p:txBody>
      </p:sp>
      <p:sp>
        <p:nvSpPr>
          <p:cNvPr id="2036" name="Google Shape;2036;p187"/>
          <p:cNvSpPr txBox="1"/>
          <p:nvPr>
            <p:ph idx="1" type="body"/>
          </p:nvPr>
        </p:nvSpPr>
        <p:spPr>
          <a:xfrm>
            <a:off x="457200" y="1600200"/>
            <a:ext cx="8229600" cy="3794125"/>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Concepts :</a:t>
            </a:r>
            <a:endParaRPr/>
          </a:p>
          <a:p>
            <a:pPr indent="-285750" lvl="1" marL="742950" rtl="0" algn="l">
              <a:lnSpc>
                <a:spcPct val="90000"/>
              </a:lnSpc>
              <a:spcBef>
                <a:spcPts val="480"/>
              </a:spcBef>
              <a:spcAft>
                <a:spcPts val="0"/>
              </a:spcAft>
              <a:buClr>
                <a:schemeClr val="accent2"/>
              </a:buClr>
              <a:buSzPts val="2400"/>
              <a:buFont typeface="Arial"/>
              <a:buChar char="–"/>
            </a:pPr>
            <a:r>
              <a:rPr b="1" i="0" lang="en-US" sz="2400" u="none">
                <a:solidFill>
                  <a:schemeClr val="accent2"/>
                </a:solidFill>
                <a:latin typeface="Arial"/>
                <a:ea typeface="Arial"/>
                <a:cs typeface="Arial"/>
                <a:sym typeface="Arial"/>
              </a:rPr>
              <a:t>Nœud</a:t>
            </a:r>
            <a:r>
              <a:rPr b="0" i="0" lang="en-US" sz="2400" u="none">
                <a:solidFill>
                  <a:schemeClr val="accent2"/>
                </a:solidFill>
                <a:latin typeface="Arial"/>
                <a:ea typeface="Arial"/>
                <a:cs typeface="Arial"/>
                <a:sym typeface="Arial"/>
              </a:rPr>
              <a:t> : </a:t>
            </a:r>
            <a:endParaRPr/>
          </a:p>
          <a:p>
            <a:pPr indent="-228600" lvl="2" marL="114300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Est un élément physique qui existe pendant l’exécution et représente une ressource informatique dans la plupart de cas il s’agit d’un élément matériel</a:t>
            </a:r>
            <a:endParaRPr/>
          </a:p>
          <a:p>
            <a:pPr indent="-228600" lvl="2" marL="114300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En général un nœud possède sa propre mémoire et une capacité de traitement</a:t>
            </a:r>
            <a:endParaRPr/>
          </a:p>
          <a:p>
            <a:pPr indent="-228600" lvl="2" marL="114300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L’ensemble de composants qui est  associé aux nœuds est appelé « </a:t>
            </a:r>
            <a:r>
              <a:rPr b="0" i="1" lang="en-US" sz="2000" u="none">
                <a:solidFill>
                  <a:schemeClr val="dk1"/>
                </a:solidFill>
                <a:latin typeface="Arial"/>
                <a:ea typeface="Arial"/>
                <a:cs typeface="Arial"/>
                <a:sym typeface="Arial"/>
              </a:rPr>
              <a:t>unité de répartition</a:t>
            </a:r>
            <a:r>
              <a:rPr b="0" i="0" lang="en-US" sz="2000" u="none">
                <a:solidFill>
                  <a:schemeClr val="dk1"/>
                </a:solidFill>
                <a:latin typeface="Arial"/>
                <a:ea typeface="Arial"/>
                <a:cs typeface="Arial"/>
                <a:sym typeface="Arial"/>
              </a:rPr>
              <a:t> »</a:t>
            </a:r>
            <a:endParaRPr/>
          </a:p>
          <a:p>
            <a:pPr indent="-228600" lvl="2" marL="114300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Les nœuds prennent en charge l’exécution des composants.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6">
                                            <p:txEl>
                                              <p:pRg end="0" st="0"/>
                                            </p:txEl>
                                          </p:spTgt>
                                        </p:tgtEl>
                                        <p:attrNameLst>
                                          <p:attrName>style.visibility</p:attrName>
                                        </p:attrNameLst>
                                      </p:cBhvr>
                                      <p:to>
                                        <p:strVal val="visible"/>
                                      </p:to>
                                    </p:set>
                                    <p:animEffect filter="fade" transition="in">
                                      <p:cBhvr>
                                        <p:cTn dur="500"/>
                                        <p:tgtEl>
                                          <p:spTgt spid="203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6">
                                            <p:txEl>
                                              <p:pRg end="1" st="1"/>
                                            </p:txEl>
                                          </p:spTgt>
                                        </p:tgtEl>
                                        <p:attrNameLst>
                                          <p:attrName>style.visibility</p:attrName>
                                        </p:attrNameLst>
                                      </p:cBhvr>
                                      <p:to>
                                        <p:strVal val="visible"/>
                                      </p:to>
                                    </p:set>
                                    <p:animEffect filter="fade" transition="in">
                                      <p:cBhvr>
                                        <p:cTn dur="500"/>
                                        <p:tgtEl>
                                          <p:spTgt spid="203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6">
                                            <p:txEl>
                                              <p:pRg end="2" st="2"/>
                                            </p:txEl>
                                          </p:spTgt>
                                        </p:tgtEl>
                                        <p:attrNameLst>
                                          <p:attrName>style.visibility</p:attrName>
                                        </p:attrNameLst>
                                      </p:cBhvr>
                                      <p:to>
                                        <p:strVal val="visible"/>
                                      </p:to>
                                    </p:set>
                                    <p:animEffect filter="fade" transition="in">
                                      <p:cBhvr>
                                        <p:cTn dur="500"/>
                                        <p:tgtEl>
                                          <p:spTgt spid="203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6">
                                            <p:txEl>
                                              <p:pRg end="3" st="3"/>
                                            </p:txEl>
                                          </p:spTgt>
                                        </p:tgtEl>
                                        <p:attrNameLst>
                                          <p:attrName>style.visibility</p:attrName>
                                        </p:attrNameLst>
                                      </p:cBhvr>
                                      <p:to>
                                        <p:strVal val="visible"/>
                                      </p:to>
                                    </p:set>
                                    <p:animEffect filter="fade" transition="in">
                                      <p:cBhvr>
                                        <p:cTn dur="500"/>
                                        <p:tgtEl>
                                          <p:spTgt spid="203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6">
                                            <p:txEl>
                                              <p:pRg end="4" st="4"/>
                                            </p:txEl>
                                          </p:spTgt>
                                        </p:tgtEl>
                                        <p:attrNameLst>
                                          <p:attrName>style.visibility</p:attrName>
                                        </p:attrNameLst>
                                      </p:cBhvr>
                                      <p:to>
                                        <p:strVal val="visible"/>
                                      </p:to>
                                    </p:set>
                                    <p:animEffect filter="fade" transition="in">
                                      <p:cBhvr>
                                        <p:cTn dur="500"/>
                                        <p:tgtEl>
                                          <p:spTgt spid="203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6">
                                            <p:txEl>
                                              <p:pRg end="5" st="5"/>
                                            </p:txEl>
                                          </p:spTgt>
                                        </p:tgtEl>
                                        <p:attrNameLst>
                                          <p:attrName>style.visibility</p:attrName>
                                        </p:attrNameLst>
                                      </p:cBhvr>
                                      <p:to>
                                        <p:strVal val="visible"/>
                                      </p:to>
                                    </p:set>
                                    <p:animEffect filter="fade" transition="in">
                                      <p:cBhvr>
                                        <p:cTn dur="500"/>
                                        <p:tgtEl>
                                          <p:spTgt spid="2036">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0" name="Shape 2040"/>
        <p:cNvGrpSpPr/>
        <p:nvPr/>
      </p:nvGrpSpPr>
      <p:grpSpPr>
        <a:xfrm>
          <a:off x="0" y="0"/>
          <a:ext cx="0" cy="0"/>
          <a:chOff x="0" y="0"/>
          <a:chExt cx="0" cy="0"/>
        </a:xfrm>
      </p:grpSpPr>
      <p:sp>
        <p:nvSpPr>
          <p:cNvPr id="2041" name="Google Shape;2041;p18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Nœud</a:t>
            </a:r>
            <a:br>
              <a:rPr b="0" i="0" lang="en-US" sz="4400" u="none">
                <a:solidFill>
                  <a:schemeClr val="dk2"/>
                </a:solidFill>
                <a:latin typeface="Arial"/>
                <a:ea typeface="Arial"/>
                <a:cs typeface="Arial"/>
                <a:sym typeface="Arial"/>
              </a:rPr>
            </a:br>
            <a:r>
              <a:rPr b="0" i="0" lang="en-US" sz="4400" u="none">
                <a:solidFill>
                  <a:schemeClr val="dk2"/>
                </a:solidFill>
                <a:latin typeface="Arial"/>
                <a:ea typeface="Arial"/>
                <a:cs typeface="Arial"/>
                <a:sym typeface="Arial"/>
              </a:rPr>
              <a:t>(notation UML)</a:t>
            </a:r>
            <a:endParaRPr/>
          </a:p>
        </p:txBody>
      </p:sp>
      <p:sp>
        <p:nvSpPr>
          <p:cNvPr id="2042" name="Google Shape;2042;p188"/>
          <p:cNvSpPr txBox="1"/>
          <p:nvPr>
            <p:ph idx="1" type="body"/>
          </p:nvPr>
        </p:nvSpPr>
        <p:spPr>
          <a:xfrm>
            <a:off x="704850" y="2711450"/>
            <a:ext cx="7808912" cy="36703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accent2"/>
              </a:buClr>
              <a:buSzPts val="2000"/>
              <a:buFont typeface="Arial"/>
              <a:buChar char="•"/>
            </a:pPr>
            <a:r>
              <a:rPr b="1" i="0" lang="en-US" sz="2000" u="none">
                <a:solidFill>
                  <a:schemeClr val="accent2"/>
                </a:solidFill>
                <a:latin typeface="Arial"/>
                <a:ea typeface="Arial"/>
                <a:cs typeface="Arial"/>
                <a:sym typeface="Arial"/>
              </a:rPr>
              <a:t>Nom du nœud </a:t>
            </a:r>
            <a:r>
              <a:rPr b="0" i="0" lang="en-US" sz="2400" u="none">
                <a:solidFill>
                  <a:schemeClr val="accent2"/>
                </a:solidFill>
                <a:latin typeface="Arial"/>
                <a:ea typeface="Arial"/>
                <a:cs typeface="Arial"/>
                <a:sym typeface="Arial"/>
              </a:rPr>
              <a:t>:</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Permet de distinguer un nœud des autres nœuds</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Le nom peut être composé du nom de paquetage qui contient le nœud</a:t>
            </a:r>
            <a:endParaRPr/>
          </a:p>
          <a:p>
            <a:pPr indent="-342900" lvl="0" marL="342900" rtl="0" algn="l">
              <a:lnSpc>
                <a:spcPct val="90000"/>
              </a:lnSpc>
              <a:spcBef>
                <a:spcPts val="480"/>
              </a:spcBef>
              <a:spcAft>
                <a:spcPts val="0"/>
              </a:spcAft>
              <a:buClr>
                <a:schemeClr val="accent2"/>
              </a:buClr>
              <a:buSzPts val="2000"/>
              <a:buFont typeface="Arial"/>
              <a:buChar char="•"/>
            </a:pPr>
            <a:r>
              <a:rPr b="1" i="0" lang="en-US" sz="2000" u="none">
                <a:solidFill>
                  <a:schemeClr val="accent2"/>
                </a:solidFill>
                <a:latin typeface="Arial"/>
                <a:ea typeface="Arial"/>
                <a:cs typeface="Arial"/>
                <a:sym typeface="Arial"/>
              </a:rPr>
              <a:t>Stéréotypes </a:t>
            </a:r>
            <a:r>
              <a:rPr b="0" i="0" lang="en-US" sz="2400" u="none">
                <a:solidFill>
                  <a:schemeClr val="accent2"/>
                </a:solidFill>
                <a:latin typeface="Arial"/>
                <a:ea typeface="Arial"/>
                <a:cs typeface="Arial"/>
                <a:sym typeface="Arial"/>
              </a:rPr>
              <a:t>:</a:t>
            </a:r>
            <a:r>
              <a:rPr b="0" i="0" lang="en-US" sz="2400" u="none">
                <a:solidFill>
                  <a:schemeClr val="dk1"/>
                </a:solidFill>
                <a:latin typeface="Arial"/>
                <a:ea typeface="Arial"/>
                <a:cs typeface="Arial"/>
                <a:sym typeface="Arial"/>
              </a:rPr>
              <a:t> </a:t>
            </a:r>
            <a:r>
              <a:rPr b="0" i="0" lang="en-US" sz="2000" u="none">
                <a:solidFill>
                  <a:schemeClr val="dk1"/>
                </a:solidFill>
                <a:latin typeface="Arial"/>
                <a:ea typeface="Arial"/>
                <a:cs typeface="Arial"/>
                <a:sym typeface="Arial"/>
              </a:rPr>
              <a:t>un nœud peut posséder un stéréotype qui permet de le distinguer des autres types de ressources (permettant de spécifier le types de ressources) </a:t>
            </a:r>
            <a:endParaRPr/>
          </a:p>
          <a:p>
            <a:pPr indent="-342900" lvl="0" marL="342900" rtl="0" algn="l">
              <a:lnSpc>
                <a:spcPct val="90000"/>
              </a:lnSpc>
              <a:spcBef>
                <a:spcPts val="400"/>
              </a:spcBef>
              <a:spcAft>
                <a:spcPts val="0"/>
              </a:spcAft>
              <a:buClr>
                <a:schemeClr val="dk1"/>
              </a:buClr>
              <a:buSzPts val="2000"/>
              <a:buFont typeface="Arial"/>
              <a:buNone/>
            </a:pPr>
            <a:r>
              <a:t/>
            </a:r>
            <a:endParaRPr b="0" i="0" sz="2000" u="none">
              <a:solidFill>
                <a:schemeClr val="dk1"/>
              </a:solidFill>
              <a:latin typeface="Arial"/>
              <a:ea typeface="Arial"/>
              <a:cs typeface="Arial"/>
              <a:sym typeface="Arial"/>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 </a:t>
            </a:r>
            <a:r>
              <a:rPr b="0" i="1" lang="en-US" sz="2000" u="none">
                <a:solidFill>
                  <a:schemeClr val="dk1"/>
                </a:solidFill>
                <a:latin typeface="Arial"/>
                <a:ea typeface="Arial"/>
                <a:cs typeface="Arial"/>
                <a:sym typeface="Arial"/>
              </a:rPr>
              <a:t>CPU</a:t>
            </a:r>
            <a:r>
              <a:rPr b="0" i="0" lang="en-US" sz="2000" u="none">
                <a:solidFill>
                  <a:schemeClr val="dk1"/>
                </a:solidFill>
                <a:latin typeface="Arial"/>
                <a:ea typeface="Arial"/>
                <a:cs typeface="Arial"/>
                <a:sym typeface="Arial"/>
              </a:rPr>
              <a:t> » : une unité de calcul </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 </a:t>
            </a:r>
            <a:r>
              <a:rPr b="0" i="1" lang="en-US" sz="2000" u="none">
                <a:solidFill>
                  <a:schemeClr val="dk1"/>
                </a:solidFill>
                <a:latin typeface="Arial"/>
                <a:ea typeface="Arial"/>
                <a:cs typeface="Arial"/>
                <a:sym typeface="Arial"/>
              </a:rPr>
              <a:t>memory</a:t>
            </a:r>
            <a:r>
              <a:rPr b="0" i="0" lang="en-US" sz="2000" u="none">
                <a:solidFill>
                  <a:schemeClr val="dk1"/>
                </a:solidFill>
                <a:latin typeface="Arial"/>
                <a:ea typeface="Arial"/>
                <a:cs typeface="Arial"/>
                <a:sym typeface="Arial"/>
              </a:rPr>
              <a:t> » : une unité de stockage </a:t>
            </a:r>
            <a:endParaRPr/>
          </a:p>
          <a:p>
            <a:pPr indent="-285750" lvl="1" marL="74295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 </a:t>
            </a:r>
            <a:r>
              <a:rPr b="0" i="1" lang="en-US" sz="2000" u="none">
                <a:solidFill>
                  <a:schemeClr val="dk1"/>
                </a:solidFill>
                <a:latin typeface="Arial"/>
                <a:ea typeface="Arial"/>
                <a:cs typeface="Arial"/>
                <a:sym typeface="Arial"/>
              </a:rPr>
              <a:t>device</a:t>
            </a:r>
            <a:r>
              <a:rPr b="0" i="0" lang="en-US" sz="2000" u="none">
                <a:solidFill>
                  <a:schemeClr val="dk1"/>
                </a:solidFill>
                <a:latin typeface="Arial"/>
                <a:ea typeface="Arial"/>
                <a:cs typeface="Arial"/>
                <a:sym typeface="Arial"/>
              </a:rPr>
              <a:t> »: un dispositif tel qu’un capteur </a:t>
            </a:r>
            <a:endParaRPr/>
          </a:p>
          <a:p>
            <a:pPr indent="-342900" lvl="0" marL="342900" rtl="0" algn="l">
              <a:lnSpc>
                <a:spcPct val="90000"/>
              </a:lnSpc>
              <a:spcBef>
                <a:spcPts val="480"/>
              </a:spcBef>
              <a:spcAft>
                <a:spcPts val="0"/>
              </a:spcAft>
              <a:buClr>
                <a:schemeClr val="dk1"/>
              </a:buClr>
              <a:buSzPts val="2400"/>
              <a:buFont typeface="Arial"/>
              <a:buNone/>
            </a:pPr>
            <a:r>
              <a:t/>
            </a:r>
            <a:endParaRPr b="1" i="0" sz="2400" u="none">
              <a:solidFill>
                <a:srgbClr val="FF0000"/>
              </a:solidFill>
              <a:latin typeface="Arial"/>
              <a:ea typeface="Arial"/>
              <a:cs typeface="Arial"/>
              <a:sym typeface="Arial"/>
            </a:endParaRPr>
          </a:p>
          <a:p>
            <a:pPr indent="-190500" lvl="0" marL="342900" rtl="0" algn="l">
              <a:spcBef>
                <a:spcPts val="480"/>
              </a:spcBef>
              <a:spcAft>
                <a:spcPts val="0"/>
              </a:spcAft>
              <a:buClr>
                <a:schemeClr val="dk1"/>
              </a:buClr>
              <a:buSzPts val="2400"/>
              <a:buFont typeface="Arial"/>
              <a:buNone/>
            </a:pPr>
            <a:r>
              <a:t/>
            </a:r>
            <a:endParaRPr b="1" i="0" sz="2400" u="none">
              <a:solidFill>
                <a:srgbClr val="FF0000"/>
              </a:solidFill>
              <a:latin typeface="Arial"/>
              <a:ea typeface="Arial"/>
              <a:cs typeface="Arial"/>
              <a:sym typeface="Arial"/>
            </a:endParaRPr>
          </a:p>
        </p:txBody>
      </p:sp>
      <p:grpSp>
        <p:nvGrpSpPr>
          <p:cNvPr id="2043" name="Google Shape;2043;p188"/>
          <p:cNvGrpSpPr/>
          <p:nvPr/>
        </p:nvGrpSpPr>
        <p:grpSpPr>
          <a:xfrm>
            <a:off x="5510212" y="1809750"/>
            <a:ext cx="1536700" cy="901700"/>
            <a:chOff x="3471" y="1352"/>
            <a:chExt cx="968" cy="568"/>
          </a:xfrm>
        </p:grpSpPr>
        <p:sp>
          <p:nvSpPr>
            <p:cNvPr id="2044" name="Google Shape;2044;p188"/>
            <p:cNvSpPr/>
            <p:nvPr/>
          </p:nvSpPr>
          <p:spPr>
            <a:xfrm>
              <a:off x="3471" y="1352"/>
              <a:ext cx="968" cy="568"/>
            </a:xfrm>
            <a:custGeom>
              <a:rect b="b" l="l" r="r" t="t"/>
              <a:pathLst>
                <a:path extrusionOk="0" h="560" w="952">
                  <a:moveTo>
                    <a:pt x="0" y="114"/>
                  </a:moveTo>
                  <a:lnTo>
                    <a:pt x="114" y="0"/>
                  </a:lnTo>
                  <a:lnTo>
                    <a:pt x="952" y="0"/>
                  </a:lnTo>
                  <a:lnTo>
                    <a:pt x="838" y="114"/>
                  </a:lnTo>
                  <a:lnTo>
                    <a:pt x="952" y="0"/>
                  </a:lnTo>
                  <a:lnTo>
                    <a:pt x="952" y="446"/>
                  </a:lnTo>
                  <a:lnTo>
                    <a:pt x="838" y="560"/>
                  </a:lnTo>
                </a:path>
              </a:pathLst>
            </a:custGeom>
            <a:solidFill>
              <a:srgbClr val="FFCC99"/>
            </a:solidFill>
            <a:ln cap="flat" cmpd="sng" w="9525">
              <a:solidFill>
                <a:srgbClr val="6633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45" name="Google Shape;2045;p188"/>
            <p:cNvSpPr txBox="1"/>
            <p:nvPr/>
          </p:nvSpPr>
          <p:spPr>
            <a:xfrm>
              <a:off x="3471" y="1466"/>
              <a:ext cx="846" cy="453"/>
            </a:xfrm>
            <a:prstGeom prst="rect">
              <a:avLst/>
            </a:prstGeom>
            <a:solidFill>
              <a:srgbClr val="FFCC99"/>
            </a:solidFill>
            <a:ln cap="flat" cmpd="sng" w="9525">
              <a:solidFill>
                <a:srgbClr val="6633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46" name="Google Shape;2046;p188"/>
            <p:cNvSpPr txBox="1"/>
            <p:nvPr/>
          </p:nvSpPr>
          <p:spPr>
            <a:xfrm>
              <a:off x="3692" y="1628"/>
              <a:ext cx="416" cy="134"/>
            </a:xfrm>
            <a:prstGeom prst="rect">
              <a:avLst/>
            </a:prstGeom>
            <a:solidFill>
              <a:srgbClr val="FFCC99"/>
            </a:solid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CC3300"/>
                </a:buClr>
                <a:buSzPts val="1400"/>
                <a:buFont typeface="Arial"/>
                <a:buNone/>
              </a:pPr>
              <a:r>
                <a:rPr b="1" i="0" lang="en-US" sz="1400" u="none">
                  <a:solidFill>
                    <a:srgbClr val="CC3300"/>
                  </a:solidFill>
                  <a:latin typeface="Arial"/>
                  <a:ea typeface="Arial"/>
                  <a:cs typeface="Arial"/>
                  <a:sym typeface="Arial"/>
                </a:rPr>
                <a:t>Nœud 1</a:t>
              </a:r>
              <a:endParaRPr/>
            </a:p>
          </p:txBody>
        </p:sp>
      </p:grpSp>
      <p:sp>
        <p:nvSpPr>
          <p:cNvPr id="2047" name="Google Shape;2047;p188"/>
          <p:cNvSpPr txBox="1"/>
          <p:nvPr/>
        </p:nvSpPr>
        <p:spPr>
          <a:xfrm>
            <a:off x="2100262" y="2089150"/>
            <a:ext cx="2314575" cy="366712"/>
          </a:xfrm>
          <a:prstGeom prst="rect">
            <a:avLst/>
          </a:prstGeom>
          <a:noFill/>
          <a:ln>
            <a:noFill/>
          </a:ln>
        </p:spPr>
        <p:txBody>
          <a:bodyPr anchorCtr="0" anchor="t" bIns="46800" lIns="90000" spcFirstLastPara="1" rIns="90000" wrap="square" tIns="46800">
            <a:spAutoFit/>
          </a:bodyPr>
          <a:lstStyle/>
          <a:p>
            <a:pPr indent="0" lvl="0" marL="0" marR="0" rtl="0" algn="l">
              <a:lnSpc>
                <a:spcPct val="100000"/>
              </a:lnSpc>
              <a:spcBef>
                <a:spcPts val="0"/>
              </a:spcBef>
              <a:spcAft>
                <a:spcPts val="0"/>
              </a:spcAft>
              <a:buClr>
                <a:schemeClr val="accent2"/>
              </a:buClr>
              <a:buSzPts val="1800"/>
              <a:buFont typeface="Arial"/>
              <a:buNone/>
            </a:pPr>
            <a:r>
              <a:rPr b="0" i="0" lang="en-US" sz="1800" u="none">
                <a:solidFill>
                  <a:schemeClr val="accent2"/>
                </a:solidFill>
                <a:latin typeface="Arial"/>
                <a:ea typeface="Arial"/>
                <a:cs typeface="Arial"/>
                <a:sym typeface="Arial"/>
              </a:rPr>
              <a:t>Nom du nœud</a:t>
            </a:r>
            <a:endParaRPr/>
          </a:p>
        </p:txBody>
      </p:sp>
      <p:cxnSp>
        <p:nvCxnSpPr>
          <p:cNvPr id="2048" name="Google Shape;2048;p188"/>
          <p:cNvCxnSpPr/>
          <p:nvPr/>
        </p:nvCxnSpPr>
        <p:spPr>
          <a:xfrm flipH="1">
            <a:off x="4414837" y="2266950"/>
            <a:ext cx="1300162" cy="6350"/>
          </a:xfrm>
          <a:prstGeom prst="straightConnector1">
            <a:avLst/>
          </a:prstGeom>
          <a:noFill/>
          <a:ln cap="flat" cmpd="sng" w="9525">
            <a:solidFill>
              <a:schemeClr val="dk1"/>
            </a:solidFill>
            <a:prstDash val="solid"/>
            <a:miter lim="800000"/>
            <a:headEnd len="med" w="med" type="oval"/>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2">
                                            <p:txEl>
                                              <p:pRg end="0" st="0"/>
                                            </p:txEl>
                                          </p:spTgt>
                                        </p:tgtEl>
                                        <p:attrNameLst>
                                          <p:attrName>style.visibility</p:attrName>
                                        </p:attrNameLst>
                                      </p:cBhvr>
                                      <p:to>
                                        <p:strVal val="visible"/>
                                      </p:to>
                                    </p:set>
                                    <p:animEffect filter="fade" transition="in">
                                      <p:cBhvr>
                                        <p:cTn dur="500"/>
                                        <p:tgtEl>
                                          <p:spTgt spid="204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2">
                                            <p:txEl>
                                              <p:pRg end="1" st="1"/>
                                            </p:txEl>
                                          </p:spTgt>
                                        </p:tgtEl>
                                        <p:attrNameLst>
                                          <p:attrName>style.visibility</p:attrName>
                                        </p:attrNameLst>
                                      </p:cBhvr>
                                      <p:to>
                                        <p:strVal val="visible"/>
                                      </p:to>
                                    </p:set>
                                    <p:animEffect filter="fade" transition="in">
                                      <p:cBhvr>
                                        <p:cTn dur="500"/>
                                        <p:tgtEl>
                                          <p:spTgt spid="204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2">
                                            <p:txEl>
                                              <p:pRg end="2" st="2"/>
                                            </p:txEl>
                                          </p:spTgt>
                                        </p:tgtEl>
                                        <p:attrNameLst>
                                          <p:attrName>style.visibility</p:attrName>
                                        </p:attrNameLst>
                                      </p:cBhvr>
                                      <p:to>
                                        <p:strVal val="visible"/>
                                      </p:to>
                                    </p:set>
                                    <p:animEffect filter="fade" transition="in">
                                      <p:cBhvr>
                                        <p:cTn dur="500"/>
                                        <p:tgtEl>
                                          <p:spTgt spid="204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2">
                                            <p:txEl>
                                              <p:pRg end="3" st="3"/>
                                            </p:txEl>
                                          </p:spTgt>
                                        </p:tgtEl>
                                        <p:attrNameLst>
                                          <p:attrName>style.visibility</p:attrName>
                                        </p:attrNameLst>
                                      </p:cBhvr>
                                      <p:to>
                                        <p:strVal val="visible"/>
                                      </p:to>
                                    </p:set>
                                    <p:animEffect filter="fade" transition="in">
                                      <p:cBhvr>
                                        <p:cTn dur="500"/>
                                        <p:tgtEl>
                                          <p:spTgt spid="204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2">
                                            <p:txEl>
                                              <p:pRg end="4" st="4"/>
                                            </p:txEl>
                                          </p:spTgt>
                                        </p:tgtEl>
                                        <p:attrNameLst>
                                          <p:attrName>style.visibility</p:attrName>
                                        </p:attrNameLst>
                                      </p:cBhvr>
                                      <p:to>
                                        <p:strVal val="visible"/>
                                      </p:to>
                                    </p:set>
                                    <p:animEffect filter="fade" transition="in">
                                      <p:cBhvr>
                                        <p:cTn dur="500"/>
                                        <p:tgtEl>
                                          <p:spTgt spid="204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2">
                                            <p:txEl>
                                              <p:pRg end="5" st="5"/>
                                            </p:txEl>
                                          </p:spTgt>
                                        </p:tgtEl>
                                        <p:attrNameLst>
                                          <p:attrName>style.visibility</p:attrName>
                                        </p:attrNameLst>
                                      </p:cBhvr>
                                      <p:to>
                                        <p:strVal val="visible"/>
                                      </p:to>
                                    </p:set>
                                    <p:animEffect filter="fade" transition="in">
                                      <p:cBhvr>
                                        <p:cTn dur="500"/>
                                        <p:tgtEl>
                                          <p:spTgt spid="204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2">
                                            <p:txEl>
                                              <p:pRg end="6" st="6"/>
                                            </p:txEl>
                                          </p:spTgt>
                                        </p:tgtEl>
                                        <p:attrNameLst>
                                          <p:attrName>style.visibility</p:attrName>
                                        </p:attrNameLst>
                                      </p:cBhvr>
                                      <p:to>
                                        <p:strVal val="visible"/>
                                      </p:to>
                                    </p:set>
                                    <p:animEffect filter="fade" transition="in">
                                      <p:cBhvr>
                                        <p:cTn dur="500"/>
                                        <p:tgtEl>
                                          <p:spTgt spid="204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2">
                                            <p:txEl>
                                              <p:pRg end="7" st="7"/>
                                            </p:txEl>
                                          </p:spTgt>
                                        </p:tgtEl>
                                        <p:attrNameLst>
                                          <p:attrName>style.visibility</p:attrName>
                                        </p:attrNameLst>
                                      </p:cBhvr>
                                      <p:to>
                                        <p:strVal val="visible"/>
                                      </p:to>
                                    </p:set>
                                    <p:animEffect filter="fade" transition="in">
                                      <p:cBhvr>
                                        <p:cTn dur="500"/>
                                        <p:tgtEl>
                                          <p:spTgt spid="204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2">
                                            <p:txEl>
                                              <p:pRg end="8" st="8"/>
                                            </p:txEl>
                                          </p:spTgt>
                                        </p:tgtEl>
                                        <p:attrNameLst>
                                          <p:attrName>style.visibility</p:attrName>
                                        </p:attrNameLst>
                                      </p:cBhvr>
                                      <p:to>
                                        <p:strVal val="visible"/>
                                      </p:to>
                                    </p:set>
                                    <p:animEffect filter="fade" transition="in">
                                      <p:cBhvr>
                                        <p:cTn dur="500"/>
                                        <p:tgtEl>
                                          <p:spTgt spid="204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2">
                                            <p:txEl>
                                              <p:pRg end="9" st="9"/>
                                            </p:txEl>
                                          </p:spTgt>
                                        </p:tgtEl>
                                        <p:attrNameLst>
                                          <p:attrName>style.visibility</p:attrName>
                                        </p:attrNameLst>
                                      </p:cBhvr>
                                      <p:to>
                                        <p:strVal val="visible"/>
                                      </p:to>
                                    </p:set>
                                    <p:animEffect filter="fade" transition="in">
                                      <p:cBhvr>
                                        <p:cTn dur="500"/>
                                        <p:tgtEl>
                                          <p:spTgt spid="2042">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2" name="Shape 2052"/>
        <p:cNvGrpSpPr/>
        <p:nvPr/>
      </p:nvGrpSpPr>
      <p:grpSpPr>
        <a:xfrm>
          <a:off x="0" y="0"/>
          <a:ext cx="0" cy="0"/>
          <a:chOff x="0" y="0"/>
          <a:chExt cx="0" cy="0"/>
        </a:xfrm>
      </p:grpSpPr>
      <p:sp>
        <p:nvSpPr>
          <p:cNvPr id="2053" name="Google Shape;2053;p18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Relations entre nœuds et composants</a:t>
            </a:r>
            <a:endParaRPr/>
          </a:p>
        </p:txBody>
      </p:sp>
      <p:sp>
        <p:nvSpPr>
          <p:cNvPr id="2054" name="Google Shape;2054;p189"/>
          <p:cNvSpPr txBox="1"/>
          <p:nvPr>
            <p:ph idx="1" type="body"/>
          </p:nvPr>
        </p:nvSpPr>
        <p:spPr>
          <a:xfrm>
            <a:off x="704850" y="1912937"/>
            <a:ext cx="7808912" cy="8429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accent2"/>
              </a:buClr>
              <a:buSzPts val="1800"/>
              <a:buFont typeface="Arial"/>
              <a:buChar char="•"/>
            </a:pPr>
            <a:r>
              <a:rPr b="1" i="0" lang="en-US" sz="1800" u="none">
                <a:solidFill>
                  <a:schemeClr val="accent2"/>
                </a:solidFill>
                <a:latin typeface="Arial"/>
                <a:ea typeface="Arial"/>
                <a:cs typeface="Arial"/>
                <a:sym typeface="Arial"/>
              </a:rPr>
              <a:t>Dépendance</a:t>
            </a:r>
            <a:r>
              <a:rPr b="1" i="0" lang="en-US" sz="1800" u="none">
                <a:solidFill>
                  <a:schemeClr val="lt1"/>
                </a:solidFill>
                <a:latin typeface="Arial"/>
                <a:ea typeface="Arial"/>
                <a:cs typeface="Arial"/>
                <a:sym typeface="Arial"/>
              </a:rPr>
              <a:t> </a:t>
            </a:r>
            <a:r>
              <a:rPr b="0" i="0" lang="en-US" sz="2000" u="none">
                <a:solidFill>
                  <a:schemeClr val="lt1"/>
                </a:solidFill>
                <a:latin typeface="Arial"/>
                <a:ea typeface="Arial"/>
                <a:cs typeface="Arial"/>
                <a:sym typeface="Arial"/>
              </a:rPr>
              <a:t>:</a:t>
            </a:r>
            <a:endParaRPr/>
          </a:p>
          <a:p>
            <a:pPr indent="-285750" lvl="1" marL="742950" rtl="0" algn="l">
              <a:lnSpc>
                <a:spcPct val="9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Montre la capacité d’un nœud de supporter un composant</a:t>
            </a:r>
            <a:endParaRPr/>
          </a:p>
          <a:p>
            <a:pPr indent="-285750" lvl="1" marL="742950" rtl="0" algn="l">
              <a:lnSpc>
                <a:spcPct val="9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Peut être également exprimée entre les composants résidant dans un même nœud </a:t>
            </a:r>
            <a:endParaRPr/>
          </a:p>
          <a:p>
            <a:pPr indent="-285750" lvl="1" marL="742950" rtl="0" algn="l">
              <a:lnSpc>
                <a:spcPct val="90000"/>
              </a:lnSpc>
              <a:spcBef>
                <a:spcPts val="36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Notation UML</a:t>
            </a:r>
            <a:endParaRPr/>
          </a:p>
        </p:txBody>
      </p:sp>
      <p:grpSp>
        <p:nvGrpSpPr>
          <p:cNvPr id="2055" name="Google Shape;2055;p189"/>
          <p:cNvGrpSpPr/>
          <p:nvPr/>
        </p:nvGrpSpPr>
        <p:grpSpPr>
          <a:xfrm>
            <a:off x="5737225" y="3309937"/>
            <a:ext cx="1536700" cy="901700"/>
            <a:chOff x="3471" y="1352"/>
            <a:chExt cx="968" cy="568"/>
          </a:xfrm>
        </p:grpSpPr>
        <p:sp>
          <p:nvSpPr>
            <p:cNvPr id="2056" name="Google Shape;2056;p189"/>
            <p:cNvSpPr/>
            <p:nvPr/>
          </p:nvSpPr>
          <p:spPr>
            <a:xfrm>
              <a:off x="3471" y="1352"/>
              <a:ext cx="968" cy="568"/>
            </a:xfrm>
            <a:custGeom>
              <a:rect b="b" l="l" r="r" t="t"/>
              <a:pathLst>
                <a:path extrusionOk="0" h="560" w="952">
                  <a:moveTo>
                    <a:pt x="0" y="114"/>
                  </a:moveTo>
                  <a:lnTo>
                    <a:pt x="114" y="0"/>
                  </a:lnTo>
                  <a:lnTo>
                    <a:pt x="952" y="0"/>
                  </a:lnTo>
                  <a:lnTo>
                    <a:pt x="838" y="114"/>
                  </a:lnTo>
                  <a:lnTo>
                    <a:pt x="952" y="0"/>
                  </a:lnTo>
                  <a:lnTo>
                    <a:pt x="952" y="446"/>
                  </a:lnTo>
                  <a:lnTo>
                    <a:pt x="838" y="560"/>
                  </a:lnTo>
                </a:path>
              </a:pathLst>
            </a:custGeom>
            <a:solidFill>
              <a:srgbClr val="FFCC99"/>
            </a:solidFill>
            <a:ln cap="flat" cmpd="sng" w="9525">
              <a:solidFill>
                <a:srgbClr val="6633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57" name="Google Shape;2057;p189"/>
            <p:cNvSpPr txBox="1"/>
            <p:nvPr/>
          </p:nvSpPr>
          <p:spPr>
            <a:xfrm>
              <a:off x="3471" y="1466"/>
              <a:ext cx="846" cy="453"/>
            </a:xfrm>
            <a:prstGeom prst="rect">
              <a:avLst/>
            </a:prstGeom>
            <a:solidFill>
              <a:srgbClr val="FFCC99"/>
            </a:solidFill>
            <a:ln cap="flat" cmpd="sng" w="9525">
              <a:solidFill>
                <a:srgbClr val="6633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58" name="Google Shape;2058;p189"/>
            <p:cNvSpPr txBox="1"/>
            <p:nvPr/>
          </p:nvSpPr>
          <p:spPr>
            <a:xfrm>
              <a:off x="3692" y="1628"/>
              <a:ext cx="416" cy="134"/>
            </a:xfrm>
            <a:prstGeom prst="rect">
              <a:avLst/>
            </a:prstGeom>
            <a:solidFill>
              <a:srgbClr val="FFCC99"/>
            </a:solid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CC3300"/>
                </a:buClr>
                <a:buSzPts val="1400"/>
                <a:buFont typeface="Arial"/>
                <a:buNone/>
              </a:pPr>
              <a:r>
                <a:rPr b="1" i="0" lang="en-US" sz="1400" u="none">
                  <a:solidFill>
                    <a:srgbClr val="CC3300"/>
                  </a:solidFill>
                  <a:latin typeface="Arial"/>
                  <a:ea typeface="Arial"/>
                  <a:cs typeface="Arial"/>
                  <a:sym typeface="Arial"/>
                </a:rPr>
                <a:t>Nœud 1</a:t>
              </a:r>
              <a:endParaRPr/>
            </a:p>
          </p:txBody>
        </p:sp>
      </p:grpSp>
      <p:grpSp>
        <p:nvGrpSpPr>
          <p:cNvPr id="2059" name="Google Shape;2059;p189"/>
          <p:cNvGrpSpPr/>
          <p:nvPr/>
        </p:nvGrpSpPr>
        <p:grpSpPr>
          <a:xfrm>
            <a:off x="6981825" y="4913312"/>
            <a:ext cx="1638300" cy="776287"/>
            <a:chOff x="3332" y="1658"/>
            <a:chExt cx="1032" cy="489"/>
          </a:xfrm>
        </p:grpSpPr>
        <p:sp>
          <p:nvSpPr>
            <p:cNvPr id="2060" name="Google Shape;2060;p189"/>
            <p:cNvSpPr txBox="1"/>
            <p:nvPr/>
          </p:nvSpPr>
          <p:spPr>
            <a:xfrm>
              <a:off x="3404" y="1658"/>
              <a:ext cx="960" cy="489"/>
            </a:xfrm>
            <a:prstGeom prst="rect">
              <a:avLst/>
            </a:prstGeom>
            <a:solidFill>
              <a:srgbClr val="FFCC99"/>
            </a:solidFill>
            <a:ln cap="flat" cmpd="sng" w="9525">
              <a:solidFill>
                <a:srgbClr val="6633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61" name="Google Shape;2061;p189"/>
            <p:cNvSpPr txBox="1"/>
            <p:nvPr/>
          </p:nvSpPr>
          <p:spPr>
            <a:xfrm>
              <a:off x="3332" y="1779"/>
              <a:ext cx="245" cy="97"/>
            </a:xfrm>
            <a:prstGeom prst="rect">
              <a:avLst/>
            </a:prstGeom>
            <a:solidFill>
              <a:srgbClr val="FFCC99"/>
            </a:solidFill>
            <a:ln cap="flat" cmpd="sng" w="9525">
              <a:solidFill>
                <a:srgbClr val="6633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62" name="Google Shape;2062;p189"/>
            <p:cNvSpPr txBox="1"/>
            <p:nvPr/>
          </p:nvSpPr>
          <p:spPr>
            <a:xfrm>
              <a:off x="3332" y="1980"/>
              <a:ext cx="245" cy="97"/>
            </a:xfrm>
            <a:prstGeom prst="rect">
              <a:avLst/>
            </a:prstGeom>
            <a:solidFill>
              <a:srgbClr val="FFCC99"/>
            </a:solidFill>
            <a:ln cap="flat" cmpd="sng" w="9525">
              <a:solidFill>
                <a:srgbClr val="6633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2063" name="Google Shape;2063;p189"/>
            <p:cNvGrpSpPr/>
            <p:nvPr/>
          </p:nvGrpSpPr>
          <p:grpSpPr>
            <a:xfrm>
              <a:off x="3600" y="1792"/>
              <a:ext cx="686" cy="208"/>
              <a:chOff x="3600" y="1792"/>
              <a:chExt cx="686" cy="208"/>
            </a:xfrm>
          </p:grpSpPr>
          <p:sp>
            <p:nvSpPr>
              <p:cNvPr id="2064" name="Google Shape;2064;p189"/>
              <p:cNvSpPr txBox="1"/>
              <p:nvPr/>
            </p:nvSpPr>
            <p:spPr>
              <a:xfrm>
                <a:off x="3678" y="1838"/>
                <a:ext cx="608" cy="11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CC3300"/>
                  </a:buClr>
                  <a:buSzPts val="1200"/>
                  <a:buFont typeface="Arial"/>
                  <a:buNone/>
                </a:pPr>
                <a:r>
                  <a:rPr b="1" i="0" lang="en-US" sz="1200" u="none">
                    <a:solidFill>
                      <a:srgbClr val="CC3300"/>
                    </a:solidFill>
                    <a:latin typeface="Arial"/>
                    <a:ea typeface="Arial"/>
                    <a:cs typeface="Arial"/>
                    <a:sym typeface="Arial"/>
                  </a:rPr>
                  <a:t>Composant 2</a:t>
                </a:r>
                <a:endParaRPr/>
              </a:p>
            </p:txBody>
          </p:sp>
          <p:sp>
            <p:nvSpPr>
              <p:cNvPr id="2065" name="Google Shape;2065;p189"/>
              <p:cNvSpPr txBox="1"/>
              <p:nvPr/>
            </p:nvSpPr>
            <p:spPr>
              <a:xfrm>
                <a:off x="3600" y="1792"/>
                <a:ext cx="264" cy="208"/>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grpSp>
      <p:grpSp>
        <p:nvGrpSpPr>
          <p:cNvPr id="2066" name="Google Shape;2066;p189"/>
          <p:cNvGrpSpPr/>
          <p:nvPr/>
        </p:nvGrpSpPr>
        <p:grpSpPr>
          <a:xfrm>
            <a:off x="4067175" y="4900612"/>
            <a:ext cx="1638300" cy="776287"/>
            <a:chOff x="1308" y="2850"/>
            <a:chExt cx="1032" cy="489"/>
          </a:xfrm>
        </p:grpSpPr>
        <p:grpSp>
          <p:nvGrpSpPr>
            <p:cNvPr id="2067" name="Google Shape;2067;p189"/>
            <p:cNvGrpSpPr/>
            <p:nvPr/>
          </p:nvGrpSpPr>
          <p:grpSpPr>
            <a:xfrm>
              <a:off x="1308" y="2850"/>
              <a:ext cx="1032" cy="489"/>
              <a:chOff x="3380" y="1466"/>
              <a:chExt cx="1032" cy="489"/>
            </a:xfrm>
          </p:grpSpPr>
          <p:sp>
            <p:nvSpPr>
              <p:cNvPr id="2068" name="Google Shape;2068;p189"/>
              <p:cNvSpPr txBox="1"/>
              <p:nvPr/>
            </p:nvSpPr>
            <p:spPr>
              <a:xfrm>
                <a:off x="3452" y="1466"/>
                <a:ext cx="960" cy="489"/>
              </a:xfrm>
              <a:prstGeom prst="rect">
                <a:avLst/>
              </a:prstGeom>
              <a:solidFill>
                <a:srgbClr val="FFCC99"/>
              </a:solidFill>
              <a:ln cap="flat" cmpd="sng" w="9525">
                <a:solidFill>
                  <a:srgbClr val="663300"/>
                </a:solidFill>
                <a:prstDash val="solid"/>
                <a:miter lim="800000"/>
                <a:headEnd len="sm" w="sm" type="none"/>
                <a:tailEnd len="sm" w="sm" type="none"/>
              </a:ln>
            </p:spPr>
            <p:txBody>
              <a:bodyPr anchorCtr="1"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69" name="Google Shape;2069;p189"/>
              <p:cNvSpPr txBox="1"/>
              <p:nvPr/>
            </p:nvSpPr>
            <p:spPr>
              <a:xfrm>
                <a:off x="3380" y="1587"/>
                <a:ext cx="245" cy="97"/>
              </a:xfrm>
              <a:prstGeom prst="rect">
                <a:avLst/>
              </a:prstGeom>
              <a:solidFill>
                <a:srgbClr val="FFCC99"/>
              </a:solidFill>
              <a:ln cap="flat" cmpd="sng" w="9525">
                <a:solidFill>
                  <a:srgbClr val="663300"/>
                </a:solidFill>
                <a:prstDash val="solid"/>
                <a:miter lim="800000"/>
                <a:headEnd len="sm" w="sm" type="none"/>
                <a:tailEnd len="sm" w="sm" type="none"/>
              </a:ln>
            </p:spPr>
            <p:txBody>
              <a:bodyPr anchorCtr="1"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70" name="Google Shape;2070;p189"/>
              <p:cNvSpPr txBox="1"/>
              <p:nvPr/>
            </p:nvSpPr>
            <p:spPr>
              <a:xfrm>
                <a:off x="3380" y="1788"/>
                <a:ext cx="245" cy="97"/>
              </a:xfrm>
              <a:prstGeom prst="rect">
                <a:avLst/>
              </a:prstGeom>
              <a:solidFill>
                <a:srgbClr val="FFCC99"/>
              </a:solidFill>
              <a:ln cap="flat" cmpd="sng" w="9525">
                <a:solidFill>
                  <a:srgbClr val="663300"/>
                </a:solidFill>
                <a:prstDash val="solid"/>
                <a:miter lim="800000"/>
                <a:headEnd len="sm" w="sm" type="none"/>
                <a:tailEnd len="sm" w="sm" type="none"/>
              </a:ln>
            </p:spPr>
            <p:txBody>
              <a:bodyPr anchorCtr="1"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grpSp>
          <p:nvGrpSpPr>
            <p:cNvPr id="2071" name="Google Shape;2071;p189"/>
            <p:cNvGrpSpPr/>
            <p:nvPr/>
          </p:nvGrpSpPr>
          <p:grpSpPr>
            <a:xfrm>
              <a:off x="1568" y="2968"/>
              <a:ext cx="659" cy="208"/>
              <a:chOff x="3600" y="1792"/>
              <a:chExt cx="659" cy="208"/>
            </a:xfrm>
          </p:grpSpPr>
          <p:sp>
            <p:nvSpPr>
              <p:cNvPr id="2072" name="Google Shape;2072;p189"/>
              <p:cNvSpPr txBox="1"/>
              <p:nvPr/>
            </p:nvSpPr>
            <p:spPr>
              <a:xfrm>
                <a:off x="3678" y="1838"/>
                <a:ext cx="581" cy="115"/>
              </a:xfrm>
              <a:prstGeom prst="rect">
                <a:avLst/>
              </a:prstGeom>
              <a:noFill/>
              <a:ln>
                <a:noFill/>
              </a:ln>
            </p:spPr>
            <p:txBody>
              <a:bodyPr anchorCtr="1" anchor="ctr" bIns="0" lIns="0" spcFirstLastPara="1" rIns="0" wrap="square" tIns="0">
                <a:spAutoFit/>
              </a:bodyPr>
              <a:lstStyle/>
              <a:p>
                <a:pPr indent="0" lvl="0" marL="0" marR="0" rtl="0" algn="l">
                  <a:lnSpc>
                    <a:spcPct val="100000"/>
                  </a:lnSpc>
                  <a:spcBef>
                    <a:spcPts val="0"/>
                  </a:spcBef>
                  <a:spcAft>
                    <a:spcPts val="0"/>
                  </a:spcAft>
                  <a:buClr>
                    <a:srgbClr val="CC3300"/>
                  </a:buClr>
                  <a:buSzPts val="1200"/>
                  <a:buFont typeface="Arial"/>
                  <a:buNone/>
                </a:pPr>
                <a:r>
                  <a:rPr b="1" i="0" lang="en-US" sz="1200" u="none">
                    <a:solidFill>
                      <a:srgbClr val="CC3300"/>
                    </a:solidFill>
                    <a:latin typeface="Arial"/>
                    <a:ea typeface="Arial"/>
                    <a:cs typeface="Arial"/>
                    <a:sym typeface="Arial"/>
                  </a:rPr>
                  <a:t>Composant1</a:t>
                </a:r>
                <a:endParaRPr/>
              </a:p>
            </p:txBody>
          </p:sp>
          <p:sp>
            <p:nvSpPr>
              <p:cNvPr id="2073" name="Google Shape;2073;p189"/>
              <p:cNvSpPr txBox="1"/>
              <p:nvPr/>
            </p:nvSpPr>
            <p:spPr>
              <a:xfrm>
                <a:off x="3600" y="1792"/>
                <a:ext cx="264" cy="208"/>
              </a:xfrm>
              <a:prstGeom prst="rect">
                <a:avLst/>
              </a:prstGeom>
              <a:noFill/>
              <a:ln>
                <a:noFill/>
              </a:ln>
            </p:spPr>
            <p:txBody>
              <a:bodyPr anchorCtr="1" anchor="ctr" bIns="46800" lIns="90000" spcFirstLastPara="1" rIns="90000" wrap="square" tIns="468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grpSp>
      <p:cxnSp>
        <p:nvCxnSpPr>
          <p:cNvPr id="2074" name="Google Shape;2074;p189"/>
          <p:cNvCxnSpPr/>
          <p:nvPr/>
        </p:nvCxnSpPr>
        <p:spPr>
          <a:xfrm flipH="1">
            <a:off x="4943475" y="4210050"/>
            <a:ext cx="1465262" cy="690562"/>
          </a:xfrm>
          <a:prstGeom prst="straightConnector1">
            <a:avLst/>
          </a:prstGeom>
          <a:noFill/>
          <a:ln cap="flat" cmpd="sng" w="9525">
            <a:solidFill>
              <a:schemeClr val="dk1"/>
            </a:solidFill>
            <a:prstDash val="solid"/>
            <a:miter lim="800000"/>
            <a:headEnd len="med" w="med" type="none"/>
            <a:tailEnd len="med" w="med" type="stealth"/>
          </a:ln>
        </p:spPr>
      </p:cxnSp>
      <p:cxnSp>
        <p:nvCxnSpPr>
          <p:cNvPr id="2075" name="Google Shape;2075;p189"/>
          <p:cNvCxnSpPr/>
          <p:nvPr/>
        </p:nvCxnSpPr>
        <p:spPr>
          <a:xfrm>
            <a:off x="6408737" y="4210050"/>
            <a:ext cx="1449387" cy="703262"/>
          </a:xfrm>
          <a:prstGeom prst="straightConnector1">
            <a:avLst/>
          </a:prstGeom>
          <a:noFill/>
          <a:ln cap="flat" cmpd="sng" w="9525">
            <a:solidFill>
              <a:schemeClr val="dk1"/>
            </a:solidFill>
            <a:prstDash val="solid"/>
            <a:miter lim="800000"/>
            <a:headEnd len="med" w="med" type="none"/>
            <a:tailEnd len="med" w="med" type="stealth"/>
          </a:ln>
        </p:spPr>
      </p:cxnSp>
      <p:grpSp>
        <p:nvGrpSpPr>
          <p:cNvPr id="2076" name="Google Shape;2076;p189"/>
          <p:cNvGrpSpPr/>
          <p:nvPr/>
        </p:nvGrpSpPr>
        <p:grpSpPr>
          <a:xfrm>
            <a:off x="762000" y="3910012"/>
            <a:ext cx="2782887" cy="1163637"/>
            <a:chOff x="2087" y="3443"/>
            <a:chExt cx="1753" cy="733"/>
          </a:xfrm>
        </p:grpSpPr>
        <p:sp>
          <p:nvSpPr>
            <p:cNvPr id="2077" name="Google Shape;2077;p189"/>
            <p:cNvSpPr/>
            <p:nvPr/>
          </p:nvSpPr>
          <p:spPr>
            <a:xfrm>
              <a:off x="2087" y="3443"/>
              <a:ext cx="1753" cy="733"/>
            </a:xfrm>
            <a:custGeom>
              <a:rect b="b" l="l" r="r" t="t"/>
              <a:pathLst>
                <a:path extrusionOk="0" h="645" w="1479">
                  <a:moveTo>
                    <a:pt x="0" y="128"/>
                  </a:moveTo>
                  <a:lnTo>
                    <a:pt x="133" y="0"/>
                  </a:lnTo>
                  <a:lnTo>
                    <a:pt x="1479" y="0"/>
                  </a:lnTo>
                  <a:lnTo>
                    <a:pt x="1346" y="128"/>
                  </a:lnTo>
                  <a:lnTo>
                    <a:pt x="1479" y="0"/>
                  </a:lnTo>
                  <a:lnTo>
                    <a:pt x="1479" y="517"/>
                  </a:lnTo>
                  <a:lnTo>
                    <a:pt x="1346" y="645"/>
                  </a:lnTo>
                </a:path>
              </a:pathLst>
            </a:custGeom>
            <a:solidFill>
              <a:srgbClr val="FFCC99"/>
            </a:solidFill>
            <a:ln cap="flat" cmpd="sng" w="9525">
              <a:solidFill>
                <a:srgbClr val="99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78" name="Google Shape;2078;p189"/>
            <p:cNvSpPr txBox="1"/>
            <p:nvPr/>
          </p:nvSpPr>
          <p:spPr>
            <a:xfrm>
              <a:off x="2087" y="3571"/>
              <a:ext cx="1604" cy="595"/>
            </a:xfrm>
            <a:prstGeom prst="rect">
              <a:avLst/>
            </a:prstGeom>
            <a:solidFill>
              <a:srgbClr val="FFCC99"/>
            </a:solidFill>
            <a:ln cap="flat" cmpd="sng" w="9525">
              <a:solidFill>
                <a:srgbClr val="99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79" name="Google Shape;2079;p189"/>
            <p:cNvSpPr txBox="1"/>
            <p:nvPr/>
          </p:nvSpPr>
          <p:spPr>
            <a:xfrm>
              <a:off x="2205" y="3606"/>
              <a:ext cx="376" cy="17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990000"/>
                </a:buClr>
                <a:buSzPts val="1800"/>
                <a:buFont typeface="Times New Roman"/>
                <a:buNone/>
              </a:pPr>
              <a:r>
                <a:rPr b="1" i="0" lang="en-US" sz="1800" u="none">
                  <a:solidFill>
                    <a:srgbClr val="990000"/>
                  </a:solidFill>
                  <a:latin typeface="Times New Roman"/>
                  <a:ea typeface="Times New Roman"/>
                  <a:cs typeface="Times New Roman"/>
                  <a:sym typeface="Times New Roman"/>
                </a:rPr>
                <a:t>Client</a:t>
              </a:r>
              <a:endParaRPr/>
            </a:p>
          </p:txBody>
        </p:sp>
        <p:sp>
          <p:nvSpPr>
            <p:cNvPr id="2080" name="Google Shape;2080;p189"/>
            <p:cNvSpPr txBox="1"/>
            <p:nvPr/>
          </p:nvSpPr>
          <p:spPr>
            <a:xfrm>
              <a:off x="2597" y="3727"/>
              <a:ext cx="798" cy="322"/>
            </a:xfrm>
            <a:prstGeom prst="rect">
              <a:avLst/>
            </a:prstGeom>
            <a:solidFill>
              <a:srgbClr val="FFCC99"/>
            </a:solidFill>
            <a:ln cap="flat" cmpd="sng" w="9525">
              <a:solidFill>
                <a:srgbClr val="99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81" name="Google Shape;2081;p189"/>
            <p:cNvSpPr txBox="1"/>
            <p:nvPr/>
          </p:nvSpPr>
          <p:spPr>
            <a:xfrm>
              <a:off x="2538" y="3783"/>
              <a:ext cx="123" cy="73"/>
            </a:xfrm>
            <a:prstGeom prst="rect">
              <a:avLst/>
            </a:prstGeom>
            <a:solidFill>
              <a:srgbClr val="FFCC99"/>
            </a:solidFill>
            <a:ln cap="flat" cmpd="sng" w="9525">
              <a:solidFill>
                <a:srgbClr val="99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82" name="Google Shape;2082;p189"/>
            <p:cNvSpPr txBox="1"/>
            <p:nvPr/>
          </p:nvSpPr>
          <p:spPr>
            <a:xfrm>
              <a:off x="2538" y="3783"/>
              <a:ext cx="113" cy="65"/>
            </a:xfrm>
            <a:prstGeom prst="rect">
              <a:avLst/>
            </a:prstGeom>
            <a:solidFill>
              <a:srgbClr val="FFCC99"/>
            </a:solidFill>
            <a:ln cap="flat" cmpd="sng" w="9525">
              <a:solidFill>
                <a:srgbClr val="99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83" name="Google Shape;2083;p189"/>
            <p:cNvSpPr txBox="1"/>
            <p:nvPr/>
          </p:nvSpPr>
          <p:spPr>
            <a:xfrm>
              <a:off x="2538" y="3897"/>
              <a:ext cx="123" cy="72"/>
            </a:xfrm>
            <a:prstGeom prst="rect">
              <a:avLst/>
            </a:prstGeom>
            <a:solidFill>
              <a:srgbClr val="FFCC99"/>
            </a:solidFill>
            <a:ln cap="flat" cmpd="sng" w="9525">
              <a:solidFill>
                <a:srgbClr val="99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84" name="Google Shape;2084;p189"/>
            <p:cNvSpPr txBox="1"/>
            <p:nvPr/>
          </p:nvSpPr>
          <p:spPr>
            <a:xfrm>
              <a:off x="2538" y="3897"/>
              <a:ext cx="113" cy="63"/>
            </a:xfrm>
            <a:prstGeom prst="rect">
              <a:avLst/>
            </a:prstGeom>
            <a:solidFill>
              <a:srgbClr val="FFCC99"/>
            </a:solidFill>
            <a:ln cap="flat" cmpd="sng" w="9525">
              <a:solidFill>
                <a:srgbClr val="99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85" name="Google Shape;2085;p189"/>
            <p:cNvSpPr txBox="1"/>
            <p:nvPr/>
          </p:nvSpPr>
          <p:spPr>
            <a:xfrm>
              <a:off x="2834" y="3804"/>
              <a:ext cx="310" cy="179"/>
            </a:xfrm>
            <a:prstGeom prst="rect">
              <a:avLst/>
            </a:prstGeom>
            <a:solidFill>
              <a:srgbClr val="FFCC99"/>
            </a:solidFill>
            <a:ln cap="flat" cmpd="sng" w="9525">
              <a:solidFill>
                <a:srgbClr val="990000"/>
              </a:solidFill>
              <a:prstDash val="solid"/>
              <a:miter lim="800000"/>
              <a:headEnd len="sm" w="sm" type="none"/>
              <a:tailEnd len="sm" w="sm" type="none"/>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990000"/>
                </a:buClr>
                <a:buSzPts val="1800"/>
                <a:buFont typeface="Times New Roman"/>
                <a:buNone/>
              </a:pPr>
              <a:r>
                <a:rPr b="1" i="0" lang="en-US" sz="1800" u="none">
                  <a:solidFill>
                    <a:srgbClr val="990000"/>
                  </a:solidFill>
                  <a:latin typeface="Times New Roman"/>
                  <a:ea typeface="Times New Roman"/>
                  <a:cs typeface="Times New Roman"/>
                  <a:sym typeface="Times New Roman"/>
                </a:rPr>
                <a:t>IHM</a:t>
              </a:r>
              <a:endParaRPr/>
            </a:p>
          </p:txBody>
        </p:sp>
        <p:sp>
          <p:nvSpPr>
            <p:cNvPr id="2086" name="Google Shape;2086;p189"/>
            <p:cNvSpPr txBox="1"/>
            <p:nvPr/>
          </p:nvSpPr>
          <p:spPr>
            <a:xfrm>
              <a:off x="2597" y="3727"/>
              <a:ext cx="798" cy="322"/>
            </a:xfrm>
            <a:prstGeom prst="rect">
              <a:avLst/>
            </a:prstGeom>
            <a:solidFill>
              <a:srgbClr val="FFCC99"/>
            </a:solidFill>
            <a:ln cap="flat" cmpd="sng" w="9525">
              <a:solidFill>
                <a:srgbClr val="99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87" name="Google Shape;2087;p189"/>
            <p:cNvSpPr txBox="1"/>
            <p:nvPr/>
          </p:nvSpPr>
          <p:spPr>
            <a:xfrm>
              <a:off x="2538" y="3783"/>
              <a:ext cx="123" cy="73"/>
            </a:xfrm>
            <a:prstGeom prst="rect">
              <a:avLst/>
            </a:prstGeom>
            <a:solidFill>
              <a:srgbClr val="FFCC99"/>
            </a:solidFill>
            <a:ln cap="flat" cmpd="sng" w="9525">
              <a:solidFill>
                <a:srgbClr val="99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88" name="Google Shape;2088;p189"/>
            <p:cNvSpPr txBox="1"/>
            <p:nvPr/>
          </p:nvSpPr>
          <p:spPr>
            <a:xfrm>
              <a:off x="2538" y="3783"/>
              <a:ext cx="113" cy="65"/>
            </a:xfrm>
            <a:prstGeom prst="rect">
              <a:avLst/>
            </a:prstGeom>
            <a:solidFill>
              <a:srgbClr val="FFCC99"/>
            </a:solidFill>
            <a:ln cap="flat" cmpd="sng" w="9525">
              <a:solidFill>
                <a:srgbClr val="99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89" name="Google Shape;2089;p189"/>
            <p:cNvSpPr txBox="1"/>
            <p:nvPr/>
          </p:nvSpPr>
          <p:spPr>
            <a:xfrm>
              <a:off x="2538" y="3897"/>
              <a:ext cx="123" cy="72"/>
            </a:xfrm>
            <a:prstGeom prst="rect">
              <a:avLst/>
            </a:prstGeom>
            <a:solidFill>
              <a:srgbClr val="FFCC99"/>
            </a:solidFill>
            <a:ln cap="flat" cmpd="sng" w="9525">
              <a:solidFill>
                <a:srgbClr val="99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90" name="Google Shape;2090;p189"/>
            <p:cNvSpPr txBox="1"/>
            <p:nvPr/>
          </p:nvSpPr>
          <p:spPr>
            <a:xfrm>
              <a:off x="2538" y="3897"/>
              <a:ext cx="113" cy="63"/>
            </a:xfrm>
            <a:prstGeom prst="rect">
              <a:avLst/>
            </a:prstGeom>
            <a:solidFill>
              <a:srgbClr val="FFCC99"/>
            </a:solidFill>
            <a:ln cap="flat" cmpd="sng" w="9525">
              <a:solidFill>
                <a:srgbClr val="99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91" name="Google Shape;2091;p189"/>
            <p:cNvSpPr txBox="1"/>
            <p:nvPr/>
          </p:nvSpPr>
          <p:spPr>
            <a:xfrm>
              <a:off x="2834" y="3804"/>
              <a:ext cx="304" cy="173"/>
            </a:xfrm>
            <a:prstGeom prst="rect">
              <a:avLst/>
            </a:prstGeom>
            <a:solidFill>
              <a:srgbClr val="FFCC99"/>
            </a:solid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990000"/>
                </a:buClr>
                <a:buSzPts val="1800"/>
                <a:buFont typeface="Times New Roman"/>
                <a:buNone/>
              </a:pPr>
              <a:r>
                <a:rPr b="1" i="0" lang="en-US" sz="1800" u="none">
                  <a:solidFill>
                    <a:srgbClr val="990000"/>
                  </a:solidFill>
                  <a:latin typeface="Times New Roman"/>
                  <a:ea typeface="Times New Roman"/>
                  <a:cs typeface="Times New Roman"/>
                  <a:sym typeface="Times New Roman"/>
                </a:rPr>
                <a:t>IHM</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4">
                                            <p:txEl>
                                              <p:pRg end="0" st="0"/>
                                            </p:txEl>
                                          </p:spTgt>
                                        </p:tgtEl>
                                        <p:attrNameLst>
                                          <p:attrName>style.visibility</p:attrName>
                                        </p:attrNameLst>
                                      </p:cBhvr>
                                      <p:to>
                                        <p:strVal val="visible"/>
                                      </p:to>
                                    </p:set>
                                    <p:animEffect filter="fade" transition="in">
                                      <p:cBhvr>
                                        <p:cTn dur="500"/>
                                        <p:tgtEl>
                                          <p:spTgt spid="205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4">
                                            <p:txEl>
                                              <p:pRg end="1" st="1"/>
                                            </p:txEl>
                                          </p:spTgt>
                                        </p:tgtEl>
                                        <p:attrNameLst>
                                          <p:attrName>style.visibility</p:attrName>
                                        </p:attrNameLst>
                                      </p:cBhvr>
                                      <p:to>
                                        <p:strVal val="visible"/>
                                      </p:to>
                                    </p:set>
                                    <p:animEffect filter="fade" transition="in">
                                      <p:cBhvr>
                                        <p:cTn dur="500"/>
                                        <p:tgtEl>
                                          <p:spTgt spid="205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4">
                                            <p:txEl>
                                              <p:pRg end="2" st="2"/>
                                            </p:txEl>
                                          </p:spTgt>
                                        </p:tgtEl>
                                        <p:attrNameLst>
                                          <p:attrName>style.visibility</p:attrName>
                                        </p:attrNameLst>
                                      </p:cBhvr>
                                      <p:to>
                                        <p:strVal val="visible"/>
                                      </p:to>
                                    </p:set>
                                    <p:animEffect filter="fade" transition="in">
                                      <p:cBhvr>
                                        <p:cTn dur="500"/>
                                        <p:tgtEl>
                                          <p:spTgt spid="205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4">
                                            <p:txEl>
                                              <p:pRg end="3" st="3"/>
                                            </p:txEl>
                                          </p:spTgt>
                                        </p:tgtEl>
                                        <p:attrNameLst>
                                          <p:attrName>style.visibility</p:attrName>
                                        </p:attrNameLst>
                                      </p:cBhvr>
                                      <p:to>
                                        <p:strVal val="visible"/>
                                      </p:to>
                                    </p:set>
                                    <p:animEffect filter="fade" transition="in">
                                      <p:cBhvr>
                                        <p:cTn dur="500"/>
                                        <p:tgtEl>
                                          <p:spTgt spid="2054">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5" name="Shape 2095"/>
        <p:cNvGrpSpPr/>
        <p:nvPr/>
      </p:nvGrpSpPr>
      <p:grpSpPr>
        <a:xfrm>
          <a:off x="0" y="0"/>
          <a:ext cx="0" cy="0"/>
          <a:chOff x="0" y="0"/>
          <a:chExt cx="0" cy="0"/>
        </a:xfrm>
      </p:grpSpPr>
      <p:sp>
        <p:nvSpPr>
          <p:cNvPr id="2096" name="Google Shape;2096;p19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Relations entre deux nœuds</a:t>
            </a:r>
            <a:endParaRPr/>
          </a:p>
        </p:txBody>
      </p:sp>
      <p:sp>
        <p:nvSpPr>
          <p:cNvPr id="2097" name="Google Shape;2097;p190"/>
          <p:cNvSpPr txBox="1"/>
          <p:nvPr>
            <p:ph idx="1" type="body"/>
          </p:nvPr>
        </p:nvSpPr>
        <p:spPr>
          <a:xfrm>
            <a:off x="457200" y="1600200"/>
            <a:ext cx="8229600" cy="27098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hlink"/>
              </a:buClr>
              <a:buSzPts val="2800"/>
              <a:buFont typeface="Arial"/>
              <a:buChar char="•"/>
            </a:pPr>
            <a:r>
              <a:rPr b="0" i="0" lang="en-US" sz="2800" u="none">
                <a:solidFill>
                  <a:schemeClr val="hlink"/>
                </a:solidFill>
                <a:latin typeface="Arial"/>
                <a:ea typeface="Arial"/>
                <a:cs typeface="Arial"/>
                <a:sym typeface="Arial"/>
              </a:rPr>
              <a:t>Association</a:t>
            </a:r>
            <a:endParaRPr/>
          </a:p>
          <a:p>
            <a:pPr indent="-285750" lvl="1" marL="74295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Indiquent une voie physique entre deux nœuds</a:t>
            </a:r>
            <a:endParaRPr/>
          </a:p>
          <a:p>
            <a:pPr indent="-285750" lvl="1" marL="74295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Exemple:</a:t>
            </a:r>
            <a:endParaRPr/>
          </a:p>
          <a:p>
            <a:pPr indent="-228600" lvl="2" marL="114300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Une connexion Ethernet</a:t>
            </a:r>
            <a:endParaRPr/>
          </a:p>
          <a:p>
            <a:pPr indent="-228600" lvl="2" marL="1143000"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Un bus de communication</a:t>
            </a:r>
            <a:endParaRPr/>
          </a:p>
          <a:p>
            <a:pPr indent="-285750" lvl="1" marL="74295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Notation UML</a:t>
            </a:r>
            <a:endParaRPr/>
          </a:p>
        </p:txBody>
      </p:sp>
      <p:grpSp>
        <p:nvGrpSpPr>
          <p:cNvPr id="2098" name="Google Shape;2098;p190"/>
          <p:cNvGrpSpPr/>
          <p:nvPr/>
        </p:nvGrpSpPr>
        <p:grpSpPr>
          <a:xfrm>
            <a:off x="1917700" y="4749800"/>
            <a:ext cx="1536700" cy="901700"/>
            <a:chOff x="3471" y="1352"/>
            <a:chExt cx="968" cy="568"/>
          </a:xfrm>
        </p:grpSpPr>
        <p:sp>
          <p:nvSpPr>
            <p:cNvPr id="2099" name="Google Shape;2099;p190"/>
            <p:cNvSpPr/>
            <p:nvPr/>
          </p:nvSpPr>
          <p:spPr>
            <a:xfrm>
              <a:off x="3471" y="1352"/>
              <a:ext cx="968" cy="568"/>
            </a:xfrm>
            <a:custGeom>
              <a:rect b="b" l="l" r="r" t="t"/>
              <a:pathLst>
                <a:path extrusionOk="0" h="560" w="952">
                  <a:moveTo>
                    <a:pt x="0" y="114"/>
                  </a:moveTo>
                  <a:lnTo>
                    <a:pt x="114" y="0"/>
                  </a:lnTo>
                  <a:lnTo>
                    <a:pt x="952" y="0"/>
                  </a:lnTo>
                  <a:lnTo>
                    <a:pt x="838" y="114"/>
                  </a:lnTo>
                  <a:lnTo>
                    <a:pt x="952" y="0"/>
                  </a:lnTo>
                  <a:lnTo>
                    <a:pt x="952" y="446"/>
                  </a:lnTo>
                  <a:lnTo>
                    <a:pt x="838" y="560"/>
                  </a:lnTo>
                </a:path>
              </a:pathLst>
            </a:custGeom>
            <a:solidFill>
              <a:srgbClr val="FFCC99"/>
            </a:solidFill>
            <a:ln cap="flat" cmpd="sng" w="9525">
              <a:solidFill>
                <a:srgbClr val="6633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00" name="Google Shape;2100;p190"/>
            <p:cNvSpPr txBox="1"/>
            <p:nvPr/>
          </p:nvSpPr>
          <p:spPr>
            <a:xfrm>
              <a:off x="3471" y="1466"/>
              <a:ext cx="846" cy="453"/>
            </a:xfrm>
            <a:prstGeom prst="rect">
              <a:avLst/>
            </a:prstGeom>
            <a:solidFill>
              <a:srgbClr val="FFCC99"/>
            </a:solidFill>
            <a:ln cap="flat" cmpd="sng" w="9525">
              <a:solidFill>
                <a:srgbClr val="6633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01" name="Google Shape;2101;p190"/>
            <p:cNvSpPr txBox="1"/>
            <p:nvPr/>
          </p:nvSpPr>
          <p:spPr>
            <a:xfrm>
              <a:off x="3692" y="1628"/>
              <a:ext cx="416" cy="134"/>
            </a:xfrm>
            <a:prstGeom prst="rect">
              <a:avLst/>
            </a:prstGeom>
            <a:solidFill>
              <a:srgbClr val="FFCC99"/>
            </a:solid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CC3300"/>
                </a:buClr>
                <a:buSzPts val="1400"/>
                <a:buFont typeface="Arial"/>
                <a:buNone/>
              </a:pPr>
              <a:r>
                <a:rPr b="1" i="0" lang="en-US" sz="1400" u="none">
                  <a:solidFill>
                    <a:srgbClr val="CC3300"/>
                  </a:solidFill>
                  <a:latin typeface="Arial"/>
                  <a:ea typeface="Arial"/>
                  <a:cs typeface="Arial"/>
                  <a:sym typeface="Arial"/>
                </a:rPr>
                <a:t>Nœud 1</a:t>
              </a:r>
              <a:endParaRPr/>
            </a:p>
          </p:txBody>
        </p:sp>
      </p:grpSp>
      <p:grpSp>
        <p:nvGrpSpPr>
          <p:cNvPr id="2102" name="Google Shape;2102;p190"/>
          <p:cNvGrpSpPr/>
          <p:nvPr/>
        </p:nvGrpSpPr>
        <p:grpSpPr>
          <a:xfrm>
            <a:off x="6007100" y="4749800"/>
            <a:ext cx="1536700" cy="901700"/>
            <a:chOff x="3471" y="1352"/>
            <a:chExt cx="968" cy="568"/>
          </a:xfrm>
        </p:grpSpPr>
        <p:sp>
          <p:nvSpPr>
            <p:cNvPr id="2103" name="Google Shape;2103;p190"/>
            <p:cNvSpPr/>
            <p:nvPr/>
          </p:nvSpPr>
          <p:spPr>
            <a:xfrm>
              <a:off x="3471" y="1352"/>
              <a:ext cx="968" cy="568"/>
            </a:xfrm>
            <a:custGeom>
              <a:rect b="b" l="l" r="r" t="t"/>
              <a:pathLst>
                <a:path extrusionOk="0" h="560" w="952">
                  <a:moveTo>
                    <a:pt x="0" y="114"/>
                  </a:moveTo>
                  <a:lnTo>
                    <a:pt x="114" y="0"/>
                  </a:lnTo>
                  <a:lnTo>
                    <a:pt x="952" y="0"/>
                  </a:lnTo>
                  <a:lnTo>
                    <a:pt x="838" y="114"/>
                  </a:lnTo>
                  <a:lnTo>
                    <a:pt x="952" y="0"/>
                  </a:lnTo>
                  <a:lnTo>
                    <a:pt x="952" y="446"/>
                  </a:lnTo>
                  <a:lnTo>
                    <a:pt x="838" y="560"/>
                  </a:lnTo>
                </a:path>
              </a:pathLst>
            </a:custGeom>
            <a:solidFill>
              <a:srgbClr val="FFCC99"/>
            </a:solidFill>
            <a:ln cap="flat" cmpd="sng" w="9525">
              <a:solidFill>
                <a:srgbClr val="6633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04" name="Google Shape;2104;p190"/>
            <p:cNvSpPr txBox="1"/>
            <p:nvPr/>
          </p:nvSpPr>
          <p:spPr>
            <a:xfrm>
              <a:off x="3471" y="1466"/>
              <a:ext cx="846" cy="453"/>
            </a:xfrm>
            <a:prstGeom prst="rect">
              <a:avLst/>
            </a:prstGeom>
            <a:solidFill>
              <a:srgbClr val="FFCC99"/>
            </a:solidFill>
            <a:ln cap="flat" cmpd="sng" w="9525">
              <a:solidFill>
                <a:srgbClr val="6633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05" name="Google Shape;2105;p190"/>
            <p:cNvSpPr txBox="1"/>
            <p:nvPr/>
          </p:nvSpPr>
          <p:spPr>
            <a:xfrm>
              <a:off x="3692" y="1628"/>
              <a:ext cx="416" cy="134"/>
            </a:xfrm>
            <a:prstGeom prst="rect">
              <a:avLst/>
            </a:prstGeom>
            <a:solidFill>
              <a:srgbClr val="FFCC99"/>
            </a:solid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CC3300"/>
                </a:buClr>
                <a:buSzPts val="1400"/>
                <a:buFont typeface="Arial"/>
                <a:buNone/>
              </a:pPr>
              <a:r>
                <a:rPr b="1" i="0" lang="en-US" sz="1400" u="none">
                  <a:solidFill>
                    <a:srgbClr val="CC3300"/>
                  </a:solidFill>
                  <a:latin typeface="Arial"/>
                  <a:ea typeface="Arial"/>
                  <a:cs typeface="Arial"/>
                  <a:sym typeface="Arial"/>
                </a:rPr>
                <a:t>Nœud 2</a:t>
              </a:r>
              <a:endParaRPr/>
            </a:p>
          </p:txBody>
        </p:sp>
      </p:grpSp>
      <p:cxnSp>
        <p:nvCxnSpPr>
          <p:cNvPr id="2106" name="Google Shape;2106;p190"/>
          <p:cNvCxnSpPr/>
          <p:nvPr/>
        </p:nvCxnSpPr>
        <p:spPr>
          <a:xfrm>
            <a:off x="3260725" y="5291137"/>
            <a:ext cx="2746375" cy="0"/>
          </a:xfrm>
          <a:prstGeom prst="straightConnector1">
            <a:avLst/>
          </a:prstGeom>
          <a:noFill/>
          <a:ln cap="flat" cmpd="sng" w="9525">
            <a:solidFill>
              <a:schemeClr val="dk1"/>
            </a:solidFill>
            <a:prstDash val="solid"/>
            <a:miter lim="800000"/>
            <a:headEnd len="med" w="med" type="none"/>
            <a:tailEnd len="med" w="med" type="none"/>
          </a:ln>
        </p:spPr>
      </p:cxnSp>
      <p:grpSp>
        <p:nvGrpSpPr>
          <p:cNvPr id="2107" name="Google Shape;2107;p190"/>
          <p:cNvGrpSpPr/>
          <p:nvPr/>
        </p:nvGrpSpPr>
        <p:grpSpPr>
          <a:xfrm>
            <a:off x="5599112" y="2852737"/>
            <a:ext cx="1944687" cy="706437"/>
            <a:chOff x="1973" y="3385"/>
            <a:chExt cx="1225" cy="445"/>
          </a:xfrm>
        </p:grpSpPr>
        <p:cxnSp>
          <p:nvCxnSpPr>
            <p:cNvPr id="2108" name="Google Shape;2108;p190"/>
            <p:cNvCxnSpPr/>
            <p:nvPr/>
          </p:nvCxnSpPr>
          <p:spPr>
            <a:xfrm>
              <a:off x="1973" y="3566"/>
              <a:ext cx="1225" cy="0"/>
            </a:xfrm>
            <a:prstGeom prst="straightConnector1">
              <a:avLst/>
            </a:prstGeom>
            <a:noFill/>
            <a:ln cap="flat" cmpd="sng" w="28575">
              <a:solidFill>
                <a:schemeClr val="hlink"/>
              </a:solidFill>
              <a:prstDash val="solid"/>
              <a:miter lim="800000"/>
              <a:headEnd len="med" w="med" type="none"/>
              <a:tailEnd len="med" w="med" type="none"/>
            </a:ln>
          </p:spPr>
        </p:cxnSp>
        <p:sp>
          <p:nvSpPr>
            <p:cNvPr id="2109" name="Google Shape;2109;p190"/>
            <p:cNvSpPr txBox="1"/>
            <p:nvPr/>
          </p:nvSpPr>
          <p:spPr>
            <a:xfrm>
              <a:off x="2262" y="3385"/>
              <a:ext cx="528" cy="17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0000"/>
                </a:buClr>
                <a:buSzPts val="1800"/>
                <a:buFont typeface="Times New Roman"/>
                <a:buNone/>
              </a:pPr>
              <a:r>
                <a:rPr b="1" i="1" lang="en-US" sz="1800" u="none">
                  <a:solidFill>
                    <a:srgbClr val="FF0000"/>
                  </a:solidFill>
                  <a:latin typeface="Times New Roman"/>
                  <a:ea typeface="Times New Roman"/>
                  <a:cs typeface="Times New Roman"/>
                  <a:sym typeface="Times New Roman"/>
                </a:rPr>
                <a:t>TCP / IP</a:t>
              </a:r>
              <a:endParaRPr/>
            </a:p>
          </p:txBody>
        </p:sp>
        <p:sp>
          <p:nvSpPr>
            <p:cNvPr id="2110" name="Google Shape;2110;p190"/>
            <p:cNvSpPr txBox="1"/>
            <p:nvPr/>
          </p:nvSpPr>
          <p:spPr>
            <a:xfrm>
              <a:off x="2019" y="3612"/>
              <a:ext cx="72" cy="17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0000"/>
                </a:buClr>
                <a:buSzPts val="1800"/>
                <a:buFont typeface="Times New Roman"/>
                <a:buNone/>
              </a:pPr>
              <a:r>
                <a:rPr b="1" i="0" lang="en-US" sz="1800" u="none">
                  <a:solidFill>
                    <a:srgbClr val="FF0000"/>
                  </a:solidFill>
                  <a:latin typeface="Times New Roman"/>
                  <a:ea typeface="Times New Roman"/>
                  <a:cs typeface="Times New Roman"/>
                  <a:sym typeface="Times New Roman"/>
                </a:rPr>
                <a:t>1</a:t>
              </a:r>
              <a:endParaRPr/>
            </a:p>
          </p:txBody>
        </p:sp>
        <p:sp>
          <p:nvSpPr>
            <p:cNvPr id="2111" name="Google Shape;2111;p190"/>
            <p:cNvSpPr txBox="1"/>
            <p:nvPr/>
          </p:nvSpPr>
          <p:spPr>
            <a:xfrm>
              <a:off x="2971" y="3657"/>
              <a:ext cx="216" cy="17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0000"/>
                </a:buClr>
                <a:buSzPts val="1800"/>
                <a:buFont typeface="Times New Roman"/>
                <a:buNone/>
              </a:pPr>
              <a:r>
                <a:rPr b="1" i="0" lang="en-US" sz="1800" u="none">
                  <a:solidFill>
                    <a:srgbClr val="FF0000"/>
                  </a:solidFill>
                  <a:latin typeface="Times New Roman"/>
                  <a:ea typeface="Times New Roman"/>
                  <a:cs typeface="Times New Roman"/>
                  <a:sym typeface="Times New Roman"/>
                </a:rPr>
                <a:t>1..*</a:t>
              </a:r>
              <a:endParaRPr/>
            </a:p>
          </p:txBody>
        </p:sp>
      </p:gr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5" name="Shape 2115"/>
        <p:cNvGrpSpPr/>
        <p:nvPr/>
      </p:nvGrpSpPr>
      <p:grpSpPr>
        <a:xfrm>
          <a:off x="0" y="0"/>
          <a:ext cx="0" cy="0"/>
          <a:chOff x="0" y="0"/>
          <a:chExt cx="0" cy="0"/>
        </a:xfrm>
      </p:grpSpPr>
      <p:sp>
        <p:nvSpPr>
          <p:cNvPr id="2116" name="Google Shape;2116;p19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Diagramme de déploiement</a:t>
            </a:r>
            <a:br>
              <a:rPr b="0" i="0" lang="en-US" sz="4400" u="none">
                <a:solidFill>
                  <a:schemeClr val="dk2"/>
                </a:solidFill>
                <a:latin typeface="Arial"/>
                <a:ea typeface="Arial"/>
                <a:cs typeface="Arial"/>
                <a:sym typeface="Arial"/>
              </a:rPr>
            </a:br>
            <a:r>
              <a:rPr b="0" i="0" lang="en-US" sz="4400" u="none">
                <a:solidFill>
                  <a:schemeClr val="dk2"/>
                </a:solidFill>
                <a:latin typeface="Arial"/>
                <a:ea typeface="Arial"/>
                <a:cs typeface="Arial"/>
                <a:sym typeface="Arial"/>
              </a:rPr>
              <a:t>(Exemple)</a:t>
            </a:r>
            <a:endParaRPr/>
          </a:p>
        </p:txBody>
      </p:sp>
      <p:sp>
        <p:nvSpPr>
          <p:cNvPr id="2117" name="Google Shape;2117;p191"/>
          <p:cNvSpPr txBox="1"/>
          <p:nvPr>
            <p:ph idx="1" type="body"/>
          </p:nvPr>
        </p:nvSpPr>
        <p:spPr>
          <a:xfrm>
            <a:off x="457200" y="1600200"/>
            <a:ext cx="8229600" cy="6016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Système Vente</a:t>
            </a:r>
            <a:endParaRPr/>
          </a:p>
        </p:txBody>
      </p:sp>
      <p:sp>
        <p:nvSpPr>
          <p:cNvPr id="2118" name="Google Shape;2118;p191"/>
          <p:cNvSpPr/>
          <p:nvPr/>
        </p:nvSpPr>
        <p:spPr>
          <a:xfrm>
            <a:off x="1660525" y="2336800"/>
            <a:ext cx="6972300" cy="2143125"/>
          </a:xfrm>
          <a:custGeom>
            <a:rect b="b" l="l" r="r" t="t"/>
            <a:pathLst>
              <a:path extrusionOk="0" h="1350" w="4392">
                <a:moveTo>
                  <a:pt x="0" y="148"/>
                </a:moveTo>
                <a:lnTo>
                  <a:pt x="173" y="0"/>
                </a:lnTo>
                <a:lnTo>
                  <a:pt x="4392" y="0"/>
                </a:lnTo>
                <a:lnTo>
                  <a:pt x="4219" y="148"/>
                </a:lnTo>
                <a:lnTo>
                  <a:pt x="4392" y="0"/>
                </a:lnTo>
                <a:lnTo>
                  <a:pt x="4392" y="1203"/>
                </a:lnTo>
                <a:lnTo>
                  <a:pt x="4219" y="135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19" name="Google Shape;2119;p191"/>
          <p:cNvSpPr txBox="1"/>
          <p:nvPr/>
        </p:nvSpPr>
        <p:spPr>
          <a:xfrm>
            <a:off x="1660525" y="2571750"/>
            <a:ext cx="6708775" cy="191770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20" name="Google Shape;2120;p191"/>
          <p:cNvSpPr txBox="1"/>
          <p:nvPr/>
        </p:nvSpPr>
        <p:spPr>
          <a:xfrm>
            <a:off x="1836737" y="2617787"/>
            <a:ext cx="819150" cy="1365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Serveur de Calcul</a:t>
            </a:r>
            <a:endParaRPr/>
          </a:p>
        </p:txBody>
      </p:sp>
      <p:sp>
        <p:nvSpPr>
          <p:cNvPr id="2121" name="Google Shape;2121;p191"/>
          <p:cNvSpPr txBox="1"/>
          <p:nvPr/>
        </p:nvSpPr>
        <p:spPr>
          <a:xfrm>
            <a:off x="4757737" y="2814637"/>
            <a:ext cx="977900" cy="1365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InterfaceAutorisation</a:t>
            </a:r>
            <a:endParaRPr/>
          </a:p>
        </p:txBody>
      </p:sp>
      <p:sp>
        <p:nvSpPr>
          <p:cNvPr id="2122" name="Google Shape;2122;p191"/>
          <p:cNvSpPr txBox="1"/>
          <p:nvPr/>
        </p:nvSpPr>
        <p:spPr>
          <a:xfrm>
            <a:off x="6399212" y="2814637"/>
            <a:ext cx="723900" cy="1365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InterfaceImpôts</a:t>
            </a:r>
            <a:endParaRPr/>
          </a:p>
        </p:txBody>
      </p:sp>
      <p:sp>
        <p:nvSpPr>
          <p:cNvPr id="2123" name="Google Shape;2123;p191"/>
          <p:cNvSpPr txBox="1"/>
          <p:nvPr/>
        </p:nvSpPr>
        <p:spPr>
          <a:xfrm>
            <a:off x="5743575" y="4311650"/>
            <a:ext cx="831850" cy="1365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InterfacePaiement</a:t>
            </a:r>
            <a:endParaRPr/>
          </a:p>
        </p:txBody>
      </p:sp>
      <p:sp>
        <p:nvSpPr>
          <p:cNvPr id="2124" name="Google Shape;2124;p191"/>
          <p:cNvSpPr txBox="1"/>
          <p:nvPr/>
        </p:nvSpPr>
        <p:spPr>
          <a:xfrm>
            <a:off x="3805237" y="3367087"/>
            <a:ext cx="1533525" cy="39211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25" name="Google Shape;2125;p191"/>
          <p:cNvSpPr txBox="1"/>
          <p:nvPr/>
        </p:nvSpPr>
        <p:spPr>
          <a:xfrm>
            <a:off x="3717925" y="3441700"/>
            <a:ext cx="153987" cy="84137"/>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26" name="Google Shape;2126;p191"/>
          <p:cNvSpPr txBox="1"/>
          <p:nvPr/>
        </p:nvSpPr>
        <p:spPr>
          <a:xfrm>
            <a:off x="3717925" y="3441700"/>
            <a:ext cx="142875" cy="7461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27" name="Google Shape;2127;p191"/>
          <p:cNvSpPr txBox="1"/>
          <p:nvPr/>
        </p:nvSpPr>
        <p:spPr>
          <a:xfrm>
            <a:off x="3717925" y="3590925"/>
            <a:ext cx="153987" cy="84137"/>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28" name="Google Shape;2128;p191"/>
          <p:cNvSpPr txBox="1"/>
          <p:nvPr/>
        </p:nvSpPr>
        <p:spPr>
          <a:xfrm>
            <a:off x="3717925" y="3590925"/>
            <a:ext cx="142875" cy="7461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29" name="Google Shape;2129;p191"/>
          <p:cNvSpPr txBox="1"/>
          <p:nvPr/>
        </p:nvSpPr>
        <p:spPr>
          <a:xfrm>
            <a:off x="4133850" y="3413125"/>
            <a:ext cx="749300" cy="1365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&lt;&lt;executable&gt;&gt;</a:t>
            </a:r>
            <a:endParaRPr/>
          </a:p>
        </p:txBody>
      </p:sp>
      <p:sp>
        <p:nvSpPr>
          <p:cNvPr id="2130" name="Google Shape;2130;p191"/>
          <p:cNvSpPr txBox="1"/>
          <p:nvPr/>
        </p:nvSpPr>
        <p:spPr>
          <a:xfrm>
            <a:off x="4068762" y="3640137"/>
            <a:ext cx="1001712" cy="1365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Gestion d'autorisation</a:t>
            </a:r>
            <a:endParaRPr/>
          </a:p>
        </p:txBody>
      </p:sp>
      <p:sp>
        <p:nvSpPr>
          <p:cNvPr id="2131" name="Google Shape;2131;p191"/>
          <p:cNvSpPr txBox="1"/>
          <p:nvPr/>
        </p:nvSpPr>
        <p:spPr>
          <a:xfrm>
            <a:off x="1836737" y="3367087"/>
            <a:ext cx="1652587" cy="39211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32" name="Google Shape;2132;p191"/>
          <p:cNvSpPr txBox="1"/>
          <p:nvPr/>
        </p:nvSpPr>
        <p:spPr>
          <a:xfrm>
            <a:off x="1747837" y="3441700"/>
            <a:ext cx="153987" cy="84137"/>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33" name="Google Shape;2133;p191"/>
          <p:cNvSpPr txBox="1"/>
          <p:nvPr/>
        </p:nvSpPr>
        <p:spPr>
          <a:xfrm>
            <a:off x="1747837" y="3441700"/>
            <a:ext cx="142875" cy="7461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34" name="Google Shape;2134;p191"/>
          <p:cNvSpPr txBox="1"/>
          <p:nvPr/>
        </p:nvSpPr>
        <p:spPr>
          <a:xfrm>
            <a:off x="1747837" y="3590925"/>
            <a:ext cx="153987" cy="84137"/>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35" name="Google Shape;2135;p191"/>
          <p:cNvSpPr txBox="1"/>
          <p:nvPr/>
        </p:nvSpPr>
        <p:spPr>
          <a:xfrm>
            <a:off x="1747837" y="3590925"/>
            <a:ext cx="142875" cy="7461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36" name="Google Shape;2136;p191"/>
          <p:cNvSpPr txBox="1"/>
          <p:nvPr/>
        </p:nvSpPr>
        <p:spPr>
          <a:xfrm>
            <a:off x="2230437" y="3413125"/>
            <a:ext cx="749300" cy="1365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&lt;&lt;executable&gt;&gt;</a:t>
            </a:r>
            <a:endParaRPr/>
          </a:p>
        </p:txBody>
      </p:sp>
      <p:sp>
        <p:nvSpPr>
          <p:cNvPr id="2137" name="Google Shape;2137;p191"/>
          <p:cNvSpPr txBox="1"/>
          <p:nvPr/>
        </p:nvSpPr>
        <p:spPr>
          <a:xfrm>
            <a:off x="2043112" y="3622675"/>
            <a:ext cx="1117600" cy="1365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Enregistrement-Produits</a:t>
            </a:r>
            <a:endParaRPr/>
          </a:p>
        </p:txBody>
      </p:sp>
      <p:sp>
        <p:nvSpPr>
          <p:cNvPr id="2138" name="Google Shape;2138;p191"/>
          <p:cNvSpPr txBox="1"/>
          <p:nvPr/>
        </p:nvSpPr>
        <p:spPr>
          <a:xfrm>
            <a:off x="5556250" y="3367087"/>
            <a:ext cx="1270000" cy="39211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39" name="Google Shape;2139;p191"/>
          <p:cNvSpPr txBox="1"/>
          <p:nvPr/>
        </p:nvSpPr>
        <p:spPr>
          <a:xfrm>
            <a:off x="5468937" y="3441700"/>
            <a:ext cx="153987" cy="84137"/>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40" name="Google Shape;2140;p191"/>
          <p:cNvSpPr txBox="1"/>
          <p:nvPr/>
        </p:nvSpPr>
        <p:spPr>
          <a:xfrm>
            <a:off x="5468937" y="3441700"/>
            <a:ext cx="142875" cy="7461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41" name="Google Shape;2141;p191"/>
          <p:cNvSpPr txBox="1"/>
          <p:nvPr/>
        </p:nvSpPr>
        <p:spPr>
          <a:xfrm>
            <a:off x="5468937" y="3590925"/>
            <a:ext cx="153987" cy="84137"/>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42" name="Google Shape;2142;p191"/>
          <p:cNvSpPr txBox="1"/>
          <p:nvPr/>
        </p:nvSpPr>
        <p:spPr>
          <a:xfrm>
            <a:off x="5468937" y="3590925"/>
            <a:ext cx="142875" cy="7461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43" name="Google Shape;2143;p191"/>
          <p:cNvSpPr txBox="1"/>
          <p:nvPr/>
        </p:nvSpPr>
        <p:spPr>
          <a:xfrm>
            <a:off x="5754687" y="3413125"/>
            <a:ext cx="749300" cy="1365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&lt;&lt;executable&gt;&gt;</a:t>
            </a:r>
            <a:endParaRPr/>
          </a:p>
        </p:txBody>
      </p:sp>
      <p:sp>
        <p:nvSpPr>
          <p:cNvPr id="2144" name="Google Shape;2144;p191"/>
          <p:cNvSpPr txBox="1"/>
          <p:nvPr/>
        </p:nvSpPr>
        <p:spPr>
          <a:xfrm>
            <a:off x="5794375" y="3614737"/>
            <a:ext cx="781050" cy="1365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GestionPaiement</a:t>
            </a:r>
            <a:endParaRPr/>
          </a:p>
        </p:txBody>
      </p:sp>
      <p:sp>
        <p:nvSpPr>
          <p:cNvPr id="2145" name="Google Shape;2145;p191"/>
          <p:cNvSpPr txBox="1"/>
          <p:nvPr/>
        </p:nvSpPr>
        <p:spPr>
          <a:xfrm>
            <a:off x="7000875" y="3367087"/>
            <a:ext cx="1292225" cy="37465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46" name="Google Shape;2146;p191"/>
          <p:cNvSpPr txBox="1"/>
          <p:nvPr/>
        </p:nvSpPr>
        <p:spPr>
          <a:xfrm>
            <a:off x="6913562" y="3441700"/>
            <a:ext cx="153987" cy="84137"/>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47" name="Google Shape;2147;p191"/>
          <p:cNvSpPr txBox="1"/>
          <p:nvPr/>
        </p:nvSpPr>
        <p:spPr>
          <a:xfrm>
            <a:off x="6913562" y="3441700"/>
            <a:ext cx="142875" cy="7461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48" name="Google Shape;2148;p191"/>
          <p:cNvSpPr txBox="1"/>
          <p:nvPr/>
        </p:nvSpPr>
        <p:spPr>
          <a:xfrm>
            <a:off x="6913562" y="3590925"/>
            <a:ext cx="153987" cy="84137"/>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49" name="Google Shape;2149;p191"/>
          <p:cNvSpPr txBox="1"/>
          <p:nvPr/>
        </p:nvSpPr>
        <p:spPr>
          <a:xfrm>
            <a:off x="6913562" y="3590925"/>
            <a:ext cx="142875" cy="7461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50" name="Google Shape;2150;p191"/>
          <p:cNvSpPr txBox="1"/>
          <p:nvPr/>
        </p:nvSpPr>
        <p:spPr>
          <a:xfrm>
            <a:off x="7165975" y="3468687"/>
            <a:ext cx="779462" cy="1365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Gestion d'Impôts</a:t>
            </a:r>
            <a:endParaRPr/>
          </a:p>
        </p:txBody>
      </p:sp>
      <p:cxnSp>
        <p:nvCxnSpPr>
          <p:cNvPr id="2151" name="Google Shape;2151;p191"/>
          <p:cNvCxnSpPr/>
          <p:nvPr/>
        </p:nvCxnSpPr>
        <p:spPr>
          <a:xfrm flipH="1" rot="10800000">
            <a:off x="4725987" y="2917825"/>
            <a:ext cx="447675" cy="439737"/>
          </a:xfrm>
          <a:prstGeom prst="straightConnector1">
            <a:avLst/>
          </a:prstGeom>
          <a:noFill/>
          <a:ln cap="flat" cmpd="sng" w="9525">
            <a:solidFill>
              <a:schemeClr val="dk1"/>
            </a:solidFill>
            <a:prstDash val="solid"/>
            <a:miter lim="800000"/>
            <a:headEnd len="med" w="med" type="none"/>
            <a:tailEnd len="med" w="med" type="none"/>
          </a:ln>
        </p:spPr>
      </p:cxnSp>
      <p:cxnSp>
        <p:nvCxnSpPr>
          <p:cNvPr id="2152" name="Google Shape;2152;p191"/>
          <p:cNvCxnSpPr/>
          <p:nvPr/>
        </p:nvCxnSpPr>
        <p:spPr>
          <a:xfrm rot="10800000">
            <a:off x="5457825" y="2917825"/>
            <a:ext cx="471487" cy="439737"/>
          </a:xfrm>
          <a:prstGeom prst="straightConnector1">
            <a:avLst/>
          </a:prstGeom>
          <a:noFill/>
          <a:ln cap="flat" cmpd="sng" w="11100">
            <a:solidFill>
              <a:schemeClr val="dk1"/>
            </a:solidFill>
            <a:prstDash val="solid"/>
            <a:miter lim="800000"/>
            <a:headEnd len="med" w="med" type="none"/>
            <a:tailEnd len="med" w="med" type="none"/>
          </a:ln>
        </p:spPr>
      </p:cxnSp>
      <p:sp>
        <p:nvSpPr>
          <p:cNvPr id="2153" name="Google Shape;2153;p191"/>
          <p:cNvSpPr/>
          <p:nvPr/>
        </p:nvSpPr>
        <p:spPr>
          <a:xfrm>
            <a:off x="5457825" y="2917825"/>
            <a:ext cx="88900" cy="84137"/>
          </a:xfrm>
          <a:custGeom>
            <a:rect b="b" l="l" r="r" t="t"/>
            <a:pathLst>
              <a:path extrusionOk="0" h="53" w="56">
                <a:moveTo>
                  <a:pt x="56" y="17"/>
                </a:moveTo>
                <a:lnTo>
                  <a:pt x="0" y="0"/>
                </a:lnTo>
                <a:lnTo>
                  <a:pt x="14" y="53"/>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2154" name="Google Shape;2154;p191"/>
          <p:cNvCxnSpPr/>
          <p:nvPr/>
        </p:nvCxnSpPr>
        <p:spPr>
          <a:xfrm flipH="1" rot="10800000">
            <a:off x="6257925" y="2917825"/>
            <a:ext cx="382587" cy="439737"/>
          </a:xfrm>
          <a:prstGeom prst="straightConnector1">
            <a:avLst/>
          </a:prstGeom>
          <a:noFill/>
          <a:ln cap="flat" cmpd="sng" w="11100">
            <a:solidFill>
              <a:schemeClr val="dk1"/>
            </a:solidFill>
            <a:prstDash val="solid"/>
            <a:miter lim="800000"/>
            <a:headEnd len="med" w="med" type="none"/>
            <a:tailEnd len="med" w="med" type="none"/>
          </a:ln>
        </p:spPr>
      </p:cxnSp>
      <p:sp>
        <p:nvSpPr>
          <p:cNvPr id="2155" name="Google Shape;2155;p191"/>
          <p:cNvSpPr/>
          <p:nvPr/>
        </p:nvSpPr>
        <p:spPr>
          <a:xfrm>
            <a:off x="6553200" y="2917825"/>
            <a:ext cx="87312" cy="74612"/>
          </a:xfrm>
          <a:custGeom>
            <a:rect b="b" l="l" r="r" t="t"/>
            <a:pathLst>
              <a:path extrusionOk="0" h="47" w="55">
                <a:moveTo>
                  <a:pt x="41" y="47"/>
                </a:moveTo>
                <a:lnTo>
                  <a:pt x="55" y="0"/>
                </a:lnTo>
                <a:lnTo>
                  <a:pt x="0" y="23"/>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2156" name="Google Shape;2156;p191"/>
          <p:cNvCxnSpPr/>
          <p:nvPr/>
        </p:nvCxnSpPr>
        <p:spPr>
          <a:xfrm>
            <a:off x="6159500" y="3759200"/>
            <a:ext cx="31750" cy="346075"/>
          </a:xfrm>
          <a:prstGeom prst="straightConnector1">
            <a:avLst/>
          </a:prstGeom>
          <a:noFill/>
          <a:ln cap="flat" cmpd="sng" w="9525">
            <a:solidFill>
              <a:schemeClr val="dk1"/>
            </a:solidFill>
            <a:prstDash val="solid"/>
            <a:miter lim="800000"/>
            <a:headEnd len="med" w="med" type="none"/>
            <a:tailEnd len="med" w="med" type="none"/>
          </a:ln>
        </p:spPr>
      </p:cxnSp>
      <p:cxnSp>
        <p:nvCxnSpPr>
          <p:cNvPr id="2157" name="Google Shape;2157;p191"/>
          <p:cNvCxnSpPr/>
          <p:nvPr/>
        </p:nvCxnSpPr>
        <p:spPr>
          <a:xfrm rot="10800000">
            <a:off x="6946900" y="2917825"/>
            <a:ext cx="460375" cy="439737"/>
          </a:xfrm>
          <a:prstGeom prst="straightConnector1">
            <a:avLst/>
          </a:prstGeom>
          <a:noFill/>
          <a:ln cap="flat" cmpd="sng" w="9525">
            <a:solidFill>
              <a:schemeClr val="dk1"/>
            </a:solidFill>
            <a:prstDash val="solid"/>
            <a:miter lim="800000"/>
            <a:headEnd len="med" w="med" type="none"/>
            <a:tailEnd len="med" w="med" type="none"/>
          </a:ln>
        </p:spPr>
      </p:cxnSp>
      <p:sp>
        <p:nvSpPr>
          <p:cNvPr id="2158" name="Google Shape;2158;p191"/>
          <p:cNvSpPr/>
          <p:nvPr/>
        </p:nvSpPr>
        <p:spPr>
          <a:xfrm>
            <a:off x="5578475" y="4957762"/>
            <a:ext cx="3074987" cy="1057275"/>
          </a:xfrm>
          <a:custGeom>
            <a:rect b="b" l="l" r="r" t="t"/>
            <a:pathLst>
              <a:path extrusionOk="0" h="666" w="1937">
                <a:moveTo>
                  <a:pt x="0" y="130"/>
                </a:moveTo>
                <a:lnTo>
                  <a:pt x="152" y="0"/>
                </a:lnTo>
                <a:lnTo>
                  <a:pt x="1937" y="0"/>
                </a:lnTo>
                <a:lnTo>
                  <a:pt x="1786" y="130"/>
                </a:lnTo>
                <a:lnTo>
                  <a:pt x="1937" y="0"/>
                </a:lnTo>
                <a:lnTo>
                  <a:pt x="1937" y="537"/>
                </a:lnTo>
                <a:lnTo>
                  <a:pt x="1786" y="666"/>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59" name="Google Shape;2159;p191"/>
          <p:cNvSpPr txBox="1"/>
          <p:nvPr/>
        </p:nvSpPr>
        <p:spPr>
          <a:xfrm>
            <a:off x="5578475" y="5164137"/>
            <a:ext cx="2846387" cy="860425"/>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60" name="Google Shape;2160;p191"/>
          <p:cNvSpPr txBox="1"/>
          <p:nvPr/>
        </p:nvSpPr>
        <p:spPr>
          <a:xfrm>
            <a:off x="5754687" y="5210175"/>
            <a:ext cx="317500" cy="1365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Ventes</a:t>
            </a:r>
            <a:endParaRPr/>
          </a:p>
        </p:txBody>
      </p:sp>
      <p:sp>
        <p:nvSpPr>
          <p:cNvPr id="2161" name="Google Shape;2161;p191"/>
          <p:cNvSpPr txBox="1"/>
          <p:nvPr/>
        </p:nvSpPr>
        <p:spPr>
          <a:xfrm>
            <a:off x="5775325" y="5378450"/>
            <a:ext cx="1073150" cy="39370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62" name="Google Shape;2162;p191"/>
          <p:cNvSpPr txBox="1"/>
          <p:nvPr/>
        </p:nvSpPr>
        <p:spPr>
          <a:xfrm>
            <a:off x="5688012" y="5454650"/>
            <a:ext cx="153987" cy="84137"/>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63" name="Google Shape;2163;p191"/>
          <p:cNvSpPr txBox="1"/>
          <p:nvPr/>
        </p:nvSpPr>
        <p:spPr>
          <a:xfrm>
            <a:off x="5688012" y="5454650"/>
            <a:ext cx="142875" cy="7461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64" name="Google Shape;2164;p191"/>
          <p:cNvSpPr txBox="1"/>
          <p:nvPr/>
        </p:nvSpPr>
        <p:spPr>
          <a:xfrm>
            <a:off x="5688012" y="5603875"/>
            <a:ext cx="153987" cy="84137"/>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65" name="Google Shape;2165;p191"/>
          <p:cNvSpPr txBox="1"/>
          <p:nvPr/>
        </p:nvSpPr>
        <p:spPr>
          <a:xfrm>
            <a:off x="5688012" y="5603875"/>
            <a:ext cx="142875" cy="7461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66" name="Google Shape;2166;p191"/>
          <p:cNvSpPr txBox="1"/>
          <p:nvPr/>
        </p:nvSpPr>
        <p:spPr>
          <a:xfrm>
            <a:off x="5873750" y="5426075"/>
            <a:ext cx="749300" cy="1365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&lt;&lt;executable&gt;&gt;</a:t>
            </a:r>
            <a:endParaRPr/>
          </a:p>
        </p:txBody>
      </p:sp>
      <p:sp>
        <p:nvSpPr>
          <p:cNvPr id="2167" name="Google Shape;2167;p191"/>
          <p:cNvSpPr txBox="1"/>
          <p:nvPr/>
        </p:nvSpPr>
        <p:spPr>
          <a:xfrm>
            <a:off x="5975350" y="5646737"/>
            <a:ext cx="603250" cy="1365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IHM_Caisier</a:t>
            </a:r>
            <a:endParaRPr/>
          </a:p>
        </p:txBody>
      </p:sp>
      <p:sp>
        <p:nvSpPr>
          <p:cNvPr id="2168" name="Google Shape;2168;p191"/>
          <p:cNvSpPr txBox="1"/>
          <p:nvPr/>
        </p:nvSpPr>
        <p:spPr>
          <a:xfrm>
            <a:off x="7439025" y="5368925"/>
            <a:ext cx="919162" cy="39370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69" name="Google Shape;2169;p191"/>
          <p:cNvSpPr txBox="1"/>
          <p:nvPr/>
        </p:nvSpPr>
        <p:spPr>
          <a:xfrm>
            <a:off x="7351712" y="5445125"/>
            <a:ext cx="153987" cy="84137"/>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70" name="Google Shape;2170;p191"/>
          <p:cNvSpPr txBox="1"/>
          <p:nvPr/>
        </p:nvSpPr>
        <p:spPr>
          <a:xfrm>
            <a:off x="7351712" y="5445125"/>
            <a:ext cx="142875" cy="7461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71" name="Google Shape;2171;p191"/>
          <p:cNvSpPr txBox="1"/>
          <p:nvPr/>
        </p:nvSpPr>
        <p:spPr>
          <a:xfrm>
            <a:off x="7351712" y="5594350"/>
            <a:ext cx="153987" cy="84137"/>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72" name="Google Shape;2172;p191"/>
          <p:cNvSpPr txBox="1"/>
          <p:nvPr/>
        </p:nvSpPr>
        <p:spPr>
          <a:xfrm>
            <a:off x="7351712" y="5594350"/>
            <a:ext cx="142875" cy="7461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73" name="Google Shape;2173;p191"/>
          <p:cNvSpPr txBox="1"/>
          <p:nvPr/>
        </p:nvSpPr>
        <p:spPr>
          <a:xfrm>
            <a:off x="7548562" y="5416550"/>
            <a:ext cx="565150" cy="1365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&lt;&lt;library&gt;&gt;</a:t>
            </a:r>
            <a:endParaRPr/>
          </a:p>
        </p:txBody>
      </p:sp>
      <p:sp>
        <p:nvSpPr>
          <p:cNvPr id="2174" name="Google Shape;2174;p191"/>
          <p:cNvSpPr txBox="1"/>
          <p:nvPr/>
        </p:nvSpPr>
        <p:spPr>
          <a:xfrm>
            <a:off x="7618412" y="5624512"/>
            <a:ext cx="495300" cy="1365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JavaSwing</a:t>
            </a:r>
            <a:endParaRPr/>
          </a:p>
        </p:txBody>
      </p:sp>
      <p:cxnSp>
        <p:nvCxnSpPr>
          <p:cNvPr id="2175" name="Google Shape;2175;p191"/>
          <p:cNvCxnSpPr/>
          <p:nvPr/>
        </p:nvCxnSpPr>
        <p:spPr>
          <a:xfrm>
            <a:off x="6848475" y="5565775"/>
            <a:ext cx="558800" cy="1587"/>
          </a:xfrm>
          <a:prstGeom prst="straightConnector1">
            <a:avLst/>
          </a:prstGeom>
          <a:noFill/>
          <a:ln cap="flat" cmpd="sng" w="11100">
            <a:solidFill>
              <a:schemeClr val="dk1"/>
            </a:solidFill>
            <a:prstDash val="solid"/>
            <a:miter lim="800000"/>
            <a:headEnd len="med" w="med" type="none"/>
            <a:tailEnd len="med" w="med" type="none"/>
          </a:ln>
        </p:spPr>
      </p:cxnSp>
      <p:sp>
        <p:nvSpPr>
          <p:cNvPr id="2176" name="Google Shape;2176;p191"/>
          <p:cNvSpPr/>
          <p:nvPr/>
        </p:nvSpPr>
        <p:spPr>
          <a:xfrm>
            <a:off x="7318375" y="5529262"/>
            <a:ext cx="88900" cy="74612"/>
          </a:xfrm>
          <a:custGeom>
            <a:rect b="b" l="l" r="r" t="t"/>
            <a:pathLst>
              <a:path extrusionOk="0" h="47" w="56">
                <a:moveTo>
                  <a:pt x="0" y="0"/>
                </a:moveTo>
                <a:lnTo>
                  <a:pt x="56" y="23"/>
                </a:lnTo>
                <a:lnTo>
                  <a:pt x="0" y="47"/>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77" name="Google Shape;2177;p191"/>
          <p:cNvSpPr txBox="1"/>
          <p:nvPr/>
        </p:nvSpPr>
        <p:spPr>
          <a:xfrm>
            <a:off x="5556250" y="3367087"/>
            <a:ext cx="1270000" cy="39211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78" name="Google Shape;2178;p191"/>
          <p:cNvSpPr txBox="1"/>
          <p:nvPr/>
        </p:nvSpPr>
        <p:spPr>
          <a:xfrm>
            <a:off x="5468937" y="3441700"/>
            <a:ext cx="153987" cy="84137"/>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79" name="Google Shape;2179;p191"/>
          <p:cNvSpPr txBox="1"/>
          <p:nvPr/>
        </p:nvSpPr>
        <p:spPr>
          <a:xfrm>
            <a:off x="5468937" y="3441700"/>
            <a:ext cx="142875" cy="7461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80" name="Google Shape;2180;p191"/>
          <p:cNvSpPr txBox="1"/>
          <p:nvPr/>
        </p:nvSpPr>
        <p:spPr>
          <a:xfrm>
            <a:off x="5468937" y="3590925"/>
            <a:ext cx="153987" cy="84137"/>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81" name="Google Shape;2181;p191"/>
          <p:cNvSpPr txBox="1"/>
          <p:nvPr/>
        </p:nvSpPr>
        <p:spPr>
          <a:xfrm>
            <a:off x="5468937" y="3590925"/>
            <a:ext cx="142875" cy="7461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82" name="Google Shape;2182;p191"/>
          <p:cNvSpPr txBox="1"/>
          <p:nvPr/>
        </p:nvSpPr>
        <p:spPr>
          <a:xfrm>
            <a:off x="5775325" y="5378450"/>
            <a:ext cx="1073150" cy="39370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83" name="Google Shape;2183;p191"/>
          <p:cNvSpPr txBox="1"/>
          <p:nvPr/>
        </p:nvSpPr>
        <p:spPr>
          <a:xfrm>
            <a:off x="5688012" y="5454650"/>
            <a:ext cx="153987" cy="84137"/>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84" name="Google Shape;2184;p191"/>
          <p:cNvSpPr txBox="1"/>
          <p:nvPr/>
        </p:nvSpPr>
        <p:spPr>
          <a:xfrm>
            <a:off x="5688012" y="5454650"/>
            <a:ext cx="142875" cy="7461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85" name="Google Shape;2185;p191"/>
          <p:cNvSpPr txBox="1"/>
          <p:nvPr/>
        </p:nvSpPr>
        <p:spPr>
          <a:xfrm>
            <a:off x="5688012" y="5603875"/>
            <a:ext cx="153987" cy="84137"/>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86" name="Google Shape;2186;p191"/>
          <p:cNvSpPr txBox="1"/>
          <p:nvPr/>
        </p:nvSpPr>
        <p:spPr>
          <a:xfrm>
            <a:off x="5688012" y="5603875"/>
            <a:ext cx="142875" cy="7461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2187" name="Google Shape;2187;p191"/>
          <p:cNvCxnSpPr/>
          <p:nvPr/>
        </p:nvCxnSpPr>
        <p:spPr>
          <a:xfrm rot="10800000">
            <a:off x="5457825" y="2917825"/>
            <a:ext cx="471487" cy="439737"/>
          </a:xfrm>
          <a:prstGeom prst="straightConnector1">
            <a:avLst/>
          </a:prstGeom>
          <a:noFill/>
          <a:ln cap="flat" cmpd="sng" w="11100">
            <a:solidFill>
              <a:schemeClr val="dk1"/>
            </a:solidFill>
            <a:prstDash val="solid"/>
            <a:miter lim="800000"/>
            <a:headEnd len="med" w="med" type="none"/>
            <a:tailEnd len="med" w="med" type="none"/>
          </a:ln>
        </p:spPr>
      </p:cxnSp>
      <p:sp>
        <p:nvSpPr>
          <p:cNvPr id="2188" name="Google Shape;2188;p191"/>
          <p:cNvSpPr/>
          <p:nvPr/>
        </p:nvSpPr>
        <p:spPr>
          <a:xfrm>
            <a:off x="5457825" y="2917825"/>
            <a:ext cx="88900" cy="84137"/>
          </a:xfrm>
          <a:custGeom>
            <a:rect b="b" l="l" r="r" t="t"/>
            <a:pathLst>
              <a:path extrusionOk="0" h="53" w="56">
                <a:moveTo>
                  <a:pt x="56" y="17"/>
                </a:moveTo>
                <a:lnTo>
                  <a:pt x="0" y="0"/>
                </a:lnTo>
                <a:lnTo>
                  <a:pt x="14" y="53"/>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89" name="Google Shape;2189;p191"/>
          <p:cNvSpPr/>
          <p:nvPr/>
        </p:nvSpPr>
        <p:spPr>
          <a:xfrm>
            <a:off x="544512" y="4924425"/>
            <a:ext cx="2616200" cy="1395412"/>
          </a:xfrm>
          <a:custGeom>
            <a:rect b="b" l="l" r="r" t="t"/>
            <a:pathLst>
              <a:path extrusionOk="0" h="879" w="1648">
                <a:moveTo>
                  <a:pt x="0" y="147"/>
                </a:moveTo>
                <a:lnTo>
                  <a:pt x="172" y="0"/>
                </a:lnTo>
                <a:lnTo>
                  <a:pt x="1648" y="0"/>
                </a:lnTo>
                <a:lnTo>
                  <a:pt x="1475" y="147"/>
                </a:lnTo>
                <a:lnTo>
                  <a:pt x="1648" y="0"/>
                </a:lnTo>
                <a:lnTo>
                  <a:pt x="1648" y="731"/>
                </a:lnTo>
                <a:lnTo>
                  <a:pt x="1475" y="879"/>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90" name="Google Shape;2190;p191"/>
          <p:cNvSpPr txBox="1"/>
          <p:nvPr/>
        </p:nvSpPr>
        <p:spPr>
          <a:xfrm>
            <a:off x="544512" y="5157787"/>
            <a:ext cx="2352675" cy="1169987"/>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91" name="Google Shape;2191;p191"/>
          <p:cNvSpPr txBox="1"/>
          <p:nvPr/>
        </p:nvSpPr>
        <p:spPr>
          <a:xfrm>
            <a:off x="719137" y="5205412"/>
            <a:ext cx="949325" cy="1365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Serveur de Données </a:t>
            </a:r>
            <a:endParaRPr/>
          </a:p>
        </p:txBody>
      </p:sp>
      <p:sp>
        <p:nvSpPr>
          <p:cNvPr id="2192" name="Google Shape;2192;p191"/>
          <p:cNvSpPr txBox="1"/>
          <p:nvPr/>
        </p:nvSpPr>
        <p:spPr>
          <a:xfrm>
            <a:off x="1693862" y="5588000"/>
            <a:ext cx="869950" cy="1365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InterfaceCatalogue</a:t>
            </a:r>
            <a:endParaRPr/>
          </a:p>
        </p:txBody>
      </p:sp>
      <p:sp>
        <p:nvSpPr>
          <p:cNvPr id="2193" name="Google Shape;2193;p191"/>
          <p:cNvSpPr txBox="1"/>
          <p:nvPr/>
        </p:nvSpPr>
        <p:spPr>
          <a:xfrm>
            <a:off x="850900" y="5861050"/>
            <a:ext cx="1335087" cy="39211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94" name="Google Shape;2194;p191"/>
          <p:cNvSpPr txBox="1"/>
          <p:nvPr/>
        </p:nvSpPr>
        <p:spPr>
          <a:xfrm>
            <a:off x="763587" y="5935662"/>
            <a:ext cx="152400" cy="84137"/>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95" name="Google Shape;2195;p191"/>
          <p:cNvSpPr txBox="1"/>
          <p:nvPr/>
        </p:nvSpPr>
        <p:spPr>
          <a:xfrm>
            <a:off x="763587" y="5935662"/>
            <a:ext cx="142875" cy="7461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96" name="Google Shape;2196;p191"/>
          <p:cNvSpPr txBox="1"/>
          <p:nvPr/>
        </p:nvSpPr>
        <p:spPr>
          <a:xfrm>
            <a:off x="763587" y="6084887"/>
            <a:ext cx="152400" cy="84137"/>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97" name="Google Shape;2197;p191"/>
          <p:cNvSpPr txBox="1"/>
          <p:nvPr/>
        </p:nvSpPr>
        <p:spPr>
          <a:xfrm>
            <a:off x="763587" y="6084887"/>
            <a:ext cx="142875" cy="7461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98" name="Google Shape;2198;p191"/>
          <p:cNvSpPr txBox="1"/>
          <p:nvPr/>
        </p:nvSpPr>
        <p:spPr>
          <a:xfrm>
            <a:off x="1179512" y="5907087"/>
            <a:ext cx="533400" cy="1365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&lt;&lt;utility&gt;&gt;</a:t>
            </a:r>
            <a:endParaRPr/>
          </a:p>
        </p:txBody>
      </p:sp>
      <p:sp>
        <p:nvSpPr>
          <p:cNvPr id="2199" name="Google Shape;2199;p191"/>
          <p:cNvSpPr txBox="1"/>
          <p:nvPr/>
        </p:nvSpPr>
        <p:spPr>
          <a:xfrm>
            <a:off x="1014412" y="6065837"/>
            <a:ext cx="844550" cy="1365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CatalogueProduits</a:t>
            </a:r>
            <a:endParaRPr/>
          </a:p>
        </p:txBody>
      </p:sp>
      <p:cxnSp>
        <p:nvCxnSpPr>
          <p:cNvPr id="2200" name="Google Shape;2200;p191"/>
          <p:cNvCxnSpPr/>
          <p:nvPr/>
        </p:nvCxnSpPr>
        <p:spPr>
          <a:xfrm flipH="1" rot="10800000">
            <a:off x="1036637" y="5692775"/>
            <a:ext cx="536575" cy="158750"/>
          </a:xfrm>
          <a:prstGeom prst="straightConnector1">
            <a:avLst/>
          </a:prstGeom>
          <a:noFill/>
          <a:ln cap="flat" cmpd="sng" w="9525">
            <a:solidFill>
              <a:schemeClr val="dk1"/>
            </a:solidFill>
            <a:prstDash val="solid"/>
            <a:miter lim="800000"/>
            <a:headEnd len="med" w="med" type="none"/>
            <a:tailEnd len="med" w="med" type="none"/>
          </a:ln>
        </p:spPr>
      </p:cxnSp>
      <p:sp>
        <p:nvSpPr>
          <p:cNvPr id="2201" name="Google Shape;2201;p191"/>
          <p:cNvSpPr txBox="1"/>
          <p:nvPr/>
        </p:nvSpPr>
        <p:spPr>
          <a:xfrm>
            <a:off x="850900" y="5861050"/>
            <a:ext cx="1335087" cy="39211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02" name="Google Shape;2202;p191"/>
          <p:cNvSpPr txBox="1"/>
          <p:nvPr/>
        </p:nvSpPr>
        <p:spPr>
          <a:xfrm>
            <a:off x="763587" y="5935662"/>
            <a:ext cx="152400" cy="84137"/>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03" name="Google Shape;2203;p191"/>
          <p:cNvSpPr txBox="1"/>
          <p:nvPr/>
        </p:nvSpPr>
        <p:spPr>
          <a:xfrm>
            <a:off x="763587" y="5935662"/>
            <a:ext cx="142875" cy="7461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04" name="Google Shape;2204;p191"/>
          <p:cNvSpPr txBox="1"/>
          <p:nvPr/>
        </p:nvSpPr>
        <p:spPr>
          <a:xfrm>
            <a:off x="763587" y="6084887"/>
            <a:ext cx="152400" cy="84137"/>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05" name="Google Shape;2205;p191"/>
          <p:cNvSpPr txBox="1"/>
          <p:nvPr/>
        </p:nvSpPr>
        <p:spPr>
          <a:xfrm>
            <a:off x="763587" y="6084887"/>
            <a:ext cx="142875" cy="7461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06" name="Google Shape;2206;p191"/>
          <p:cNvSpPr txBox="1"/>
          <p:nvPr/>
        </p:nvSpPr>
        <p:spPr>
          <a:xfrm>
            <a:off x="3805237" y="3367087"/>
            <a:ext cx="1533525" cy="39211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07" name="Google Shape;2207;p191"/>
          <p:cNvSpPr txBox="1"/>
          <p:nvPr/>
        </p:nvSpPr>
        <p:spPr>
          <a:xfrm>
            <a:off x="3717925" y="3441700"/>
            <a:ext cx="153987" cy="84137"/>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08" name="Google Shape;2208;p191"/>
          <p:cNvSpPr txBox="1"/>
          <p:nvPr/>
        </p:nvSpPr>
        <p:spPr>
          <a:xfrm>
            <a:off x="3717925" y="3441700"/>
            <a:ext cx="142875" cy="7461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09" name="Google Shape;2209;p191"/>
          <p:cNvSpPr txBox="1"/>
          <p:nvPr/>
        </p:nvSpPr>
        <p:spPr>
          <a:xfrm>
            <a:off x="3717925" y="3590925"/>
            <a:ext cx="153987" cy="84137"/>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10" name="Google Shape;2210;p191"/>
          <p:cNvSpPr txBox="1"/>
          <p:nvPr/>
        </p:nvSpPr>
        <p:spPr>
          <a:xfrm>
            <a:off x="3717925" y="3590925"/>
            <a:ext cx="142875" cy="7461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11" name="Google Shape;2211;p191"/>
          <p:cNvSpPr txBox="1"/>
          <p:nvPr/>
        </p:nvSpPr>
        <p:spPr>
          <a:xfrm>
            <a:off x="1836737" y="3367087"/>
            <a:ext cx="1652587" cy="39211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12" name="Google Shape;2212;p191"/>
          <p:cNvSpPr txBox="1"/>
          <p:nvPr/>
        </p:nvSpPr>
        <p:spPr>
          <a:xfrm>
            <a:off x="1747837" y="3441700"/>
            <a:ext cx="153987" cy="84137"/>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13" name="Google Shape;2213;p191"/>
          <p:cNvSpPr txBox="1"/>
          <p:nvPr/>
        </p:nvSpPr>
        <p:spPr>
          <a:xfrm>
            <a:off x="1747837" y="3441700"/>
            <a:ext cx="142875" cy="7461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14" name="Google Shape;2214;p191"/>
          <p:cNvSpPr txBox="1"/>
          <p:nvPr/>
        </p:nvSpPr>
        <p:spPr>
          <a:xfrm>
            <a:off x="1747837" y="3590925"/>
            <a:ext cx="153987" cy="84137"/>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15" name="Google Shape;2215;p191"/>
          <p:cNvSpPr txBox="1"/>
          <p:nvPr/>
        </p:nvSpPr>
        <p:spPr>
          <a:xfrm>
            <a:off x="1747837" y="3590925"/>
            <a:ext cx="142875" cy="7461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16" name="Google Shape;2216;p191"/>
          <p:cNvSpPr/>
          <p:nvPr/>
        </p:nvSpPr>
        <p:spPr>
          <a:xfrm>
            <a:off x="3203575" y="4489450"/>
            <a:ext cx="2363787" cy="1066800"/>
          </a:xfrm>
          <a:custGeom>
            <a:rect b="b" l="l" r="r" t="t"/>
            <a:pathLst>
              <a:path extrusionOk="0" h="672" w="1489">
                <a:moveTo>
                  <a:pt x="0" y="0"/>
                </a:moveTo>
                <a:lnTo>
                  <a:pt x="690" y="672"/>
                </a:lnTo>
                <a:lnTo>
                  <a:pt x="1489" y="672"/>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17" name="Google Shape;2217;p191"/>
          <p:cNvSpPr txBox="1"/>
          <p:nvPr/>
        </p:nvSpPr>
        <p:spPr>
          <a:xfrm>
            <a:off x="3849687" y="4910137"/>
            <a:ext cx="209550" cy="1365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900"/>
              <a:buFont typeface="Times New Roman"/>
              <a:buNone/>
            </a:pPr>
            <a:r>
              <a:rPr b="0" i="1" lang="en-US" sz="900" u="none">
                <a:solidFill>
                  <a:schemeClr val="dk1"/>
                </a:solidFill>
                <a:latin typeface="Times New Roman"/>
                <a:ea typeface="Times New Roman"/>
                <a:cs typeface="Times New Roman"/>
                <a:sym typeface="Times New Roman"/>
              </a:rPr>
              <a:t>LAN</a:t>
            </a:r>
            <a:endParaRPr/>
          </a:p>
        </p:txBody>
      </p:sp>
      <p:sp>
        <p:nvSpPr>
          <p:cNvPr id="2218" name="Google Shape;2218;p191"/>
          <p:cNvSpPr txBox="1"/>
          <p:nvPr/>
        </p:nvSpPr>
        <p:spPr>
          <a:xfrm>
            <a:off x="3192462" y="4573587"/>
            <a:ext cx="57150" cy="1365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1</a:t>
            </a:r>
            <a:endParaRPr/>
          </a:p>
        </p:txBody>
      </p:sp>
      <p:sp>
        <p:nvSpPr>
          <p:cNvPr id="2219" name="Google Shape;2219;p191"/>
          <p:cNvSpPr txBox="1"/>
          <p:nvPr/>
        </p:nvSpPr>
        <p:spPr>
          <a:xfrm>
            <a:off x="5249862" y="5613400"/>
            <a:ext cx="171450" cy="1365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1..*</a:t>
            </a:r>
            <a:endParaRPr/>
          </a:p>
        </p:txBody>
      </p:sp>
      <p:cxnSp>
        <p:nvCxnSpPr>
          <p:cNvPr id="2220" name="Google Shape;2220;p191"/>
          <p:cNvCxnSpPr/>
          <p:nvPr/>
        </p:nvCxnSpPr>
        <p:spPr>
          <a:xfrm>
            <a:off x="1846262" y="4489450"/>
            <a:ext cx="3175" cy="635000"/>
          </a:xfrm>
          <a:prstGeom prst="straightConnector1">
            <a:avLst/>
          </a:prstGeom>
          <a:noFill/>
          <a:ln cap="flat" cmpd="sng" w="9525">
            <a:solidFill>
              <a:schemeClr val="dk1"/>
            </a:solidFill>
            <a:prstDash val="solid"/>
            <a:miter lim="800000"/>
            <a:headEnd len="med" w="med" type="none"/>
            <a:tailEnd len="med" w="med" type="none"/>
          </a:ln>
        </p:spPr>
      </p:cxnSp>
      <p:sp>
        <p:nvSpPr>
          <p:cNvPr id="2221" name="Google Shape;2221;p191"/>
          <p:cNvSpPr txBox="1"/>
          <p:nvPr/>
        </p:nvSpPr>
        <p:spPr>
          <a:xfrm>
            <a:off x="1890712" y="4703762"/>
            <a:ext cx="209550" cy="1365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900"/>
              <a:buFont typeface="Times New Roman"/>
              <a:buNone/>
            </a:pPr>
            <a:r>
              <a:rPr b="0" i="1" lang="en-US" sz="900" u="none">
                <a:solidFill>
                  <a:schemeClr val="dk1"/>
                </a:solidFill>
                <a:latin typeface="Times New Roman"/>
                <a:ea typeface="Times New Roman"/>
                <a:cs typeface="Times New Roman"/>
                <a:sym typeface="Times New Roman"/>
              </a:rPr>
              <a:t>LAN</a:t>
            </a:r>
            <a:endParaRPr/>
          </a:p>
        </p:txBody>
      </p:sp>
      <p:sp>
        <p:nvSpPr>
          <p:cNvPr id="2222" name="Google Shape;2222;p191"/>
          <p:cNvSpPr txBox="1"/>
          <p:nvPr/>
        </p:nvSpPr>
        <p:spPr>
          <a:xfrm>
            <a:off x="1693862" y="4564062"/>
            <a:ext cx="57150" cy="1365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1</a:t>
            </a:r>
            <a:endParaRPr/>
          </a:p>
        </p:txBody>
      </p:sp>
      <p:sp>
        <p:nvSpPr>
          <p:cNvPr id="2223" name="Google Shape;2223;p191"/>
          <p:cNvSpPr txBox="1"/>
          <p:nvPr/>
        </p:nvSpPr>
        <p:spPr>
          <a:xfrm>
            <a:off x="1670050" y="4994275"/>
            <a:ext cx="57150" cy="1365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900"/>
              <a:buFont typeface="Times New Roman"/>
              <a:buNone/>
            </a:pPr>
            <a:r>
              <a:rPr b="0" i="0" lang="en-US" sz="900" u="none">
                <a:solidFill>
                  <a:schemeClr val="dk1"/>
                </a:solidFill>
                <a:latin typeface="Times New Roman"/>
                <a:ea typeface="Times New Roman"/>
                <a:cs typeface="Times New Roman"/>
                <a:sym typeface="Times New Roman"/>
              </a:rPr>
              <a:t>1</a:t>
            </a:r>
            <a:endParaRPr/>
          </a:p>
        </p:txBody>
      </p:sp>
      <p:cxnSp>
        <p:nvCxnSpPr>
          <p:cNvPr id="2224" name="Google Shape;2224;p191"/>
          <p:cNvCxnSpPr/>
          <p:nvPr/>
        </p:nvCxnSpPr>
        <p:spPr>
          <a:xfrm flipH="1">
            <a:off x="2187575" y="3759200"/>
            <a:ext cx="173037" cy="1614487"/>
          </a:xfrm>
          <a:prstGeom prst="straightConnector1">
            <a:avLst/>
          </a:prstGeom>
          <a:noFill/>
          <a:ln cap="flat" cmpd="sng" w="11100">
            <a:solidFill>
              <a:schemeClr val="dk1"/>
            </a:solidFill>
            <a:prstDash val="solid"/>
            <a:miter lim="800000"/>
            <a:headEnd len="med" w="med" type="none"/>
            <a:tailEnd len="med" w="med" type="none"/>
          </a:ln>
        </p:spPr>
      </p:cxnSp>
      <p:sp>
        <p:nvSpPr>
          <p:cNvPr id="2225" name="Google Shape;2225;p191"/>
          <p:cNvSpPr/>
          <p:nvPr/>
        </p:nvSpPr>
        <p:spPr>
          <a:xfrm>
            <a:off x="2163762" y="5308600"/>
            <a:ext cx="87312" cy="74612"/>
          </a:xfrm>
          <a:custGeom>
            <a:rect b="b" l="l" r="r" t="t"/>
            <a:pathLst>
              <a:path extrusionOk="0" h="47" w="55">
                <a:moveTo>
                  <a:pt x="0" y="0"/>
                </a:moveTo>
                <a:lnTo>
                  <a:pt x="21" y="47"/>
                </a:lnTo>
                <a:lnTo>
                  <a:pt x="55"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2226" name="Google Shape;2226;p191"/>
          <p:cNvCxnSpPr/>
          <p:nvPr/>
        </p:nvCxnSpPr>
        <p:spPr>
          <a:xfrm flipH="1" rot="10800000">
            <a:off x="1036637" y="5692775"/>
            <a:ext cx="536575" cy="158750"/>
          </a:xfrm>
          <a:prstGeom prst="straightConnector1">
            <a:avLst/>
          </a:prstGeom>
          <a:noFill/>
          <a:ln cap="flat" cmpd="sng" w="9525">
            <a:solidFill>
              <a:schemeClr val="dk1"/>
            </a:solidFill>
            <a:prstDash val="solid"/>
            <a:miter lim="800000"/>
            <a:headEnd len="med" w="med" type="none"/>
            <a:tailEnd len="med" w="med" type="none"/>
          </a:ln>
        </p:spPr>
      </p:cxnSp>
      <p:cxnSp>
        <p:nvCxnSpPr>
          <p:cNvPr id="2227" name="Google Shape;2227;p191"/>
          <p:cNvCxnSpPr/>
          <p:nvPr/>
        </p:nvCxnSpPr>
        <p:spPr>
          <a:xfrm flipH="1" rot="10800000">
            <a:off x="4725987" y="2917825"/>
            <a:ext cx="447675" cy="439737"/>
          </a:xfrm>
          <a:prstGeom prst="straightConnector1">
            <a:avLst/>
          </a:prstGeom>
          <a:noFill/>
          <a:ln cap="flat" cmpd="sng" w="9525">
            <a:solidFill>
              <a:schemeClr val="dk1"/>
            </a:solidFill>
            <a:prstDash val="solid"/>
            <a:miter lim="800000"/>
            <a:headEnd len="med" w="med" type="none"/>
            <a:tailEnd len="med" w="med" type="none"/>
          </a:ln>
        </p:spPr>
      </p:cxnSp>
      <p:sp>
        <p:nvSpPr>
          <p:cNvPr id="2228" name="Google Shape;2228;p191"/>
          <p:cNvSpPr txBox="1"/>
          <p:nvPr/>
        </p:nvSpPr>
        <p:spPr>
          <a:xfrm>
            <a:off x="7000875" y="3367087"/>
            <a:ext cx="1292225" cy="37465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29" name="Google Shape;2229;p191"/>
          <p:cNvSpPr txBox="1"/>
          <p:nvPr/>
        </p:nvSpPr>
        <p:spPr>
          <a:xfrm>
            <a:off x="6913562" y="3441700"/>
            <a:ext cx="153987" cy="84137"/>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30" name="Google Shape;2230;p191"/>
          <p:cNvSpPr txBox="1"/>
          <p:nvPr/>
        </p:nvSpPr>
        <p:spPr>
          <a:xfrm>
            <a:off x="6913562" y="3441700"/>
            <a:ext cx="142875" cy="7461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31" name="Google Shape;2231;p191"/>
          <p:cNvSpPr txBox="1"/>
          <p:nvPr/>
        </p:nvSpPr>
        <p:spPr>
          <a:xfrm>
            <a:off x="6913562" y="3590925"/>
            <a:ext cx="153987" cy="84137"/>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32" name="Google Shape;2232;p191"/>
          <p:cNvSpPr txBox="1"/>
          <p:nvPr/>
        </p:nvSpPr>
        <p:spPr>
          <a:xfrm>
            <a:off x="6913562" y="3590925"/>
            <a:ext cx="142875" cy="7461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33" name="Google Shape;2233;p191"/>
          <p:cNvSpPr txBox="1"/>
          <p:nvPr/>
        </p:nvSpPr>
        <p:spPr>
          <a:xfrm>
            <a:off x="7439025" y="5368925"/>
            <a:ext cx="919162" cy="39370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34" name="Google Shape;2234;p191"/>
          <p:cNvSpPr txBox="1"/>
          <p:nvPr/>
        </p:nvSpPr>
        <p:spPr>
          <a:xfrm>
            <a:off x="7351712" y="5445125"/>
            <a:ext cx="153987" cy="84137"/>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35" name="Google Shape;2235;p191"/>
          <p:cNvSpPr txBox="1"/>
          <p:nvPr/>
        </p:nvSpPr>
        <p:spPr>
          <a:xfrm>
            <a:off x="7351712" y="5445125"/>
            <a:ext cx="142875" cy="7461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36" name="Google Shape;2236;p191"/>
          <p:cNvSpPr txBox="1"/>
          <p:nvPr/>
        </p:nvSpPr>
        <p:spPr>
          <a:xfrm>
            <a:off x="7351712" y="5594350"/>
            <a:ext cx="153987" cy="84137"/>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37" name="Google Shape;2237;p191"/>
          <p:cNvSpPr txBox="1"/>
          <p:nvPr/>
        </p:nvSpPr>
        <p:spPr>
          <a:xfrm>
            <a:off x="7351712" y="5594350"/>
            <a:ext cx="142875" cy="7461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2238" name="Google Shape;2238;p191"/>
          <p:cNvCxnSpPr/>
          <p:nvPr/>
        </p:nvCxnSpPr>
        <p:spPr>
          <a:xfrm flipH="1" rot="10800000">
            <a:off x="6257925" y="2917825"/>
            <a:ext cx="382587" cy="439737"/>
          </a:xfrm>
          <a:prstGeom prst="straightConnector1">
            <a:avLst/>
          </a:prstGeom>
          <a:noFill/>
          <a:ln cap="flat" cmpd="sng" w="11100">
            <a:solidFill>
              <a:schemeClr val="dk1"/>
            </a:solidFill>
            <a:prstDash val="solid"/>
            <a:miter lim="800000"/>
            <a:headEnd len="med" w="med" type="none"/>
            <a:tailEnd len="med" w="med" type="none"/>
          </a:ln>
        </p:spPr>
      </p:cxnSp>
      <p:sp>
        <p:nvSpPr>
          <p:cNvPr id="2239" name="Google Shape;2239;p191"/>
          <p:cNvSpPr/>
          <p:nvPr/>
        </p:nvSpPr>
        <p:spPr>
          <a:xfrm>
            <a:off x="6553200" y="2917825"/>
            <a:ext cx="87312" cy="74612"/>
          </a:xfrm>
          <a:custGeom>
            <a:rect b="b" l="l" r="r" t="t"/>
            <a:pathLst>
              <a:path extrusionOk="0" h="47" w="55">
                <a:moveTo>
                  <a:pt x="41" y="47"/>
                </a:moveTo>
                <a:lnTo>
                  <a:pt x="55" y="0"/>
                </a:lnTo>
                <a:lnTo>
                  <a:pt x="0" y="23"/>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2240" name="Google Shape;2240;p191"/>
          <p:cNvCxnSpPr/>
          <p:nvPr/>
        </p:nvCxnSpPr>
        <p:spPr>
          <a:xfrm>
            <a:off x="6159500" y="3759200"/>
            <a:ext cx="31750" cy="346075"/>
          </a:xfrm>
          <a:prstGeom prst="straightConnector1">
            <a:avLst/>
          </a:prstGeom>
          <a:noFill/>
          <a:ln cap="flat" cmpd="sng" w="9525">
            <a:solidFill>
              <a:schemeClr val="dk1"/>
            </a:solidFill>
            <a:prstDash val="solid"/>
            <a:miter lim="800000"/>
            <a:headEnd len="med" w="med" type="none"/>
            <a:tailEnd len="med" w="med" type="none"/>
          </a:ln>
        </p:spPr>
      </p:cxnSp>
      <p:cxnSp>
        <p:nvCxnSpPr>
          <p:cNvPr id="2241" name="Google Shape;2241;p191"/>
          <p:cNvCxnSpPr/>
          <p:nvPr/>
        </p:nvCxnSpPr>
        <p:spPr>
          <a:xfrm rot="10800000">
            <a:off x="6946900" y="2917825"/>
            <a:ext cx="460375" cy="439737"/>
          </a:xfrm>
          <a:prstGeom prst="straightConnector1">
            <a:avLst/>
          </a:prstGeom>
          <a:noFill/>
          <a:ln cap="flat" cmpd="sng" w="9525">
            <a:solidFill>
              <a:schemeClr val="dk1"/>
            </a:solidFill>
            <a:prstDash val="solid"/>
            <a:miter lim="800000"/>
            <a:headEnd len="med" w="med" type="none"/>
            <a:tailEnd len="med" w="med" type="none"/>
          </a:ln>
        </p:spPr>
      </p:cxnSp>
      <p:cxnSp>
        <p:nvCxnSpPr>
          <p:cNvPr id="2242" name="Google Shape;2242;p191"/>
          <p:cNvCxnSpPr/>
          <p:nvPr/>
        </p:nvCxnSpPr>
        <p:spPr>
          <a:xfrm rot="10800000">
            <a:off x="6213475" y="4452937"/>
            <a:ext cx="44450" cy="915987"/>
          </a:xfrm>
          <a:prstGeom prst="straightConnector1">
            <a:avLst/>
          </a:prstGeom>
          <a:noFill/>
          <a:ln cap="flat" cmpd="sng" w="11100">
            <a:solidFill>
              <a:schemeClr val="dk1"/>
            </a:solidFill>
            <a:prstDash val="solid"/>
            <a:miter lim="800000"/>
            <a:headEnd len="med" w="med" type="none"/>
            <a:tailEnd len="med" w="med" type="none"/>
          </a:ln>
        </p:spPr>
      </p:cxnSp>
      <p:sp>
        <p:nvSpPr>
          <p:cNvPr id="2243" name="Google Shape;2243;p191"/>
          <p:cNvSpPr/>
          <p:nvPr/>
        </p:nvSpPr>
        <p:spPr>
          <a:xfrm>
            <a:off x="6170612" y="4452937"/>
            <a:ext cx="87312" cy="74612"/>
          </a:xfrm>
          <a:custGeom>
            <a:rect b="b" l="l" r="r" t="t"/>
            <a:pathLst>
              <a:path extrusionOk="0" h="47" w="55">
                <a:moveTo>
                  <a:pt x="55" y="47"/>
                </a:moveTo>
                <a:lnTo>
                  <a:pt x="27" y="0"/>
                </a:lnTo>
                <a:lnTo>
                  <a:pt x="0" y="47"/>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2244" name="Google Shape;2244;p191"/>
          <p:cNvCxnSpPr/>
          <p:nvPr/>
        </p:nvCxnSpPr>
        <p:spPr>
          <a:xfrm>
            <a:off x="6848475" y="5565775"/>
            <a:ext cx="558800" cy="1587"/>
          </a:xfrm>
          <a:prstGeom prst="straightConnector1">
            <a:avLst/>
          </a:prstGeom>
          <a:noFill/>
          <a:ln cap="flat" cmpd="sng" w="11100">
            <a:solidFill>
              <a:schemeClr val="dk1"/>
            </a:solidFill>
            <a:prstDash val="solid"/>
            <a:miter lim="800000"/>
            <a:headEnd len="med" w="med" type="none"/>
            <a:tailEnd len="med" w="med" type="none"/>
          </a:ln>
        </p:spPr>
      </p:cxnSp>
      <p:sp>
        <p:nvSpPr>
          <p:cNvPr id="2245" name="Google Shape;2245;p191"/>
          <p:cNvSpPr/>
          <p:nvPr/>
        </p:nvSpPr>
        <p:spPr>
          <a:xfrm>
            <a:off x="7318375" y="5529262"/>
            <a:ext cx="88900" cy="74612"/>
          </a:xfrm>
          <a:custGeom>
            <a:rect b="b" l="l" r="r" t="t"/>
            <a:pathLst>
              <a:path extrusionOk="0" h="47" w="56">
                <a:moveTo>
                  <a:pt x="0" y="0"/>
                </a:moveTo>
                <a:lnTo>
                  <a:pt x="56" y="23"/>
                </a:lnTo>
                <a:lnTo>
                  <a:pt x="0" y="47"/>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46" name="Google Shape;2246;p191"/>
          <p:cNvSpPr/>
          <p:nvPr/>
        </p:nvSpPr>
        <p:spPr>
          <a:xfrm>
            <a:off x="2095500" y="5381625"/>
            <a:ext cx="171450" cy="133350"/>
          </a:xfrm>
          <a:prstGeom prst="ellipse">
            <a:avLst/>
          </a:prstGeom>
          <a:noFill/>
          <a:ln cap="flat" cmpd="sng" w="9525">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47" name="Google Shape;2247;p191"/>
          <p:cNvSpPr/>
          <p:nvPr/>
        </p:nvSpPr>
        <p:spPr>
          <a:xfrm>
            <a:off x="6705600" y="2695575"/>
            <a:ext cx="171450" cy="133350"/>
          </a:xfrm>
          <a:prstGeom prst="ellipse">
            <a:avLst/>
          </a:prstGeom>
          <a:noFill/>
          <a:ln cap="flat" cmpd="sng" w="9525">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48" name="Google Shape;2248;p191"/>
          <p:cNvSpPr/>
          <p:nvPr/>
        </p:nvSpPr>
        <p:spPr>
          <a:xfrm>
            <a:off x="5172075" y="2676525"/>
            <a:ext cx="171450" cy="133350"/>
          </a:xfrm>
          <a:prstGeom prst="ellipse">
            <a:avLst/>
          </a:prstGeom>
          <a:noFill/>
          <a:ln cap="flat" cmpd="sng" w="9525">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49" name="Google Shape;2249;p191"/>
          <p:cNvSpPr/>
          <p:nvPr/>
        </p:nvSpPr>
        <p:spPr>
          <a:xfrm>
            <a:off x="6105525" y="4143375"/>
            <a:ext cx="171450" cy="133350"/>
          </a:xfrm>
          <a:prstGeom prst="ellipse">
            <a:avLst/>
          </a:prstGeom>
          <a:noFill/>
          <a:ln cap="flat" cmpd="sng" w="9525">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7">
                                            <p:txEl>
                                              <p:pRg end="0" st="0"/>
                                            </p:txEl>
                                          </p:spTgt>
                                        </p:tgtEl>
                                        <p:attrNameLst>
                                          <p:attrName>style.visibility</p:attrName>
                                        </p:attrNameLst>
                                      </p:cBhvr>
                                      <p:to>
                                        <p:strVal val="visible"/>
                                      </p:to>
                                    </p:set>
                                    <p:animEffect filter="fade" transition="in">
                                      <p:cBhvr>
                                        <p:cTn dur="500"/>
                                        <p:tgtEl>
                                          <p:spTgt spid="211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4" name="Shape 2254"/>
        <p:cNvGrpSpPr/>
        <p:nvPr/>
      </p:nvGrpSpPr>
      <p:grpSpPr>
        <a:xfrm>
          <a:off x="0" y="0"/>
          <a:ext cx="0" cy="0"/>
          <a:chOff x="0" y="0"/>
          <a:chExt cx="0" cy="0"/>
        </a:xfrm>
      </p:grpSpPr>
      <p:sp>
        <p:nvSpPr>
          <p:cNvPr id="2255" name="Google Shape;2255;p19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Diagramme de déploiement </a:t>
            </a:r>
            <a:endParaRPr/>
          </a:p>
        </p:txBody>
      </p:sp>
      <p:sp>
        <p:nvSpPr>
          <p:cNvPr id="2256" name="Google Shape;2256;p192"/>
          <p:cNvSpPr txBox="1"/>
          <p:nvPr/>
        </p:nvSpPr>
        <p:spPr>
          <a:xfrm>
            <a:off x="5314950" y="2667000"/>
            <a:ext cx="1625600" cy="27463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990000"/>
              </a:buClr>
              <a:buSzPts val="1800"/>
              <a:buFont typeface="Times New Roman"/>
              <a:buNone/>
            </a:pPr>
            <a:r>
              <a:rPr b="1" i="0" lang="en-US" sz="1800" u="none">
                <a:solidFill>
                  <a:srgbClr val="990000"/>
                </a:solidFill>
                <a:latin typeface="Times New Roman"/>
                <a:ea typeface="Times New Roman"/>
                <a:cs typeface="Times New Roman"/>
                <a:sym typeface="Times New Roman"/>
              </a:rPr>
              <a:t>Base de Données</a:t>
            </a:r>
            <a:endParaRPr/>
          </a:p>
        </p:txBody>
      </p:sp>
      <p:grpSp>
        <p:nvGrpSpPr>
          <p:cNvPr id="2257" name="Google Shape;2257;p192"/>
          <p:cNvGrpSpPr/>
          <p:nvPr/>
        </p:nvGrpSpPr>
        <p:grpSpPr>
          <a:xfrm>
            <a:off x="3313112" y="5008562"/>
            <a:ext cx="2782887" cy="1163637"/>
            <a:chOff x="2087" y="3443"/>
            <a:chExt cx="1753" cy="733"/>
          </a:xfrm>
        </p:grpSpPr>
        <p:sp>
          <p:nvSpPr>
            <p:cNvPr id="2258" name="Google Shape;2258;p192"/>
            <p:cNvSpPr/>
            <p:nvPr/>
          </p:nvSpPr>
          <p:spPr>
            <a:xfrm>
              <a:off x="2087" y="3443"/>
              <a:ext cx="1753" cy="733"/>
            </a:xfrm>
            <a:custGeom>
              <a:rect b="b" l="l" r="r" t="t"/>
              <a:pathLst>
                <a:path extrusionOk="0" h="645" w="1479">
                  <a:moveTo>
                    <a:pt x="0" y="128"/>
                  </a:moveTo>
                  <a:lnTo>
                    <a:pt x="133" y="0"/>
                  </a:lnTo>
                  <a:lnTo>
                    <a:pt x="1479" y="0"/>
                  </a:lnTo>
                  <a:lnTo>
                    <a:pt x="1346" y="128"/>
                  </a:lnTo>
                  <a:lnTo>
                    <a:pt x="1479" y="0"/>
                  </a:lnTo>
                  <a:lnTo>
                    <a:pt x="1479" y="517"/>
                  </a:lnTo>
                  <a:lnTo>
                    <a:pt x="1346" y="645"/>
                  </a:lnTo>
                </a:path>
              </a:pathLst>
            </a:custGeom>
            <a:solidFill>
              <a:srgbClr val="FFCC99"/>
            </a:solidFill>
            <a:ln cap="flat" cmpd="sng" w="9525">
              <a:solidFill>
                <a:srgbClr val="99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59" name="Google Shape;2259;p192"/>
            <p:cNvSpPr txBox="1"/>
            <p:nvPr/>
          </p:nvSpPr>
          <p:spPr>
            <a:xfrm>
              <a:off x="2087" y="3571"/>
              <a:ext cx="1604" cy="595"/>
            </a:xfrm>
            <a:prstGeom prst="rect">
              <a:avLst/>
            </a:prstGeom>
            <a:solidFill>
              <a:srgbClr val="FFCC99"/>
            </a:solidFill>
            <a:ln cap="flat" cmpd="sng" w="9525">
              <a:solidFill>
                <a:srgbClr val="99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60" name="Google Shape;2260;p192"/>
            <p:cNvSpPr txBox="1"/>
            <p:nvPr/>
          </p:nvSpPr>
          <p:spPr>
            <a:xfrm>
              <a:off x="2205" y="3606"/>
              <a:ext cx="376" cy="17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990000"/>
                </a:buClr>
                <a:buSzPts val="1800"/>
                <a:buFont typeface="Times New Roman"/>
                <a:buNone/>
              </a:pPr>
              <a:r>
                <a:rPr b="1" i="0" lang="en-US" sz="1800" u="none">
                  <a:solidFill>
                    <a:srgbClr val="990000"/>
                  </a:solidFill>
                  <a:latin typeface="Times New Roman"/>
                  <a:ea typeface="Times New Roman"/>
                  <a:cs typeface="Times New Roman"/>
                  <a:sym typeface="Times New Roman"/>
                </a:rPr>
                <a:t>Client</a:t>
              </a:r>
              <a:endParaRPr/>
            </a:p>
          </p:txBody>
        </p:sp>
        <p:sp>
          <p:nvSpPr>
            <p:cNvPr id="2261" name="Google Shape;2261;p192"/>
            <p:cNvSpPr txBox="1"/>
            <p:nvPr/>
          </p:nvSpPr>
          <p:spPr>
            <a:xfrm>
              <a:off x="2597" y="3727"/>
              <a:ext cx="798" cy="322"/>
            </a:xfrm>
            <a:prstGeom prst="rect">
              <a:avLst/>
            </a:prstGeom>
            <a:solidFill>
              <a:srgbClr val="FFCC99"/>
            </a:solidFill>
            <a:ln cap="flat" cmpd="sng" w="9525">
              <a:solidFill>
                <a:srgbClr val="99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62" name="Google Shape;2262;p192"/>
            <p:cNvSpPr txBox="1"/>
            <p:nvPr/>
          </p:nvSpPr>
          <p:spPr>
            <a:xfrm>
              <a:off x="2538" y="3783"/>
              <a:ext cx="123" cy="73"/>
            </a:xfrm>
            <a:prstGeom prst="rect">
              <a:avLst/>
            </a:prstGeom>
            <a:solidFill>
              <a:srgbClr val="FFCC99"/>
            </a:solidFill>
            <a:ln cap="flat" cmpd="sng" w="9525">
              <a:solidFill>
                <a:srgbClr val="99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63" name="Google Shape;2263;p192"/>
            <p:cNvSpPr txBox="1"/>
            <p:nvPr/>
          </p:nvSpPr>
          <p:spPr>
            <a:xfrm>
              <a:off x="2538" y="3783"/>
              <a:ext cx="113" cy="65"/>
            </a:xfrm>
            <a:prstGeom prst="rect">
              <a:avLst/>
            </a:prstGeom>
            <a:solidFill>
              <a:srgbClr val="FFCC99"/>
            </a:solidFill>
            <a:ln cap="flat" cmpd="sng" w="9525">
              <a:solidFill>
                <a:srgbClr val="99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64" name="Google Shape;2264;p192"/>
            <p:cNvSpPr txBox="1"/>
            <p:nvPr/>
          </p:nvSpPr>
          <p:spPr>
            <a:xfrm>
              <a:off x="2538" y="3897"/>
              <a:ext cx="123" cy="72"/>
            </a:xfrm>
            <a:prstGeom prst="rect">
              <a:avLst/>
            </a:prstGeom>
            <a:solidFill>
              <a:srgbClr val="FFCC99"/>
            </a:solidFill>
            <a:ln cap="flat" cmpd="sng" w="9525">
              <a:solidFill>
                <a:srgbClr val="99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65" name="Google Shape;2265;p192"/>
            <p:cNvSpPr txBox="1"/>
            <p:nvPr/>
          </p:nvSpPr>
          <p:spPr>
            <a:xfrm>
              <a:off x="2538" y="3897"/>
              <a:ext cx="113" cy="63"/>
            </a:xfrm>
            <a:prstGeom prst="rect">
              <a:avLst/>
            </a:prstGeom>
            <a:solidFill>
              <a:srgbClr val="FFCC99"/>
            </a:solidFill>
            <a:ln cap="flat" cmpd="sng" w="9525">
              <a:solidFill>
                <a:srgbClr val="99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66" name="Google Shape;2266;p192"/>
            <p:cNvSpPr txBox="1"/>
            <p:nvPr/>
          </p:nvSpPr>
          <p:spPr>
            <a:xfrm>
              <a:off x="2834" y="3804"/>
              <a:ext cx="310" cy="179"/>
            </a:xfrm>
            <a:prstGeom prst="rect">
              <a:avLst/>
            </a:prstGeom>
            <a:solidFill>
              <a:srgbClr val="FFCC99"/>
            </a:solidFill>
            <a:ln cap="flat" cmpd="sng" w="9525">
              <a:solidFill>
                <a:srgbClr val="990000"/>
              </a:solidFill>
              <a:prstDash val="solid"/>
              <a:miter lim="800000"/>
              <a:headEnd len="sm" w="sm" type="none"/>
              <a:tailEnd len="sm" w="sm" type="none"/>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990000"/>
                </a:buClr>
                <a:buSzPts val="1800"/>
                <a:buFont typeface="Times New Roman"/>
                <a:buNone/>
              </a:pPr>
              <a:r>
                <a:rPr b="1" i="0" lang="en-US" sz="1800" u="none">
                  <a:solidFill>
                    <a:srgbClr val="990000"/>
                  </a:solidFill>
                  <a:latin typeface="Times New Roman"/>
                  <a:ea typeface="Times New Roman"/>
                  <a:cs typeface="Times New Roman"/>
                  <a:sym typeface="Times New Roman"/>
                </a:rPr>
                <a:t>IHM</a:t>
              </a:r>
              <a:endParaRPr/>
            </a:p>
          </p:txBody>
        </p:sp>
        <p:sp>
          <p:nvSpPr>
            <p:cNvPr id="2267" name="Google Shape;2267;p192"/>
            <p:cNvSpPr txBox="1"/>
            <p:nvPr/>
          </p:nvSpPr>
          <p:spPr>
            <a:xfrm>
              <a:off x="2597" y="3727"/>
              <a:ext cx="798" cy="322"/>
            </a:xfrm>
            <a:prstGeom prst="rect">
              <a:avLst/>
            </a:prstGeom>
            <a:solidFill>
              <a:srgbClr val="FFCC99"/>
            </a:solidFill>
            <a:ln cap="flat" cmpd="sng" w="9525">
              <a:solidFill>
                <a:srgbClr val="99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68" name="Google Shape;2268;p192"/>
            <p:cNvSpPr txBox="1"/>
            <p:nvPr/>
          </p:nvSpPr>
          <p:spPr>
            <a:xfrm>
              <a:off x="2538" y="3783"/>
              <a:ext cx="123" cy="73"/>
            </a:xfrm>
            <a:prstGeom prst="rect">
              <a:avLst/>
            </a:prstGeom>
            <a:solidFill>
              <a:srgbClr val="FFCC99"/>
            </a:solidFill>
            <a:ln cap="flat" cmpd="sng" w="9525">
              <a:solidFill>
                <a:srgbClr val="99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69" name="Google Shape;2269;p192"/>
            <p:cNvSpPr txBox="1"/>
            <p:nvPr/>
          </p:nvSpPr>
          <p:spPr>
            <a:xfrm>
              <a:off x="2538" y="3783"/>
              <a:ext cx="113" cy="65"/>
            </a:xfrm>
            <a:prstGeom prst="rect">
              <a:avLst/>
            </a:prstGeom>
            <a:solidFill>
              <a:srgbClr val="FFCC99"/>
            </a:solidFill>
            <a:ln cap="flat" cmpd="sng" w="9525">
              <a:solidFill>
                <a:srgbClr val="99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70" name="Google Shape;2270;p192"/>
            <p:cNvSpPr txBox="1"/>
            <p:nvPr/>
          </p:nvSpPr>
          <p:spPr>
            <a:xfrm>
              <a:off x="2538" y="3897"/>
              <a:ext cx="123" cy="72"/>
            </a:xfrm>
            <a:prstGeom prst="rect">
              <a:avLst/>
            </a:prstGeom>
            <a:solidFill>
              <a:srgbClr val="FFCC99"/>
            </a:solidFill>
            <a:ln cap="flat" cmpd="sng" w="9525">
              <a:solidFill>
                <a:srgbClr val="99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71" name="Google Shape;2271;p192"/>
            <p:cNvSpPr txBox="1"/>
            <p:nvPr/>
          </p:nvSpPr>
          <p:spPr>
            <a:xfrm>
              <a:off x="2538" y="3897"/>
              <a:ext cx="113" cy="63"/>
            </a:xfrm>
            <a:prstGeom prst="rect">
              <a:avLst/>
            </a:prstGeom>
            <a:solidFill>
              <a:srgbClr val="FFCC99"/>
            </a:solidFill>
            <a:ln cap="flat" cmpd="sng" w="9525">
              <a:solidFill>
                <a:srgbClr val="99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72" name="Google Shape;2272;p192"/>
            <p:cNvSpPr txBox="1"/>
            <p:nvPr/>
          </p:nvSpPr>
          <p:spPr>
            <a:xfrm>
              <a:off x="2834" y="3804"/>
              <a:ext cx="304" cy="173"/>
            </a:xfrm>
            <a:prstGeom prst="rect">
              <a:avLst/>
            </a:prstGeom>
            <a:solidFill>
              <a:srgbClr val="FFCC99"/>
            </a:solid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990000"/>
                </a:buClr>
                <a:buSzPts val="1800"/>
                <a:buFont typeface="Times New Roman"/>
                <a:buNone/>
              </a:pPr>
              <a:r>
                <a:rPr b="1" i="0" lang="en-US" sz="1800" u="none">
                  <a:solidFill>
                    <a:srgbClr val="990000"/>
                  </a:solidFill>
                  <a:latin typeface="Times New Roman"/>
                  <a:ea typeface="Times New Roman"/>
                  <a:cs typeface="Times New Roman"/>
                  <a:sym typeface="Times New Roman"/>
                </a:rPr>
                <a:t>IHM</a:t>
              </a:r>
              <a:endParaRPr/>
            </a:p>
          </p:txBody>
        </p:sp>
      </p:grpSp>
      <p:cxnSp>
        <p:nvCxnSpPr>
          <p:cNvPr id="2273" name="Google Shape;2273;p192"/>
          <p:cNvCxnSpPr/>
          <p:nvPr/>
        </p:nvCxnSpPr>
        <p:spPr>
          <a:xfrm>
            <a:off x="4572000" y="4191000"/>
            <a:ext cx="0" cy="838200"/>
          </a:xfrm>
          <a:prstGeom prst="straightConnector1">
            <a:avLst/>
          </a:prstGeom>
          <a:noFill/>
          <a:ln cap="flat" cmpd="sng" w="28575">
            <a:solidFill>
              <a:schemeClr val="hlink"/>
            </a:solidFill>
            <a:prstDash val="solid"/>
            <a:miter lim="800000"/>
            <a:headEnd len="med" w="med" type="none"/>
            <a:tailEnd len="med" w="med" type="none"/>
          </a:ln>
        </p:spPr>
      </p:cxnSp>
      <p:sp>
        <p:nvSpPr>
          <p:cNvPr id="2274" name="Google Shape;2274;p192"/>
          <p:cNvSpPr txBox="1"/>
          <p:nvPr/>
        </p:nvSpPr>
        <p:spPr>
          <a:xfrm>
            <a:off x="3200400" y="4449762"/>
            <a:ext cx="838200" cy="27463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800"/>
              <a:buFont typeface="Times New Roman"/>
              <a:buNone/>
            </a:pPr>
            <a:r>
              <a:rPr b="1" i="1" lang="en-US" sz="1800" u="none">
                <a:solidFill>
                  <a:schemeClr val="dk1"/>
                </a:solidFill>
                <a:latin typeface="Times New Roman"/>
                <a:ea typeface="Times New Roman"/>
                <a:cs typeface="Times New Roman"/>
                <a:sym typeface="Times New Roman"/>
              </a:rPr>
              <a:t>TCP / IP</a:t>
            </a:r>
            <a:endParaRPr/>
          </a:p>
        </p:txBody>
      </p:sp>
      <p:sp>
        <p:nvSpPr>
          <p:cNvPr id="2275" name="Google Shape;2275;p192"/>
          <p:cNvSpPr txBox="1"/>
          <p:nvPr/>
        </p:nvSpPr>
        <p:spPr>
          <a:xfrm>
            <a:off x="4267200" y="4256087"/>
            <a:ext cx="114300" cy="27463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1</a:t>
            </a:r>
            <a:endParaRPr/>
          </a:p>
        </p:txBody>
      </p:sp>
      <p:sp>
        <p:nvSpPr>
          <p:cNvPr id="2276" name="Google Shape;2276;p192"/>
          <p:cNvSpPr txBox="1"/>
          <p:nvPr/>
        </p:nvSpPr>
        <p:spPr>
          <a:xfrm>
            <a:off x="4191000" y="4749800"/>
            <a:ext cx="342900" cy="27463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1..*</a:t>
            </a:r>
            <a:endParaRPr/>
          </a:p>
        </p:txBody>
      </p:sp>
      <p:cxnSp>
        <p:nvCxnSpPr>
          <p:cNvPr id="2277" name="Google Shape;2277;p192"/>
          <p:cNvCxnSpPr/>
          <p:nvPr/>
        </p:nvCxnSpPr>
        <p:spPr>
          <a:xfrm>
            <a:off x="3852862" y="2743200"/>
            <a:ext cx="1173162" cy="1587"/>
          </a:xfrm>
          <a:prstGeom prst="straightConnector1">
            <a:avLst/>
          </a:prstGeom>
          <a:noFill/>
          <a:ln cap="flat" cmpd="sng" w="11100">
            <a:solidFill>
              <a:srgbClr val="000000"/>
            </a:solidFill>
            <a:prstDash val="solid"/>
            <a:miter lim="800000"/>
            <a:headEnd len="med" w="med" type="none"/>
            <a:tailEnd len="med" w="med" type="none"/>
          </a:ln>
        </p:spPr>
      </p:cxnSp>
      <p:cxnSp>
        <p:nvCxnSpPr>
          <p:cNvPr id="2278" name="Google Shape;2278;p192"/>
          <p:cNvCxnSpPr/>
          <p:nvPr/>
        </p:nvCxnSpPr>
        <p:spPr>
          <a:xfrm flipH="1" rot="10800000">
            <a:off x="5097462" y="4176712"/>
            <a:ext cx="1587" cy="1270000"/>
          </a:xfrm>
          <a:prstGeom prst="straightConnector1">
            <a:avLst/>
          </a:prstGeom>
          <a:noFill/>
          <a:ln cap="flat" cmpd="sng" w="28575">
            <a:solidFill>
              <a:schemeClr val="hlink"/>
            </a:solidFill>
            <a:prstDash val="solid"/>
            <a:miter lim="800000"/>
            <a:headEnd len="med" w="med" type="none"/>
            <a:tailEnd len="med" w="med" type="stealth"/>
          </a:ln>
        </p:spPr>
      </p:cxnSp>
      <p:grpSp>
        <p:nvGrpSpPr>
          <p:cNvPr id="2279" name="Google Shape;2279;p192"/>
          <p:cNvGrpSpPr/>
          <p:nvPr/>
        </p:nvGrpSpPr>
        <p:grpSpPr>
          <a:xfrm>
            <a:off x="1447800" y="2133600"/>
            <a:ext cx="6248400" cy="2057400"/>
            <a:chOff x="912" y="1680"/>
            <a:chExt cx="3792" cy="1248"/>
          </a:xfrm>
        </p:grpSpPr>
        <p:sp>
          <p:nvSpPr>
            <p:cNvPr id="2280" name="Google Shape;2280;p192"/>
            <p:cNvSpPr/>
            <p:nvPr/>
          </p:nvSpPr>
          <p:spPr>
            <a:xfrm>
              <a:off x="912" y="1680"/>
              <a:ext cx="3792" cy="1248"/>
            </a:xfrm>
            <a:custGeom>
              <a:rect b="b" l="l" r="r" t="t"/>
              <a:pathLst>
                <a:path extrusionOk="0" h="1268" w="2824">
                  <a:moveTo>
                    <a:pt x="0" y="177"/>
                  </a:moveTo>
                  <a:lnTo>
                    <a:pt x="185" y="0"/>
                  </a:lnTo>
                  <a:lnTo>
                    <a:pt x="2824" y="0"/>
                  </a:lnTo>
                  <a:lnTo>
                    <a:pt x="2639" y="177"/>
                  </a:lnTo>
                  <a:lnTo>
                    <a:pt x="2824" y="0"/>
                  </a:lnTo>
                  <a:lnTo>
                    <a:pt x="2824" y="1091"/>
                  </a:lnTo>
                  <a:lnTo>
                    <a:pt x="2639" y="1268"/>
                  </a:lnTo>
                </a:path>
              </a:pathLst>
            </a:custGeom>
            <a:solidFill>
              <a:srgbClr val="FFCC99"/>
            </a:solidFill>
            <a:ln cap="flat" cmpd="sng" w="28575">
              <a:solidFill>
                <a:srgbClr val="99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81" name="Google Shape;2281;p192"/>
            <p:cNvSpPr txBox="1"/>
            <p:nvPr/>
          </p:nvSpPr>
          <p:spPr>
            <a:xfrm>
              <a:off x="912" y="1849"/>
              <a:ext cx="3552" cy="1079"/>
            </a:xfrm>
            <a:prstGeom prst="rect">
              <a:avLst/>
            </a:prstGeom>
            <a:solidFill>
              <a:srgbClr val="FFCC99"/>
            </a:solidFill>
            <a:ln cap="flat" cmpd="sng" w="28575">
              <a:solidFill>
                <a:srgbClr val="99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2282" name="Google Shape;2282;p192"/>
          <p:cNvSpPr txBox="1"/>
          <p:nvPr/>
        </p:nvSpPr>
        <p:spPr>
          <a:xfrm>
            <a:off x="1676400" y="2535237"/>
            <a:ext cx="774700" cy="27463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990000"/>
              </a:buClr>
              <a:buSzPts val="1800"/>
              <a:buFont typeface="Times New Roman"/>
              <a:buNone/>
            </a:pPr>
            <a:r>
              <a:rPr b="1" i="0" lang="en-US" sz="1800" u="none">
                <a:solidFill>
                  <a:srgbClr val="990000"/>
                </a:solidFill>
                <a:latin typeface="Times New Roman"/>
                <a:ea typeface="Times New Roman"/>
                <a:cs typeface="Times New Roman"/>
                <a:sym typeface="Times New Roman"/>
              </a:rPr>
              <a:t>Serveur</a:t>
            </a:r>
            <a:endParaRPr/>
          </a:p>
        </p:txBody>
      </p:sp>
      <p:grpSp>
        <p:nvGrpSpPr>
          <p:cNvPr id="2283" name="Google Shape;2283;p192"/>
          <p:cNvGrpSpPr/>
          <p:nvPr/>
        </p:nvGrpSpPr>
        <p:grpSpPr>
          <a:xfrm>
            <a:off x="2057400" y="2895600"/>
            <a:ext cx="1981200" cy="762000"/>
            <a:chOff x="2448" y="1968"/>
            <a:chExt cx="1392" cy="768"/>
          </a:xfrm>
        </p:grpSpPr>
        <p:sp>
          <p:nvSpPr>
            <p:cNvPr id="2284" name="Google Shape;2284;p192"/>
            <p:cNvSpPr txBox="1"/>
            <p:nvPr/>
          </p:nvSpPr>
          <p:spPr>
            <a:xfrm>
              <a:off x="2698" y="1968"/>
              <a:ext cx="1142" cy="768"/>
            </a:xfrm>
            <a:prstGeom prst="rect">
              <a:avLst/>
            </a:prstGeom>
            <a:solidFill>
              <a:srgbClr val="FFCC99"/>
            </a:solidFill>
            <a:ln cap="flat" cmpd="sng" w="28575">
              <a:solidFill>
                <a:srgbClr val="99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85" name="Google Shape;2285;p192"/>
            <p:cNvSpPr txBox="1"/>
            <p:nvPr/>
          </p:nvSpPr>
          <p:spPr>
            <a:xfrm>
              <a:off x="2448" y="2094"/>
              <a:ext cx="432" cy="192"/>
            </a:xfrm>
            <a:prstGeom prst="rect">
              <a:avLst/>
            </a:prstGeom>
            <a:solidFill>
              <a:srgbClr val="FFCC99"/>
            </a:solidFill>
            <a:ln cap="flat" cmpd="sng" w="28575">
              <a:solidFill>
                <a:srgbClr val="99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86" name="Google Shape;2286;p192"/>
            <p:cNvSpPr txBox="1"/>
            <p:nvPr/>
          </p:nvSpPr>
          <p:spPr>
            <a:xfrm>
              <a:off x="2448" y="2352"/>
              <a:ext cx="432" cy="192"/>
            </a:xfrm>
            <a:prstGeom prst="rect">
              <a:avLst/>
            </a:prstGeom>
            <a:solidFill>
              <a:srgbClr val="FFCC99"/>
            </a:solidFill>
            <a:ln cap="flat" cmpd="sng" w="28575">
              <a:solidFill>
                <a:srgbClr val="99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grpSp>
        <p:nvGrpSpPr>
          <p:cNvPr id="2287" name="Google Shape;2287;p192"/>
          <p:cNvGrpSpPr/>
          <p:nvPr/>
        </p:nvGrpSpPr>
        <p:grpSpPr>
          <a:xfrm>
            <a:off x="4953000" y="2720975"/>
            <a:ext cx="2057400" cy="941387"/>
            <a:chOff x="2448" y="1968"/>
            <a:chExt cx="1392" cy="768"/>
          </a:xfrm>
        </p:grpSpPr>
        <p:sp>
          <p:nvSpPr>
            <p:cNvPr id="2288" name="Google Shape;2288;p192"/>
            <p:cNvSpPr txBox="1"/>
            <p:nvPr/>
          </p:nvSpPr>
          <p:spPr>
            <a:xfrm>
              <a:off x="2698" y="1968"/>
              <a:ext cx="1142" cy="768"/>
            </a:xfrm>
            <a:prstGeom prst="rect">
              <a:avLst/>
            </a:prstGeom>
            <a:solidFill>
              <a:srgbClr val="FFCC99"/>
            </a:solidFill>
            <a:ln cap="flat" cmpd="sng" w="28575">
              <a:solidFill>
                <a:srgbClr val="99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89" name="Google Shape;2289;p192"/>
            <p:cNvSpPr txBox="1"/>
            <p:nvPr/>
          </p:nvSpPr>
          <p:spPr>
            <a:xfrm>
              <a:off x="2448" y="2094"/>
              <a:ext cx="432" cy="192"/>
            </a:xfrm>
            <a:prstGeom prst="rect">
              <a:avLst/>
            </a:prstGeom>
            <a:solidFill>
              <a:srgbClr val="FFCC99"/>
            </a:solidFill>
            <a:ln cap="flat" cmpd="sng" w="28575">
              <a:solidFill>
                <a:srgbClr val="99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90" name="Google Shape;2290;p192"/>
            <p:cNvSpPr txBox="1"/>
            <p:nvPr/>
          </p:nvSpPr>
          <p:spPr>
            <a:xfrm>
              <a:off x="2448" y="2352"/>
              <a:ext cx="432" cy="192"/>
            </a:xfrm>
            <a:prstGeom prst="rect">
              <a:avLst/>
            </a:prstGeom>
            <a:solidFill>
              <a:srgbClr val="FFCC99"/>
            </a:solidFill>
            <a:ln cap="flat" cmpd="sng" w="28575">
              <a:solidFill>
                <a:srgbClr val="99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2291" name="Google Shape;2291;p192"/>
          <p:cNvSpPr txBox="1"/>
          <p:nvPr/>
        </p:nvSpPr>
        <p:spPr>
          <a:xfrm>
            <a:off x="2674937" y="3124200"/>
            <a:ext cx="1125537" cy="2127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990000"/>
              </a:buClr>
              <a:buSzPts val="1400"/>
              <a:buFont typeface="Times New Roman"/>
              <a:buNone/>
            </a:pPr>
            <a:r>
              <a:rPr b="1" i="0" lang="en-US" sz="1400" u="none">
                <a:solidFill>
                  <a:srgbClr val="990000"/>
                </a:solidFill>
                <a:latin typeface="Times New Roman"/>
                <a:ea typeface="Times New Roman"/>
                <a:cs typeface="Times New Roman"/>
                <a:sym typeface="Times New Roman"/>
              </a:rPr>
              <a:t>Ordonnanceur</a:t>
            </a:r>
            <a:endParaRPr/>
          </a:p>
        </p:txBody>
      </p:sp>
      <p:sp>
        <p:nvSpPr>
          <p:cNvPr id="2292" name="Google Shape;2292;p192"/>
          <p:cNvSpPr txBox="1"/>
          <p:nvPr/>
        </p:nvSpPr>
        <p:spPr>
          <a:xfrm>
            <a:off x="5795962" y="2797175"/>
            <a:ext cx="985837" cy="2444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990000"/>
              </a:buClr>
              <a:buSzPts val="1600"/>
              <a:buFont typeface="Times New Roman"/>
              <a:buNone/>
            </a:pPr>
            <a:r>
              <a:rPr b="1" i="0" lang="en-US" sz="1600" u="none">
                <a:solidFill>
                  <a:srgbClr val="990000"/>
                </a:solidFill>
                <a:latin typeface="Times New Roman"/>
                <a:ea typeface="Times New Roman"/>
                <a:cs typeface="Times New Roman"/>
                <a:sym typeface="Times New Roman"/>
              </a:rPr>
              <a:t>&lt;&lt;utility&gt;&gt;</a:t>
            </a:r>
            <a:endParaRPr/>
          </a:p>
        </p:txBody>
      </p:sp>
      <p:sp>
        <p:nvSpPr>
          <p:cNvPr id="2293" name="Google Shape;2293;p192"/>
          <p:cNvSpPr txBox="1"/>
          <p:nvPr/>
        </p:nvSpPr>
        <p:spPr>
          <a:xfrm>
            <a:off x="5867400" y="3068637"/>
            <a:ext cx="642937" cy="42545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990000"/>
              </a:buClr>
              <a:buSzPts val="1400"/>
              <a:buFont typeface="Times New Roman"/>
              <a:buNone/>
            </a:pPr>
            <a:r>
              <a:rPr b="1" i="0" lang="en-US" sz="1400" u="none">
                <a:solidFill>
                  <a:srgbClr val="990000"/>
                </a:solidFill>
                <a:latin typeface="Times New Roman"/>
                <a:ea typeface="Times New Roman"/>
                <a:cs typeface="Times New Roman"/>
                <a:sym typeface="Times New Roman"/>
              </a:rPr>
              <a:t>Base de </a:t>
            </a:r>
            <a:endParaRPr/>
          </a:p>
          <a:p>
            <a:pPr indent="0" lvl="0" marL="0" marR="0" rtl="0" algn="ctr">
              <a:lnSpc>
                <a:spcPct val="100000"/>
              </a:lnSpc>
              <a:spcBef>
                <a:spcPts val="0"/>
              </a:spcBef>
              <a:spcAft>
                <a:spcPts val="0"/>
              </a:spcAft>
              <a:buClr>
                <a:srgbClr val="990000"/>
              </a:buClr>
              <a:buSzPts val="1400"/>
              <a:buFont typeface="Times New Roman"/>
              <a:buNone/>
            </a:pPr>
            <a:r>
              <a:rPr b="1" i="0" lang="en-US" sz="1400" u="none">
                <a:solidFill>
                  <a:srgbClr val="990000"/>
                </a:solidFill>
                <a:latin typeface="Times New Roman"/>
                <a:ea typeface="Times New Roman"/>
                <a:cs typeface="Times New Roman"/>
                <a:sym typeface="Times New Roman"/>
              </a:rPr>
              <a:t>Données</a:t>
            </a:r>
            <a:endParaRPr/>
          </a:p>
        </p:txBody>
      </p:sp>
      <p:grpSp>
        <p:nvGrpSpPr>
          <p:cNvPr id="2294" name="Google Shape;2294;p192"/>
          <p:cNvGrpSpPr/>
          <p:nvPr/>
        </p:nvGrpSpPr>
        <p:grpSpPr>
          <a:xfrm>
            <a:off x="4038600" y="3352800"/>
            <a:ext cx="1447800" cy="838200"/>
            <a:chOff x="2544" y="2400"/>
            <a:chExt cx="912" cy="528"/>
          </a:xfrm>
        </p:grpSpPr>
        <p:sp>
          <p:nvSpPr>
            <p:cNvPr id="2295" name="Google Shape;2295;p192"/>
            <p:cNvSpPr txBox="1"/>
            <p:nvPr/>
          </p:nvSpPr>
          <p:spPr>
            <a:xfrm>
              <a:off x="2928" y="2755"/>
              <a:ext cx="528" cy="17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990000"/>
                </a:buClr>
                <a:buSzPts val="1800"/>
                <a:buFont typeface="Times New Roman"/>
                <a:buNone/>
              </a:pPr>
              <a:r>
                <a:rPr b="1" i="1" lang="en-US" sz="1800" u="none">
                  <a:solidFill>
                    <a:srgbClr val="990000"/>
                  </a:solidFill>
                  <a:latin typeface="Times New Roman"/>
                  <a:ea typeface="Times New Roman"/>
                  <a:cs typeface="Times New Roman"/>
                  <a:sym typeface="Times New Roman"/>
                </a:rPr>
                <a:t>interface</a:t>
              </a:r>
              <a:endParaRPr/>
            </a:p>
          </p:txBody>
        </p:sp>
        <p:cxnSp>
          <p:nvCxnSpPr>
            <p:cNvPr id="2296" name="Google Shape;2296;p192"/>
            <p:cNvCxnSpPr/>
            <p:nvPr/>
          </p:nvCxnSpPr>
          <p:spPr>
            <a:xfrm>
              <a:off x="2544" y="2400"/>
              <a:ext cx="395" cy="226"/>
            </a:xfrm>
            <a:prstGeom prst="straightConnector1">
              <a:avLst/>
            </a:prstGeom>
            <a:noFill/>
            <a:ln cap="flat" cmpd="sng" w="28575">
              <a:solidFill>
                <a:srgbClr val="990000"/>
              </a:solidFill>
              <a:prstDash val="solid"/>
              <a:miter lim="800000"/>
              <a:headEnd len="med" w="med" type="none"/>
              <a:tailEnd len="med" w="med" type="none"/>
            </a:ln>
          </p:spPr>
        </p:cxnSp>
        <p:sp>
          <p:nvSpPr>
            <p:cNvPr id="2297" name="Google Shape;2297;p192"/>
            <p:cNvSpPr/>
            <p:nvPr/>
          </p:nvSpPr>
          <p:spPr>
            <a:xfrm>
              <a:off x="2929" y="2606"/>
              <a:ext cx="139" cy="130"/>
            </a:xfrm>
            <a:prstGeom prst="ellipse">
              <a:avLst/>
            </a:prstGeom>
            <a:solidFill>
              <a:srgbClr val="FFCC99"/>
            </a:solidFill>
            <a:ln cap="flat" cmpd="sng" w="28575">
              <a:solidFill>
                <a:srgbClr val="99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cxnSp>
        <p:nvCxnSpPr>
          <p:cNvPr id="2298" name="Google Shape;2298;p192"/>
          <p:cNvCxnSpPr/>
          <p:nvPr/>
        </p:nvCxnSpPr>
        <p:spPr>
          <a:xfrm>
            <a:off x="4038600" y="3048000"/>
            <a:ext cx="838200" cy="0"/>
          </a:xfrm>
          <a:prstGeom prst="straightConnector1">
            <a:avLst/>
          </a:prstGeom>
          <a:noFill/>
          <a:ln cap="flat" cmpd="sng" w="28575">
            <a:solidFill>
              <a:srgbClr val="990000"/>
            </a:solidFill>
            <a:prstDash val="solid"/>
            <a:miter lim="800000"/>
            <a:headEnd len="med" w="med" type="none"/>
            <a:tailEnd len="med" w="med" type="stealth"/>
          </a:ln>
        </p:spPr>
      </p:cxn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2" name="Shape 2302"/>
        <p:cNvGrpSpPr/>
        <p:nvPr/>
      </p:nvGrpSpPr>
      <p:grpSpPr>
        <a:xfrm>
          <a:off x="0" y="0"/>
          <a:ext cx="0" cy="0"/>
          <a:chOff x="0" y="0"/>
          <a:chExt cx="0" cy="0"/>
        </a:xfrm>
      </p:grpSpPr>
      <p:sp>
        <p:nvSpPr>
          <p:cNvPr id="2303" name="Google Shape;2303;p19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Diagramme de déploiement</a:t>
            </a:r>
            <a:endParaRPr/>
          </a:p>
        </p:txBody>
      </p:sp>
      <p:pic>
        <p:nvPicPr>
          <p:cNvPr id="2304" name="Google Shape;2304;p193"/>
          <p:cNvPicPr preferRelativeResize="0"/>
          <p:nvPr/>
        </p:nvPicPr>
        <p:blipFill rotWithShape="1">
          <a:blip r:embed="rId3">
            <a:alphaModFix/>
          </a:blip>
          <a:srcRect b="0" l="0" r="0" t="0"/>
          <a:stretch/>
        </p:blipFill>
        <p:spPr>
          <a:xfrm>
            <a:off x="762000" y="1371600"/>
            <a:ext cx="8382000" cy="5486400"/>
          </a:xfrm>
          <a:prstGeom prst="rect">
            <a:avLst/>
          </a:prstGeom>
          <a:noFill/>
          <a:ln>
            <a:noFill/>
          </a:ln>
        </p:spPr>
      </p:pic>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9" name="Shape 2309"/>
        <p:cNvGrpSpPr/>
        <p:nvPr/>
      </p:nvGrpSpPr>
      <p:grpSpPr>
        <a:xfrm>
          <a:off x="0" y="0"/>
          <a:ext cx="0" cy="0"/>
          <a:chOff x="0" y="0"/>
          <a:chExt cx="0" cy="0"/>
        </a:xfrm>
      </p:grpSpPr>
      <p:sp>
        <p:nvSpPr>
          <p:cNvPr id="2310" name="Google Shape;2310;p19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Bibliographie</a:t>
            </a:r>
            <a:endParaRPr/>
          </a:p>
        </p:txBody>
      </p:sp>
      <p:sp>
        <p:nvSpPr>
          <p:cNvPr id="2311" name="Google Shape;2311;p194"/>
          <p:cNvSpPr txBox="1"/>
          <p:nvPr/>
        </p:nvSpPr>
        <p:spPr>
          <a:xfrm>
            <a:off x="1066800" y="2057400"/>
            <a:ext cx="7543800" cy="2895600"/>
          </a:xfrm>
          <a:prstGeom prst="rect">
            <a:avLst/>
          </a:prstGeom>
          <a:noFill/>
          <a:ln>
            <a:noFill/>
          </a:ln>
        </p:spPr>
        <p:txBody>
          <a:bodyPr anchorCtr="0" anchor="t" bIns="46025" lIns="92075" spcFirstLastPara="1" rIns="92075" wrap="square" tIns="46025">
            <a:noAutofit/>
          </a:bodyPr>
          <a:lstStyle/>
          <a:p>
            <a:pPr indent="-342900" lvl="0" marL="342900" marR="0" rtl="0" algn="l">
              <a:lnSpc>
                <a:spcPct val="100000"/>
              </a:lnSpc>
              <a:spcBef>
                <a:spcPts val="0"/>
              </a:spcBef>
              <a:spcAft>
                <a:spcPts val="0"/>
              </a:spcAft>
              <a:buClr>
                <a:schemeClr val="hlink"/>
              </a:buClr>
              <a:buSzPts val="2400"/>
              <a:buFont typeface="Noto Sans Symbols"/>
              <a:buChar char="✔"/>
            </a:pPr>
            <a:r>
              <a:rPr b="0" i="0" lang="en-US" sz="2400" u="none">
                <a:solidFill>
                  <a:schemeClr val="hlink"/>
                </a:solidFill>
                <a:latin typeface="Arial"/>
                <a:ea typeface="Arial"/>
                <a:cs typeface="Arial"/>
                <a:sym typeface="Arial"/>
              </a:rPr>
              <a:t>“</a:t>
            </a:r>
            <a:r>
              <a:rPr b="1" i="1" lang="en-US" sz="2400" u="none">
                <a:solidFill>
                  <a:schemeClr val="hlink"/>
                </a:solidFill>
                <a:latin typeface="Arial"/>
                <a:ea typeface="Arial"/>
                <a:cs typeface="Arial"/>
                <a:sym typeface="Arial"/>
              </a:rPr>
              <a:t>The Unified Modeling Language Users Guide”. </a:t>
            </a:r>
            <a:r>
              <a:rPr b="0" i="0" lang="en-US" sz="2400" u="none">
                <a:solidFill>
                  <a:schemeClr val="hlink"/>
                </a:solidFill>
                <a:latin typeface="Arial"/>
                <a:ea typeface="Arial"/>
                <a:cs typeface="Arial"/>
                <a:sym typeface="Arial"/>
              </a:rPr>
              <a:t>G. Booch, J. Rumbaugh, I. Jacobson. Addison Wesley  1999.</a:t>
            </a:r>
            <a:endParaRPr/>
          </a:p>
          <a:p>
            <a:pPr indent="-342900" lvl="0" marL="342900" marR="0" rtl="0" algn="l">
              <a:lnSpc>
                <a:spcPct val="100000"/>
              </a:lnSpc>
              <a:spcBef>
                <a:spcPts val="1200"/>
              </a:spcBef>
              <a:spcAft>
                <a:spcPts val="0"/>
              </a:spcAft>
              <a:buClr>
                <a:schemeClr val="hlink"/>
              </a:buClr>
              <a:buSzPts val="2400"/>
              <a:buFont typeface="Noto Sans Symbols"/>
              <a:buChar char="✔"/>
            </a:pPr>
            <a:r>
              <a:rPr b="0" i="0" lang="en-US" sz="2400" u="none">
                <a:solidFill>
                  <a:schemeClr val="hlink"/>
                </a:solidFill>
                <a:latin typeface="Arial"/>
                <a:ea typeface="Arial"/>
                <a:cs typeface="Arial"/>
                <a:sym typeface="Arial"/>
              </a:rPr>
              <a:t>“</a:t>
            </a:r>
            <a:r>
              <a:rPr b="1" i="1" lang="en-US" sz="2400" u="none">
                <a:solidFill>
                  <a:schemeClr val="hlink"/>
                </a:solidFill>
                <a:latin typeface="Arial"/>
                <a:ea typeface="Arial"/>
                <a:cs typeface="Arial"/>
                <a:sym typeface="Arial"/>
              </a:rPr>
              <a:t>The Unified Modeling Language Reference Manual”. </a:t>
            </a:r>
            <a:r>
              <a:rPr b="0" i="0" lang="en-US" sz="2400" u="none">
                <a:solidFill>
                  <a:schemeClr val="hlink"/>
                </a:solidFill>
                <a:latin typeface="Arial"/>
                <a:ea typeface="Arial"/>
                <a:cs typeface="Arial"/>
                <a:sym typeface="Arial"/>
              </a:rPr>
              <a:t>G. Booch, J. Rumbaugh, I. Jacobson. Addison Wesley  1999.</a:t>
            </a:r>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5" name="Shape 2315"/>
        <p:cNvGrpSpPr/>
        <p:nvPr/>
      </p:nvGrpSpPr>
      <p:grpSpPr>
        <a:xfrm>
          <a:off x="0" y="0"/>
          <a:ext cx="0" cy="0"/>
          <a:chOff x="0" y="0"/>
          <a:chExt cx="0" cy="0"/>
        </a:xfrm>
      </p:grpSpPr>
      <p:sp>
        <p:nvSpPr>
          <p:cNvPr id="2316" name="Google Shape;2316;p195"/>
          <p:cNvSpPr txBox="1"/>
          <p:nvPr>
            <p:ph type="ctrTitle"/>
          </p:nvPr>
        </p:nvSpPr>
        <p:spPr>
          <a:xfrm>
            <a:off x="1042987" y="1844675"/>
            <a:ext cx="7772400" cy="1736725"/>
          </a:xfrm>
          <a:prstGeom prst="rect">
            <a:avLst/>
          </a:prstGeom>
          <a:noFill/>
          <a:ln>
            <a:noFill/>
          </a:ln>
        </p:spPr>
        <p:txBody>
          <a:bodyPr anchorCtr="1"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Georgia"/>
              <a:buNone/>
            </a:pPr>
            <a:r>
              <a:rPr b="1" i="0" lang="en-US" sz="4400" u="none">
                <a:solidFill>
                  <a:schemeClr val="dk2"/>
                </a:solidFill>
                <a:latin typeface="Georgia"/>
                <a:ea typeface="Georgia"/>
                <a:cs typeface="Georgia"/>
                <a:sym typeface="Georgia"/>
              </a:rPr>
              <a:t>UNIFIED PROCESS</a:t>
            </a:r>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0" name="Shape 2320"/>
        <p:cNvGrpSpPr/>
        <p:nvPr/>
      </p:nvGrpSpPr>
      <p:grpSpPr>
        <a:xfrm>
          <a:off x="0" y="0"/>
          <a:ext cx="0" cy="0"/>
          <a:chOff x="0" y="0"/>
          <a:chExt cx="0" cy="0"/>
        </a:xfrm>
      </p:grpSpPr>
      <p:sp>
        <p:nvSpPr>
          <p:cNvPr id="2321" name="Google Shape;2321;p196"/>
          <p:cNvSpPr txBox="1"/>
          <p:nvPr>
            <p:ph type="title"/>
          </p:nvPr>
        </p:nvSpPr>
        <p:spPr>
          <a:xfrm>
            <a:off x="395287" y="836612"/>
            <a:ext cx="72009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                   </a:t>
            </a:r>
            <a:r>
              <a:rPr b="0" i="0" lang="en-US" sz="4400" u="none">
                <a:solidFill>
                  <a:schemeClr val="dk2"/>
                </a:solidFill>
                <a:latin typeface="Georgia"/>
                <a:ea typeface="Georgia"/>
                <a:cs typeface="Georgia"/>
                <a:sym typeface="Georgia"/>
              </a:rPr>
              <a:t>Le plan</a:t>
            </a:r>
            <a:endParaRPr/>
          </a:p>
        </p:txBody>
      </p:sp>
      <p:sp>
        <p:nvSpPr>
          <p:cNvPr id="2322" name="Google Shape;2322;p196"/>
          <p:cNvSpPr txBox="1"/>
          <p:nvPr/>
        </p:nvSpPr>
        <p:spPr>
          <a:xfrm>
            <a:off x="2627312" y="1916112"/>
            <a:ext cx="5184775" cy="43211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None/>
            </a:pPr>
            <a:r>
              <a:t/>
            </a:r>
            <a:endParaRPr b="0" i="0" sz="3200" u="none">
              <a:solidFill>
                <a:schemeClr val="dk1"/>
              </a:solidFill>
              <a:latin typeface="Georgia"/>
              <a:ea typeface="Georgia"/>
              <a:cs typeface="Georgia"/>
              <a:sym typeface="Georgia"/>
            </a:endParaRPr>
          </a:p>
          <a:p>
            <a:pPr indent="-342900" lvl="0" marL="342900" marR="0" rtl="0" algn="l">
              <a:lnSpc>
                <a:spcPct val="100000"/>
              </a:lnSpc>
              <a:spcBef>
                <a:spcPts val="640"/>
              </a:spcBef>
              <a:spcAft>
                <a:spcPts val="0"/>
              </a:spcAft>
              <a:buClr>
                <a:schemeClr val="dk1"/>
              </a:buClr>
              <a:buSzPts val="3200"/>
              <a:buFont typeface="Georgia"/>
              <a:buChar char="•"/>
            </a:pPr>
            <a:r>
              <a:rPr b="0" i="0" lang="en-US" sz="3200" u="none">
                <a:solidFill>
                  <a:schemeClr val="dk1"/>
                </a:solidFill>
                <a:latin typeface="Georgia"/>
                <a:ea typeface="Georgia"/>
                <a:cs typeface="Georgia"/>
                <a:sym typeface="Georgia"/>
              </a:rPr>
              <a:t>Définition</a:t>
            </a:r>
            <a:endParaRPr/>
          </a:p>
          <a:p>
            <a:pPr indent="-342900" lvl="0" marL="342900" marR="0" rtl="0" algn="l">
              <a:lnSpc>
                <a:spcPct val="100000"/>
              </a:lnSpc>
              <a:spcBef>
                <a:spcPts val="640"/>
              </a:spcBef>
              <a:spcAft>
                <a:spcPts val="0"/>
              </a:spcAft>
              <a:buClr>
                <a:schemeClr val="dk1"/>
              </a:buClr>
              <a:buSzPts val="3200"/>
              <a:buFont typeface="Georgia"/>
              <a:buChar char="•"/>
            </a:pPr>
            <a:r>
              <a:rPr b="0" i="0" lang="en-US" sz="3200" u="none">
                <a:solidFill>
                  <a:schemeClr val="dk1"/>
                </a:solidFill>
                <a:latin typeface="Georgia"/>
                <a:ea typeface="Georgia"/>
                <a:cs typeface="Georgia"/>
                <a:sym typeface="Georgia"/>
              </a:rPr>
              <a:t>Généralités</a:t>
            </a:r>
            <a:endParaRPr/>
          </a:p>
          <a:p>
            <a:pPr indent="-342900" lvl="0" marL="342900" marR="0" rtl="0" algn="l">
              <a:lnSpc>
                <a:spcPct val="100000"/>
              </a:lnSpc>
              <a:spcBef>
                <a:spcPts val="640"/>
              </a:spcBef>
              <a:spcAft>
                <a:spcPts val="0"/>
              </a:spcAft>
              <a:buClr>
                <a:schemeClr val="dk1"/>
              </a:buClr>
              <a:buSzPts val="3200"/>
              <a:buFont typeface="Georgia"/>
              <a:buChar char="•"/>
            </a:pPr>
            <a:r>
              <a:rPr b="0" i="0" lang="en-US" sz="3200" u="none">
                <a:solidFill>
                  <a:schemeClr val="dk1"/>
                </a:solidFill>
                <a:latin typeface="Georgia"/>
                <a:ea typeface="Georgia"/>
                <a:cs typeface="Georgia"/>
                <a:sym typeface="Georgia"/>
              </a:rPr>
              <a:t>Les phases….</a:t>
            </a:r>
            <a:endParaRPr/>
          </a:p>
          <a:p>
            <a:pPr indent="-342900" lvl="0" marL="342900" marR="0" rtl="0" algn="l">
              <a:lnSpc>
                <a:spcPct val="100000"/>
              </a:lnSpc>
              <a:spcBef>
                <a:spcPts val="640"/>
              </a:spcBef>
              <a:spcAft>
                <a:spcPts val="0"/>
              </a:spcAft>
              <a:buClr>
                <a:schemeClr val="dk1"/>
              </a:buClr>
              <a:buSzPts val="3200"/>
              <a:buFont typeface="Georgia"/>
              <a:buChar char="•"/>
            </a:pPr>
            <a:r>
              <a:rPr b="0" i="0" lang="en-US" sz="3200" u="none">
                <a:solidFill>
                  <a:schemeClr val="dk1"/>
                </a:solidFill>
                <a:latin typeface="Georgia"/>
                <a:ea typeface="Georgia"/>
                <a:cs typeface="Georgia"/>
                <a:sym typeface="Georgia"/>
              </a:rPr>
              <a:t>Conclusion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2"/>
                                        </p:tgtEl>
                                        <p:attrNameLst>
                                          <p:attrName>style.visibility</p:attrName>
                                        </p:attrNameLst>
                                      </p:cBhvr>
                                      <p:to>
                                        <p:strVal val="visible"/>
                                      </p:to>
                                    </p:set>
                                    <p:animEffect filter="fade" transition="in">
                                      <p:cBhvr>
                                        <p:cTn dur="500"/>
                                        <p:tgtEl>
                                          <p:spTgt spid="23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6" name="Shape 2326"/>
        <p:cNvGrpSpPr/>
        <p:nvPr/>
      </p:nvGrpSpPr>
      <p:grpSpPr>
        <a:xfrm>
          <a:off x="0" y="0"/>
          <a:ext cx="0" cy="0"/>
          <a:chOff x="0" y="0"/>
          <a:chExt cx="0" cy="0"/>
        </a:xfrm>
      </p:grpSpPr>
      <p:sp>
        <p:nvSpPr>
          <p:cNvPr id="2327" name="Google Shape;2327;p197"/>
          <p:cNvSpPr txBox="1"/>
          <p:nvPr>
            <p:ph type="title"/>
          </p:nvPr>
        </p:nvSpPr>
        <p:spPr>
          <a:xfrm>
            <a:off x="611187" y="333375"/>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Georgia"/>
              <a:buNone/>
            </a:pPr>
            <a:r>
              <a:rPr b="0" i="0" lang="en-US" sz="4400" u="none">
                <a:solidFill>
                  <a:schemeClr val="dk2"/>
                </a:solidFill>
                <a:latin typeface="Georgia"/>
                <a:ea typeface="Georgia"/>
                <a:cs typeface="Georgia"/>
                <a:sym typeface="Georgia"/>
              </a:rPr>
              <a:t>    1 -Définition</a:t>
            </a:r>
            <a:endParaRPr/>
          </a:p>
        </p:txBody>
      </p:sp>
      <p:sp>
        <p:nvSpPr>
          <p:cNvPr id="2328" name="Google Shape;2328;p197"/>
          <p:cNvSpPr txBox="1"/>
          <p:nvPr>
            <p:ph idx="1" type="body"/>
          </p:nvPr>
        </p:nvSpPr>
        <p:spPr>
          <a:xfrm>
            <a:off x="1093787" y="2060575"/>
            <a:ext cx="8050212" cy="31670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Georgia"/>
              <a:buChar char="•"/>
            </a:pPr>
            <a:r>
              <a:rPr b="0" i="0" lang="en-US" sz="3200" u="none">
                <a:solidFill>
                  <a:schemeClr val="dk1"/>
                </a:solidFill>
                <a:latin typeface="Georgia"/>
                <a:ea typeface="Georgia"/>
                <a:cs typeface="Georgia"/>
                <a:sym typeface="Georgia"/>
              </a:rPr>
              <a:t>   Le UP ou  Unified Process  est un processus de conception/développement de logiciel. Il apporte une approche disciplinée pour assigner de tâches et des responsabilités dans une organisation De développement.</a:t>
            </a:r>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2" name="Shape 2332"/>
        <p:cNvGrpSpPr/>
        <p:nvPr/>
      </p:nvGrpSpPr>
      <p:grpSpPr>
        <a:xfrm>
          <a:off x="0" y="0"/>
          <a:ext cx="0" cy="0"/>
          <a:chOff x="0" y="0"/>
          <a:chExt cx="0" cy="0"/>
        </a:xfrm>
      </p:grpSpPr>
      <p:sp>
        <p:nvSpPr>
          <p:cNvPr id="2333" name="Google Shape;2333;p198"/>
          <p:cNvSpPr txBox="1"/>
          <p:nvPr>
            <p:ph type="ctrTitle"/>
          </p:nvPr>
        </p:nvSpPr>
        <p:spPr>
          <a:xfrm>
            <a:off x="684212" y="260350"/>
            <a:ext cx="7772400" cy="14700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br>
              <a:rPr b="0" i="0" lang="en-US" sz="4000" u="none">
                <a:solidFill>
                  <a:schemeClr val="dk2"/>
                </a:solidFill>
                <a:latin typeface="Arial"/>
                <a:ea typeface="Arial"/>
                <a:cs typeface="Arial"/>
                <a:sym typeface="Arial"/>
              </a:rPr>
            </a:br>
            <a:r>
              <a:rPr b="0" i="0" lang="en-US" sz="4000" u="none">
                <a:solidFill>
                  <a:schemeClr val="dk2"/>
                </a:solidFill>
                <a:latin typeface="Arial"/>
                <a:ea typeface="Arial"/>
                <a:cs typeface="Arial"/>
                <a:sym typeface="Arial"/>
              </a:rPr>
              <a:t>quatre élément primaire de modélisation définit dans UP</a:t>
            </a:r>
            <a:endParaRPr/>
          </a:p>
        </p:txBody>
      </p:sp>
      <p:sp>
        <p:nvSpPr>
          <p:cNvPr id="2334" name="Google Shape;2334;p198"/>
          <p:cNvSpPr txBox="1"/>
          <p:nvPr>
            <p:ph idx="1" type="subTitle"/>
          </p:nvPr>
        </p:nvSpPr>
        <p:spPr>
          <a:xfrm>
            <a:off x="1371600" y="1773237"/>
            <a:ext cx="6400800" cy="38655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a:p>
            <a:pPr indent="0" lvl="0" marL="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Membre</a:t>
            </a:r>
            <a:endParaRPr/>
          </a:p>
          <a:p>
            <a:pPr indent="0" lvl="0" marL="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Activité</a:t>
            </a:r>
            <a:endParaRPr/>
          </a:p>
          <a:p>
            <a:pPr indent="0" lvl="0" marL="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Artefact</a:t>
            </a:r>
            <a:endParaRPr/>
          </a:p>
          <a:p>
            <a:pPr indent="0" lvl="0" marL="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Enchaînement d’activité</a:t>
            </a:r>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9" name="Shape 2339"/>
        <p:cNvGrpSpPr/>
        <p:nvPr/>
      </p:nvGrpSpPr>
      <p:grpSpPr>
        <a:xfrm>
          <a:off x="0" y="0"/>
          <a:ext cx="0" cy="0"/>
          <a:chOff x="0" y="0"/>
          <a:chExt cx="0" cy="0"/>
        </a:xfrm>
      </p:grpSpPr>
      <p:sp>
        <p:nvSpPr>
          <p:cNvPr id="2340" name="Google Shape;2340;p19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Georgia"/>
              <a:buNone/>
            </a:pPr>
            <a:r>
              <a:rPr b="0" i="0" lang="en-US" sz="4400" u="none">
                <a:solidFill>
                  <a:schemeClr val="dk2"/>
                </a:solidFill>
                <a:latin typeface="Georgia"/>
                <a:ea typeface="Georgia"/>
                <a:cs typeface="Georgia"/>
                <a:sym typeface="Georgia"/>
              </a:rPr>
              <a:t>     2- Vie du processus unifié</a:t>
            </a:r>
            <a:endParaRPr/>
          </a:p>
        </p:txBody>
      </p:sp>
      <p:sp>
        <p:nvSpPr>
          <p:cNvPr id="2341" name="Google Shape;2341;p199"/>
          <p:cNvSpPr txBox="1"/>
          <p:nvPr>
            <p:ph idx="1" type="body"/>
          </p:nvPr>
        </p:nvSpPr>
        <p:spPr>
          <a:xfrm>
            <a:off x="1116012" y="1628775"/>
            <a:ext cx="8229600" cy="4495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None/>
            </a:pPr>
            <a:r>
              <a:t/>
            </a:r>
            <a:endParaRPr b="0" i="0" sz="3200" u="none">
              <a:solidFill>
                <a:schemeClr val="dk1"/>
              </a:solidFill>
              <a:latin typeface="Georgia"/>
              <a:ea typeface="Georgia"/>
              <a:cs typeface="Georgia"/>
              <a:sym typeface="Georgia"/>
            </a:endParaRPr>
          </a:p>
          <a:p>
            <a:pPr indent="-342900" lvl="0" marL="342900" rtl="0" algn="l">
              <a:lnSpc>
                <a:spcPct val="100000"/>
              </a:lnSpc>
              <a:spcBef>
                <a:spcPts val="640"/>
              </a:spcBef>
              <a:spcAft>
                <a:spcPts val="0"/>
              </a:spcAft>
              <a:buClr>
                <a:schemeClr val="dk1"/>
              </a:buClr>
              <a:buSzPts val="3200"/>
              <a:buFont typeface="Georgia"/>
              <a:buChar char="•"/>
            </a:pPr>
            <a:r>
              <a:rPr b="0" i="0" lang="en-US" sz="3200" u="none">
                <a:solidFill>
                  <a:schemeClr val="dk1"/>
                </a:solidFill>
                <a:latin typeface="Georgia"/>
                <a:ea typeface="Georgia"/>
                <a:cs typeface="Georgia"/>
                <a:sym typeface="Georgia"/>
              </a:rPr>
              <a:t>  L'objectif d'un processus unifié est de maîtriser la complexité des projets informatiques en diminuant les risques.</a:t>
            </a:r>
            <a:endParaRPr/>
          </a:p>
          <a:p>
            <a:pPr indent="-342900" lvl="0" marL="342900" rtl="0" algn="l">
              <a:lnSpc>
                <a:spcPct val="100000"/>
              </a:lnSpc>
              <a:spcBef>
                <a:spcPts val="640"/>
              </a:spcBef>
              <a:spcAft>
                <a:spcPts val="0"/>
              </a:spcAft>
              <a:buClr>
                <a:schemeClr val="dk1"/>
              </a:buClr>
              <a:buSzPts val="3200"/>
              <a:buFont typeface="Georgia"/>
              <a:buNone/>
            </a:pPr>
            <a:r>
              <a:rPr b="0" i="0" lang="en-US" sz="3200" u="none">
                <a:solidFill>
                  <a:schemeClr val="dk1"/>
                </a:solidFill>
                <a:latin typeface="Georgia"/>
                <a:ea typeface="Georgia"/>
                <a:cs typeface="Georgia"/>
                <a:sym typeface="Georgia"/>
              </a:rPr>
              <a:t> </a:t>
            </a:r>
            <a:endParaRPr/>
          </a:p>
          <a:p>
            <a:pPr indent="-342900" lvl="0" marL="342900" rtl="0" algn="l">
              <a:lnSpc>
                <a:spcPct val="100000"/>
              </a:lnSpc>
              <a:spcBef>
                <a:spcPts val="640"/>
              </a:spcBef>
              <a:spcAft>
                <a:spcPts val="0"/>
              </a:spcAft>
              <a:buClr>
                <a:schemeClr val="dk1"/>
              </a:buClr>
              <a:buSzPts val="3200"/>
              <a:buFont typeface="Arial"/>
              <a:buNone/>
            </a:pPr>
            <a:r>
              <a:t/>
            </a:r>
            <a:endParaRPr b="0" i="0" sz="3200" u="none">
              <a:solidFill>
                <a:schemeClr val="dk1"/>
              </a:solidFill>
              <a:latin typeface="Georgia"/>
              <a:ea typeface="Georgia"/>
              <a:cs typeface="Georgia"/>
              <a:sym typeface="Georgia"/>
            </a:endParaRPr>
          </a:p>
          <a:p>
            <a:pPr indent="-342900" lvl="0" marL="342900" rtl="0" algn="l">
              <a:lnSpc>
                <a:spcPct val="100000"/>
              </a:lnSpc>
              <a:spcBef>
                <a:spcPts val="640"/>
              </a:spcBef>
              <a:spcAft>
                <a:spcPts val="0"/>
              </a:spcAft>
              <a:buClr>
                <a:schemeClr val="dk1"/>
              </a:buClr>
              <a:buSzPts val="3200"/>
              <a:buFont typeface="Georgia"/>
              <a:buChar char="•"/>
            </a:pPr>
            <a:r>
              <a:rPr b="0" i="0" lang="en-US" sz="3200" u="none">
                <a:solidFill>
                  <a:schemeClr val="dk1"/>
                </a:solidFill>
                <a:latin typeface="Georgia"/>
                <a:ea typeface="Georgia"/>
                <a:cs typeface="Georgia"/>
                <a:sym typeface="Georgia"/>
              </a:rPr>
              <a:t> UP gère le processus de développement par deux axes</a:t>
            </a:r>
            <a:r>
              <a:rPr b="0" i="0" lang="en-US" sz="3200" u="none">
                <a:solidFill>
                  <a:schemeClr val="dk1"/>
                </a:solidFill>
                <a:latin typeface="Arial"/>
                <a:ea typeface="Arial"/>
                <a:cs typeface="Arial"/>
                <a:sym typeface="Arial"/>
              </a:rPr>
              <a:t>.</a:t>
            </a:r>
            <a:endParaRPr/>
          </a:p>
          <a:p>
            <a:pPr indent="-139700" lvl="0" marL="342900" rtl="0" algn="l">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5" name="Shape 2345"/>
        <p:cNvGrpSpPr/>
        <p:nvPr/>
      </p:nvGrpSpPr>
      <p:grpSpPr>
        <a:xfrm>
          <a:off x="0" y="0"/>
          <a:ext cx="0" cy="0"/>
          <a:chOff x="0" y="0"/>
          <a:chExt cx="0" cy="0"/>
        </a:xfrm>
      </p:grpSpPr>
      <p:sp>
        <p:nvSpPr>
          <p:cNvPr id="2346" name="Google Shape;2346;p200"/>
          <p:cNvSpPr txBox="1"/>
          <p:nvPr/>
        </p:nvSpPr>
        <p:spPr>
          <a:xfrm>
            <a:off x="179387" y="4076700"/>
            <a:ext cx="8640762"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347" name="Google Shape;2347;p200"/>
          <p:cNvSpPr txBox="1"/>
          <p:nvPr/>
        </p:nvSpPr>
        <p:spPr>
          <a:xfrm>
            <a:off x="323850" y="5087937"/>
            <a:ext cx="8642350" cy="12207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ahoma"/>
              <a:buNone/>
            </a:pPr>
            <a:r>
              <a:rPr b="1" i="0" lang="en-US" sz="2000" u="none">
                <a:solidFill>
                  <a:schemeClr val="dk1"/>
                </a:solidFill>
                <a:latin typeface="Tahoma"/>
                <a:ea typeface="Tahoma"/>
                <a:cs typeface="Tahoma"/>
                <a:sym typeface="Tahoma"/>
              </a:rPr>
              <a:t>L'axe vertical</a:t>
            </a:r>
            <a:r>
              <a:rPr b="1" i="0" lang="en-US" sz="1800" u="none">
                <a:solidFill>
                  <a:schemeClr val="dk1"/>
                </a:solidFill>
                <a:latin typeface="Tahoma"/>
                <a:ea typeface="Tahoma"/>
                <a:cs typeface="Tahoma"/>
                <a:sym typeface="Tahoma"/>
              </a:rPr>
              <a:t> </a:t>
            </a:r>
            <a:r>
              <a:rPr b="0" i="0" lang="en-US" sz="1800" u="none">
                <a:solidFill>
                  <a:schemeClr val="dk1"/>
                </a:solidFill>
                <a:latin typeface="Tahoma"/>
                <a:ea typeface="Tahoma"/>
                <a:cs typeface="Tahoma"/>
                <a:sym typeface="Tahoma"/>
              </a:rPr>
              <a:t>représente les principaux enchaînements d'activités, qui regroupent les activités selon leur nature. </a:t>
            </a:r>
            <a:endParaRPr/>
          </a:p>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Cette dimension rend compte l'aspect statique du processus qui s'exprime en terme de composants, de processus, d'activités.</a:t>
            </a:r>
            <a:endParaRPr/>
          </a:p>
        </p:txBody>
      </p:sp>
      <p:sp>
        <p:nvSpPr>
          <p:cNvPr id="2348" name="Google Shape;2348;p200"/>
          <p:cNvSpPr txBox="1"/>
          <p:nvPr/>
        </p:nvSpPr>
        <p:spPr>
          <a:xfrm>
            <a:off x="2051050" y="620712"/>
            <a:ext cx="4824412"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ahoma"/>
              <a:buNone/>
            </a:pPr>
            <a:r>
              <a:rPr b="1" i="0" lang="en-US" sz="1800" u="none">
                <a:solidFill>
                  <a:schemeClr val="dk1"/>
                </a:solidFill>
                <a:latin typeface="Tahoma"/>
                <a:ea typeface="Tahoma"/>
                <a:cs typeface="Tahoma"/>
                <a:sym typeface="Tahoma"/>
              </a:rPr>
              <a:t>L 'architecture bidirectionnelle du UP</a:t>
            </a:r>
            <a:endParaRPr/>
          </a:p>
        </p:txBody>
      </p:sp>
      <p:pic>
        <p:nvPicPr>
          <p:cNvPr descr="Sans titre" id="2349" name="Google Shape;2349;p200"/>
          <p:cNvPicPr preferRelativeResize="0"/>
          <p:nvPr/>
        </p:nvPicPr>
        <p:blipFill rotWithShape="1">
          <a:blip r:embed="rId3">
            <a:alphaModFix/>
          </a:blip>
          <a:srcRect b="0" l="0" r="0" t="0"/>
          <a:stretch/>
        </p:blipFill>
        <p:spPr>
          <a:xfrm>
            <a:off x="468312" y="1196975"/>
            <a:ext cx="8135937" cy="374491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8"/>
                                        </p:tgtEl>
                                        <p:attrNameLst>
                                          <p:attrName>style.visibility</p:attrName>
                                        </p:attrNameLst>
                                      </p:cBhvr>
                                      <p:to>
                                        <p:strVal val="visible"/>
                                      </p:to>
                                    </p:set>
                                    <p:animEffect filter="fade" transition="in">
                                      <p:cBhvr>
                                        <p:cTn dur="500"/>
                                        <p:tgtEl>
                                          <p:spTgt spid="23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9"/>
                                        </p:tgtEl>
                                        <p:attrNameLst>
                                          <p:attrName>style.visibility</p:attrName>
                                        </p:attrNameLst>
                                      </p:cBhvr>
                                      <p:to>
                                        <p:strVal val="visible"/>
                                      </p:to>
                                    </p:set>
                                    <p:animEffect filter="fade" transition="in">
                                      <p:cBhvr>
                                        <p:cTn dur="500"/>
                                        <p:tgtEl>
                                          <p:spTgt spid="23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7"/>
                                        </p:tgtEl>
                                        <p:attrNameLst>
                                          <p:attrName>style.visibility</p:attrName>
                                        </p:attrNameLst>
                                      </p:cBhvr>
                                      <p:to>
                                        <p:strVal val="visible"/>
                                      </p:to>
                                    </p:set>
                                    <p:animEffect filter="fade" transition="in">
                                      <p:cBhvr>
                                        <p:cTn dur="500"/>
                                        <p:tgtEl>
                                          <p:spTgt spid="23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3" name="Shape 2353"/>
        <p:cNvGrpSpPr/>
        <p:nvPr/>
      </p:nvGrpSpPr>
      <p:grpSpPr>
        <a:xfrm>
          <a:off x="0" y="0"/>
          <a:ext cx="0" cy="0"/>
          <a:chOff x="0" y="0"/>
          <a:chExt cx="0" cy="0"/>
        </a:xfrm>
      </p:grpSpPr>
      <p:sp>
        <p:nvSpPr>
          <p:cNvPr id="2354" name="Google Shape;2354;p201"/>
          <p:cNvSpPr txBox="1"/>
          <p:nvPr/>
        </p:nvSpPr>
        <p:spPr>
          <a:xfrm>
            <a:off x="2051050" y="620712"/>
            <a:ext cx="4824412"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ahoma"/>
              <a:buNone/>
            </a:pPr>
            <a:r>
              <a:rPr b="1" i="0" lang="en-US" sz="1800" u="none">
                <a:solidFill>
                  <a:schemeClr val="dk1"/>
                </a:solidFill>
                <a:latin typeface="Tahoma"/>
                <a:ea typeface="Tahoma"/>
                <a:cs typeface="Tahoma"/>
                <a:sym typeface="Tahoma"/>
              </a:rPr>
              <a:t>L 'architecture bidirectionnelle du UP</a:t>
            </a:r>
            <a:endParaRPr/>
          </a:p>
        </p:txBody>
      </p:sp>
      <p:sp>
        <p:nvSpPr>
          <p:cNvPr id="2355" name="Google Shape;2355;p201"/>
          <p:cNvSpPr txBox="1"/>
          <p:nvPr/>
        </p:nvSpPr>
        <p:spPr>
          <a:xfrm>
            <a:off x="611187" y="5300662"/>
            <a:ext cx="7920037" cy="9159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1" i="0" lang="en-US" sz="1800" u="none">
                <a:solidFill>
                  <a:schemeClr val="dk1"/>
                </a:solidFill>
                <a:latin typeface="Tahoma"/>
                <a:ea typeface="Tahoma"/>
                <a:cs typeface="Tahoma"/>
                <a:sym typeface="Tahoma"/>
              </a:rPr>
              <a:t>L'axe horizontal </a:t>
            </a:r>
            <a:r>
              <a:rPr b="0" i="0" lang="en-US" sz="1800" u="none">
                <a:solidFill>
                  <a:schemeClr val="dk1"/>
                </a:solidFill>
                <a:latin typeface="Tahoma"/>
                <a:ea typeface="Tahoma"/>
                <a:cs typeface="Tahoma"/>
                <a:sym typeface="Tahoma"/>
              </a:rPr>
              <a:t>représente le temps et montre le déroulement du cycle de vie du processus; cette dimension rend compte de l'aspect dynamique du processus qui s'exprime en terme de cycles, de phases, d'itérations</a:t>
            </a:r>
            <a:endParaRPr/>
          </a:p>
        </p:txBody>
      </p:sp>
      <p:pic>
        <p:nvPicPr>
          <p:cNvPr descr="Sans titre" id="2356" name="Google Shape;2356;p201"/>
          <p:cNvPicPr preferRelativeResize="0"/>
          <p:nvPr/>
        </p:nvPicPr>
        <p:blipFill rotWithShape="1">
          <a:blip r:embed="rId3">
            <a:alphaModFix/>
          </a:blip>
          <a:srcRect b="0" l="0" r="0" t="0"/>
          <a:stretch/>
        </p:blipFill>
        <p:spPr>
          <a:xfrm>
            <a:off x="468312" y="1196975"/>
            <a:ext cx="8135937" cy="374491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55"/>
                                        </p:tgtEl>
                                        <p:attrNameLst>
                                          <p:attrName>style.visibility</p:attrName>
                                        </p:attrNameLst>
                                      </p:cBhvr>
                                      <p:to>
                                        <p:strVal val="visible"/>
                                      </p:to>
                                    </p:set>
                                    <p:animEffect filter="fade" transition="in">
                                      <p:cBhvr>
                                        <p:cTn dur="500"/>
                                        <p:tgtEl>
                                          <p:spTgt spid="23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0" name="Shape 2360"/>
        <p:cNvGrpSpPr/>
        <p:nvPr/>
      </p:nvGrpSpPr>
      <p:grpSpPr>
        <a:xfrm>
          <a:off x="0" y="0"/>
          <a:ext cx="0" cy="0"/>
          <a:chOff x="0" y="0"/>
          <a:chExt cx="0" cy="0"/>
        </a:xfrm>
      </p:grpSpPr>
      <p:sp>
        <p:nvSpPr>
          <p:cNvPr id="2361" name="Google Shape;2361;p20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Georgia"/>
              <a:buNone/>
            </a:pPr>
            <a:r>
              <a:rPr b="0" i="0" lang="en-US" sz="4400" u="none">
                <a:solidFill>
                  <a:schemeClr val="dk2"/>
                </a:solidFill>
                <a:latin typeface="Georgia"/>
                <a:ea typeface="Georgia"/>
                <a:cs typeface="Georgia"/>
                <a:sym typeface="Georgia"/>
              </a:rPr>
              <a:t>    3 -Les phases de UP</a:t>
            </a:r>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5" name="Shape 2365"/>
        <p:cNvGrpSpPr/>
        <p:nvPr/>
      </p:nvGrpSpPr>
      <p:grpSpPr>
        <a:xfrm>
          <a:off x="0" y="0"/>
          <a:ext cx="0" cy="0"/>
          <a:chOff x="0" y="0"/>
          <a:chExt cx="0" cy="0"/>
        </a:xfrm>
      </p:grpSpPr>
      <p:sp>
        <p:nvSpPr>
          <p:cNvPr id="2366" name="Google Shape;2366;p203"/>
          <p:cNvSpPr/>
          <p:nvPr/>
        </p:nvSpPr>
        <p:spPr>
          <a:xfrm>
            <a:off x="395287" y="2060575"/>
            <a:ext cx="4438650" cy="647700"/>
          </a:xfrm>
          <a:prstGeom prst="rect">
            <a:avLst/>
          </a:prstGeom>
        </p:spPr>
        <p:txBody>
          <a:bodyPr>
            <a:prstTxWarp prst="textPlain"/>
          </a:bodyPr>
          <a:lstStyle/>
          <a:p>
            <a:pPr lvl="0" algn="l"/>
            <a:r>
              <a:rPr b="0" i="0">
                <a:ln cap="sq" cmpd="sng" w="9525">
                  <a:solidFill>
                    <a:schemeClr val="dk1"/>
                  </a:solidFill>
                  <a:prstDash val="solid"/>
                  <a:miter lim="800000"/>
                  <a:headEnd len="sm" w="sm" type="none"/>
                  <a:tailEnd len="sm" w="sm" type="none"/>
                </a:ln>
                <a:solidFill>
                  <a:srgbClr val="FFFFFF"/>
                </a:solidFill>
                <a:latin typeface="Georgia"/>
              </a:rPr>
              <a:t>Phase d’inception </a:t>
            </a: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0" name="Shape 2370"/>
        <p:cNvGrpSpPr/>
        <p:nvPr/>
      </p:nvGrpSpPr>
      <p:grpSpPr>
        <a:xfrm>
          <a:off x="0" y="0"/>
          <a:ext cx="0" cy="0"/>
          <a:chOff x="0" y="0"/>
          <a:chExt cx="0" cy="0"/>
        </a:xfrm>
      </p:grpSpPr>
      <p:sp>
        <p:nvSpPr>
          <p:cNvPr id="2371" name="Google Shape;2371;p204"/>
          <p:cNvSpPr txBox="1"/>
          <p:nvPr/>
        </p:nvSpPr>
        <p:spPr>
          <a:xfrm>
            <a:off x="2895600" y="2224087"/>
            <a:ext cx="1841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372" name="Google Shape;2372;p204"/>
          <p:cNvSpPr txBox="1"/>
          <p:nvPr/>
        </p:nvSpPr>
        <p:spPr>
          <a:xfrm>
            <a:off x="1258887" y="1341437"/>
            <a:ext cx="6767512" cy="2528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Georgia"/>
              <a:buNone/>
            </a:pPr>
            <a:r>
              <a:rPr b="0" i="0" lang="en-US" sz="3200" u="none">
                <a:solidFill>
                  <a:schemeClr val="dk1"/>
                </a:solidFill>
                <a:latin typeface="Georgia"/>
                <a:ea typeface="Georgia"/>
                <a:cs typeface="Georgia"/>
                <a:sym typeface="Georgia"/>
              </a:rPr>
              <a:t>La phase d’</a:t>
            </a:r>
            <a:r>
              <a:rPr b="0" i="1" lang="en-US" sz="3200" u="none">
                <a:solidFill>
                  <a:schemeClr val="dk1"/>
                </a:solidFill>
                <a:latin typeface="Georgia"/>
                <a:ea typeface="Georgia"/>
                <a:cs typeface="Georgia"/>
                <a:sym typeface="Georgia"/>
              </a:rPr>
              <a:t>inception </a:t>
            </a:r>
            <a:r>
              <a:rPr b="0" i="0" lang="en-US" sz="3200" u="none">
                <a:solidFill>
                  <a:schemeClr val="dk1"/>
                </a:solidFill>
                <a:latin typeface="Georgia"/>
                <a:ea typeface="Georgia"/>
                <a:cs typeface="Georgia"/>
                <a:sym typeface="Georgia"/>
              </a:rPr>
              <a:t>a pour but de décrire la vision du produit final, de réaliser une étude de rentabilité</a:t>
            </a:r>
            <a:endParaRPr/>
          </a:p>
          <a:p>
            <a:pPr indent="0" lvl="0" marL="0" marR="0" rtl="0" algn="l">
              <a:lnSpc>
                <a:spcPct val="100000"/>
              </a:lnSpc>
              <a:spcBef>
                <a:spcPts val="0"/>
              </a:spcBef>
              <a:spcAft>
                <a:spcPts val="0"/>
              </a:spcAft>
              <a:buClr>
                <a:schemeClr val="dk1"/>
              </a:buClr>
              <a:buSzPts val="3200"/>
              <a:buFont typeface="Georgia"/>
              <a:buNone/>
            </a:pPr>
            <a:r>
              <a:rPr b="0" i="0" lang="en-US" sz="3200" u="none">
                <a:solidFill>
                  <a:schemeClr val="dk1"/>
                </a:solidFill>
                <a:latin typeface="Georgia"/>
                <a:ea typeface="Georgia"/>
                <a:cs typeface="Georgia"/>
                <a:sym typeface="Georgia"/>
              </a:rPr>
              <a:t>et de risques et de définir le projet.</a:t>
            </a:r>
            <a:endParaRPr/>
          </a:p>
          <a:p>
            <a:pPr indent="0" lvl="0" marL="0" marR="0" rtl="0" algn="l">
              <a:lnSpc>
                <a:spcPct val="100000"/>
              </a:lnSpc>
              <a:spcBef>
                <a:spcPts val="0"/>
              </a:spcBef>
              <a:spcAft>
                <a:spcPts val="0"/>
              </a:spcAft>
              <a:buNone/>
            </a:pPr>
            <a:r>
              <a:t/>
            </a:r>
            <a:endParaRPr b="0" i="0" sz="3200" u="none">
              <a:solidFill>
                <a:schemeClr val="dk1"/>
              </a:solidFill>
              <a:latin typeface="Georgia"/>
              <a:ea typeface="Georgia"/>
              <a:cs typeface="Georgia"/>
              <a:sym typeface="Georgia"/>
            </a:endParaRPr>
          </a:p>
        </p:txBody>
      </p:sp>
      <p:sp>
        <p:nvSpPr>
          <p:cNvPr id="2373" name="Google Shape;2373;p204"/>
          <p:cNvSpPr/>
          <p:nvPr/>
        </p:nvSpPr>
        <p:spPr>
          <a:xfrm>
            <a:off x="4140200" y="3500437"/>
            <a:ext cx="485775" cy="976312"/>
          </a:xfrm>
          <a:prstGeom prst="downArrow">
            <a:avLst>
              <a:gd fmla="val 50000" name="adj1"/>
              <a:gd fmla="val 50000"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374" name="Google Shape;2374;p204"/>
          <p:cNvSpPr txBox="1"/>
          <p:nvPr/>
        </p:nvSpPr>
        <p:spPr>
          <a:xfrm>
            <a:off x="1331912" y="4797425"/>
            <a:ext cx="7129462" cy="1066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Georgia"/>
              <a:buNone/>
            </a:pPr>
            <a:r>
              <a:rPr b="0" i="0" lang="en-US" sz="3200" u="none">
                <a:solidFill>
                  <a:schemeClr val="dk1"/>
                </a:solidFill>
                <a:latin typeface="Georgia"/>
                <a:ea typeface="Georgia"/>
                <a:cs typeface="Georgia"/>
                <a:sym typeface="Georgia"/>
              </a:rPr>
              <a:t>Il s’agit de modéliser d’une façon générale les exigences du système.</a:t>
            </a:r>
            <a:r>
              <a:rPr b="0" i="0" lang="en-US" sz="2800" u="none">
                <a:solidFill>
                  <a:schemeClr val="dk1"/>
                </a:solidFill>
                <a:latin typeface="Arial"/>
                <a:ea typeface="Arial"/>
                <a:cs typeface="Arial"/>
                <a:sym typeface="Arial"/>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2"/>
                                        </p:tgtEl>
                                        <p:attrNameLst>
                                          <p:attrName>style.visibility</p:attrName>
                                        </p:attrNameLst>
                                      </p:cBhvr>
                                      <p:to>
                                        <p:strVal val="visible"/>
                                      </p:to>
                                    </p:set>
                                    <p:animEffect filter="fade" transition="in">
                                      <p:cBhvr>
                                        <p:cTn dur="500"/>
                                        <p:tgtEl>
                                          <p:spTgt spid="23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3"/>
                                        </p:tgtEl>
                                        <p:attrNameLst>
                                          <p:attrName>style.visibility</p:attrName>
                                        </p:attrNameLst>
                                      </p:cBhvr>
                                      <p:to>
                                        <p:strVal val="visible"/>
                                      </p:to>
                                    </p:set>
                                    <p:animEffect filter="fade" transition="in">
                                      <p:cBhvr>
                                        <p:cTn dur="500"/>
                                        <p:tgtEl>
                                          <p:spTgt spid="23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4"/>
                                        </p:tgtEl>
                                        <p:attrNameLst>
                                          <p:attrName>style.visibility</p:attrName>
                                        </p:attrNameLst>
                                      </p:cBhvr>
                                      <p:to>
                                        <p:strVal val="visible"/>
                                      </p:to>
                                    </p:set>
                                    <p:animEffect filter="fade" transition="in">
                                      <p:cBhvr>
                                        <p:cTn dur="500"/>
                                        <p:tgtEl>
                                          <p:spTgt spid="23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8" name="Shape 2378"/>
        <p:cNvGrpSpPr/>
        <p:nvPr/>
      </p:nvGrpSpPr>
      <p:grpSpPr>
        <a:xfrm>
          <a:off x="0" y="0"/>
          <a:ext cx="0" cy="0"/>
          <a:chOff x="0" y="0"/>
          <a:chExt cx="0" cy="0"/>
        </a:xfrm>
      </p:grpSpPr>
      <p:sp>
        <p:nvSpPr>
          <p:cNvPr id="2379" name="Google Shape;2379;p205"/>
          <p:cNvSpPr txBox="1"/>
          <p:nvPr/>
        </p:nvSpPr>
        <p:spPr>
          <a:xfrm>
            <a:off x="539750" y="620712"/>
            <a:ext cx="782796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Cette phase est résumée en deux étapes :</a:t>
            </a:r>
            <a:endParaRPr/>
          </a:p>
        </p:txBody>
      </p:sp>
      <p:sp>
        <p:nvSpPr>
          <p:cNvPr id="2380" name="Google Shape;2380;p205"/>
          <p:cNvSpPr txBox="1"/>
          <p:nvPr/>
        </p:nvSpPr>
        <p:spPr>
          <a:xfrm>
            <a:off x="611187" y="1773237"/>
            <a:ext cx="8137525" cy="48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0" i="0" lang="en-US" sz="2400" u="sng">
                <a:solidFill>
                  <a:schemeClr val="dk1"/>
                </a:solidFill>
                <a:latin typeface="Arial"/>
                <a:ea typeface="Arial"/>
                <a:cs typeface="Arial"/>
                <a:sym typeface="Arial"/>
              </a:rPr>
              <a:t>Etape1 </a:t>
            </a:r>
            <a:endParaRPr b="0" i="0" sz="2400" u="none">
              <a:solidFill>
                <a:schemeClr val="dk1"/>
              </a:solidFill>
              <a:latin typeface="Arial"/>
              <a:ea typeface="Arial"/>
              <a:cs typeface="Arial"/>
              <a:sym typeface="Arial"/>
            </a:endParaRPr>
          </a:p>
          <a:p>
            <a:pPr indent="-152400" lvl="0" marL="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Étude de l’existant et expression des besoins</a:t>
            </a:r>
            <a:endParaRPr/>
          </a:p>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(le calendrier, répartition des tâches,cadre budgétaire,les  contraintes..)</a:t>
            </a:r>
            <a:endParaRPr/>
          </a:p>
          <a:p>
            <a:pPr indent="-152400" lvl="0" marL="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Le schéma directeur</a:t>
            </a:r>
            <a:endParaRPr/>
          </a:p>
          <a:p>
            <a:pPr indent="-152400" lvl="0" marL="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Formalisation du domaine d’activité :</a:t>
            </a:r>
            <a:endParaRPr/>
          </a:p>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 liste exhaustive des scénarios.</a:t>
            </a:r>
            <a:endParaRPr/>
          </a:p>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 les partenaires et leur rôle et leur particularité.</a:t>
            </a:r>
            <a:endParaRPr/>
          </a:p>
          <a:p>
            <a:pPr indent="-152400" lvl="0" marL="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Dégager les fonctions stables du système.</a:t>
            </a:r>
            <a:endParaRPr/>
          </a:p>
          <a:p>
            <a:pPr indent="-152400" lvl="0" marL="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Les cas d’utilisation</a:t>
            </a:r>
            <a:endParaRPr/>
          </a:p>
          <a:p>
            <a:pPr indent="-152400" lvl="0" marL="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Démarrer les flots d’information manipulés par les cas d’utilisations</a:t>
            </a:r>
            <a:endParaRPr/>
          </a:p>
          <a:p>
            <a:pPr indent="-152400" lvl="0" marL="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En déduire un diagramme des cas d’Utilisation.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9"/>
                                        </p:tgtEl>
                                        <p:attrNameLst>
                                          <p:attrName>style.visibility</p:attrName>
                                        </p:attrNameLst>
                                      </p:cBhvr>
                                      <p:to>
                                        <p:strVal val="visible"/>
                                      </p:to>
                                    </p:set>
                                    <p:animEffect filter="fade" transition="in">
                                      <p:cBhvr>
                                        <p:cTn dur="500"/>
                                        <p:tgtEl>
                                          <p:spTgt spid="23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0"/>
                                        </p:tgtEl>
                                        <p:attrNameLst>
                                          <p:attrName>style.visibility</p:attrName>
                                        </p:attrNameLst>
                                      </p:cBhvr>
                                      <p:to>
                                        <p:strVal val="visible"/>
                                      </p:to>
                                    </p:set>
                                    <p:animEffect filter="fade" transition="in">
                                      <p:cBhvr>
                                        <p:cTn dur="500"/>
                                        <p:tgtEl>
                                          <p:spTgt spid="23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4" name="Shape 2384"/>
        <p:cNvGrpSpPr/>
        <p:nvPr/>
      </p:nvGrpSpPr>
      <p:grpSpPr>
        <a:xfrm>
          <a:off x="0" y="0"/>
          <a:ext cx="0" cy="0"/>
          <a:chOff x="0" y="0"/>
          <a:chExt cx="0" cy="0"/>
        </a:xfrm>
      </p:grpSpPr>
      <p:sp>
        <p:nvSpPr>
          <p:cNvPr id="2385" name="Google Shape;2385;p206"/>
          <p:cNvSpPr txBox="1"/>
          <p:nvPr/>
        </p:nvSpPr>
        <p:spPr>
          <a:xfrm>
            <a:off x="827087" y="1557337"/>
            <a:ext cx="7953375" cy="41084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0" i="0" lang="en-US" sz="2400" u="sng">
                <a:solidFill>
                  <a:schemeClr val="dk1"/>
                </a:solidFill>
                <a:latin typeface="Arial"/>
                <a:ea typeface="Arial"/>
                <a:cs typeface="Arial"/>
                <a:sym typeface="Arial"/>
              </a:rPr>
              <a:t>Étape 2   </a:t>
            </a:r>
            <a:endParaRPr b="0" i="0" sz="2400" u="none">
              <a:solidFill>
                <a:schemeClr val="dk1"/>
              </a:solidFill>
              <a:latin typeface="Arial"/>
              <a:ea typeface="Arial"/>
              <a:cs typeface="Arial"/>
              <a:sym typeface="Arial"/>
            </a:endParaRPr>
          </a:p>
          <a:p>
            <a:pPr indent="-152400" lvl="0" marL="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Établir un diagnostique critique de la situation actuelle</a:t>
            </a:r>
            <a:endParaRPr/>
          </a:p>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.aspects techniques (matériel, fonctionnement,…)</a:t>
            </a:r>
            <a:endParaRPr/>
          </a:p>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.aspects organisationnels (lourdeurs, circuit parallèle,</a:t>
            </a:r>
            <a:endParaRPr/>
          </a:p>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satisfactions,…)</a:t>
            </a:r>
            <a:endParaRPr/>
          </a:p>
          <a:p>
            <a:pPr indent="-152400" lvl="0" marL="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Proposer des orientations </a:t>
            </a:r>
            <a:endParaRPr/>
          </a:p>
          <a:p>
            <a:pPr indent="-152400" lvl="0" marL="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Évaluer l’écart entre la situation actuelle et les situations </a:t>
            </a:r>
            <a:endParaRPr/>
          </a:p>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nouvelles proposées</a:t>
            </a:r>
            <a:endParaRPr/>
          </a:p>
          <a:p>
            <a:pPr indent="-152400" lvl="0" marL="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Propose un planning </a:t>
            </a:r>
            <a:endParaRPr/>
          </a:p>
          <a:p>
            <a:pPr indent="-152400" lvl="0" marL="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Validation de cahier de charge par le groupe de pilotage</a:t>
            </a:r>
            <a:endParaRPr/>
          </a:p>
          <a:p>
            <a:pPr indent="-152400" lvl="0" marL="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Décision de continuer ou non l’étude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5"/>
                                        </p:tgtEl>
                                        <p:attrNameLst>
                                          <p:attrName>style.visibility</p:attrName>
                                        </p:attrNameLst>
                                      </p:cBhvr>
                                      <p:to>
                                        <p:strVal val="visible"/>
                                      </p:to>
                                    </p:set>
                                    <p:animEffect filter="fade" transition="in">
                                      <p:cBhvr>
                                        <p:cTn dur="500"/>
                                        <p:tgtEl>
                                          <p:spTgt spid="23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9" name="Shape 2389"/>
        <p:cNvGrpSpPr/>
        <p:nvPr/>
      </p:nvGrpSpPr>
      <p:grpSpPr>
        <a:xfrm>
          <a:off x="0" y="0"/>
          <a:ext cx="0" cy="0"/>
          <a:chOff x="0" y="0"/>
          <a:chExt cx="0" cy="0"/>
        </a:xfrm>
      </p:grpSpPr>
      <p:sp>
        <p:nvSpPr>
          <p:cNvPr id="2390" name="Google Shape;2390;p207"/>
          <p:cNvSpPr/>
          <p:nvPr/>
        </p:nvSpPr>
        <p:spPr>
          <a:xfrm>
            <a:off x="395287" y="1989137"/>
            <a:ext cx="4321175" cy="647700"/>
          </a:xfrm>
          <a:prstGeom prst="rect">
            <a:avLst/>
          </a:prstGeom>
        </p:spPr>
        <p:txBody>
          <a:bodyPr>
            <a:prstTxWarp prst="textPlain"/>
          </a:bodyPr>
          <a:lstStyle/>
          <a:p>
            <a:pPr lvl="0" algn="l"/>
            <a:r>
              <a:rPr b="0" i="0">
                <a:ln cap="sq" cmpd="sng" w="9525">
                  <a:solidFill>
                    <a:schemeClr val="dk1"/>
                  </a:solidFill>
                  <a:prstDash val="solid"/>
                  <a:miter lim="800000"/>
                  <a:headEnd len="sm" w="sm" type="none"/>
                  <a:tailEnd len="sm" w="sm" type="none"/>
                </a:ln>
                <a:solidFill>
                  <a:srgbClr val="FFFFFF"/>
                </a:solidFill>
                <a:latin typeface="Georgia"/>
              </a:rPr>
              <a:t>Phase d’Élaboration </a:t>
            </a: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4" name="Shape 2394"/>
        <p:cNvGrpSpPr/>
        <p:nvPr/>
      </p:nvGrpSpPr>
      <p:grpSpPr>
        <a:xfrm>
          <a:off x="0" y="0"/>
          <a:ext cx="0" cy="0"/>
          <a:chOff x="0" y="0"/>
          <a:chExt cx="0" cy="0"/>
        </a:xfrm>
      </p:grpSpPr>
      <p:sp>
        <p:nvSpPr>
          <p:cNvPr id="2395" name="Google Shape;2395;p208"/>
          <p:cNvSpPr txBox="1"/>
          <p:nvPr>
            <p:ph idx="1" type="body"/>
          </p:nvPr>
        </p:nvSpPr>
        <p:spPr>
          <a:xfrm>
            <a:off x="395287" y="836612"/>
            <a:ext cx="8229600" cy="45307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Georgia"/>
              <a:buNone/>
            </a:pPr>
            <a:r>
              <a:rPr b="0" i="0" lang="en-US" sz="3200" u="none">
                <a:solidFill>
                  <a:schemeClr val="dk1"/>
                </a:solidFill>
                <a:latin typeface="Georgia"/>
                <a:ea typeface="Georgia"/>
                <a:cs typeface="Georgia"/>
                <a:sym typeface="Georgia"/>
              </a:rPr>
              <a:t>   </a:t>
            </a:r>
            <a:endParaRPr/>
          </a:p>
          <a:p>
            <a:pPr indent="-342900" lvl="0" marL="342900" rtl="0" algn="l">
              <a:lnSpc>
                <a:spcPct val="100000"/>
              </a:lnSpc>
              <a:spcBef>
                <a:spcPts val="640"/>
              </a:spcBef>
              <a:spcAft>
                <a:spcPts val="0"/>
              </a:spcAft>
              <a:buClr>
                <a:schemeClr val="dk1"/>
              </a:buClr>
              <a:buSzPts val="3200"/>
              <a:buFont typeface="Georgia"/>
              <a:buNone/>
            </a:pPr>
            <a:r>
              <a:rPr b="0" i="0" lang="en-US" sz="3200" u="none">
                <a:solidFill>
                  <a:schemeClr val="dk1"/>
                </a:solidFill>
                <a:latin typeface="Georgia"/>
                <a:ea typeface="Georgia"/>
                <a:cs typeface="Georgia"/>
                <a:sym typeface="Georgia"/>
              </a:rPr>
              <a:t>   La phase d’élaboration a pour but d’analyser le domaine du problème, de construire l’architecture de base, de résoudre les éléments à haut risque et de  définir la plupart des exigences.</a:t>
            </a:r>
            <a:endParaRPr/>
          </a:p>
        </p:txBody>
      </p:sp>
      <p:pic>
        <p:nvPicPr>
          <p:cNvPr id="2396" name="Google Shape;2396;p208"/>
          <p:cNvPicPr preferRelativeResize="0"/>
          <p:nvPr/>
        </p:nvPicPr>
        <p:blipFill rotWithShape="1">
          <a:blip r:embed="rId3">
            <a:alphaModFix/>
          </a:blip>
          <a:srcRect b="0" l="0" r="0" t="0"/>
          <a:stretch/>
        </p:blipFill>
        <p:spPr>
          <a:xfrm>
            <a:off x="3851275" y="4221162"/>
            <a:ext cx="3314700" cy="244633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96"/>
                                        </p:tgtEl>
                                        <p:attrNameLst>
                                          <p:attrName>style.visibility</p:attrName>
                                        </p:attrNameLst>
                                      </p:cBhvr>
                                      <p:to>
                                        <p:strVal val="visible"/>
                                      </p:to>
                                    </p:set>
                                    <p:animEffect filter="fade" transition="in">
                                      <p:cBhvr>
                                        <p:cTn dur="500"/>
                                        <p:tgtEl>
                                          <p:spTgt spid="23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0" name="Shape 2400"/>
        <p:cNvGrpSpPr/>
        <p:nvPr/>
      </p:nvGrpSpPr>
      <p:grpSpPr>
        <a:xfrm>
          <a:off x="0" y="0"/>
          <a:ext cx="0" cy="0"/>
          <a:chOff x="0" y="0"/>
          <a:chExt cx="0" cy="0"/>
        </a:xfrm>
      </p:grpSpPr>
      <p:sp>
        <p:nvSpPr>
          <p:cNvPr id="2401" name="Google Shape;2401;p20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Georgia"/>
              <a:buChar char="•"/>
            </a:pPr>
            <a:r>
              <a:rPr b="0" i="0" lang="en-US" sz="3200" u="none">
                <a:solidFill>
                  <a:schemeClr val="dk1"/>
                </a:solidFill>
                <a:latin typeface="Georgia"/>
                <a:ea typeface="Georgia"/>
                <a:cs typeface="Georgia"/>
                <a:sym typeface="Georgia"/>
              </a:rPr>
              <a:t>Étude des cas d’utilisation</a:t>
            </a:r>
            <a:endParaRPr/>
          </a:p>
          <a:p>
            <a:pPr indent="-139700" lvl="0" marL="342900" rtl="0" algn="l">
              <a:lnSpc>
                <a:spcPct val="100000"/>
              </a:lnSpc>
              <a:spcBef>
                <a:spcPts val="640"/>
              </a:spcBef>
              <a:spcAft>
                <a:spcPts val="0"/>
              </a:spcAft>
              <a:buClr>
                <a:schemeClr val="dk1"/>
              </a:buClr>
              <a:buSzPts val="3200"/>
              <a:buFont typeface="Arial"/>
              <a:buNone/>
            </a:pPr>
            <a:r>
              <a:t/>
            </a:r>
            <a:endParaRPr b="0" i="0" sz="3200" u="none">
              <a:solidFill>
                <a:schemeClr val="dk1"/>
              </a:solidFill>
              <a:latin typeface="Georgia"/>
              <a:ea typeface="Georgia"/>
              <a:cs typeface="Georgia"/>
              <a:sym typeface="Georgia"/>
            </a:endParaRPr>
          </a:p>
          <a:p>
            <a:pPr indent="-342900" lvl="0" marL="342900" rtl="0" algn="l">
              <a:lnSpc>
                <a:spcPct val="100000"/>
              </a:lnSpc>
              <a:spcBef>
                <a:spcPts val="640"/>
              </a:spcBef>
              <a:spcAft>
                <a:spcPts val="0"/>
              </a:spcAft>
              <a:buClr>
                <a:schemeClr val="dk1"/>
              </a:buClr>
              <a:buSzPts val="3200"/>
              <a:buFont typeface="Georgia"/>
              <a:buChar char="•"/>
            </a:pPr>
            <a:r>
              <a:rPr b="0" i="0" lang="en-US" sz="3200" u="none">
                <a:solidFill>
                  <a:schemeClr val="dk1"/>
                </a:solidFill>
                <a:latin typeface="Georgia"/>
                <a:ea typeface="Georgia"/>
                <a:cs typeface="Georgia"/>
                <a:sym typeface="Georgia"/>
              </a:rPr>
              <a:t>Intégration et validation des diagramme de classe</a:t>
            </a:r>
            <a:endParaRPr/>
          </a:p>
          <a:p>
            <a:pPr indent="-139700" lvl="0" marL="342900" rtl="0" algn="l">
              <a:lnSpc>
                <a:spcPct val="100000"/>
              </a:lnSpc>
              <a:spcBef>
                <a:spcPts val="640"/>
              </a:spcBef>
              <a:spcAft>
                <a:spcPts val="0"/>
              </a:spcAft>
              <a:buClr>
                <a:schemeClr val="dk1"/>
              </a:buClr>
              <a:buSzPts val="3200"/>
              <a:buFont typeface="Arial"/>
              <a:buNone/>
            </a:pPr>
            <a:r>
              <a:t/>
            </a:r>
            <a:endParaRPr b="0" i="0" sz="3200" u="none">
              <a:solidFill>
                <a:schemeClr val="dk1"/>
              </a:solidFill>
              <a:latin typeface="Georgia"/>
              <a:ea typeface="Georgia"/>
              <a:cs typeface="Georgia"/>
              <a:sym typeface="Georgia"/>
            </a:endParaRPr>
          </a:p>
          <a:p>
            <a:pPr indent="-342900" lvl="0" marL="342900" rtl="0" algn="l">
              <a:lnSpc>
                <a:spcPct val="100000"/>
              </a:lnSpc>
              <a:spcBef>
                <a:spcPts val="640"/>
              </a:spcBef>
              <a:spcAft>
                <a:spcPts val="0"/>
              </a:spcAft>
              <a:buClr>
                <a:schemeClr val="dk1"/>
              </a:buClr>
              <a:buSzPts val="3200"/>
              <a:buFont typeface="Georgia"/>
              <a:buChar char="•"/>
            </a:pPr>
            <a:r>
              <a:rPr b="0" i="0" lang="en-US" sz="3200" u="none">
                <a:solidFill>
                  <a:schemeClr val="dk1"/>
                </a:solidFill>
                <a:latin typeface="Georgia"/>
                <a:ea typeface="Georgia"/>
                <a:cs typeface="Georgia"/>
                <a:sym typeface="Georgia"/>
              </a:rPr>
              <a:t>Quantification des éléments essentiels de la solution</a:t>
            </a:r>
            <a:r>
              <a:rPr b="0" i="0" lang="en-US" sz="3200" u="none">
                <a:solidFill>
                  <a:schemeClr val="dk1"/>
                </a:solidFill>
                <a:latin typeface="Arial"/>
                <a:ea typeface="Arial"/>
                <a:cs typeface="Arial"/>
                <a:sym typeface="Arial"/>
              </a:rPr>
              <a:t> </a:t>
            </a:r>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5" name="Shape 2405"/>
        <p:cNvGrpSpPr/>
        <p:nvPr/>
      </p:nvGrpSpPr>
      <p:grpSpPr>
        <a:xfrm>
          <a:off x="0" y="0"/>
          <a:ext cx="0" cy="0"/>
          <a:chOff x="0" y="0"/>
          <a:chExt cx="0" cy="0"/>
        </a:xfrm>
      </p:grpSpPr>
      <p:sp>
        <p:nvSpPr>
          <p:cNvPr id="2406" name="Google Shape;2406;p21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      </a:t>
            </a:r>
            <a:br>
              <a:rPr b="0" i="0" lang="en-US" sz="4000" u="none">
                <a:solidFill>
                  <a:schemeClr val="dk2"/>
                </a:solidFill>
                <a:latin typeface="Arial"/>
                <a:ea typeface="Arial"/>
                <a:cs typeface="Arial"/>
                <a:sym typeface="Arial"/>
              </a:rPr>
            </a:br>
            <a:r>
              <a:rPr b="0" i="0" lang="en-US" sz="4000" u="none">
                <a:solidFill>
                  <a:schemeClr val="dk2"/>
                </a:solidFill>
                <a:latin typeface="Arial"/>
                <a:ea typeface="Arial"/>
                <a:cs typeface="Arial"/>
                <a:sym typeface="Arial"/>
              </a:rPr>
              <a:t>     </a:t>
            </a:r>
            <a:r>
              <a:rPr b="0" i="0" lang="en-US" sz="4200" u="none">
                <a:solidFill>
                  <a:schemeClr val="dk2"/>
                </a:solidFill>
                <a:latin typeface="Georgia"/>
                <a:ea typeface="Georgia"/>
                <a:cs typeface="Georgia"/>
                <a:sym typeface="Georgia"/>
              </a:rPr>
              <a:t>Étude des cas d’utilisation</a:t>
            </a:r>
            <a:br>
              <a:rPr b="0" i="0" lang="en-US" sz="4200" u="none">
                <a:solidFill>
                  <a:schemeClr val="dk2"/>
                </a:solidFill>
                <a:latin typeface="Arial"/>
                <a:ea typeface="Arial"/>
                <a:cs typeface="Arial"/>
                <a:sym typeface="Arial"/>
              </a:rPr>
            </a:br>
            <a:endParaRPr/>
          </a:p>
        </p:txBody>
      </p:sp>
      <p:sp>
        <p:nvSpPr>
          <p:cNvPr id="2407" name="Google Shape;2407;p210"/>
          <p:cNvSpPr txBox="1"/>
          <p:nvPr/>
        </p:nvSpPr>
        <p:spPr>
          <a:xfrm>
            <a:off x="611187" y="1484312"/>
            <a:ext cx="7921625" cy="57626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08" name="Google Shape;2408;p210"/>
          <p:cNvSpPr txBox="1"/>
          <p:nvPr>
            <p:ph idx="1" type="body"/>
          </p:nvPr>
        </p:nvSpPr>
        <p:spPr>
          <a:xfrm>
            <a:off x="468312" y="1557337"/>
            <a:ext cx="8218487" cy="45688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   1. Élaboration du diagramme de classe pour chaque cas d’utilisation</a:t>
            </a:r>
            <a:endParaRPr/>
          </a:p>
          <a:p>
            <a:pPr indent="-342900" lvl="0" marL="34290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a:t>
            </a:r>
            <a:endParaRPr/>
          </a:p>
        </p:txBody>
      </p:sp>
      <p:cxnSp>
        <p:nvCxnSpPr>
          <p:cNvPr id="2409" name="Google Shape;2409;p210"/>
          <p:cNvCxnSpPr/>
          <p:nvPr/>
        </p:nvCxnSpPr>
        <p:spPr>
          <a:xfrm flipH="1">
            <a:off x="1692275" y="2420937"/>
            <a:ext cx="2087562" cy="647700"/>
          </a:xfrm>
          <a:prstGeom prst="straightConnector1">
            <a:avLst/>
          </a:prstGeom>
          <a:noFill/>
          <a:ln cap="flat" cmpd="sng" w="9525">
            <a:solidFill>
              <a:schemeClr val="dk1"/>
            </a:solidFill>
            <a:prstDash val="solid"/>
            <a:miter lim="800000"/>
            <a:headEnd len="med" w="med" type="none"/>
            <a:tailEnd len="med" w="med" type="triangle"/>
          </a:ln>
        </p:spPr>
      </p:cxnSp>
      <p:sp>
        <p:nvSpPr>
          <p:cNvPr id="2410" name="Google Shape;2410;p210"/>
          <p:cNvSpPr txBox="1"/>
          <p:nvPr/>
        </p:nvSpPr>
        <p:spPr>
          <a:xfrm>
            <a:off x="250825" y="3141662"/>
            <a:ext cx="2051050" cy="1512887"/>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11" name="Google Shape;2411;p210"/>
          <p:cNvSpPr txBox="1"/>
          <p:nvPr/>
        </p:nvSpPr>
        <p:spPr>
          <a:xfrm>
            <a:off x="179387" y="3141662"/>
            <a:ext cx="2160587" cy="17399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Définir la liste des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Objets et des classes d’objets décrivant ces objets</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 </a:t>
            </a:r>
            <a:endParaRPr/>
          </a:p>
        </p:txBody>
      </p:sp>
      <p:cxnSp>
        <p:nvCxnSpPr>
          <p:cNvPr id="2412" name="Google Shape;2412;p210"/>
          <p:cNvCxnSpPr/>
          <p:nvPr/>
        </p:nvCxnSpPr>
        <p:spPr>
          <a:xfrm>
            <a:off x="3851275" y="2276475"/>
            <a:ext cx="215900" cy="1657350"/>
          </a:xfrm>
          <a:prstGeom prst="straightConnector1">
            <a:avLst/>
          </a:prstGeom>
          <a:noFill/>
          <a:ln cap="flat" cmpd="sng" w="9525">
            <a:solidFill>
              <a:schemeClr val="dk1"/>
            </a:solidFill>
            <a:prstDash val="solid"/>
            <a:miter lim="800000"/>
            <a:headEnd len="med" w="med" type="none"/>
            <a:tailEnd len="med" w="med" type="triangle"/>
          </a:ln>
        </p:spPr>
      </p:cxnSp>
      <p:cxnSp>
        <p:nvCxnSpPr>
          <p:cNvPr id="2413" name="Google Shape;2413;p210"/>
          <p:cNvCxnSpPr/>
          <p:nvPr/>
        </p:nvCxnSpPr>
        <p:spPr>
          <a:xfrm>
            <a:off x="3924300" y="2420937"/>
            <a:ext cx="3168650" cy="2520950"/>
          </a:xfrm>
          <a:prstGeom prst="straightConnector1">
            <a:avLst/>
          </a:prstGeom>
          <a:noFill/>
          <a:ln cap="flat" cmpd="sng" w="9525">
            <a:solidFill>
              <a:schemeClr val="dk1"/>
            </a:solidFill>
            <a:prstDash val="solid"/>
            <a:miter lim="800000"/>
            <a:headEnd len="med" w="med" type="none"/>
            <a:tailEnd len="med" w="med" type="triangle"/>
          </a:ln>
        </p:spPr>
      </p:cxnSp>
      <p:sp>
        <p:nvSpPr>
          <p:cNvPr id="2414" name="Google Shape;2414;p210"/>
          <p:cNvSpPr txBox="1"/>
          <p:nvPr/>
        </p:nvSpPr>
        <p:spPr>
          <a:xfrm>
            <a:off x="2700337" y="4005262"/>
            <a:ext cx="2232025" cy="18002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15" name="Google Shape;2415;p210"/>
          <p:cNvSpPr txBox="1"/>
          <p:nvPr/>
        </p:nvSpPr>
        <p:spPr>
          <a:xfrm>
            <a:off x="6011862" y="5013325"/>
            <a:ext cx="2376487" cy="15843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16" name="Google Shape;2416;p210"/>
          <p:cNvSpPr txBox="1"/>
          <p:nvPr/>
        </p:nvSpPr>
        <p:spPr>
          <a:xfrm>
            <a:off x="2843212" y="4437062"/>
            <a:ext cx="2005012" cy="915987"/>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Définir les attributs des classes</a:t>
            </a:r>
            <a:endParaRPr/>
          </a:p>
        </p:txBody>
      </p:sp>
      <p:sp>
        <p:nvSpPr>
          <p:cNvPr id="2417" name="Google Shape;2417;p210"/>
          <p:cNvSpPr txBox="1"/>
          <p:nvPr/>
        </p:nvSpPr>
        <p:spPr>
          <a:xfrm>
            <a:off x="6011862" y="5084762"/>
            <a:ext cx="2324100" cy="1465262"/>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Définir les classes d’associations entre classes ainsi que les classes d’associations </a:t>
            </a:r>
            <a:endParaRPr/>
          </a:p>
        </p:txBody>
      </p:sp>
      <p:sp>
        <p:nvSpPr>
          <p:cNvPr id="2418" name="Google Shape;2418;p210"/>
          <p:cNvSpPr/>
          <p:nvPr/>
        </p:nvSpPr>
        <p:spPr>
          <a:xfrm>
            <a:off x="3708400" y="2276475"/>
            <a:ext cx="288925" cy="287337"/>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9"/>
                                        </p:tgtEl>
                                        <p:attrNameLst>
                                          <p:attrName>style.visibility</p:attrName>
                                        </p:attrNameLst>
                                      </p:cBhvr>
                                      <p:to>
                                        <p:strVal val="visible"/>
                                      </p:to>
                                    </p:set>
                                    <p:animEffect filter="fade" transition="in">
                                      <p:cBhvr>
                                        <p:cTn dur="500"/>
                                        <p:tgtEl>
                                          <p:spTgt spid="24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1"/>
                                        </p:tgtEl>
                                        <p:attrNameLst>
                                          <p:attrName>style.visibility</p:attrName>
                                        </p:attrNameLst>
                                      </p:cBhvr>
                                      <p:to>
                                        <p:strVal val="visible"/>
                                      </p:to>
                                    </p:set>
                                    <p:animEffect filter="fade" transition="in">
                                      <p:cBhvr>
                                        <p:cTn dur="500"/>
                                        <p:tgtEl>
                                          <p:spTgt spid="2411"/>
                                        </p:tgtEl>
                                      </p:cBhvr>
                                    </p:animEffect>
                                  </p:childTnLst>
                                </p:cTn>
                              </p:par>
                              <p:par>
                                <p:cTn fill="hold" nodeType="withEffect" presetClass="entr" presetID="10" presetSubtype="0">
                                  <p:stCondLst>
                                    <p:cond delay="0"/>
                                  </p:stCondLst>
                                  <p:childTnLst>
                                    <p:set>
                                      <p:cBhvr>
                                        <p:cTn dur="1" fill="hold">
                                          <p:stCondLst>
                                            <p:cond delay="0"/>
                                          </p:stCondLst>
                                        </p:cTn>
                                        <p:tgtEl>
                                          <p:spTgt spid="2410"/>
                                        </p:tgtEl>
                                        <p:attrNameLst>
                                          <p:attrName>style.visibility</p:attrName>
                                        </p:attrNameLst>
                                      </p:cBhvr>
                                      <p:to>
                                        <p:strVal val="visible"/>
                                      </p:to>
                                    </p:set>
                                    <p:animEffect filter="fade" transition="in">
                                      <p:cBhvr>
                                        <p:cTn dur="500"/>
                                        <p:tgtEl>
                                          <p:spTgt spid="24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2"/>
                                        </p:tgtEl>
                                        <p:attrNameLst>
                                          <p:attrName>style.visibility</p:attrName>
                                        </p:attrNameLst>
                                      </p:cBhvr>
                                      <p:to>
                                        <p:strVal val="visible"/>
                                      </p:to>
                                    </p:set>
                                    <p:animEffect filter="fade" transition="in">
                                      <p:cBhvr>
                                        <p:cTn dur="500"/>
                                        <p:tgtEl>
                                          <p:spTgt spid="24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6"/>
                                        </p:tgtEl>
                                        <p:attrNameLst>
                                          <p:attrName>style.visibility</p:attrName>
                                        </p:attrNameLst>
                                      </p:cBhvr>
                                      <p:to>
                                        <p:strVal val="visible"/>
                                      </p:to>
                                    </p:set>
                                    <p:animEffect filter="fade" transition="in">
                                      <p:cBhvr>
                                        <p:cTn dur="500"/>
                                        <p:tgtEl>
                                          <p:spTgt spid="2416"/>
                                        </p:tgtEl>
                                      </p:cBhvr>
                                    </p:animEffect>
                                  </p:childTnLst>
                                </p:cTn>
                              </p:par>
                              <p:par>
                                <p:cTn fill="hold" nodeType="withEffect" presetClass="entr" presetID="10" presetSubtype="0">
                                  <p:stCondLst>
                                    <p:cond delay="0"/>
                                  </p:stCondLst>
                                  <p:childTnLst>
                                    <p:set>
                                      <p:cBhvr>
                                        <p:cTn dur="1" fill="hold">
                                          <p:stCondLst>
                                            <p:cond delay="0"/>
                                          </p:stCondLst>
                                        </p:cTn>
                                        <p:tgtEl>
                                          <p:spTgt spid="2414"/>
                                        </p:tgtEl>
                                        <p:attrNameLst>
                                          <p:attrName>style.visibility</p:attrName>
                                        </p:attrNameLst>
                                      </p:cBhvr>
                                      <p:to>
                                        <p:strVal val="visible"/>
                                      </p:to>
                                    </p:set>
                                    <p:animEffect filter="fade" transition="in">
                                      <p:cBhvr>
                                        <p:cTn dur="500"/>
                                        <p:tgtEl>
                                          <p:spTgt spid="24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3"/>
                                        </p:tgtEl>
                                        <p:attrNameLst>
                                          <p:attrName>style.visibility</p:attrName>
                                        </p:attrNameLst>
                                      </p:cBhvr>
                                      <p:to>
                                        <p:strVal val="visible"/>
                                      </p:to>
                                    </p:set>
                                    <p:animEffect filter="fade" transition="in">
                                      <p:cBhvr>
                                        <p:cTn dur="500"/>
                                        <p:tgtEl>
                                          <p:spTgt spid="24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7"/>
                                        </p:tgtEl>
                                        <p:attrNameLst>
                                          <p:attrName>style.visibility</p:attrName>
                                        </p:attrNameLst>
                                      </p:cBhvr>
                                      <p:to>
                                        <p:strVal val="visible"/>
                                      </p:to>
                                    </p:set>
                                    <p:animEffect filter="fade" transition="in">
                                      <p:cBhvr>
                                        <p:cTn dur="500"/>
                                        <p:tgtEl>
                                          <p:spTgt spid="2417"/>
                                        </p:tgtEl>
                                      </p:cBhvr>
                                    </p:animEffect>
                                  </p:childTnLst>
                                </p:cTn>
                              </p:par>
                              <p:par>
                                <p:cTn fill="hold" nodeType="withEffect" presetClass="entr" presetID="10" presetSubtype="0">
                                  <p:stCondLst>
                                    <p:cond delay="0"/>
                                  </p:stCondLst>
                                  <p:childTnLst>
                                    <p:set>
                                      <p:cBhvr>
                                        <p:cTn dur="1" fill="hold">
                                          <p:stCondLst>
                                            <p:cond delay="0"/>
                                          </p:stCondLst>
                                        </p:cTn>
                                        <p:tgtEl>
                                          <p:spTgt spid="2415"/>
                                        </p:tgtEl>
                                        <p:attrNameLst>
                                          <p:attrName>style.visibility</p:attrName>
                                        </p:attrNameLst>
                                      </p:cBhvr>
                                      <p:to>
                                        <p:strVal val="visible"/>
                                      </p:to>
                                    </p:set>
                                    <p:animEffect filter="fade" transition="in">
                                      <p:cBhvr>
                                        <p:cTn dur="500"/>
                                        <p:tgtEl>
                                          <p:spTgt spid="24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2" name="Shape 2422"/>
        <p:cNvGrpSpPr/>
        <p:nvPr/>
      </p:nvGrpSpPr>
      <p:grpSpPr>
        <a:xfrm>
          <a:off x="0" y="0"/>
          <a:ext cx="0" cy="0"/>
          <a:chOff x="0" y="0"/>
          <a:chExt cx="0" cy="0"/>
        </a:xfrm>
      </p:grpSpPr>
      <p:sp>
        <p:nvSpPr>
          <p:cNvPr id="2423" name="Google Shape;2423;p211"/>
          <p:cNvSpPr txBox="1"/>
          <p:nvPr>
            <p:ph type="title"/>
          </p:nvPr>
        </p:nvSpPr>
        <p:spPr>
          <a:xfrm>
            <a:off x="468312" y="26035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Georgia"/>
              <a:buNone/>
            </a:pPr>
            <a:r>
              <a:rPr b="0" i="0" lang="en-US" sz="4400" u="none">
                <a:solidFill>
                  <a:schemeClr val="dk2"/>
                </a:solidFill>
                <a:latin typeface="Georgia"/>
                <a:ea typeface="Georgia"/>
                <a:cs typeface="Georgia"/>
                <a:sym typeface="Georgia"/>
              </a:rPr>
              <a:t>      </a:t>
            </a:r>
            <a:r>
              <a:rPr b="0" i="0" lang="en-US" sz="4200" u="none">
                <a:solidFill>
                  <a:schemeClr val="dk2"/>
                </a:solidFill>
                <a:latin typeface="Georgia"/>
                <a:ea typeface="Georgia"/>
                <a:cs typeface="Georgia"/>
                <a:sym typeface="Georgia"/>
              </a:rPr>
              <a:t>Étude des cas d’utilisation</a:t>
            </a:r>
            <a:endParaRPr/>
          </a:p>
        </p:txBody>
      </p:sp>
      <p:sp>
        <p:nvSpPr>
          <p:cNvPr id="2424" name="Google Shape;2424;p211"/>
          <p:cNvSpPr txBox="1"/>
          <p:nvPr/>
        </p:nvSpPr>
        <p:spPr>
          <a:xfrm>
            <a:off x="395287" y="1484312"/>
            <a:ext cx="8137525" cy="57626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25" name="Google Shape;2425;p211"/>
          <p:cNvSpPr txBox="1"/>
          <p:nvPr>
            <p:ph idx="1" type="body"/>
          </p:nvPr>
        </p:nvSpPr>
        <p:spPr>
          <a:xfrm>
            <a:off x="468312" y="1484312"/>
            <a:ext cx="8218487" cy="45688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2 . Définir la dynamique interne des classes </a:t>
            </a:r>
            <a:endParaRPr/>
          </a:p>
        </p:txBody>
      </p:sp>
      <p:cxnSp>
        <p:nvCxnSpPr>
          <p:cNvPr id="2426" name="Google Shape;2426;p211"/>
          <p:cNvCxnSpPr/>
          <p:nvPr/>
        </p:nvCxnSpPr>
        <p:spPr>
          <a:xfrm flipH="1">
            <a:off x="1692275" y="2420937"/>
            <a:ext cx="2087562" cy="647700"/>
          </a:xfrm>
          <a:prstGeom prst="straightConnector1">
            <a:avLst/>
          </a:prstGeom>
          <a:noFill/>
          <a:ln cap="flat" cmpd="sng" w="9525">
            <a:solidFill>
              <a:schemeClr val="dk1"/>
            </a:solidFill>
            <a:prstDash val="solid"/>
            <a:miter lim="800000"/>
            <a:headEnd len="med" w="med" type="none"/>
            <a:tailEnd len="med" w="med" type="triangle"/>
          </a:ln>
        </p:spPr>
      </p:cxnSp>
      <p:sp>
        <p:nvSpPr>
          <p:cNvPr id="2427" name="Google Shape;2427;p211"/>
          <p:cNvSpPr txBox="1"/>
          <p:nvPr/>
        </p:nvSpPr>
        <p:spPr>
          <a:xfrm>
            <a:off x="250825" y="3141662"/>
            <a:ext cx="2051050" cy="1512887"/>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28" name="Google Shape;2428;p211"/>
          <p:cNvSpPr txBox="1"/>
          <p:nvPr/>
        </p:nvSpPr>
        <p:spPr>
          <a:xfrm>
            <a:off x="179387" y="3382962"/>
            <a:ext cx="2160587" cy="915987"/>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Établir les DET pour chaque classe dynamique</a:t>
            </a:r>
            <a:endParaRPr/>
          </a:p>
        </p:txBody>
      </p:sp>
      <p:cxnSp>
        <p:nvCxnSpPr>
          <p:cNvPr id="2429" name="Google Shape;2429;p211"/>
          <p:cNvCxnSpPr/>
          <p:nvPr/>
        </p:nvCxnSpPr>
        <p:spPr>
          <a:xfrm>
            <a:off x="3851275" y="2276475"/>
            <a:ext cx="215900" cy="1657350"/>
          </a:xfrm>
          <a:prstGeom prst="straightConnector1">
            <a:avLst/>
          </a:prstGeom>
          <a:noFill/>
          <a:ln cap="flat" cmpd="sng" w="9525">
            <a:solidFill>
              <a:schemeClr val="dk1"/>
            </a:solidFill>
            <a:prstDash val="solid"/>
            <a:miter lim="800000"/>
            <a:headEnd len="med" w="med" type="none"/>
            <a:tailEnd len="med" w="med" type="triangle"/>
          </a:ln>
        </p:spPr>
      </p:cxnSp>
      <p:cxnSp>
        <p:nvCxnSpPr>
          <p:cNvPr id="2430" name="Google Shape;2430;p211"/>
          <p:cNvCxnSpPr/>
          <p:nvPr/>
        </p:nvCxnSpPr>
        <p:spPr>
          <a:xfrm>
            <a:off x="3924300" y="2420937"/>
            <a:ext cx="3168650" cy="2520950"/>
          </a:xfrm>
          <a:prstGeom prst="straightConnector1">
            <a:avLst/>
          </a:prstGeom>
          <a:noFill/>
          <a:ln cap="flat" cmpd="sng" w="9525">
            <a:solidFill>
              <a:schemeClr val="dk1"/>
            </a:solidFill>
            <a:prstDash val="solid"/>
            <a:miter lim="800000"/>
            <a:headEnd len="med" w="med" type="none"/>
            <a:tailEnd len="med" w="med" type="triangle"/>
          </a:ln>
        </p:spPr>
      </p:cxnSp>
      <p:sp>
        <p:nvSpPr>
          <p:cNvPr id="2431" name="Google Shape;2431;p211"/>
          <p:cNvSpPr txBox="1"/>
          <p:nvPr/>
        </p:nvSpPr>
        <p:spPr>
          <a:xfrm>
            <a:off x="2700337" y="4005262"/>
            <a:ext cx="2232025" cy="18002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32" name="Google Shape;2432;p211"/>
          <p:cNvSpPr txBox="1"/>
          <p:nvPr/>
        </p:nvSpPr>
        <p:spPr>
          <a:xfrm>
            <a:off x="6011862" y="5013325"/>
            <a:ext cx="2376487" cy="15843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33" name="Google Shape;2433;p211"/>
          <p:cNvSpPr txBox="1"/>
          <p:nvPr/>
        </p:nvSpPr>
        <p:spPr>
          <a:xfrm>
            <a:off x="2843212" y="4013200"/>
            <a:ext cx="2005012" cy="17399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Reporter les opérations déterminées à partir des transitions (Méthodes)</a:t>
            </a:r>
            <a:endParaRPr/>
          </a:p>
        </p:txBody>
      </p:sp>
      <p:sp>
        <p:nvSpPr>
          <p:cNvPr id="2434" name="Google Shape;2434;p211"/>
          <p:cNvSpPr txBox="1"/>
          <p:nvPr/>
        </p:nvSpPr>
        <p:spPr>
          <a:xfrm>
            <a:off x="6011862" y="5360987"/>
            <a:ext cx="2324100" cy="915987"/>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Valider le partie comportementale des classes</a:t>
            </a:r>
            <a:endParaRPr/>
          </a:p>
        </p:txBody>
      </p:sp>
      <p:sp>
        <p:nvSpPr>
          <p:cNvPr id="2435" name="Google Shape;2435;p211"/>
          <p:cNvSpPr/>
          <p:nvPr/>
        </p:nvSpPr>
        <p:spPr>
          <a:xfrm>
            <a:off x="3708400" y="2276475"/>
            <a:ext cx="288925" cy="287337"/>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6"/>
                                        </p:tgtEl>
                                        <p:attrNameLst>
                                          <p:attrName>style.visibility</p:attrName>
                                        </p:attrNameLst>
                                      </p:cBhvr>
                                      <p:to>
                                        <p:strVal val="visible"/>
                                      </p:to>
                                    </p:set>
                                    <p:animEffect filter="fade" transition="in">
                                      <p:cBhvr>
                                        <p:cTn dur="500"/>
                                        <p:tgtEl>
                                          <p:spTgt spid="24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8"/>
                                        </p:tgtEl>
                                        <p:attrNameLst>
                                          <p:attrName>style.visibility</p:attrName>
                                        </p:attrNameLst>
                                      </p:cBhvr>
                                      <p:to>
                                        <p:strVal val="visible"/>
                                      </p:to>
                                    </p:set>
                                    <p:animEffect filter="fade" transition="in">
                                      <p:cBhvr>
                                        <p:cTn dur="500"/>
                                        <p:tgtEl>
                                          <p:spTgt spid="2428"/>
                                        </p:tgtEl>
                                      </p:cBhvr>
                                    </p:animEffect>
                                  </p:childTnLst>
                                </p:cTn>
                              </p:par>
                              <p:par>
                                <p:cTn fill="hold" nodeType="withEffect" presetClass="entr" presetID="10" presetSubtype="0">
                                  <p:stCondLst>
                                    <p:cond delay="0"/>
                                  </p:stCondLst>
                                  <p:childTnLst>
                                    <p:set>
                                      <p:cBhvr>
                                        <p:cTn dur="1" fill="hold">
                                          <p:stCondLst>
                                            <p:cond delay="0"/>
                                          </p:stCondLst>
                                        </p:cTn>
                                        <p:tgtEl>
                                          <p:spTgt spid="2427"/>
                                        </p:tgtEl>
                                        <p:attrNameLst>
                                          <p:attrName>style.visibility</p:attrName>
                                        </p:attrNameLst>
                                      </p:cBhvr>
                                      <p:to>
                                        <p:strVal val="visible"/>
                                      </p:to>
                                    </p:set>
                                    <p:animEffect filter="fade" transition="in">
                                      <p:cBhvr>
                                        <p:cTn dur="500"/>
                                        <p:tgtEl>
                                          <p:spTgt spid="24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9"/>
                                        </p:tgtEl>
                                        <p:attrNameLst>
                                          <p:attrName>style.visibility</p:attrName>
                                        </p:attrNameLst>
                                      </p:cBhvr>
                                      <p:to>
                                        <p:strVal val="visible"/>
                                      </p:to>
                                    </p:set>
                                    <p:animEffect filter="fade" transition="in">
                                      <p:cBhvr>
                                        <p:cTn dur="500"/>
                                        <p:tgtEl>
                                          <p:spTgt spid="24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3"/>
                                        </p:tgtEl>
                                        <p:attrNameLst>
                                          <p:attrName>style.visibility</p:attrName>
                                        </p:attrNameLst>
                                      </p:cBhvr>
                                      <p:to>
                                        <p:strVal val="visible"/>
                                      </p:to>
                                    </p:set>
                                    <p:animEffect filter="fade" transition="in">
                                      <p:cBhvr>
                                        <p:cTn dur="500"/>
                                        <p:tgtEl>
                                          <p:spTgt spid="2433"/>
                                        </p:tgtEl>
                                      </p:cBhvr>
                                    </p:animEffect>
                                  </p:childTnLst>
                                </p:cTn>
                              </p:par>
                              <p:par>
                                <p:cTn fill="hold" nodeType="withEffect" presetClass="entr" presetID="10" presetSubtype="0">
                                  <p:stCondLst>
                                    <p:cond delay="0"/>
                                  </p:stCondLst>
                                  <p:childTnLst>
                                    <p:set>
                                      <p:cBhvr>
                                        <p:cTn dur="1" fill="hold">
                                          <p:stCondLst>
                                            <p:cond delay="0"/>
                                          </p:stCondLst>
                                        </p:cTn>
                                        <p:tgtEl>
                                          <p:spTgt spid="2431"/>
                                        </p:tgtEl>
                                        <p:attrNameLst>
                                          <p:attrName>style.visibility</p:attrName>
                                        </p:attrNameLst>
                                      </p:cBhvr>
                                      <p:to>
                                        <p:strVal val="visible"/>
                                      </p:to>
                                    </p:set>
                                    <p:animEffect filter="fade" transition="in">
                                      <p:cBhvr>
                                        <p:cTn dur="500"/>
                                        <p:tgtEl>
                                          <p:spTgt spid="24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0"/>
                                        </p:tgtEl>
                                        <p:attrNameLst>
                                          <p:attrName>style.visibility</p:attrName>
                                        </p:attrNameLst>
                                      </p:cBhvr>
                                      <p:to>
                                        <p:strVal val="visible"/>
                                      </p:to>
                                    </p:set>
                                    <p:animEffect filter="fade" transition="in">
                                      <p:cBhvr>
                                        <p:cTn dur="500"/>
                                        <p:tgtEl>
                                          <p:spTgt spid="24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4"/>
                                        </p:tgtEl>
                                        <p:attrNameLst>
                                          <p:attrName>style.visibility</p:attrName>
                                        </p:attrNameLst>
                                      </p:cBhvr>
                                      <p:to>
                                        <p:strVal val="visible"/>
                                      </p:to>
                                    </p:set>
                                    <p:animEffect filter="fade" transition="in">
                                      <p:cBhvr>
                                        <p:cTn dur="500"/>
                                        <p:tgtEl>
                                          <p:spTgt spid="2434"/>
                                        </p:tgtEl>
                                      </p:cBhvr>
                                    </p:animEffect>
                                  </p:childTnLst>
                                </p:cTn>
                              </p:par>
                              <p:par>
                                <p:cTn fill="hold" nodeType="withEffect" presetClass="entr" presetID="10" presetSubtype="0">
                                  <p:stCondLst>
                                    <p:cond delay="0"/>
                                  </p:stCondLst>
                                  <p:childTnLst>
                                    <p:set>
                                      <p:cBhvr>
                                        <p:cTn dur="1" fill="hold">
                                          <p:stCondLst>
                                            <p:cond delay="0"/>
                                          </p:stCondLst>
                                        </p:cTn>
                                        <p:tgtEl>
                                          <p:spTgt spid="2432"/>
                                        </p:tgtEl>
                                        <p:attrNameLst>
                                          <p:attrName>style.visibility</p:attrName>
                                        </p:attrNameLst>
                                      </p:cBhvr>
                                      <p:to>
                                        <p:strVal val="visible"/>
                                      </p:to>
                                    </p:set>
                                    <p:animEffect filter="fade" transition="in">
                                      <p:cBhvr>
                                        <p:cTn dur="500"/>
                                        <p:tgtEl>
                                          <p:spTgt spid="24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9" name="Shape 2439"/>
        <p:cNvGrpSpPr/>
        <p:nvPr/>
      </p:nvGrpSpPr>
      <p:grpSpPr>
        <a:xfrm>
          <a:off x="0" y="0"/>
          <a:ext cx="0" cy="0"/>
          <a:chOff x="0" y="0"/>
          <a:chExt cx="0" cy="0"/>
        </a:xfrm>
      </p:grpSpPr>
      <p:sp>
        <p:nvSpPr>
          <p:cNvPr id="2440" name="Google Shape;2440;p21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200"/>
              <a:buFont typeface="Arial"/>
              <a:buNone/>
            </a:pPr>
            <a:r>
              <a:rPr b="0" i="0" lang="en-US" sz="4200" u="none">
                <a:solidFill>
                  <a:schemeClr val="dk2"/>
                </a:solidFill>
                <a:latin typeface="Arial"/>
                <a:ea typeface="Arial"/>
                <a:cs typeface="Arial"/>
                <a:sym typeface="Arial"/>
              </a:rPr>
              <a:t>     </a:t>
            </a:r>
            <a:r>
              <a:rPr b="0" i="0" lang="en-US" sz="4200" u="none">
                <a:solidFill>
                  <a:schemeClr val="dk2"/>
                </a:solidFill>
                <a:latin typeface="Georgia"/>
                <a:ea typeface="Georgia"/>
                <a:cs typeface="Georgia"/>
                <a:sym typeface="Georgia"/>
              </a:rPr>
              <a:t>Étude des cas d’utilisation</a:t>
            </a:r>
            <a:endParaRPr/>
          </a:p>
        </p:txBody>
      </p:sp>
      <p:sp>
        <p:nvSpPr>
          <p:cNvPr id="2441" name="Google Shape;2441;p212"/>
          <p:cNvSpPr txBox="1"/>
          <p:nvPr/>
        </p:nvSpPr>
        <p:spPr>
          <a:xfrm>
            <a:off x="395287" y="1484312"/>
            <a:ext cx="8137525" cy="57626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42" name="Google Shape;2442;p212"/>
          <p:cNvSpPr txBox="1"/>
          <p:nvPr>
            <p:ph idx="1" type="body"/>
          </p:nvPr>
        </p:nvSpPr>
        <p:spPr>
          <a:xfrm>
            <a:off x="468312" y="1484312"/>
            <a:ext cx="8218487" cy="45688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3. Étudier les interactions entre les classes</a:t>
            </a:r>
            <a:endParaRPr/>
          </a:p>
        </p:txBody>
      </p:sp>
      <p:cxnSp>
        <p:nvCxnSpPr>
          <p:cNvPr id="2443" name="Google Shape;2443;p212"/>
          <p:cNvCxnSpPr/>
          <p:nvPr/>
        </p:nvCxnSpPr>
        <p:spPr>
          <a:xfrm flipH="1">
            <a:off x="1692275" y="2420937"/>
            <a:ext cx="2087562" cy="647700"/>
          </a:xfrm>
          <a:prstGeom prst="straightConnector1">
            <a:avLst/>
          </a:prstGeom>
          <a:noFill/>
          <a:ln cap="flat" cmpd="sng" w="9525">
            <a:solidFill>
              <a:schemeClr val="dk1"/>
            </a:solidFill>
            <a:prstDash val="solid"/>
            <a:miter lim="800000"/>
            <a:headEnd len="med" w="med" type="none"/>
            <a:tailEnd len="med" w="med" type="triangle"/>
          </a:ln>
        </p:spPr>
      </p:cxnSp>
      <p:sp>
        <p:nvSpPr>
          <p:cNvPr id="2444" name="Google Shape;2444;p212"/>
          <p:cNvSpPr txBox="1"/>
          <p:nvPr/>
        </p:nvSpPr>
        <p:spPr>
          <a:xfrm>
            <a:off x="250825" y="3141662"/>
            <a:ext cx="2051050" cy="18002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45" name="Google Shape;2445;p212"/>
          <p:cNvSpPr txBox="1"/>
          <p:nvPr/>
        </p:nvSpPr>
        <p:spPr>
          <a:xfrm>
            <a:off x="179387" y="3124200"/>
            <a:ext cx="2160587" cy="17399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Établir les diagrammes de séquences et de collaboration pour chaque scénario</a:t>
            </a:r>
            <a:endParaRPr/>
          </a:p>
        </p:txBody>
      </p:sp>
      <p:cxnSp>
        <p:nvCxnSpPr>
          <p:cNvPr id="2446" name="Google Shape;2446;p212"/>
          <p:cNvCxnSpPr/>
          <p:nvPr/>
        </p:nvCxnSpPr>
        <p:spPr>
          <a:xfrm>
            <a:off x="3924300" y="2420937"/>
            <a:ext cx="2160587" cy="863600"/>
          </a:xfrm>
          <a:prstGeom prst="straightConnector1">
            <a:avLst/>
          </a:prstGeom>
          <a:noFill/>
          <a:ln cap="flat" cmpd="sng" w="9525">
            <a:solidFill>
              <a:schemeClr val="dk1"/>
            </a:solidFill>
            <a:prstDash val="solid"/>
            <a:miter lim="800000"/>
            <a:headEnd len="med" w="med" type="none"/>
            <a:tailEnd len="med" w="med" type="triangle"/>
          </a:ln>
        </p:spPr>
      </p:cxnSp>
      <p:sp>
        <p:nvSpPr>
          <p:cNvPr id="2447" name="Google Shape;2447;p212"/>
          <p:cNvSpPr txBox="1"/>
          <p:nvPr/>
        </p:nvSpPr>
        <p:spPr>
          <a:xfrm>
            <a:off x="5292725" y="3357562"/>
            <a:ext cx="2376487" cy="2376487"/>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48" name="Google Shape;2448;p212"/>
          <p:cNvSpPr txBox="1"/>
          <p:nvPr/>
        </p:nvSpPr>
        <p:spPr>
          <a:xfrm>
            <a:off x="5292725" y="3429000"/>
            <a:ext cx="2324100" cy="228917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Reporter les opérations déterminées à partir des interactions (messages échangées entre objets)</a:t>
            </a:r>
            <a:endParaRPr/>
          </a:p>
        </p:txBody>
      </p:sp>
      <p:sp>
        <p:nvSpPr>
          <p:cNvPr id="2449" name="Google Shape;2449;p212"/>
          <p:cNvSpPr/>
          <p:nvPr/>
        </p:nvSpPr>
        <p:spPr>
          <a:xfrm>
            <a:off x="3708400" y="2276475"/>
            <a:ext cx="288925" cy="287337"/>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43"/>
                                        </p:tgtEl>
                                        <p:attrNameLst>
                                          <p:attrName>style.visibility</p:attrName>
                                        </p:attrNameLst>
                                      </p:cBhvr>
                                      <p:to>
                                        <p:strVal val="visible"/>
                                      </p:to>
                                    </p:set>
                                    <p:animEffect filter="fade" transition="in">
                                      <p:cBhvr>
                                        <p:cTn dur="500"/>
                                        <p:tgtEl>
                                          <p:spTgt spid="24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45"/>
                                        </p:tgtEl>
                                        <p:attrNameLst>
                                          <p:attrName>style.visibility</p:attrName>
                                        </p:attrNameLst>
                                      </p:cBhvr>
                                      <p:to>
                                        <p:strVal val="visible"/>
                                      </p:to>
                                    </p:set>
                                    <p:animEffect filter="fade" transition="in">
                                      <p:cBhvr>
                                        <p:cTn dur="500"/>
                                        <p:tgtEl>
                                          <p:spTgt spid="2445"/>
                                        </p:tgtEl>
                                      </p:cBhvr>
                                    </p:animEffect>
                                  </p:childTnLst>
                                </p:cTn>
                              </p:par>
                              <p:par>
                                <p:cTn fill="hold" nodeType="withEffect" presetClass="entr" presetID="10" presetSubtype="0">
                                  <p:stCondLst>
                                    <p:cond delay="0"/>
                                  </p:stCondLst>
                                  <p:childTnLst>
                                    <p:set>
                                      <p:cBhvr>
                                        <p:cTn dur="1" fill="hold">
                                          <p:stCondLst>
                                            <p:cond delay="0"/>
                                          </p:stCondLst>
                                        </p:cTn>
                                        <p:tgtEl>
                                          <p:spTgt spid="2444"/>
                                        </p:tgtEl>
                                        <p:attrNameLst>
                                          <p:attrName>style.visibility</p:attrName>
                                        </p:attrNameLst>
                                      </p:cBhvr>
                                      <p:to>
                                        <p:strVal val="visible"/>
                                      </p:to>
                                    </p:set>
                                    <p:animEffect filter="fade" transition="in">
                                      <p:cBhvr>
                                        <p:cTn dur="500"/>
                                        <p:tgtEl>
                                          <p:spTgt spid="24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46"/>
                                        </p:tgtEl>
                                        <p:attrNameLst>
                                          <p:attrName>style.visibility</p:attrName>
                                        </p:attrNameLst>
                                      </p:cBhvr>
                                      <p:to>
                                        <p:strVal val="visible"/>
                                      </p:to>
                                    </p:set>
                                    <p:animEffect filter="fade" transition="in">
                                      <p:cBhvr>
                                        <p:cTn dur="500"/>
                                        <p:tgtEl>
                                          <p:spTgt spid="24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48"/>
                                        </p:tgtEl>
                                        <p:attrNameLst>
                                          <p:attrName>style.visibility</p:attrName>
                                        </p:attrNameLst>
                                      </p:cBhvr>
                                      <p:to>
                                        <p:strVal val="visible"/>
                                      </p:to>
                                    </p:set>
                                    <p:animEffect filter="fade" transition="in">
                                      <p:cBhvr>
                                        <p:cTn dur="500"/>
                                        <p:tgtEl>
                                          <p:spTgt spid="2448"/>
                                        </p:tgtEl>
                                      </p:cBhvr>
                                    </p:animEffect>
                                  </p:childTnLst>
                                </p:cTn>
                              </p:par>
                              <p:par>
                                <p:cTn fill="hold" nodeType="withEffect" presetClass="entr" presetID="10" presetSubtype="0">
                                  <p:stCondLst>
                                    <p:cond delay="0"/>
                                  </p:stCondLst>
                                  <p:childTnLst>
                                    <p:set>
                                      <p:cBhvr>
                                        <p:cTn dur="1" fill="hold">
                                          <p:stCondLst>
                                            <p:cond delay="0"/>
                                          </p:stCondLst>
                                        </p:cTn>
                                        <p:tgtEl>
                                          <p:spTgt spid="2447"/>
                                        </p:tgtEl>
                                        <p:attrNameLst>
                                          <p:attrName>style.visibility</p:attrName>
                                        </p:attrNameLst>
                                      </p:cBhvr>
                                      <p:to>
                                        <p:strVal val="visible"/>
                                      </p:to>
                                    </p:set>
                                    <p:animEffect filter="fade" transition="in">
                                      <p:cBhvr>
                                        <p:cTn dur="500"/>
                                        <p:tgtEl>
                                          <p:spTgt spid="24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3" name="Shape 2453"/>
        <p:cNvGrpSpPr/>
        <p:nvPr/>
      </p:nvGrpSpPr>
      <p:grpSpPr>
        <a:xfrm>
          <a:off x="0" y="0"/>
          <a:ext cx="0" cy="0"/>
          <a:chOff x="0" y="0"/>
          <a:chExt cx="0" cy="0"/>
        </a:xfrm>
      </p:grpSpPr>
      <p:sp>
        <p:nvSpPr>
          <p:cNvPr id="2454" name="Google Shape;2454;p213"/>
          <p:cNvSpPr txBox="1"/>
          <p:nvPr>
            <p:ph type="title"/>
          </p:nvPr>
        </p:nvSpPr>
        <p:spPr>
          <a:xfrm>
            <a:off x="468312" y="765175"/>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Intégration et validation des diagramme de classe</a:t>
            </a:r>
            <a:br>
              <a:rPr b="0" i="0" lang="en-US" sz="4000" u="none">
                <a:solidFill>
                  <a:schemeClr val="dk2"/>
                </a:solidFill>
                <a:latin typeface="Arial"/>
                <a:ea typeface="Arial"/>
                <a:cs typeface="Arial"/>
                <a:sym typeface="Arial"/>
              </a:rPr>
            </a:br>
            <a:endParaRPr/>
          </a:p>
        </p:txBody>
      </p:sp>
      <p:sp>
        <p:nvSpPr>
          <p:cNvPr id="2455" name="Google Shape;2455;p213"/>
          <p:cNvSpPr txBox="1"/>
          <p:nvPr>
            <p:ph idx="1" type="body"/>
          </p:nvPr>
        </p:nvSpPr>
        <p:spPr>
          <a:xfrm>
            <a:off x="468312" y="2708275"/>
            <a:ext cx="8229600" cy="45307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Fusionner les diagrammes de classes</a:t>
            </a:r>
            <a:endParaRPr/>
          </a:p>
          <a:p>
            <a:pPr indent="-139700" lvl="0" marL="342900" rtl="0" algn="l">
              <a:lnSpc>
                <a:spcPct val="100000"/>
              </a:lnSpc>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Définir un Diagramme de clase global et complet de la solution</a:t>
            </a:r>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9" name="Shape 2459"/>
        <p:cNvGrpSpPr/>
        <p:nvPr/>
      </p:nvGrpSpPr>
      <p:grpSpPr>
        <a:xfrm>
          <a:off x="0" y="0"/>
          <a:ext cx="0" cy="0"/>
          <a:chOff x="0" y="0"/>
          <a:chExt cx="0" cy="0"/>
        </a:xfrm>
      </p:grpSpPr>
      <p:sp>
        <p:nvSpPr>
          <p:cNvPr id="2460" name="Google Shape;2460;p214"/>
          <p:cNvSpPr txBox="1"/>
          <p:nvPr>
            <p:ph type="title"/>
          </p:nvPr>
        </p:nvSpPr>
        <p:spPr>
          <a:xfrm>
            <a:off x="468312" y="47625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Quantification des éléments essentiels de la solution </a:t>
            </a:r>
            <a:br>
              <a:rPr b="0" i="0" lang="en-US" sz="4000" u="none">
                <a:solidFill>
                  <a:schemeClr val="dk2"/>
                </a:solidFill>
                <a:latin typeface="Arial"/>
                <a:ea typeface="Arial"/>
                <a:cs typeface="Arial"/>
                <a:sym typeface="Arial"/>
              </a:rPr>
            </a:br>
            <a:endParaRPr/>
          </a:p>
        </p:txBody>
      </p:sp>
      <p:sp>
        <p:nvSpPr>
          <p:cNvPr id="2461" name="Google Shape;2461;p21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Estimation du volume (flux , données …)</a:t>
            </a:r>
            <a:endParaRPr/>
          </a:p>
          <a:p>
            <a:pPr indent="-139700" lvl="0" marL="342900" rtl="0" algn="l">
              <a:lnSpc>
                <a:spcPct val="100000"/>
              </a:lnSpc>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Estimation des moyenne des moyennes nécessaires :</a:t>
            </a:r>
            <a:endParaRPr/>
          </a:p>
          <a:p>
            <a:pPr indent="-285750" lvl="1" marL="74295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Moyens matériels</a:t>
            </a:r>
            <a:endParaRPr/>
          </a:p>
          <a:p>
            <a:pPr indent="-285750" lvl="1" marL="74295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Moyens logiciels </a:t>
            </a:r>
            <a:endParaRPr/>
          </a:p>
          <a:p>
            <a:pPr indent="-285750" lvl="1" marL="74295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Moyens humains</a:t>
            </a:r>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5" name="Shape 2465"/>
        <p:cNvGrpSpPr/>
        <p:nvPr/>
      </p:nvGrpSpPr>
      <p:grpSpPr>
        <a:xfrm>
          <a:off x="0" y="0"/>
          <a:ext cx="0" cy="0"/>
          <a:chOff x="0" y="0"/>
          <a:chExt cx="0" cy="0"/>
        </a:xfrm>
      </p:grpSpPr>
      <p:sp>
        <p:nvSpPr>
          <p:cNvPr id="2466" name="Google Shape;2466;p215"/>
          <p:cNvSpPr/>
          <p:nvPr/>
        </p:nvSpPr>
        <p:spPr>
          <a:xfrm>
            <a:off x="250825" y="2060575"/>
            <a:ext cx="4467225" cy="533400"/>
          </a:xfrm>
          <a:prstGeom prst="rect">
            <a:avLst/>
          </a:prstGeom>
        </p:spPr>
        <p:txBody>
          <a:bodyPr>
            <a:prstTxWarp prst="textPlain"/>
          </a:bodyPr>
          <a:lstStyle/>
          <a:p>
            <a:pPr lvl="0" algn="l"/>
            <a:r>
              <a:rPr b="0" i="0">
                <a:ln cap="sq" cmpd="sng" w="9525">
                  <a:solidFill>
                    <a:schemeClr val="dk1"/>
                  </a:solidFill>
                  <a:prstDash val="solid"/>
                  <a:miter lim="800000"/>
                  <a:headEnd len="sm" w="sm" type="none"/>
                  <a:tailEnd len="sm" w="sm" type="none"/>
                </a:ln>
                <a:solidFill>
                  <a:srgbClr val="FFFFFF"/>
                </a:solidFill>
                <a:latin typeface="Georgia"/>
              </a:rPr>
              <a:t>Phase de construction </a:t>
            </a: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0" name="Shape 2470"/>
        <p:cNvGrpSpPr/>
        <p:nvPr/>
      </p:nvGrpSpPr>
      <p:grpSpPr>
        <a:xfrm>
          <a:off x="0" y="0"/>
          <a:ext cx="0" cy="0"/>
          <a:chOff x="0" y="0"/>
          <a:chExt cx="0" cy="0"/>
        </a:xfrm>
      </p:grpSpPr>
      <p:sp>
        <p:nvSpPr>
          <p:cNvPr id="2471" name="Google Shape;2471;p21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a:t>
            </a:r>
            <a:r>
              <a:rPr b="0" i="0" lang="en-US" sz="3200" u="none">
                <a:solidFill>
                  <a:schemeClr val="dk1"/>
                </a:solidFill>
                <a:latin typeface="Georgia"/>
                <a:ea typeface="Georgia"/>
                <a:cs typeface="Georgia"/>
                <a:sym typeface="Georgia"/>
              </a:rPr>
              <a:t>Il s’agit de construire les fonctionnalités qui ne font pas partie de l’architecture de base, d’en évaluer tous les aspects à tous les niveaux d’abstraction jusqu’à la préparation de la réalisation</a:t>
            </a:r>
            <a:endParaRPr/>
          </a:p>
        </p:txBody>
      </p:sp>
      <p:pic>
        <p:nvPicPr>
          <p:cNvPr id="2472" name="Google Shape;2472;p216"/>
          <p:cNvPicPr preferRelativeResize="0"/>
          <p:nvPr/>
        </p:nvPicPr>
        <p:blipFill rotWithShape="1">
          <a:blip r:embed="rId3">
            <a:alphaModFix/>
          </a:blip>
          <a:srcRect b="0" l="0" r="0" t="0"/>
          <a:stretch/>
        </p:blipFill>
        <p:spPr>
          <a:xfrm>
            <a:off x="4211637" y="4149725"/>
            <a:ext cx="3489325" cy="25193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472"/>
                                        </p:tgtEl>
                                        <p:attrNameLst>
                                          <p:attrName>style.visibility</p:attrName>
                                        </p:attrNameLst>
                                      </p:cBhvr>
                                      <p:to>
                                        <p:strVal val="visible"/>
                                      </p:to>
                                    </p:set>
                                    <p:animEffect filter="fade" transition="in">
                                      <p:cBhvr>
                                        <p:cTn dur="500"/>
                                        <p:tgtEl>
                                          <p:spTgt spid="24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6" name="Shape 2476"/>
        <p:cNvGrpSpPr/>
        <p:nvPr/>
      </p:nvGrpSpPr>
      <p:grpSpPr>
        <a:xfrm>
          <a:off x="0" y="0"/>
          <a:ext cx="0" cy="0"/>
          <a:chOff x="0" y="0"/>
          <a:chExt cx="0" cy="0"/>
        </a:xfrm>
      </p:grpSpPr>
      <p:sp>
        <p:nvSpPr>
          <p:cNvPr id="2477" name="Google Shape;2477;p21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Georgia"/>
              <a:buChar char="•"/>
            </a:pPr>
            <a:r>
              <a:rPr b="0" i="0" lang="en-US" sz="3200" u="none">
                <a:solidFill>
                  <a:schemeClr val="dk1"/>
                </a:solidFill>
                <a:latin typeface="Georgia"/>
                <a:ea typeface="Georgia"/>
                <a:cs typeface="Georgia"/>
                <a:sym typeface="Georgia"/>
              </a:rPr>
              <a:t>Cette phase se compose en deux étapes :</a:t>
            </a:r>
            <a:endParaRPr/>
          </a:p>
          <a:p>
            <a:pPr indent="-139700" lvl="0" marL="342900" rtl="0" algn="l">
              <a:lnSpc>
                <a:spcPct val="100000"/>
              </a:lnSpc>
              <a:spcBef>
                <a:spcPts val="640"/>
              </a:spcBef>
              <a:spcAft>
                <a:spcPts val="0"/>
              </a:spcAft>
              <a:buClr>
                <a:schemeClr val="dk1"/>
              </a:buClr>
              <a:buSzPts val="3200"/>
              <a:buFont typeface="Arial"/>
              <a:buNone/>
            </a:pPr>
            <a:r>
              <a:t/>
            </a:r>
            <a:endParaRPr b="0" i="0" sz="3200" u="none">
              <a:solidFill>
                <a:schemeClr val="dk1"/>
              </a:solidFill>
              <a:latin typeface="Georgia"/>
              <a:ea typeface="Georgia"/>
              <a:cs typeface="Georgia"/>
              <a:sym typeface="Georgia"/>
            </a:endParaRPr>
          </a:p>
          <a:p>
            <a:pPr indent="-285750" lvl="1" marL="74295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Georgia"/>
                <a:ea typeface="Georgia"/>
                <a:cs typeface="Georgia"/>
                <a:sym typeface="Georgia"/>
              </a:rPr>
              <a:t>Conception détaillé</a:t>
            </a:r>
            <a:endParaRPr/>
          </a:p>
          <a:p>
            <a:pPr indent="-107950" lvl="1" marL="742950" rtl="0" algn="l">
              <a:lnSpc>
                <a:spcPct val="100000"/>
              </a:lnSpc>
              <a:spcBef>
                <a:spcPts val="560"/>
              </a:spcBef>
              <a:spcAft>
                <a:spcPts val="0"/>
              </a:spcAft>
              <a:buClr>
                <a:schemeClr val="dk1"/>
              </a:buClr>
              <a:buSzPts val="2800"/>
              <a:buFont typeface="Noto Sans Symbols"/>
              <a:buNone/>
            </a:pPr>
            <a:r>
              <a:t/>
            </a:r>
            <a:endParaRPr b="0" i="0" sz="2800" u="none">
              <a:solidFill>
                <a:schemeClr val="dk1"/>
              </a:solidFill>
              <a:latin typeface="Georgia"/>
              <a:ea typeface="Georgia"/>
              <a:cs typeface="Georgia"/>
              <a:sym typeface="Georgia"/>
            </a:endParaRPr>
          </a:p>
          <a:p>
            <a:pPr indent="-285750" lvl="1" marL="74295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Georgia"/>
                <a:ea typeface="Georgia"/>
                <a:cs typeface="Georgia"/>
                <a:sym typeface="Georgia"/>
              </a:rPr>
              <a:t>Construction (mise en ouvre)</a:t>
            </a:r>
            <a:endParaRPr/>
          </a:p>
          <a:p>
            <a:pPr indent="-165100" lvl="0" marL="342900" rtl="0" algn="l">
              <a:spcBef>
                <a:spcPts val="560"/>
              </a:spcBef>
              <a:spcAft>
                <a:spcPts val="0"/>
              </a:spcAft>
              <a:buClr>
                <a:schemeClr val="dk1"/>
              </a:buClr>
              <a:buSzPts val="2800"/>
              <a:buFont typeface="Arial"/>
              <a:buNone/>
            </a:pPr>
            <a:r>
              <a:t/>
            </a:r>
            <a:endParaRPr b="0" i="0" sz="2800" u="none">
              <a:solidFill>
                <a:schemeClr val="dk1"/>
              </a:solidFill>
              <a:latin typeface="Georgia"/>
              <a:ea typeface="Georgia"/>
              <a:cs typeface="Georgia"/>
              <a:sym typeface="Georgia"/>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1" name="Shape 2481"/>
        <p:cNvGrpSpPr/>
        <p:nvPr/>
      </p:nvGrpSpPr>
      <p:grpSpPr>
        <a:xfrm>
          <a:off x="0" y="0"/>
          <a:ext cx="0" cy="0"/>
          <a:chOff x="0" y="0"/>
          <a:chExt cx="0" cy="0"/>
        </a:xfrm>
      </p:grpSpPr>
      <p:sp>
        <p:nvSpPr>
          <p:cNvPr id="2482" name="Google Shape;2482;p21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Georgia"/>
              <a:buNone/>
            </a:pPr>
            <a:br>
              <a:rPr b="0" i="0" lang="en-US" sz="4000" u="none">
                <a:solidFill>
                  <a:schemeClr val="dk2"/>
                </a:solidFill>
                <a:latin typeface="Georgia"/>
                <a:ea typeface="Georgia"/>
                <a:cs typeface="Georgia"/>
                <a:sym typeface="Georgia"/>
              </a:rPr>
            </a:br>
            <a:r>
              <a:rPr b="0" i="0" lang="en-US" sz="4000" u="none">
                <a:solidFill>
                  <a:schemeClr val="dk2"/>
                </a:solidFill>
                <a:latin typeface="Georgia"/>
                <a:ea typeface="Georgia"/>
                <a:cs typeface="Georgia"/>
                <a:sym typeface="Georgia"/>
              </a:rPr>
              <a:t>      Conception détaillé</a:t>
            </a:r>
            <a:br>
              <a:rPr b="0" i="0" lang="en-US" sz="4000" u="none">
                <a:solidFill>
                  <a:schemeClr val="dk2"/>
                </a:solidFill>
                <a:latin typeface="Arial"/>
                <a:ea typeface="Arial"/>
                <a:cs typeface="Arial"/>
                <a:sym typeface="Arial"/>
              </a:rPr>
            </a:br>
            <a:endParaRPr/>
          </a:p>
        </p:txBody>
      </p:sp>
      <p:sp>
        <p:nvSpPr>
          <p:cNvPr id="2483" name="Google Shape;2483;p218"/>
          <p:cNvSpPr txBox="1"/>
          <p:nvPr/>
        </p:nvSpPr>
        <p:spPr>
          <a:xfrm>
            <a:off x="755650" y="1557337"/>
            <a:ext cx="7704137" cy="57626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84" name="Google Shape;2484;p218"/>
          <p:cNvSpPr txBox="1"/>
          <p:nvPr>
            <p:ph idx="1" type="body"/>
          </p:nvPr>
        </p:nvSpPr>
        <p:spPr>
          <a:xfrm>
            <a:off x="468312" y="1557337"/>
            <a:ext cx="8218487" cy="45688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Extension et actualisation des cas d’utilisation</a:t>
            </a:r>
            <a:endParaRPr/>
          </a:p>
        </p:txBody>
      </p:sp>
      <p:cxnSp>
        <p:nvCxnSpPr>
          <p:cNvPr id="2485" name="Google Shape;2485;p218"/>
          <p:cNvCxnSpPr/>
          <p:nvPr/>
        </p:nvCxnSpPr>
        <p:spPr>
          <a:xfrm flipH="1">
            <a:off x="1692275" y="2420937"/>
            <a:ext cx="2087562" cy="647700"/>
          </a:xfrm>
          <a:prstGeom prst="straightConnector1">
            <a:avLst/>
          </a:prstGeom>
          <a:noFill/>
          <a:ln cap="flat" cmpd="sng" w="9525">
            <a:solidFill>
              <a:schemeClr val="dk1"/>
            </a:solidFill>
            <a:prstDash val="solid"/>
            <a:miter lim="800000"/>
            <a:headEnd len="med" w="med" type="none"/>
            <a:tailEnd len="med" w="med" type="triangle"/>
          </a:ln>
        </p:spPr>
      </p:cxnSp>
      <p:sp>
        <p:nvSpPr>
          <p:cNvPr id="2486" name="Google Shape;2486;p218"/>
          <p:cNvSpPr txBox="1"/>
          <p:nvPr/>
        </p:nvSpPr>
        <p:spPr>
          <a:xfrm>
            <a:off x="250825" y="3141662"/>
            <a:ext cx="2051050" cy="1512887"/>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87" name="Google Shape;2487;p218"/>
          <p:cNvSpPr txBox="1"/>
          <p:nvPr/>
        </p:nvSpPr>
        <p:spPr>
          <a:xfrm>
            <a:off x="106362" y="3284537"/>
            <a:ext cx="2305050" cy="119062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Construction nouveaux diagrammes de séquence</a:t>
            </a:r>
            <a:endParaRPr/>
          </a:p>
        </p:txBody>
      </p:sp>
      <p:cxnSp>
        <p:nvCxnSpPr>
          <p:cNvPr id="2488" name="Google Shape;2488;p218"/>
          <p:cNvCxnSpPr/>
          <p:nvPr/>
        </p:nvCxnSpPr>
        <p:spPr>
          <a:xfrm>
            <a:off x="3851275" y="2349500"/>
            <a:ext cx="2016125" cy="1295400"/>
          </a:xfrm>
          <a:prstGeom prst="straightConnector1">
            <a:avLst/>
          </a:prstGeom>
          <a:noFill/>
          <a:ln cap="flat" cmpd="sng" w="9525">
            <a:solidFill>
              <a:schemeClr val="dk1"/>
            </a:solidFill>
            <a:prstDash val="solid"/>
            <a:miter lim="800000"/>
            <a:headEnd len="med" w="med" type="none"/>
            <a:tailEnd len="med" w="med" type="triangle"/>
          </a:ln>
        </p:spPr>
      </p:cxnSp>
      <p:sp>
        <p:nvSpPr>
          <p:cNvPr id="2489" name="Google Shape;2489;p218"/>
          <p:cNvSpPr txBox="1"/>
          <p:nvPr/>
        </p:nvSpPr>
        <p:spPr>
          <a:xfrm>
            <a:off x="4787900" y="3644900"/>
            <a:ext cx="2232025" cy="18002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90" name="Google Shape;2490;p218"/>
          <p:cNvSpPr txBox="1"/>
          <p:nvPr/>
        </p:nvSpPr>
        <p:spPr>
          <a:xfrm>
            <a:off x="4787900" y="4005262"/>
            <a:ext cx="2251075" cy="119062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Liste complète des scénarios et des événement déclencheurs</a:t>
            </a:r>
            <a:endParaRPr/>
          </a:p>
        </p:txBody>
      </p:sp>
      <p:sp>
        <p:nvSpPr>
          <p:cNvPr id="2491" name="Google Shape;2491;p218"/>
          <p:cNvSpPr/>
          <p:nvPr/>
        </p:nvSpPr>
        <p:spPr>
          <a:xfrm>
            <a:off x="3708400" y="2276475"/>
            <a:ext cx="288925" cy="287337"/>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5"/>
                                        </p:tgtEl>
                                        <p:attrNameLst>
                                          <p:attrName>style.visibility</p:attrName>
                                        </p:attrNameLst>
                                      </p:cBhvr>
                                      <p:to>
                                        <p:strVal val="visible"/>
                                      </p:to>
                                    </p:set>
                                    <p:animEffect filter="fade" transition="in">
                                      <p:cBhvr>
                                        <p:cTn dur="500"/>
                                        <p:tgtEl>
                                          <p:spTgt spid="24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8"/>
                                        </p:tgtEl>
                                        <p:attrNameLst>
                                          <p:attrName>style.visibility</p:attrName>
                                        </p:attrNameLst>
                                      </p:cBhvr>
                                      <p:to>
                                        <p:strVal val="visible"/>
                                      </p:to>
                                    </p:set>
                                    <p:animEffect filter="fade" transition="in">
                                      <p:cBhvr>
                                        <p:cTn dur="500"/>
                                        <p:tgtEl>
                                          <p:spTgt spid="24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7"/>
                                        </p:tgtEl>
                                        <p:attrNameLst>
                                          <p:attrName>style.visibility</p:attrName>
                                        </p:attrNameLst>
                                      </p:cBhvr>
                                      <p:to>
                                        <p:strVal val="visible"/>
                                      </p:to>
                                    </p:set>
                                    <p:animEffect filter="fade" transition="in">
                                      <p:cBhvr>
                                        <p:cTn dur="500"/>
                                        <p:tgtEl>
                                          <p:spTgt spid="2487"/>
                                        </p:tgtEl>
                                      </p:cBhvr>
                                    </p:animEffect>
                                  </p:childTnLst>
                                </p:cTn>
                              </p:par>
                              <p:par>
                                <p:cTn fill="hold" nodeType="withEffect" presetClass="entr" presetID="10" presetSubtype="0">
                                  <p:stCondLst>
                                    <p:cond delay="0"/>
                                  </p:stCondLst>
                                  <p:childTnLst>
                                    <p:set>
                                      <p:cBhvr>
                                        <p:cTn dur="1" fill="hold">
                                          <p:stCondLst>
                                            <p:cond delay="0"/>
                                          </p:stCondLst>
                                        </p:cTn>
                                        <p:tgtEl>
                                          <p:spTgt spid="2486"/>
                                        </p:tgtEl>
                                        <p:attrNameLst>
                                          <p:attrName>style.visibility</p:attrName>
                                        </p:attrNameLst>
                                      </p:cBhvr>
                                      <p:to>
                                        <p:strVal val="visible"/>
                                      </p:to>
                                    </p:set>
                                    <p:animEffect filter="fade" transition="in">
                                      <p:cBhvr>
                                        <p:cTn dur="500"/>
                                        <p:tgtEl>
                                          <p:spTgt spid="24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0"/>
                                        </p:tgtEl>
                                        <p:attrNameLst>
                                          <p:attrName>style.visibility</p:attrName>
                                        </p:attrNameLst>
                                      </p:cBhvr>
                                      <p:to>
                                        <p:strVal val="visible"/>
                                      </p:to>
                                    </p:set>
                                    <p:animEffect filter="fade" transition="in">
                                      <p:cBhvr>
                                        <p:cTn dur="500"/>
                                        <p:tgtEl>
                                          <p:spTgt spid="2490"/>
                                        </p:tgtEl>
                                      </p:cBhvr>
                                    </p:animEffect>
                                  </p:childTnLst>
                                </p:cTn>
                              </p:par>
                              <p:par>
                                <p:cTn fill="hold" nodeType="withEffect" presetClass="entr" presetID="10" presetSubtype="0">
                                  <p:stCondLst>
                                    <p:cond delay="0"/>
                                  </p:stCondLst>
                                  <p:childTnLst>
                                    <p:set>
                                      <p:cBhvr>
                                        <p:cTn dur="1" fill="hold">
                                          <p:stCondLst>
                                            <p:cond delay="0"/>
                                          </p:stCondLst>
                                        </p:cTn>
                                        <p:tgtEl>
                                          <p:spTgt spid="2489"/>
                                        </p:tgtEl>
                                        <p:attrNameLst>
                                          <p:attrName>style.visibility</p:attrName>
                                        </p:attrNameLst>
                                      </p:cBhvr>
                                      <p:to>
                                        <p:strVal val="visible"/>
                                      </p:to>
                                    </p:set>
                                    <p:animEffect filter="fade" transition="in">
                                      <p:cBhvr>
                                        <p:cTn dur="500"/>
                                        <p:tgtEl>
                                          <p:spTgt spid="24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5" name="Shape 2495"/>
        <p:cNvGrpSpPr/>
        <p:nvPr/>
      </p:nvGrpSpPr>
      <p:grpSpPr>
        <a:xfrm>
          <a:off x="0" y="0"/>
          <a:ext cx="0" cy="0"/>
          <a:chOff x="0" y="0"/>
          <a:chExt cx="0" cy="0"/>
        </a:xfrm>
      </p:grpSpPr>
      <p:sp>
        <p:nvSpPr>
          <p:cNvPr id="2496" name="Google Shape;2496;p21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Georgia"/>
              <a:buNone/>
            </a:pPr>
            <a:r>
              <a:rPr b="0" i="0" lang="en-US" sz="4000" u="none">
                <a:solidFill>
                  <a:schemeClr val="dk2"/>
                </a:solidFill>
                <a:latin typeface="Georgia"/>
                <a:ea typeface="Georgia"/>
                <a:cs typeface="Georgia"/>
                <a:sym typeface="Georgia"/>
              </a:rPr>
              <a:t>    </a:t>
            </a:r>
            <a:br>
              <a:rPr b="0" i="0" lang="en-US" sz="4000" u="none">
                <a:solidFill>
                  <a:schemeClr val="dk2"/>
                </a:solidFill>
                <a:latin typeface="Georgia"/>
                <a:ea typeface="Georgia"/>
                <a:cs typeface="Georgia"/>
                <a:sym typeface="Georgia"/>
              </a:rPr>
            </a:br>
            <a:r>
              <a:rPr b="0" i="0" lang="en-US" sz="4000" u="none">
                <a:solidFill>
                  <a:schemeClr val="dk2"/>
                </a:solidFill>
                <a:latin typeface="Georgia"/>
                <a:ea typeface="Georgia"/>
                <a:cs typeface="Georgia"/>
                <a:sym typeface="Georgia"/>
              </a:rPr>
              <a:t>      Conception détaillé</a:t>
            </a:r>
            <a:br>
              <a:rPr b="0" i="0" lang="en-US" sz="4000" u="none">
                <a:solidFill>
                  <a:schemeClr val="dk2"/>
                </a:solidFill>
                <a:latin typeface="Arial"/>
                <a:ea typeface="Arial"/>
                <a:cs typeface="Arial"/>
                <a:sym typeface="Arial"/>
              </a:rPr>
            </a:br>
            <a:endParaRPr/>
          </a:p>
        </p:txBody>
      </p:sp>
      <p:sp>
        <p:nvSpPr>
          <p:cNvPr id="2497" name="Google Shape;2497;p219"/>
          <p:cNvSpPr txBox="1"/>
          <p:nvPr/>
        </p:nvSpPr>
        <p:spPr>
          <a:xfrm>
            <a:off x="755650" y="1557337"/>
            <a:ext cx="7704137" cy="57626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98" name="Google Shape;2498;p219"/>
          <p:cNvSpPr txBox="1"/>
          <p:nvPr>
            <p:ph idx="1" type="body"/>
          </p:nvPr>
        </p:nvSpPr>
        <p:spPr>
          <a:xfrm>
            <a:off x="468312" y="1557337"/>
            <a:ext cx="8218487" cy="45688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Extension et actualisation des classes</a:t>
            </a:r>
            <a:endParaRPr/>
          </a:p>
        </p:txBody>
      </p:sp>
      <p:cxnSp>
        <p:nvCxnSpPr>
          <p:cNvPr id="2499" name="Google Shape;2499;p219"/>
          <p:cNvCxnSpPr/>
          <p:nvPr/>
        </p:nvCxnSpPr>
        <p:spPr>
          <a:xfrm flipH="1">
            <a:off x="1692275" y="2420937"/>
            <a:ext cx="2087562" cy="647700"/>
          </a:xfrm>
          <a:prstGeom prst="straightConnector1">
            <a:avLst/>
          </a:prstGeom>
          <a:noFill/>
          <a:ln cap="flat" cmpd="sng" w="9525">
            <a:solidFill>
              <a:schemeClr val="dk1"/>
            </a:solidFill>
            <a:prstDash val="solid"/>
            <a:miter lim="800000"/>
            <a:headEnd len="med" w="med" type="none"/>
            <a:tailEnd len="med" w="med" type="triangle"/>
          </a:ln>
        </p:spPr>
      </p:cxnSp>
      <p:sp>
        <p:nvSpPr>
          <p:cNvPr id="2500" name="Google Shape;2500;p219"/>
          <p:cNvSpPr txBox="1"/>
          <p:nvPr/>
        </p:nvSpPr>
        <p:spPr>
          <a:xfrm>
            <a:off x="250825" y="3141662"/>
            <a:ext cx="2160587" cy="1512887"/>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501" name="Google Shape;2501;p219"/>
          <p:cNvSpPr txBox="1"/>
          <p:nvPr/>
        </p:nvSpPr>
        <p:spPr>
          <a:xfrm>
            <a:off x="106362" y="3560762"/>
            <a:ext cx="2305050" cy="64135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2"/>
              </a:buClr>
              <a:buSzPts val="1800"/>
              <a:buFont typeface="Arial"/>
              <a:buNone/>
            </a:pPr>
            <a:r>
              <a:rPr b="1" i="0" lang="en-US" sz="1800" u="none">
                <a:solidFill>
                  <a:schemeClr val="dk2"/>
                </a:solidFill>
                <a:latin typeface="Arial"/>
                <a:ea typeface="Arial"/>
                <a:cs typeface="Arial"/>
                <a:sym typeface="Arial"/>
              </a:rPr>
              <a:t> Conception détaillé</a:t>
            </a:r>
            <a:endParaRPr/>
          </a:p>
        </p:txBody>
      </p:sp>
      <p:cxnSp>
        <p:nvCxnSpPr>
          <p:cNvPr id="2502" name="Google Shape;2502;p219"/>
          <p:cNvCxnSpPr/>
          <p:nvPr/>
        </p:nvCxnSpPr>
        <p:spPr>
          <a:xfrm>
            <a:off x="3924300" y="2420937"/>
            <a:ext cx="1943100" cy="1223962"/>
          </a:xfrm>
          <a:prstGeom prst="straightConnector1">
            <a:avLst/>
          </a:prstGeom>
          <a:noFill/>
          <a:ln cap="flat" cmpd="sng" w="9525">
            <a:solidFill>
              <a:schemeClr val="dk1"/>
            </a:solidFill>
            <a:prstDash val="solid"/>
            <a:miter lim="800000"/>
            <a:headEnd len="med" w="med" type="none"/>
            <a:tailEnd len="med" w="med" type="triangle"/>
          </a:ln>
        </p:spPr>
      </p:cxnSp>
      <p:sp>
        <p:nvSpPr>
          <p:cNvPr id="2503" name="Google Shape;2503;p219"/>
          <p:cNvSpPr txBox="1"/>
          <p:nvPr/>
        </p:nvSpPr>
        <p:spPr>
          <a:xfrm>
            <a:off x="4787900" y="3644900"/>
            <a:ext cx="2232025" cy="1944687"/>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504" name="Google Shape;2504;p219"/>
          <p:cNvSpPr txBox="1"/>
          <p:nvPr/>
        </p:nvSpPr>
        <p:spPr>
          <a:xfrm>
            <a:off x="4787900" y="3733800"/>
            <a:ext cx="2251075" cy="17399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Intégration des classes et des associations non prise en compte lors de l’étude préalable</a:t>
            </a:r>
            <a:endParaRPr/>
          </a:p>
        </p:txBody>
      </p:sp>
      <p:sp>
        <p:nvSpPr>
          <p:cNvPr id="2505" name="Google Shape;2505;p219"/>
          <p:cNvSpPr/>
          <p:nvPr/>
        </p:nvSpPr>
        <p:spPr>
          <a:xfrm>
            <a:off x="3708400" y="2276475"/>
            <a:ext cx="288925" cy="287337"/>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9"/>
                                        </p:tgtEl>
                                        <p:attrNameLst>
                                          <p:attrName>style.visibility</p:attrName>
                                        </p:attrNameLst>
                                      </p:cBhvr>
                                      <p:to>
                                        <p:strVal val="visible"/>
                                      </p:to>
                                    </p:set>
                                    <p:animEffect filter="fade" transition="in">
                                      <p:cBhvr>
                                        <p:cTn dur="500"/>
                                        <p:tgtEl>
                                          <p:spTgt spid="24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1"/>
                                        </p:tgtEl>
                                        <p:attrNameLst>
                                          <p:attrName>style.visibility</p:attrName>
                                        </p:attrNameLst>
                                      </p:cBhvr>
                                      <p:to>
                                        <p:strVal val="visible"/>
                                      </p:to>
                                    </p:set>
                                    <p:animEffect filter="fade" transition="in">
                                      <p:cBhvr>
                                        <p:cTn dur="500"/>
                                        <p:tgtEl>
                                          <p:spTgt spid="2501"/>
                                        </p:tgtEl>
                                      </p:cBhvr>
                                    </p:animEffect>
                                  </p:childTnLst>
                                </p:cTn>
                              </p:par>
                              <p:par>
                                <p:cTn fill="hold" nodeType="withEffect" presetClass="entr" presetID="10" presetSubtype="0">
                                  <p:stCondLst>
                                    <p:cond delay="0"/>
                                  </p:stCondLst>
                                  <p:childTnLst>
                                    <p:set>
                                      <p:cBhvr>
                                        <p:cTn dur="1" fill="hold">
                                          <p:stCondLst>
                                            <p:cond delay="0"/>
                                          </p:stCondLst>
                                        </p:cTn>
                                        <p:tgtEl>
                                          <p:spTgt spid="2500"/>
                                        </p:tgtEl>
                                        <p:attrNameLst>
                                          <p:attrName>style.visibility</p:attrName>
                                        </p:attrNameLst>
                                      </p:cBhvr>
                                      <p:to>
                                        <p:strVal val="visible"/>
                                      </p:to>
                                    </p:set>
                                    <p:animEffect filter="fade" transition="in">
                                      <p:cBhvr>
                                        <p:cTn dur="500"/>
                                        <p:tgtEl>
                                          <p:spTgt spid="25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2"/>
                                        </p:tgtEl>
                                        <p:attrNameLst>
                                          <p:attrName>style.visibility</p:attrName>
                                        </p:attrNameLst>
                                      </p:cBhvr>
                                      <p:to>
                                        <p:strVal val="visible"/>
                                      </p:to>
                                    </p:set>
                                    <p:animEffect filter="fade" transition="in">
                                      <p:cBhvr>
                                        <p:cTn dur="500"/>
                                        <p:tgtEl>
                                          <p:spTgt spid="25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4"/>
                                        </p:tgtEl>
                                        <p:attrNameLst>
                                          <p:attrName>style.visibility</p:attrName>
                                        </p:attrNameLst>
                                      </p:cBhvr>
                                      <p:to>
                                        <p:strVal val="visible"/>
                                      </p:to>
                                    </p:set>
                                    <p:animEffect filter="fade" transition="in">
                                      <p:cBhvr>
                                        <p:cTn dur="500"/>
                                        <p:tgtEl>
                                          <p:spTgt spid="2504"/>
                                        </p:tgtEl>
                                      </p:cBhvr>
                                    </p:animEffect>
                                  </p:childTnLst>
                                </p:cTn>
                              </p:par>
                              <p:par>
                                <p:cTn fill="hold" nodeType="withEffect" presetClass="entr" presetID="10" presetSubtype="0">
                                  <p:stCondLst>
                                    <p:cond delay="0"/>
                                  </p:stCondLst>
                                  <p:childTnLst>
                                    <p:set>
                                      <p:cBhvr>
                                        <p:cTn dur="1" fill="hold">
                                          <p:stCondLst>
                                            <p:cond delay="0"/>
                                          </p:stCondLst>
                                        </p:cTn>
                                        <p:tgtEl>
                                          <p:spTgt spid="2503"/>
                                        </p:tgtEl>
                                        <p:attrNameLst>
                                          <p:attrName>style.visibility</p:attrName>
                                        </p:attrNameLst>
                                      </p:cBhvr>
                                      <p:to>
                                        <p:strVal val="visible"/>
                                      </p:to>
                                    </p:set>
                                    <p:animEffect filter="fade" transition="in">
                                      <p:cBhvr>
                                        <p:cTn dur="500"/>
                                        <p:tgtEl>
                                          <p:spTgt spid="25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9" name="Shape 2509"/>
        <p:cNvGrpSpPr/>
        <p:nvPr/>
      </p:nvGrpSpPr>
      <p:grpSpPr>
        <a:xfrm>
          <a:off x="0" y="0"/>
          <a:ext cx="0" cy="0"/>
          <a:chOff x="0" y="0"/>
          <a:chExt cx="0" cy="0"/>
        </a:xfrm>
      </p:grpSpPr>
      <p:sp>
        <p:nvSpPr>
          <p:cNvPr id="2510" name="Google Shape;2510;p22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Georgia"/>
              <a:buNone/>
            </a:pPr>
            <a:r>
              <a:rPr b="0" i="0" lang="en-US" sz="4400" u="none">
                <a:solidFill>
                  <a:schemeClr val="dk2"/>
                </a:solidFill>
                <a:latin typeface="Georgia"/>
                <a:ea typeface="Georgia"/>
                <a:cs typeface="Georgia"/>
                <a:sym typeface="Georgia"/>
              </a:rPr>
              <a:t>     Conception détaillé</a:t>
            </a:r>
            <a:endParaRPr/>
          </a:p>
        </p:txBody>
      </p:sp>
      <p:sp>
        <p:nvSpPr>
          <p:cNvPr id="2511" name="Google Shape;2511;p220"/>
          <p:cNvSpPr txBox="1"/>
          <p:nvPr/>
        </p:nvSpPr>
        <p:spPr>
          <a:xfrm>
            <a:off x="323850" y="1989137"/>
            <a:ext cx="8135937" cy="10795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512" name="Google Shape;2512;p220"/>
          <p:cNvSpPr txBox="1"/>
          <p:nvPr>
            <p:ph idx="1" type="body"/>
          </p:nvPr>
        </p:nvSpPr>
        <p:spPr>
          <a:xfrm>
            <a:off x="468312" y="1989137"/>
            <a:ext cx="8218487" cy="45688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Spécification complète des postes de travail utilisateurs (diagramme d’activités)</a:t>
            </a:r>
            <a:endParaRPr/>
          </a:p>
        </p:txBody>
      </p:sp>
      <p:cxnSp>
        <p:nvCxnSpPr>
          <p:cNvPr id="2513" name="Google Shape;2513;p220"/>
          <p:cNvCxnSpPr/>
          <p:nvPr/>
        </p:nvCxnSpPr>
        <p:spPr>
          <a:xfrm flipH="1">
            <a:off x="2538412" y="3213100"/>
            <a:ext cx="2087562" cy="647700"/>
          </a:xfrm>
          <a:prstGeom prst="straightConnector1">
            <a:avLst/>
          </a:prstGeom>
          <a:noFill/>
          <a:ln cap="flat" cmpd="sng" w="9525">
            <a:solidFill>
              <a:schemeClr val="dk1"/>
            </a:solidFill>
            <a:prstDash val="solid"/>
            <a:miter lim="800000"/>
            <a:headEnd len="med" w="med" type="none"/>
            <a:tailEnd len="med" w="med" type="triangle"/>
          </a:ln>
        </p:spPr>
      </p:cxnSp>
      <p:sp>
        <p:nvSpPr>
          <p:cNvPr id="2514" name="Google Shape;2514;p220"/>
          <p:cNvSpPr txBox="1"/>
          <p:nvPr/>
        </p:nvSpPr>
        <p:spPr>
          <a:xfrm>
            <a:off x="1096962" y="3933825"/>
            <a:ext cx="2051050" cy="1512887"/>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2515" name="Google Shape;2515;p220"/>
          <p:cNvCxnSpPr/>
          <p:nvPr/>
        </p:nvCxnSpPr>
        <p:spPr>
          <a:xfrm>
            <a:off x="4716462" y="3213100"/>
            <a:ext cx="1997075" cy="1223962"/>
          </a:xfrm>
          <a:prstGeom prst="straightConnector1">
            <a:avLst/>
          </a:prstGeom>
          <a:noFill/>
          <a:ln cap="flat" cmpd="sng" w="9525">
            <a:solidFill>
              <a:schemeClr val="dk1"/>
            </a:solidFill>
            <a:prstDash val="solid"/>
            <a:miter lim="800000"/>
            <a:headEnd len="med" w="med" type="none"/>
            <a:tailEnd len="med" w="med" type="triangle"/>
          </a:ln>
        </p:spPr>
      </p:cxnSp>
      <p:sp>
        <p:nvSpPr>
          <p:cNvPr id="2516" name="Google Shape;2516;p220"/>
          <p:cNvSpPr txBox="1"/>
          <p:nvPr/>
        </p:nvSpPr>
        <p:spPr>
          <a:xfrm>
            <a:off x="5634037" y="4437062"/>
            <a:ext cx="2232025" cy="1944687"/>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517" name="Google Shape;2517;p220"/>
          <p:cNvSpPr txBox="1"/>
          <p:nvPr/>
        </p:nvSpPr>
        <p:spPr>
          <a:xfrm>
            <a:off x="5580062" y="4802187"/>
            <a:ext cx="2251075" cy="119062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Décrire l’enchaînement des tâches suite à chaque événement</a:t>
            </a:r>
            <a:endParaRPr/>
          </a:p>
        </p:txBody>
      </p:sp>
      <p:sp>
        <p:nvSpPr>
          <p:cNvPr id="2518" name="Google Shape;2518;p220"/>
          <p:cNvSpPr/>
          <p:nvPr/>
        </p:nvSpPr>
        <p:spPr>
          <a:xfrm>
            <a:off x="4554537" y="3068637"/>
            <a:ext cx="288925" cy="287337"/>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519" name="Google Shape;2519;p220"/>
          <p:cNvSpPr txBox="1"/>
          <p:nvPr/>
        </p:nvSpPr>
        <p:spPr>
          <a:xfrm>
            <a:off x="1169987" y="4149725"/>
            <a:ext cx="1871662" cy="1006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a:solidFill>
                  <a:schemeClr val="dk2"/>
                </a:solidFill>
                <a:latin typeface="Arial"/>
                <a:ea typeface="Arial"/>
                <a:cs typeface="Arial"/>
                <a:sym typeface="Arial"/>
              </a:rPr>
              <a:t>Définir la liste des postes de travail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3"/>
                                        </p:tgtEl>
                                        <p:attrNameLst>
                                          <p:attrName>style.visibility</p:attrName>
                                        </p:attrNameLst>
                                      </p:cBhvr>
                                      <p:to>
                                        <p:strVal val="visible"/>
                                      </p:to>
                                    </p:set>
                                    <p:animEffect filter="fade" transition="in">
                                      <p:cBhvr>
                                        <p:cTn dur="500"/>
                                        <p:tgtEl>
                                          <p:spTgt spid="2513"/>
                                        </p:tgtEl>
                                      </p:cBhvr>
                                    </p:animEffect>
                                  </p:childTnLst>
                                </p:cTn>
                              </p:par>
                              <p:par>
                                <p:cTn fill="hold" nodeType="withEffect" presetClass="entr" presetID="10" presetSubtype="0">
                                  <p:stCondLst>
                                    <p:cond delay="0"/>
                                  </p:stCondLst>
                                  <p:childTnLst>
                                    <p:set>
                                      <p:cBhvr>
                                        <p:cTn dur="1" fill="hold">
                                          <p:stCondLst>
                                            <p:cond delay="0"/>
                                          </p:stCondLst>
                                        </p:cTn>
                                        <p:tgtEl>
                                          <p:spTgt spid="2514"/>
                                        </p:tgtEl>
                                        <p:attrNameLst>
                                          <p:attrName>style.visibility</p:attrName>
                                        </p:attrNameLst>
                                      </p:cBhvr>
                                      <p:to>
                                        <p:strVal val="visible"/>
                                      </p:to>
                                    </p:set>
                                    <p:animEffect filter="fade" transition="in">
                                      <p:cBhvr>
                                        <p:cTn dur="500"/>
                                        <p:tgtEl>
                                          <p:spTgt spid="25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9">
                                            <p:txEl>
                                              <p:pRg end="0" st="0"/>
                                            </p:txEl>
                                          </p:spTgt>
                                        </p:tgtEl>
                                        <p:attrNameLst>
                                          <p:attrName>style.visibility</p:attrName>
                                        </p:attrNameLst>
                                      </p:cBhvr>
                                      <p:to>
                                        <p:strVal val="visible"/>
                                      </p:to>
                                    </p:set>
                                    <p:animEffect filter="fade" transition="in">
                                      <p:cBhvr>
                                        <p:cTn dur="500"/>
                                        <p:tgtEl>
                                          <p:spTgt spid="25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5"/>
                                        </p:tgtEl>
                                        <p:attrNameLst>
                                          <p:attrName>style.visibility</p:attrName>
                                        </p:attrNameLst>
                                      </p:cBhvr>
                                      <p:to>
                                        <p:strVal val="visible"/>
                                      </p:to>
                                    </p:set>
                                    <p:animEffect filter="fade" transition="in">
                                      <p:cBhvr>
                                        <p:cTn dur="500"/>
                                        <p:tgtEl>
                                          <p:spTgt spid="25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7"/>
                                        </p:tgtEl>
                                        <p:attrNameLst>
                                          <p:attrName>style.visibility</p:attrName>
                                        </p:attrNameLst>
                                      </p:cBhvr>
                                      <p:to>
                                        <p:strVal val="visible"/>
                                      </p:to>
                                    </p:set>
                                    <p:animEffect filter="fade" transition="in">
                                      <p:cBhvr>
                                        <p:cTn dur="500"/>
                                        <p:tgtEl>
                                          <p:spTgt spid="2517"/>
                                        </p:tgtEl>
                                      </p:cBhvr>
                                    </p:animEffect>
                                  </p:childTnLst>
                                </p:cTn>
                              </p:par>
                              <p:par>
                                <p:cTn fill="hold" nodeType="withEffect" presetClass="entr" presetID="10" presetSubtype="0">
                                  <p:stCondLst>
                                    <p:cond delay="0"/>
                                  </p:stCondLst>
                                  <p:childTnLst>
                                    <p:set>
                                      <p:cBhvr>
                                        <p:cTn dur="1" fill="hold">
                                          <p:stCondLst>
                                            <p:cond delay="0"/>
                                          </p:stCondLst>
                                        </p:cTn>
                                        <p:tgtEl>
                                          <p:spTgt spid="2516"/>
                                        </p:tgtEl>
                                        <p:attrNameLst>
                                          <p:attrName>style.visibility</p:attrName>
                                        </p:attrNameLst>
                                      </p:cBhvr>
                                      <p:to>
                                        <p:strVal val="visible"/>
                                      </p:to>
                                    </p:set>
                                    <p:animEffect filter="fade" transition="in">
                                      <p:cBhvr>
                                        <p:cTn dur="500"/>
                                        <p:tgtEl>
                                          <p:spTgt spid="25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3" name="Shape 2523"/>
        <p:cNvGrpSpPr/>
        <p:nvPr/>
      </p:nvGrpSpPr>
      <p:grpSpPr>
        <a:xfrm>
          <a:off x="0" y="0"/>
          <a:ext cx="0" cy="0"/>
          <a:chOff x="0" y="0"/>
          <a:chExt cx="0" cy="0"/>
        </a:xfrm>
      </p:grpSpPr>
      <p:sp>
        <p:nvSpPr>
          <p:cNvPr id="2524" name="Google Shape;2524;p22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     </a:t>
            </a:r>
            <a:r>
              <a:rPr b="0" i="0" lang="en-US" sz="4400" u="none">
                <a:solidFill>
                  <a:schemeClr val="dk2"/>
                </a:solidFill>
                <a:latin typeface="Georgia"/>
                <a:ea typeface="Georgia"/>
                <a:cs typeface="Georgia"/>
                <a:sym typeface="Georgia"/>
              </a:rPr>
              <a:t>Construction</a:t>
            </a:r>
            <a:endParaRPr/>
          </a:p>
        </p:txBody>
      </p:sp>
      <p:sp>
        <p:nvSpPr>
          <p:cNvPr id="2525" name="Google Shape;2525;p22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Georgia"/>
              <a:buChar char="•"/>
            </a:pPr>
            <a:r>
              <a:rPr b="0" i="0" lang="en-US" sz="3200" u="none">
                <a:solidFill>
                  <a:schemeClr val="dk1"/>
                </a:solidFill>
                <a:latin typeface="Georgia"/>
                <a:ea typeface="Georgia"/>
                <a:cs typeface="Georgia"/>
                <a:sym typeface="Georgia"/>
              </a:rPr>
              <a:t>Description des méthodes (opération plus algorithmique)</a:t>
            </a:r>
            <a:endParaRPr/>
          </a:p>
          <a:p>
            <a:pPr indent="-228600" lvl="2" marL="114300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Georgia"/>
                <a:ea typeface="Georgia"/>
                <a:cs typeface="Georgia"/>
                <a:sym typeface="Georgia"/>
              </a:rPr>
              <a:t>Fonctions assuré par les méthodes</a:t>
            </a:r>
            <a:endParaRPr/>
          </a:p>
          <a:p>
            <a:pPr indent="-228600" lvl="2" marL="114300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Georgia"/>
                <a:ea typeface="Georgia"/>
                <a:cs typeface="Georgia"/>
                <a:sym typeface="Georgia"/>
              </a:rPr>
              <a:t>Entrés / Sorties …</a:t>
            </a:r>
            <a:endParaRPr/>
          </a:p>
          <a:p>
            <a:pPr indent="-342900" lvl="0" marL="342900" rtl="0" algn="l">
              <a:lnSpc>
                <a:spcPct val="100000"/>
              </a:lnSpc>
              <a:spcBef>
                <a:spcPts val="640"/>
              </a:spcBef>
              <a:spcAft>
                <a:spcPts val="0"/>
              </a:spcAft>
              <a:buClr>
                <a:schemeClr val="dk1"/>
              </a:buClr>
              <a:buSzPts val="3200"/>
              <a:buFont typeface="Georgia"/>
              <a:buChar char="•"/>
            </a:pPr>
            <a:r>
              <a:rPr b="0" i="0" lang="en-US" sz="3200" u="none">
                <a:solidFill>
                  <a:schemeClr val="dk1"/>
                </a:solidFill>
                <a:latin typeface="Georgia"/>
                <a:ea typeface="Georgia"/>
                <a:cs typeface="Georgia"/>
                <a:sym typeface="Georgia"/>
              </a:rPr>
              <a:t>Rédaction du rapport détaillé </a:t>
            </a:r>
            <a:endParaRPr/>
          </a:p>
          <a:p>
            <a:pPr indent="-342900" lvl="0" marL="342900" rtl="0" algn="l">
              <a:lnSpc>
                <a:spcPct val="100000"/>
              </a:lnSpc>
              <a:spcBef>
                <a:spcPts val="640"/>
              </a:spcBef>
              <a:spcAft>
                <a:spcPts val="0"/>
              </a:spcAft>
              <a:buClr>
                <a:schemeClr val="dk1"/>
              </a:buClr>
              <a:buSzPts val="3200"/>
              <a:buFont typeface="Georgia"/>
              <a:buChar char="•"/>
            </a:pPr>
            <a:r>
              <a:rPr b="0" i="0" lang="en-US" sz="3200" u="none">
                <a:solidFill>
                  <a:schemeClr val="dk1"/>
                </a:solidFill>
                <a:latin typeface="Georgia"/>
                <a:ea typeface="Georgia"/>
                <a:cs typeface="Georgia"/>
                <a:sym typeface="Georgia"/>
              </a:rPr>
              <a:t>Réalisation d’un prototype</a:t>
            </a:r>
            <a:endParaRPr/>
          </a:p>
          <a:p>
            <a:pPr indent="-342900" lvl="0" marL="342900" rtl="0" algn="l">
              <a:lnSpc>
                <a:spcPct val="100000"/>
              </a:lnSpc>
              <a:spcBef>
                <a:spcPts val="640"/>
              </a:spcBef>
              <a:spcAft>
                <a:spcPts val="0"/>
              </a:spcAft>
              <a:buClr>
                <a:schemeClr val="dk1"/>
              </a:buClr>
              <a:buSzPts val="3200"/>
              <a:buFont typeface="Georgia"/>
              <a:buChar char="•"/>
            </a:pPr>
            <a:r>
              <a:rPr b="0" i="0" lang="en-US" sz="3200" u="none">
                <a:solidFill>
                  <a:schemeClr val="dk1"/>
                </a:solidFill>
                <a:latin typeface="Georgia"/>
                <a:ea typeface="Georgia"/>
                <a:cs typeface="Georgia"/>
                <a:sym typeface="Georgia"/>
              </a:rPr>
              <a:t>Validation par le groupe des utilisateurs et le groupe du pilotage</a:t>
            </a:r>
            <a:endParaRPr/>
          </a:p>
          <a:p>
            <a:pPr indent="-139700" lvl="0" marL="342900" rtl="0" algn="l">
              <a:spcBef>
                <a:spcPts val="640"/>
              </a:spcBef>
              <a:spcAft>
                <a:spcPts val="0"/>
              </a:spcAft>
              <a:buClr>
                <a:schemeClr val="dk1"/>
              </a:buClr>
              <a:buSzPts val="3200"/>
              <a:buFont typeface="Arial"/>
              <a:buNone/>
            </a:pPr>
            <a:r>
              <a:t/>
            </a:r>
            <a:endParaRPr b="0" i="0" sz="3200" u="none">
              <a:solidFill>
                <a:schemeClr val="dk1"/>
              </a:solidFill>
              <a:latin typeface="Georgia"/>
              <a:ea typeface="Georgia"/>
              <a:cs typeface="Georgia"/>
              <a:sym typeface="Georgia"/>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9" name="Shape 2529"/>
        <p:cNvGrpSpPr/>
        <p:nvPr/>
      </p:nvGrpSpPr>
      <p:grpSpPr>
        <a:xfrm>
          <a:off x="0" y="0"/>
          <a:ext cx="0" cy="0"/>
          <a:chOff x="0" y="0"/>
          <a:chExt cx="0" cy="0"/>
        </a:xfrm>
      </p:grpSpPr>
      <p:sp>
        <p:nvSpPr>
          <p:cNvPr id="2530" name="Google Shape;2530;p222"/>
          <p:cNvSpPr/>
          <p:nvPr/>
        </p:nvSpPr>
        <p:spPr>
          <a:xfrm>
            <a:off x="323850" y="2060575"/>
            <a:ext cx="4392612" cy="533400"/>
          </a:xfrm>
          <a:prstGeom prst="rect">
            <a:avLst/>
          </a:prstGeom>
        </p:spPr>
        <p:txBody>
          <a:bodyPr>
            <a:prstTxWarp prst="textPlain"/>
          </a:bodyPr>
          <a:lstStyle/>
          <a:p>
            <a:pPr lvl="0" algn="l"/>
            <a:r>
              <a:rPr b="0" i="0">
                <a:ln cap="sq" cmpd="sng" w="9525">
                  <a:solidFill>
                    <a:schemeClr val="dk1"/>
                  </a:solidFill>
                  <a:prstDash val="solid"/>
                  <a:miter lim="800000"/>
                  <a:headEnd len="sm" w="sm" type="none"/>
                  <a:tailEnd len="sm" w="sm" type="none"/>
                </a:ln>
                <a:solidFill>
                  <a:srgbClr val="FFFFFF"/>
                </a:solidFill>
                <a:latin typeface="Georgia"/>
              </a:rPr>
              <a:t>Phase de transition </a:t>
            </a: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4" name="Shape 2534"/>
        <p:cNvGrpSpPr/>
        <p:nvPr/>
      </p:nvGrpSpPr>
      <p:grpSpPr>
        <a:xfrm>
          <a:off x="0" y="0"/>
          <a:ext cx="0" cy="0"/>
          <a:chOff x="0" y="0"/>
          <a:chExt cx="0" cy="0"/>
        </a:xfrm>
      </p:grpSpPr>
      <p:sp>
        <p:nvSpPr>
          <p:cNvPr id="2535" name="Google Shape;2535;p22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a:t>
            </a:r>
            <a:r>
              <a:rPr b="0" i="0" lang="en-US" sz="3200" u="none">
                <a:solidFill>
                  <a:schemeClr val="dk1"/>
                </a:solidFill>
                <a:latin typeface="Georgia"/>
                <a:ea typeface="Georgia"/>
                <a:cs typeface="Georgia"/>
                <a:sym typeface="Georgia"/>
              </a:rPr>
              <a:t>Cette phases a pour principale objective de définir un ensemble de règles pour passer de l’ancien système vers le future système</a:t>
            </a:r>
            <a:endParaRPr/>
          </a:p>
        </p:txBody>
      </p:sp>
      <p:pic>
        <p:nvPicPr>
          <p:cNvPr descr="non-system-disk-error" id="2536" name="Google Shape;2536;p223"/>
          <p:cNvPicPr preferRelativeResize="0"/>
          <p:nvPr/>
        </p:nvPicPr>
        <p:blipFill rotWithShape="1">
          <a:blip r:embed="rId3">
            <a:alphaModFix/>
          </a:blip>
          <a:srcRect b="0" l="0" r="0" t="0"/>
          <a:stretch/>
        </p:blipFill>
        <p:spPr>
          <a:xfrm>
            <a:off x="5795962" y="3644900"/>
            <a:ext cx="2879725" cy="2303462"/>
          </a:xfrm>
          <a:prstGeom prst="rect">
            <a:avLst/>
          </a:prstGeom>
          <a:noFill/>
          <a:ln>
            <a:noFill/>
          </a:ln>
        </p:spPr>
      </p:pic>
      <p:cxnSp>
        <p:nvCxnSpPr>
          <p:cNvPr id="2537" name="Google Shape;2537;p223"/>
          <p:cNvCxnSpPr/>
          <p:nvPr/>
        </p:nvCxnSpPr>
        <p:spPr>
          <a:xfrm>
            <a:off x="2555875" y="4652962"/>
            <a:ext cx="3240087" cy="0"/>
          </a:xfrm>
          <a:prstGeom prst="straightConnector1">
            <a:avLst/>
          </a:prstGeom>
          <a:noFill/>
          <a:ln cap="flat" cmpd="sng" w="57150">
            <a:solidFill>
              <a:schemeClr val="dk1"/>
            </a:solidFill>
            <a:prstDash val="solid"/>
            <a:miter lim="800000"/>
            <a:headEnd len="med" w="med" type="none"/>
            <a:tailEnd len="med" w="med" type="triangle"/>
          </a:ln>
        </p:spPr>
      </p:cxnSp>
      <p:pic>
        <p:nvPicPr>
          <p:cNvPr descr="informaticien-en-fin-de-carrire" id="2538" name="Google Shape;2538;p223"/>
          <p:cNvPicPr preferRelativeResize="0"/>
          <p:nvPr/>
        </p:nvPicPr>
        <p:blipFill rotWithShape="1">
          <a:blip r:embed="rId4">
            <a:alphaModFix/>
          </a:blip>
          <a:srcRect b="0" l="0" r="0" t="0"/>
          <a:stretch/>
        </p:blipFill>
        <p:spPr>
          <a:xfrm>
            <a:off x="179387" y="3573462"/>
            <a:ext cx="2879725" cy="2403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538"/>
                                        </p:tgtEl>
                                        <p:attrNameLst>
                                          <p:attrName>style.visibility</p:attrName>
                                        </p:attrNameLst>
                                      </p:cBhvr>
                                      <p:to>
                                        <p:strVal val="visible"/>
                                      </p:to>
                                    </p:set>
                                    <p:animEffect filter="fade" transition="in">
                                      <p:cBhvr>
                                        <p:cTn dur="500"/>
                                        <p:tgtEl>
                                          <p:spTgt spid="2538"/>
                                        </p:tgtEl>
                                      </p:cBhvr>
                                    </p:animEffect>
                                  </p:childTnLst>
                                </p:cTn>
                              </p:par>
                              <p:par>
                                <p:cTn fill="hold" nodeType="withEffect" presetClass="entr" presetID="10" presetSubtype="0">
                                  <p:stCondLst>
                                    <p:cond delay="0"/>
                                  </p:stCondLst>
                                  <p:childTnLst>
                                    <p:set>
                                      <p:cBhvr>
                                        <p:cTn dur="1" fill="hold">
                                          <p:stCondLst>
                                            <p:cond delay="0"/>
                                          </p:stCondLst>
                                        </p:cTn>
                                        <p:tgtEl>
                                          <p:spTgt spid="2536"/>
                                        </p:tgtEl>
                                        <p:attrNameLst>
                                          <p:attrName>style.visibility</p:attrName>
                                        </p:attrNameLst>
                                      </p:cBhvr>
                                      <p:to>
                                        <p:strVal val="visible"/>
                                      </p:to>
                                    </p:set>
                                    <p:animEffect filter="fade" transition="in">
                                      <p:cBhvr>
                                        <p:cTn dur="500"/>
                                        <p:tgtEl>
                                          <p:spTgt spid="25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37"/>
                                        </p:tgtEl>
                                        <p:attrNameLst>
                                          <p:attrName>style.visibility</p:attrName>
                                        </p:attrNameLst>
                                      </p:cBhvr>
                                      <p:to>
                                        <p:strVal val="visible"/>
                                      </p:to>
                                    </p:set>
                                    <p:animEffect filter="fade" transition="in">
                                      <p:cBhvr>
                                        <p:cTn dur="500"/>
                                        <p:tgtEl>
                                          <p:spTgt spid="25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2" name="Shape 2542"/>
        <p:cNvGrpSpPr/>
        <p:nvPr/>
      </p:nvGrpSpPr>
      <p:grpSpPr>
        <a:xfrm>
          <a:off x="0" y="0"/>
          <a:ext cx="0" cy="0"/>
          <a:chOff x="0" y="0"/>
          <a:chExt cx="0" cy="0"/>
        </a:xfrm>
      </p:grpSpPr>
      <p:sp>
        <p:nvSpPr>
          <p:cNvPr id="2543" name="Google Shape;2543;p22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4400">
              <a:solidFill>
                <a:schemeClr val="dk2"/>
              </a:solidFill>
              <a:latin typeface="Arial"/>
              <a:ea typeface="Arial"/>
              <a:cs typeface="Arial"/>
              <a:sym typeface="Arial"/>
            </a:endParaRPr>
          </a:p>
        </p:txBody>
      </p:sp>
      <p:sp>
        <p:nvSpPr>
          <p:cNvPr id="2544" name="Google Shape;2544;p22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139700" lvl="0" marL="342900" rtl="0" algn="l">
              <a:lnSpc>
                <a:spcPct val="100000"/>
              </a:lnSpc>
              <a:spcBef>
                <a:spcPts val="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a:p>
            <a:pPr indent="-139700" lvl="0" marL="342900" rtl="0" algn="l">
              <a:lnSpc>
                <a:spcPct val="100000"/>
              </a:lnSpc>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a:p>
            <a:pPr indent="-342900" lvl="0" marL="342900" rtl="0" algn="l">
              <a:lnSpc>
                <a:spcPct val="100000"/>
              </a:lnSpc>
              <a:spcBef>
                <a:spcPts val="640"/>
              </a:spcBef>
              <a:spcAft>
                <a:spcPts val="0"/>
              </a:spcAft>
              <a:buClr>
                <a:schemeClr val="dk1"/>
              </a:buClr>
              <a:buSzPts val="3200"/>
              <a:buFont typeface="Georgia"/>
              <a:buChar char="•"/>
            </a:pPr>
            <a:r>
              <a:rPr b="0" i="0" lang="en-US" sz="3200" u="none">
                <a:solidFill>
                  <a:schemeClr val="dk1"/>
                </a:solidFill>
                <a:latin typeface="Georgia"/>
                <a:ea typeface="Georgia"/>
                <a:cs typeface="Georgia"/>
                <a:sym typeface="Georgia"/>
              </a:rPr>
              <a:t>Organisation détaillée</a:t>
            </a:r>
            <a:endParaRPr/>
          </a:p>
          <a:p>
            <a:pPr indent="-342900" lvl="0" marL="342900" rtl="0" algn="l">
              <a:lnSpc>
                <a:spcPct val="100000"/>
              </a:lnSpc>
              <a:spcBef>
                <a:spcPts val="640"/>
              </a:spcBef>
              <a:spcAft>
                <a:spcPts val="0"/>
              </a:spcAft>
              <a:buClr>
                <a:schemeClr val="dk1"/>
              </a:buClr>
              <a:buSzPts val="3200"/>
              <a:buFont typeface="Georgia"/>
              <a:buChar char="•"/>
            </a:pPr>
            <a:r>
              <a:rPr b="0" i="0" lang="en-US" sz="3200" u="none">
                <a:solidFill>
                  <a:schemeClr val="dk1"/>
                </a:solidFill>
                <a:latin typeface="Georgia"/>
                <a:ea typeface="Georgia"/>
                <a:cs typeface="Georgia"/>
                <a:sym typeface="Georgia"/>
              </a:rPr>
              <a:t>Planification</a:t>
            </a:r>
            <a:endParaRPr/>
          </a:p>
          <a:p>
            <a:pPr indent="-342900" lvl="0" marL="342900" rtl="0" algn="l">
              <a:lnSpc>
                <a:spcPct val="100000"/>
              </a:lnSpc>
              <a:spcBef>
                <a:spcPts val="640"/>
              </a:spcBef>
              <a:spcAft>
                <a:spcPts val="0"/>
              </a:spcAft>
              <a:buClr>
                <a:schemeClr val="dk1"/>
              </a:buClr>
              <a:buSzPts val="3200"/>
              <a:buFont typeface="Georgia"/>
              <a:buChar char="•"/>
            </a:pPr>
            <a:r>
              <a:rPr b="0" i="0" lang="en-US" sz="3200" u="none">
                <a:solidFill>
                  <a:schemeClr val="dk1"/>
                </a:solidFill>
                <a:latin typeface="Georgia"/>
                <a:ea typeface="Georgia"/>
                <a:cs typeface="Georgia"/>
                <a:sym typeface="Georgia"/>
              </a:rPr>
              <a:t>Implantation</a:t>
            </a:r>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8" name="Shape 2548"/>
        <p:cNvGrpSpPr/>
        <p:nvPr/>
      </p:nvGrpSpPr>
      <p:grpSpPr>
        <a:xfrm>
          <a:off x="0" y="0"/>
          <a:ext cx="0" cy="0"/>
          <a:chOff x="0" y="0"/>
          <a:chExt cx="0" cy="0"/>
        </a:xfrm>
      </p:grpSpPr>
      <p:sp>
        <p:nvSpPr>
          <p:cNvPr id="2549" name="Google Shape;2549;p22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Organisation détaillée</a:t>
            </a:r>
            <a:endParaRPr/>
          </a:p>
        </p:txBody>
      </p:sp>
      <p:sp>
        <p:nvSpPr>
          <p:cNvPr id="2550" name="Google Shape;2550;p22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139700" lvl="0" marL="342900" rtl="0" algn="l">
              <a:lnSpc>
                <a:spcPct val="100000"/>
              </a:lnSpc>
              <a:spcBef>
                <a:spcPts val="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Spécification des scénarios transitoires </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Spécification du scénario de secours</a:t>
            </a:r>
            <a:endParaRPr/>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4" name="Shape 2554"/>
        <p:cNvGrpSpPr/>
        <p:nvPr/>
      </p:nvGrpSpPr>
      <p:grpSpPr>
        <a:xfrm>
          <a:off x="0" y="0"/>
          <a:ext cx="0" cy="0"/>
          <a:chOff x="0" y="0"/>
          <a:chExt cx="0" cy="0"/>
        </a:xfrm>
      </p:grpSpPr>
      <p:sp>
        <p:nvSpPr>
          <p:cNvPr id="2555" name="Google Shape;2555;p226"/>
          <p:cNvSpPr txBox="1"/>
          <p:nvPr/>
        </p:nvSpPr>
        <p:spPr>
          <a:xfrm>
            <a:off x="5076825" y="4437062"/>
            <a:ext cx="3024187" cy="1512887"/>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556" name="Google Shape;2556;p226"/>
          <p:cNvSpPr txBox="1"/>
          <p:nvPr/>
        </p:nvSpPr>
        <p:spPr>
          <a:xfrm>
            <a:off x="539750" y="1628775"/>
            <a:ext cx="3744912" cy="57626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Récupération et transfert des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donnés</a:t>
            </a:r>
            <a:endParaRPr/>
          </a:p>
        </p:txBody>
      </p:sp>
      <p:sp>
        <p:nvSpPr>
          <p:cNvPr id="2557" name="Google Shape;2557;p22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700"/>
              <a:buFont typeface="Arial"/>
              <a:buNone/>
            </a:pPr>
            <a:r>
              <a:rPr b="0" i="0" lang="en-US" sz="3700" u="none">
                <a:solidFill>
                  <a:schemeClr val="dk2"/>
                </a:solidFill>
                <a:latin typeface="Arial"/>
                <a:ea typeface="Arial"/>
                <a:cs typeface="Arial"/>
                <a:sym typeface="Arial"/>
              </a:rPr>
              <a:t>Spécification des scénarios transitoires</a:t>
            </a:r>
            <a:r>
              <a:rPr b="0" i="0" lang="en-US" sz="4000" u="none">
                <a:solidFill>
                  <a:schemeClr val="dk2"/>
                </a:solidFill>
                <a:latin typeface="Arial"/>
                <a:ea typeface="Arial"/>
                <a:cs typeface="Arial"/>
                <a:sym typeface="Arial"/>
              </a:rPr>
              <a:t> </a:t>
            </a:r>
            <a:br>
              <a:rPr b="0" i="0" lang="en-US" sz="4000" u="none">
                <a:solidFill>
                  <a:schemeClr val="dk2"/>
                </a:solidFill>
                <a:latin typeface="Arial"/>
                <a:ea typeface="Arial"/>
                <a:cs typeface="Arial"/>
                <a:sym typeface="Arial"/>
              </a:rPr>
            </a:br>
            <a:endParaRPr/>
          </a:p>
        </p:txBody>
      </p:sp>
      <p:cxnSp>
        <p:nvCxnSpPr>
          <p:cNvPr id="2558" name="Google Shape;2558;p226"/>
          <p:cNvCxnSpPr/>
          <p:nvPr/>
        </p:nvCxnSpPr>
        <p:spPr>
          <a:xfrm>
            <a:off x="2266950" y="2638425"/>
            <a:ext cx="1587" cy="1800225"/>
          </a:xfrm>
          <a:prstGeom prst="straightConnector1">
            <a:avLst/>
          </a:prstGeom>
          <a:noFill/>
          <a:ln cap="flat" cmpd="sng" w="9525">
            <a:solidFill>
              <a:schemeClr val="dk1"/>
            </a:solidFill>
            <a:prstDash val="solid"/>
            <a:miter lim="800000"/>
            <a:headEnd len="med" w="med" type="none"/>
            <a:tailEnd len="med" w="med" type="triangle"/>
          </a:ln>
        </p:spPr>
      </p:cxnSp>
      <p:sp>
        <p:nvSpPr>
          <p:cNvPr id="2559" name="Google Shape;2559;p226"/>
          <p:cNvSpPr txBox="1"/>
          <p:nvPr/>
        </p:nvSpPr>
        <p:spPr>
          <a:xfrm>
            <a:off x="1116012" y="4438650"/>
            <a:ext cx="2051050" cy="1512887"/>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560" name="Google Shape;2560;p226"/>
          <p:cNvSpPr txBox="1"/>
          <p:nvPr/>
        </p:nvSpPr>
        <p:spPr>
          <a:xfrm>
            <a:off x="1260475" y="4438650"/>
            <a:ext cx="1885950" cy="1465262"/>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Définition de la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nature des</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informations a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récupéré du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système actuel</a:t>
            </a:r>
            <a:endParaRPr/>
          </a:p>
        </p:txBody>
      </p:sp>
      <p:sp>
        <p:nvSpPr>
          <p:cNvPr id="2561" name="Google Shape;2561;p226"/>
          <p:cNvSpPr/>
          <p:nvPr/>
        </p:nvSpPr>
        <p:spPr>
          <a:xfrm>
            <a:off x="2124075" y="2349500"/>
            <a:ext cx="288925" cy="287337"/>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562" name="Google Shape;2562;p226"/>
          <p:cNvSpPr txBox="1"/>
          <p:nvPr/>
        </p:nvSpPr>
        <p:spPr>
          <a:xfrm>
            <a:off x="4859337" y="1628775"/>
            <a:ext cx="3673475" cy="57626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De basculement du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système actuel au système futur</a:t>
            </a:r>
            <a:endParaRPr/>
          </a:p>
        </p:txBody>
      </p:sp>
      <p:cxnSp>
        <p:nvCxnSpPr>
          <p:cNvPr id="2563" name="Google Shape;2563;p226"/>
          <p:cNvCxnSpPr/>
          <p:nvPr/>
        </p:nvCxnSpPr>
        <p:spPr>
          <a:xfrm>
            <a:off x="6515100" y="2638425"/>
            <a:ext cx="1587" cy="1800225"/>
          </a:xfrm>
          <a:prstGeom prst="straightConnector1">
            <a:avLst/>
          </a:prstGeom>
          <a:noFill/>
          <a:ln cap="flat" cmpd="sng" w="9525">
            <a:solidFill>
              <a:schemeClr val="dk1"/>
            </a:solidFill>
            <a:prstDash val="solid"/>
            <a:miter lim="800000"/>
            <a:headEnd len="med" w="med" type="none"/>
            <a:tailEnd len="med" w="med" type="triangle"/>
          </a:ln>
        </p:spPr>
      </p:cxnSp>
      <p:sp>
        <p:nvSpPr>
          <p:cNvPr id="2564" name="Google Shape;2564;p226"/>
          <p:cNvSpPr txBox="1"/>
          <p:nvPr/>
        </p:nvSpPr>
        <p:spPr>
          <a:xfrm>
            <a:off x="5005387" y="4714875"/>
            <a:ext cx="2892425" cy="915987"/>
          </a:xfrm>
          <a:prstGeom prst="rect">
            <a:avLst/>
          </a:prstGeom>
          <a:noFill/>
          <a:ln>
            <a:noFill/>
          </a:ln>
        </p:spPr>
        <p:txBody>
          <a:bodyPr anchorCtr="0" anchor="ctr" bIns="45700" lIns="91425" spcFirstLastPara="1" rIns="91425" wrap="square" tIns="45700">
            <a:spAutoFit/>
          </a:bodyPr>
          <a:lstStyle/>
          <a:p>
            <a:pPr indent="-114300" lvl="0" marL="0" marR="0" rtl="0" algn="l">
              <a:lnSpc>
                <a:spcPct val="100000"/>
              </a:lnSpc>
              <a:spcBef>
                <a:spcPts val="0"/>
              </a:spcBef>
              <a:spcAft>
                <a:spcPts val="0"/>
              </a:spcAft>
              <a:buClr>
                <a:schemeClr val="dk1"/>
              </a:buClr>
              <a:buSzPts val="1800"/>
              <a:buFont typeface="Arial"/>
              <a:buChar char="•"/>
            </a:pPr>
            <a:r>
              <a:rPr b="1" i="0" lang="en-US" sz="1800" u="none">
                <a:solidFill>
                  <a:schemeClr val="dk1"/>
                </a:solidFill>
                <a:latin typeface="Arial"/>
                <a:ea typeface="Arial"/>
                <a:cs typeface="Arial"/>
                <a:sym typeface="Arial"/>
              </a:rPr>
              <a:t>Basculement instantané</a:t>
            </a:r>
            <a:endParaRPr/>
          </a:p>
          <a:p>
            <a:pPr indent="-114300" lvl="0" marL="0" marR="0" rtl="0" algn="l">
              <a:lnSpc>
                <a:spcPct val="100000"/>
              </a:lnSpc>
              <a:spcBef>
                <a:spcPts val="0"/>
              </a:spcBef>
              <a:spcAft>
                <a:spcPts val="0"/>
              </a:spcAft>
              <a:buClr>
                <a:schemeClr val="dk1"/>
              </a:buClr>
              <a:buSzPts val="1800"/>
              <a:buFont typeface="Arial"/>
              <a:buChar char="•"/>
            </a:pPr>
            <a:r>
              <a:rPr b="1" i="0" lang="en-US" sz="1800" u="none">
                <a:solidFill>
                  <a:schemeClr val="dk1"/>
                </a:solidFill>
                <a:latin typeface="Arial"/>
                <a:ea typeface="Arial"/>
                <a:cs typeface="Arial"/>
                <a:sym typeface="Arial"/>
              </a:rPr>
              <a:t>Opération pilote</a:t>
            </a:r>
            <a:endParaRPr/>
          </a:p>
          <a:p>
            <a:pPr indent="-114300" lvl="0" marL="0" marR="0" rtl="0" algn="l">
              <a:lnSpc>
                <a:spcPct val="100000"/>
              </a:lnSpc>
              <a:spcBef>
                <a:spcPts val="0"/>
              </a:spcBef>
              <a:spcAft>
                <a:spcPts val="0"/>
              </a:spcAft>
              <a:buClr>
                <a:schemeClr val="dk1"/>
              </a:buClr>
              <a:buSzPts val="1800"/>
              <a:buFont typeface="Arial"/>
              <a:buChar char="•"/>
            </a:pPr>
            <a:r>
              <a:rPr b="1" i="0" lang="en-US" sz="1800" u="none">
                <a:solidFill>
                  <a:schemeClr val="dk1"/>
                </a:solidFill>
                <a:latin typeface="Arial"/>
                <a:ea typeface="Arial"/>
                <a:cs typeface="Arial"/>
                <a:sym typeface="Arial"/>
              </a:rPr>
              <a:t>Installation progressive</a:t>
            </a:r>
            <a:endParaRPr/>
          </a:p>
        </p:txBody>
      </p:sp>
      <p:sp>
        <p:nvSpPr>
          <p:cNvPr id="2565" name="Google Shape;2565;p226"/>
          <p:cNvSpPr/>
          <p:nvPr/>
        </p:nvSpPr>
        <p:spPr>
          <a:xfrm>
            <a:off x="6372225" y="2349500"/>
            <a:ext cx="288925" cy="287337"/>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8"/>
                                        </p:tgtEl>
                                        <p:attrNameLst>
                                          <p:attrName>style.visibility</p:attrName>
                                        </p:attrNameLst>
                                      </p:cBhvr>
                                      <p:to>
                                        <p:strVal val="visible"/>
                                      </p:to>
                                    </p:set>
                                    <p:animEffect filter="fade" transition="in">
                                      <p:cBhvr>
                                        <p:cTn dur="500"/>
                                        <p:tgtEl>
                                          <p:spTgt spid="25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0"/>
                                        </p:tgtEl>
                                        <p:attrNameLst>
                                          <p:attrName>style.visibility</p:attrName>
                                        </p:attrNameLst>
                                      </p:cBhvr>
                                      <p:to>
                                        <p:strVal val="visible"/>
                                      </p:to>
                                    </p:set>
                                    <p:animEffect filter="fade" transition="in">
                                      <p:cBhvr>
                                        <p:cTn dur="500"/>
                                        <p:tgtEl>
                                          <p:spTgt spid="2560"/>
                                        </p:tgtEl>
                                      </p:cBhvr>
                                    </p:animEffect>
                                  </p:childTnLst>
                                </p:cTn>
                              </p:par>
                              <p:par>
                                <p:cTn fill="hold" nodeType="withEffect" presetClass="entr" presetID="10" presetSubtype="0">
                                  <p:stCondLst>
                                    <p:cond delay="0"/>
                                  </p:stCondLst>
                                  <p:childTnLst>
                                    <p:set>
                                      <p:cBhvr>
                                        <p:cTn dur="1" fill="hold">
                                          <p:stCondLst>
                                            <p:cond delay="0"/>
                                          </p:stCondLst>
                                        </p:cTn>
                                        <p:tgtEl>
                                          <p:spTgt spid="2559"/>
                                        </p:tgtEl>
                                        <p:attrNameLst>
                                          <p:attrName>style.visibility</p:attrName>
                                        </p:attrNameLst>
                                      </p:cBhvr>
                                      <p:to>
                                        <p:strVal val="visible"/>
                                      </p:to>
                                    </p:set>
                                    <p:animEffect filter="fade" transition="in">
                                      <p:cBhvr>
                                        <p:cTn dur="500"/>
                                        <p:tgtEl>
                                          <p:spTgt spid="25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3"/>
                                        </p:tgtEl>
                                        <p:attrNameLst>
                                          <p:attrName>style.visibility</p:attrName>
                                        </p:attrNameLst>
                                      </p:cBhvr>
                                      <p:to>
                                        <p:strVal val="visible"/>
                                      </p:to>
                                    </p:set>
                                    <p:animEffect filter="fade" transition="in">
                                      <p:cBhvr>
                                        <p:cTn dur="500"/>
                                        <p:tgtEl>
                                          <p:spTgt spid="25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4"/>
                                        </p:tgtEl>
                                        <p:attrNameLst>
                                          <p:attrName>style.visibility</p:attrName>
                                        </p:attrNameLst>
                                      </p:cBhvr>
                                      <p:to>
                                        <p:strVal val="visible"/>
                                      </p:to>
                                    </p:set>
                                    <p:animEffect filter="fade" transition="in">
                                      <p:cBhvr>
                                        <p:cTn dur="500"/>
                                        <p:tgtEl>
                                          <p:spTgt spid="2564"/>
                                        </p:tgtEl>
                                      </p:cBhvr>
                                    </p:animEffect>
                                  </p:childTnLst>
                                </p:cTn>
                              </p:par>
                              <p:par>
                                <p:cTn fill="hold" nodeType="withEffect" presetClass="entr" presetID="10" presetSubtype="0">
                                  <p:stCondLst>
                                    <p:cond delay="0"/>
                                  </p:stCondLst>
                                  <p:childTnLst>
                                    <p:set>
                                      <p:cBhvr>
                                        <p:cTn dur="1" fill="hold">
                                          <p:stCondLst>
                                            <p:cond delay="0"/>
                                          </p:stCondLst>
                                        </p:cTn>
                                        <p:tgtEl>
                                          <p:spTgt spid="2555"/>
                                        </p:tgtEl>
                                        <p:attrNameLst>
                                          <p:attrName>style.visibility</p:attrName>
                                        </p:attrNameLst>
                                      </p:cBhvr>
                                      <p:to>
                                        <p:strVal val="visible"/>
                                      </p:to>
                                    </p:set>
                                    <p:animEffect filter="fade" transition="in">
                                      <p:cBhvr>
                                        <p:cTn dur="500"/>
                                        <p:tgtEl>
                                          <p:spTgt spid="25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9" name="Shape 2569"/>
        <p:cNvGrpSpPr/>
        <p:nvPr/>
      </p:nvGrpSpPr>
      <p:grpSpPr>
        <a:xfrm>
          <a:off x="0" y="0"/>
          <a:ext cx="0" cy="0"/>
          <a:chOff x="0" y="0"/>
          <a:chExt cx="0" cy="0"/>
        </a:xfrm>
      </p:grpSpPr>
      <p:sp>
        <p:nvSpPr>
          <p:cNvPr id="2570" name="Google Shape;2570;p22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100"/>
              <a:buFont typeface="Arial"/>
              <a:buNone/>
            </a:pPr>
            <a:r>
              <a:rPr b="0" i="0" lang="en-US" sz="4100" u="none">
                <a:solidFill>
                  <a:schemeClr val="dk2"/>
                </a:solidFill>
                <a:latin typeface="Arial"/>
                <a:ea typeface="Arial"/>
                <a:cs typeface="Arial"/>
                <a:sym typeface="Arial"/>
              </a:rPr>
              <a:t>Spécification du scénario de secours</a:t>
            </a:r>
            <a:endParaRPr/>
          </a:p>
        </p:txBody>
      </p:sp>
      <p:sp>
        <p:nvSpPr>
          <p:cNvPr id="2571" name="Google Shape;2571;p227"/>
          <p:cNvSpPr/>
          <p:nvPr/>
        </p:nvSpPr>
        <p:spPr>
          <a:xfrm>
            <a:off x="4067175" y="1557337"/>
            <a:ext cx="288925" cy="287337"/>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2572" name="Google Shape;2572;p227"/>
          <p:cNvCxnSpPr/>
          <p:nvPr/>
        </p:nvCxnSpPr>
        <p:spPr>
          <a:xfrm flipH="1">
            <a:off x="1258887" y="1844675"/>
            <a:ext cx="2952750" cy="865187"/>
          </a:xfrm>
          <a:prstGeom prst="straightConnector1">
            <a:avLst/>
          </a:prstGeom>
          <a:noFill/>
          <a:ln cap="flat" cmpd="sng" w="9525">
            <a:solidFill>
              <a:schemeClr val="dk1"/>
            </a:solidFill>
            <a:prstDash val="solid"/>
            <a:miter lim="800000"/>
            <a:headEnd len="med" w="med" type="none"/>
            <a:tailEnd len="med" w="med" type="triangle"/>
          </a:ln>
        </p:spPr>
      </p:cxnSp>
      <p:cxnSp>
        <p:nvCxnSpPr>
          <p:cNvPr id="2573" name="Google Shape;2573;p227"/>
          <p:cNvCxnSpPr/>
          <p:nvPr/>
        </p:nvCxnSpPr>
        <p:spPr>
          <a:xfrm>
            <a:off x="4211637" y="1844675"/>
            <a:ext cx="288925" cy="792162"/>
          </a:xfrm>
          <a:prstGeom prst="straightConnector1">
            <a:avLst/>
          </a:prstGeom>
          <a:noFill/>
          <a:ln cap="flat" cmpd="sng" w="9525">
            <a:solidFill>
              <a:schemeClr val="dk1"/>
            </a:solidFill>
            <a:prstDash val="solid"/>
            <a:miter lim="800000"/>
            <a:headEnd len="med" w="med" type="none"/>
            <a:tailEnd len="med" w="med" type="triangle"/>
          </a:ln>
        </p:spPr>
      </p:cxnSp>
      <p:sp>
        <p:nvSpPr>
          <p:cNvPr id="2574" name="Google Shape;2574;p227"/>
          <p:cNvSpPr txBox="1"/>
          <p:nvPr/>
        </p:nvSpPr>
        <p:spPr>
          <a:xfrm>
            <a:off x="179387" y="2709862"/>
            <a:ext cx="2447925" cy="79216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DES de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rattrapage</a:t>
            </a:r>
            <a:endParaRPr/>
          </a:p>
        </p:txBody>
      </p:sp>
      <p:sp>
        <p:nvSpPr>
          <p:cNvPr id="2575" name="Google Shape;2575;p227"/>
          <p:cNvSpPr txBox="1"/>
          <p:nvPr/>
        </p:nvSpPr>
        <p:spPr>
          <a:xfrm>
            <a:off x="3203575" y="2709862"/>
            <a:ext cx="2592387" cy="79216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DES de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secours</a:t>
            </a:r>
            <a:endParaRPr/>
          </a:p>
        </p:txBody>
      </p:sp>
      <p:cxnSp>
        <p:nvCxnSpPr>
          <p:cNvPr id="2576" name="Google Shape;2576;p227"/>
          <p:cNvCxnSpPr/>
          <p:nvPr/>
        </p:nvCxnSpPr>
        <p:spPr>
          <a:xfrm>
            <a:off x="1258887" y="3429000"/>
            <a:ext cx="0" cy="647700"/>
          </a:xfrm>
          <a:prstGeom prst="straightConnector1">
            <a:avLst/>
          </a:prstGeom>
          <a:noFill/>
          <a:ln cap="flat" cmpd="sng" w="9525">
            <a:solidFill>
              <a:schemeClr val="dk1"/>
            </a:solidFill>
            <a:prstDash val="solid"/>
            <a:miter lim="800000"/>
            <a:headEnd len="med" w="med" type="none"/>
            <a:tailEnd len="med" w="med" type="none"/>
          </a:ln>
        </p:spPr>
      </p:cxnSp>
      <p:cxnSp>
        <p:nvCxnSpPr>
          <p:cNvPr id="2577" name="Google Shape;2577;p227"/>
          <p:cNvCxnSpPr/>
          <p:nvPr/>
        </p:nvCxnSpPr>
        <p:spPr>
          <a:xfrm>
            <a:off x="4500562" y="3502025"/>
            <a:ext cx="0" cy="647700"/>
          </a:xfrm>
          <a:prstGeom prst="straightConnector1">
            <a:avLst/>
          </a:prstGeom>
          <a:noFill/>
          <a:ln cap="flat" cmpd="sng" w="9525">
            <a:solidFill>
              <a:schemeClr val="dk1"/>
            </a:solidFill>
            <a:prstDash val="solid"/>
            <a:miter lim="800000"/>
            <a:headEnd len="med" w="med" type="none"/>
            <a:tailEnd len="med" w="med" type="none"/>
          </a:ln>
        </p:spPr>
      </p:cxnSp>
      <p:sp>
        <p:nvSpPr>
          <p:cNvPr id="2578" name="Google Shape;2578;p227"/>
          <p:cNvSpPr/>
          <p:nvPr/>
        </p:nvSpPr>
        <p:spPr>
          <a:xfrm rot="10800000">
            <a:off x="179387" y="4149725"/>
            <a:ext cx="2449512" cy="1512887"/>
          </a:xfrm>
          <a:prstGeom prst="foldedCorner">
            <a:avLst>
              <a:gd fmla="val 19378" name="adj"/>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Description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des scénarios</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De rattrapage</a:t>
            </a:r>
            <a:endParaRPr/>
          </a:p>
        </p:txBody>
      </p:sp>
      <p:sp>
        <p:nvSpPr>
          <p:cNvPr id="2579" name="Google Shape;2579;p227"/>
          <p:cNvSpPr/>
          <p:nvPr/>
        </p:nvSpPr>
        <p:spPr>
          <a:xfrm rot="10800000">
            <a:off x="3203575" y="4149725"/>
            <a:ext cx="2520950" cy="1512887"/>
          </a:xfrm>
          <a:prstGeom prst="foldedCorner">
            <a:avLst>
              <a:gd fmla="val 19378" name="adj"/>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Description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Du fonctionnement</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Pendant l’incident</a:t>
            </a:r>
            <a:endParaRPr/>
          </a:p>
        </p:txBody>
      </p:sp>
      <p:sp>
        <p:nvSpPr>
          <p:cNvPr id="2580" name="Google Shape;2580;p227"/>
          <p:cNvSpPr txBox="1"/>
          <p:nvPr/>
        </p:nvSpPr>
        <p:spPr>
          <a:xfrm>
            <a:off x="6011862" y="2709862"/>
            <a:ext cx="2592387" cy="79216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Rédaction du rapport</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D’organisation détaillée</a:t>
            </a:r>
            <a:endParaRPr/>
          </a:p>
        </p:txBody>
      </p:sp>
      <p:cxnSp>
        <p:nvCxnSpPr>
          <p:cNvPr id="2581" name="Google Shape;2581;p227"/>
          <p:cNvCxnSpPr/>
          <p:nvPr/>
        </p:nvCxnSpPr>
        <p:spPr>
          <a:xfrm>
            <a:off x="4211637" y="1844675"/>
            <a:ext cx="3168650" cy="792162"/>
          </a:xfrm>
          <a:prstGeom prst="straightConnector1">
            <a:avLst/>
          </a:prstGeom>
          <a:noFill/>
          <a:ln cap="flat" cmpd="sng" w="9525">
            <a:solidFill>
              <a:schemeClr val="dk1"/>
            </a:solidFill>
            <a:prstDash val="solid"/>
            <a:miter lim="800000"/>
            <a:headEnd len="med" w="med" type="none"/>
            <a:tailEnd len="med" w="med" type="triangle"/>
          </a:ln>
        </p:spPr>
      </p:cxnSp>
      <p:sp>
        <p:nvSpPr>
          <p:cNvPr id="2582" name="Google Shape;2582;p227"/>
          <p:cNvSpPr/>
          <p:nvPr/>
        </p:nvSpPr>
        <p:spPr>
          <a:xfrm rot="10800000">
            <a:off x="6084887" y="4149725"/>
            <a:ext cx="2520950" cy="1512887"/>
          </a:xfrm>
          <a:prstGeom prst="foldedCorner">
            <a:avLst>
              <a:gd fmla="val 19378" name="adj"/>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Validé</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 par le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groupe de pilotage</a:t>
            </a:r>
            <a:endParaRPr/>
          </a:p>
        </p:txBody>
      </p:sp>
      <p:cxnSp>
        <p:nvCxnSpPr>
          <p:cNvPr id="2583" name="Google Shape;2583;p227"/>
          <p:cNvCxnSpPr/>
          <p:nvPr/>
        </p:nvCxnSpPr>
        <p:spPr>
          <a:xfrm>
            <a:off x="7380287" y="3502025"/>
            <a:ext cx="0" cy="647700"/>
          </a:xfrm>
          <a:prstGeom prst="straightConnector1">
            <a:avLst/>
          </a:prstGeom>
          <a:noFill/>
          <a:ln cap="flat" cmpd="sng" w="9525">
            <a:solidFill>
              <a:schemeClr val="dk1"/>
            </a:solidFill>
            <a:prstDash val="solid"/>
            <a:miter lim="800000"/>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2"/>
                                        </p:tgtEl>
                                        <p:attrNameLst>
                                          <p:attrName>style.visibility</p:attrName>
                                        </p:attrNameLst>
                                      </p:cBhvr>
                                      <p:to>
                                        <p:strVal val="visible"/>
                                      </p:to>
                                    </p:set>
                                    <p:animEffect filter="fade" transition="in">
                                      <p:cBhvr>
                                        <p:cTn dur="500"/>
                                        <p:tgtEl>
                                          <p:spTgt spid="25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4"/>
                                        </p:tgtEl>
                                        <p:attrNameLst>
                                          <p:attrName>style.visibility</p:attrName>
                                        </p:attrNameLst>
                                      </p:cBhvr>
                                      <p:to>
                                        <p:strVal val="visible"/>
                                      </p:to>
                                    </p:set>
                                    <p:animEffect filter="fade" transition="in">
                                      <p:cBhvr>
                                        <p:cTn dur="500"/>
                                        <p:tgtEl>
                                          <p:spTgt spid="25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6"/>
                                        </p:tgtEl>
                                        <p:attrNameLst>
                                          <p:attrName>style.visibility</p:attrName>
                                        </p:attrNameLst>
                                      </p:cBhvr>
                                      <p:to>
                                        <p:strVal val="visible"/>
                                      </p:to>
                                    </p:set>
                                    <p:animEffect filter="fade" transition="in">
                                      <p:cBhvr>
                                        <p:cTn dur="500"/>
                                        <p:tgtEl>
                                          <p:spTgt spid="25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8"/>
                                        </p:tgtEl>
                                        <p:attrNameLst>
                                          <p:attrName>style.visibility</p:attrName>
                                        </p:attrNameLst>
                                      </p:cBhvr>
                                      <p:to>
                                        <p:strVal val="visible"/>
                                      </p:to>
                                    </p:set>
                                    <p:animEffect filter="fade" transition="in">
                                      <p:cBhvr>
                                        <p:cTn dur="500"/>
                                        <p:tgtEl>
                                          <p:spTgt spid="25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3"/>
                                        </p:tgtEl>
                                        <p:attrNameLst>
                                          <p:attrName>style.visibility</p:attrName>
                                        </p:attrNameLst>
                                      </p:cBhvr>
                                      <p:to>
                                        <p:strVal val="visible"/>
                                      </p:to>
                                    </p:set>
                                    <p:animEffect filter="fade" transition="in">
                                      <p:cBhvr>
                                        <p:cTn dur="500"/>
                                        <p:tgtEl>
                                          <p:spTgt spid="25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5"/>
                                        </p:tgtEl>
                                        <p:attrNameLst>
                                          <p:attrName>style.visibility</p:attrName>
                                        </p:attrNameLst>
                                      </p:cBhvr>
                                      <p:to>
                                        <p:strVal val="visible"/>
                                      </p:to>
                                    </p:set>
                                    <p:animEffect filter="fade" transition="in">
                                      <p:cBhvr>
                                        <p:cTn dur="500"/>
                                        <p:tgtEl>
                                          <p:spTgt spid="25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7"/>
                                        </p:tgtEl>
                                        <p:attrNameLst>
                                          <p:attrName>style.visibility</p:attrName>
                                        </p:attrNameLst>
                                      </p:cBhvr>
                                      <p:to>
                                        <p:strVal val="visible"/>
                                      </p:to>
                                    </p:set>
                                    <p:animEffect filter="fade" transition="in">
                                      <p:cBhvr>
                                        <p:cTn dur="500"/>
                                        <p:tgtEl>
                                          <p:spTgt spid="25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9"/>
                                        </p:tgtEl>
                                        <p:attrNameLst>
                                          <p:attrName>style.visibility</p:attrName>
                                        </p:attrNameLst>
                                      </p:cBhvr>
                                      <p:to>
                                        <p:strVal val="visible"/>
                                      </p:to>
                                    </p:set>
                                    <p:animEffect filter="fade" transition="in">
                                      <p:cBhvr>
                                        <p:cTn dur="500"/>
                                        <p:tgtEl>
                                          <p:spTgt spid="25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1"/>
                                        </p:tgtEl>
                                        <p:attrNameLst>
                                          <p:attrName>style.visibility</p:attrName>
                                        </p:attrNameLst>
                                      </p:cBhvr>
                                      <p:to>
                                        <p:strVal val="visible"/>
                                      </p:to>
                                    </p:set>
                                    <p:animEffect filter="fade" transition="in">
                                      <p:cBhvr>
                                        <p:cTn dur="500"/>
                                        <p:tgtEl>
                                          <p:spTgt spid="25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0"/>
                                        </p:tgtEl>
                                        <p:attrNameLst>
                                          <p:attrName>style.visibility</p:attrName>
                                        </p:attrNameLst>
                                      </p:cBhvr>
                                      <p:to>
                                        <p:strVal val="visible"/>
                                      </p:to>
                                    </p:set>
                                    <p:animEffect filter="fade" transition="in">
                                      <p:cBhvr>
                                        <p:cTn dur="500"/>
                                        <p:tgtEl>
                                          <p:spTgt spid="25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3"/>
                                        </p:tgtEl>
                                        <p:attrNameLst>
                                          <p:attrName>style.visibility</p:attrName>
                                        </p:attrNameLst>
                                      </p:cBhvr>
                                      <p:to>
                                        <p:strVal val="visible"/>
                                      </p:to>
                                    </p:set>
                                    <p:animEffect filter="fade" transition="in">
                                      <p:cBhvr>
                                        <p:cTn dur="500"/>
                                        <p:tgtEl>
                                          <p:spTgt spid="25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2"/>
                                        </p:tgtEl>
                                        <p:attrNameLst>
                                          <p:attrName>style.visibility</p:attrName>
                                        </p:attrNameLst>
                                      </p:cBhvr>
                                      <p:to>
                                        <p:strVal val="visible"/>
                                      </p:to>
                                    </p:set>
                                    <p:animEffect filter="fade" transition="in">
                                      <p:cBhvr>
                                        <p:cTn dur="500"/>
                                        <p:tgtEl>
                                          <p:spTgt spid="25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7" name="Shape 2587"/>
        <p:cNvGrpSpPr/>
        <p:nvPr/>
      </p:nvGrpSpPr>
      <p:grpSpPr>
        <a:xfrm>
          <a:off x="0" y="0"/>
          <a:ext cx="0" cy="0"/>
          <a:chOff x="0" y="0"/>
          <a:chExt cx="0" cy="0"/>
        </a:xfrm>
      </p:grpSpPr>
      <p:sp>
        <p:nvSpPr>
          <p:cNvPr id="2588" name="Google Shape;2588;p22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br>
              <a:rPr b="0" i="0" lang="en-US" sz="4000" u="none">
                <a:solidFill>
                  <a:schemeClr val="dk2"/>
                </a:solidFill>
                <a:latin typeface="Arial"/>
                <a:ea typeface="Arial"/>
                <a:cs typeface="Arial"/>
                <a:sym typeface="Arial"/>
              </a:rPr>
            </a:br>
            <a:r>
              <a:rPr b="0" i="0" lang="en-US" sz="4000" u="none">
                <a:solidFill>
                  <a:schemeClr val="dk2"/>
                </a:solidFill>
                <a:latin typeface="Arial"/>
                <a:ea typeface="Arial"/>
                <a:cs typeface="Arial"/>
                <a:sym typeface="Arial"/>
              </a:rPr>
              <a:t>     </a:t>
            </a:r>
            <a:r>
              <a:rPr b="0" i="0" lang="en-US" sz="4000" u="none">
                <a:solidFill>
                  <a:schemeClr val="dk2"/>
                </a:solidFill>
                <a:latin typeface="Georgia"/>
                <a:ea typeface="Georgia"/>
                <a:cs typeface="Georgia"/>
                <a:sym typeface="Georgia"/>
              </a:rPr>
              <a:t>Planification</a:t>
            </a:r>
            <a:br>
              <a:rPr b="0" i="0" lang="en-US" sz="4000" u="none">
                <a:solidFill>
                  <a:schemeClr val="dk2"/>
                </a:solidFill>
                <a:latin typeface="Georgia"/>
                <a:ea typeface="Georgia"/>
                <a:cs typeface="Georgia"/>
                <a:sym typeface="Georgia"/>
              </a:rPr>
            </a:br>
            <a:endParaRPr/>
          </a:p>
        </p:txBody>
      </p:sp>
      <p:sp>
        <p:nvSpPr>
          <p:cNvPr id="2589" name="Google Shape;2589;p22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Georgia"/>
              <a:buChar char="•"/>
            </a:pPr>
            <a:r>
              <a:rPr b="0" i="0" lang="en-US" sz="3200" u="none">
                <a:solidFill>
                  <a:schemeClr val="dk1"/>
                </a:solidFill>
                <a:latin typeface="Georgia"/>
                <a:ea typeface="Georgia"/>
                <a:cs typeface="Georgia"/>
                <a:sym typeface="Georgia"/>
              </a:rPr>
              <a:t>Réévaluer les performances attendues  </a:t>
            </a:r>
            <a:endParaRPr/>
          </a:p>
          <a:p>
            <a:pPr indent="-342900" lvl="0" marL="342900" rtl="0" algn="l">
              <a:lnSpc>
                <a:spcPct val="100000"/>
              </a:lnSpc>
              <a:spcBef>
                <a:spcPts val="640"/>
              </a:spcBef>
              <a:spcAft>
                <a:spcPts val="0"/>
              </a:spcAft>
              <a:buClr>
                <a:schemeClr val="dk1"/>
              </a:buClr>
              <a:buSzPts val="3200"/>
              <a:buFont typeface="Georgia"/>
              <a:buChar char="•"/>
            </a:pPr>
            <a:r>
              <a:rPr b="0" i="0" lang="en-US" sz="3200" u="none">
                <a:solidFill>
                  <a:schemeClr val="dk1"/>
                </a:solidFill>
                <a:latin typeface="Georgia"/>
                <a:ea typeface="Georgia"/>
                <a:cs typeface="Georgia"/>
                <a:sym typeface="Georgia"/>
              </a:rPr>
              <a:t>Définir un scénario de lancement</a:t>
            </a:r>
            <a:endParaRPr/>
          </a:p>
          <a:p>
            <a:pPr indent="-342900" lvl="0" marL="342900" rtl="0" algn="l">
              <a:lnSpc>
                <a:spcPct val="100000"/>
              </a:lnSpc>
              <a:spcBef>
                <a:spcPts val="640"/>
              </a:spcBef>
              <a:spcAft>
                <a:spcPts val="0"/>
              </a:spcAft>
              <a:buClr>
                <a:schemeClr val="dk1"/>
              </a:buClr>
              <a:buSzPts val="3200"/>
              <a:buFont typeface="Georgia"/>
              <a:buChar char="•"/>
            </a:pPr>
            <a:r>
              <a:rPr b="0" i="0" lang="en-US" sz="3200" u="none">
                <a:solidFill>
                  <a:schemeClr val="dk1"/>
                </a:solidFill>
                <a:latin typeface="Georgia"/>
                <a:ea typeface="Georgia"/>
                <a:cs typeface="Georgia"/>
                <a:sym typeface="Georgia"/>
              </a:rPr>
              <a:t> Définir les moyens nécessaires aux   étapes suivantes   </a:t>
            </a:r>
            <a:endParaRPr/>
          </a:p>
          <a:p>
            <a:pPr indent="-342900" lvl="0" marL="342900" rtl="0" algn="l">
              <a:lnSpc>
                <a:spcPct val="100000"/>
              </a:lnSpc>
              <a:spcBef>
                <a:spcPts val="640"/>
              </a:spcBef>
              <a:spcAft>
                <a:spcPts val="0"/>
              </a:spcAft>
              <a:buClr>
                <a:schemeClr val="dk1"/>
              </a:buClr>
              <a:buSzPts val="3200"/>
              <a:buFont typeface="Georgia"/>
              <a:buChar char="•"/>
            </a:pPr>
            <a:r>
              <a:rPr b="0" i="0" lang="en-US" sz="3200" u="none">
                <a:solidFill>
                  <a:schemeClr val="dk1"/>
                </a:solidFill>
                <a:latin typeface="Georgia"/>
                <a:ea typeface="Georgia"/>
                <a:cs typeface="Georgia"/>
                <a:sym typeface="Georgia"/>
              </a:rPr>
              <a:t>Rédaction d’un dossier d’étude détaillée</a:t>
            </a:r>
            <a:endParaRPr/>
          </a:p>
          <a:p>
            <a:pPr indent="-342900" lvl="0" marL="342900" rtl="0" algn="l">
              <a:lnSpc>
                <a:spcPct val="100000"/>
              </a:lnSpc>
              <a:spcBef>
                <a:spcPts val="640"/>
              </a:spcBef>
              <a:spcAft>
                <a:spcPts val="0"/>
              </a:spcAft>
              <a:buClr>
                <a:schemeClr val="dk1"/>
              </a:buClr>
              <a:buSzPts val="3200"/>
              <a:buFont typeface="Georgia"/>
              <a:buChar char="•"/>
            </a:pPr>
            <a:r>
              <a:rPr b="0" i="0" lang="en-US" sz="3200" u="none">
                <a:solidFill>
                  <a:schemeClr val="dk1"/>
                </a:solidFill>
                <a:latin typeface="Georgia"/>
                <a:ea typeface="Georgia"/>
                <a:cs typeface="Georgia"/>
                <a:sym typeface="Georgia"/>
              </a:rPr>
              <a:t>Élaboration</a:t>
            </a:r>
            <a:endParaRPr/>
          </a:p>
        </p:txBody>
      </p:sp>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3" name="Shape 2593"/>
        <p:cNvGrpSpPr/>
        <p:nvPr/>
      </p:nvGrpSpPr>
      <p:grpSpPr>
        <a:xfrm>
          <a:off x="0" y="0"/>
          <a:ext cx="0" cy="0"/>
          <a:chOff x="0" y="0"/>
          <a:chExt cx="0" cy="0"/>
        </a:xfrm>
      </p:grpSpPr>
      <p:sp>
        <p:nvSpPr>
          <p:cNvPr id="2594" name="Google Shape;2594;p22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     </a:t>
            </a:r>
            <a:r>
              <a:rPr b="0" i="0" lang="en-US" sz="4000" u="none">
                <a:solidFill>
                  <a:schemeClr val="dk2"/>
                </a:solidFill>
                <a:latin typeface="Georgia"/>
                <a:ea typeface="Georgia"/>
                <a:cs typeface="Georgia"/>
                <a:sym typeface="Georgia"/>
              </a:rPr>
              <a:t>Réévaluer les performances attendues</a:t>
            </a:r>
            <a:endParaRPr/>
          </a:p>
        </p:txBody>
      </p:sp>
      <p:sp>
        <p:nvSpPr>
          <p:cNvPr id="2595" name="Google Shape;2595;p229"/>
          <p:cNvSpPr/>
          <p:nvPr/>
        </p:nvSpPr>
        <p:spPr>
          <a:xfrm>
            <a:off x="684212" y="1628775"/>
            <a:ext cx="2808287" cy="1366837"/>
          </a:xfrm>
          <a:prstGeom prst="roundRect">
            <a:avLst>
              <a:gd fmla="val 5695" name="adj"/>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Temps moyen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d’une transaction</a:t>
            </a:r>
            <a:endParaRPr/>
          </a:p>
        </p:txBody>
      </p:sp>
      <p:sp>
        <p:nvSpPr>
          <p:cNvPr id="2596" name="Google Shape;2596;p229"/>
          <p:cNvSpPr/>
          <p:nvPr/>
        </p:nvSpPr>
        <p:spPr>
          <a:xfrm>
            <a:off x="2987675" y="3068637"/>
            <a:ext cx="2808287" cy="1366837"/>
          </a:xfrm>
          <a:prstGeom prst="roundRect">
            <a:avLst>
              <a:gd fmla="val 5695" name="adj"/>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Dimensionnement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des ressources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matériel</a:t>
            </a:r>
            <a:endParaRPr/>
          </a:p>
        </p:txBody>
      </p:sp>
      <p:sp>
        <p:nvSpPr>
          <p:cNvPr id="2597" name="Google Shape;2597;p229"/>
          <p:cNvSpPr/>
          <p:nvPr/>
        </p:nvSpPr>
        <p:spPr>
          <a:xfrm>
            <a:off x="5364162" y="4437062"/>
            <a:ext cx="2808287" cy="1366837"/>
          </a:xfrm>
          <a:prstGeom prst="roundRect">
            <a:avLst>
              <a:gd fmla="val 5695" name="adj"/>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Complexité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de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chaque tache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5"/>
                                        </p:tgtEl>
                                        <p:attrNameLst>
                                          <p:attrName>style.visibility</p:attrName>
                                        </p:attrNameLst>
                                      </p:cBhvr>
                                      <p:to>
                                        <p:strVal val="visible"/>
                                      </p:to>
                                    </p:set>
                                    <p:animEffect filter="fade" transition="in">
                                      <p:cBhvr>
                                        <p:cTn dur="500"/>
                                        <p:tgtEl>
                                          <p:spTgt spid="25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6"/>
                                        </p:tgtEl>
                                        <p:attrNameLst>
                                          <p:attrName>style.visibility</p:attrName>
                                        </p:attrNameLst>
                                      </p:cBhvr>
                                      <p:to>
                                        <p:strVal val="visible"/>
                                      </p:to>
                                    </p:set>
                                    <p:animEffect filter="fade" transition="in">
                                      <p:cBhvr>
                                        <p:cTn dur="500"/>
                                        <p:tgtEl>
                                          <p:spTgt spid="25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7"/>
                                        </p:tgtEl>
                                        <p:attrNameLst>
                                          <p:attrName>style.visibility</p:attrName>
                                        </p:attrNameLst>
                                      </p:cBhvr>
                                      <p:to>
                                        <p:strVal val="visible"/>
                                      </p:to>
                                    </p:set>
                                    <p:animEffect filter="fade" transition="in">
                                      <p:cBhvr>
                                        <p:cTn dur="500"/>
                                        <p:tgtEl>
                                          <p:spTgt spid="25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1" name="Shape 2601"/>
        <p:cNvGrpSpPr/>
        <p:nvPr/>
      </p:nvGrpSpPr>
      <p:grpSpPr>
        <a:xfrm>
          <a:off x="0" y="0"/>
          <a:ext cx="0" cy="0"/>
          <a:chOff x="0" y="0"/>
          <a:chExt cx="0" cy="0"/>
        </a:xfrm>
      </p:grpSpPr>
      <p:sp>
        <p:nvSpPr>
          <p:cNvPr id="2602" name="Google Shape;2602;p23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     </a:t>
            </a:r>
            <a:r>
              <a:rPr b="0" i="0" lang="en-US" sz="4400" u="none">
                <a:solidFill>
                  <a:schemeClr val="dk2"/>
                </a:solidFill>
                <a:latin typeface="Georgia"/>
                <a:ea typeface="Georgia"/>
                <a:cs typeface="Georgia"/>
                <a:sym typeface="Georgia"/>
              </a:rPr>
              <a:t>Définir un scénario de lancement</a:t>
            </a:r>
            <a:endParaRPr/>
          </a:p>
        </p:txBody>
      </p:sp>
      <p:sp>
        <p:nvSpPr>
          <p:cNvPr id="2603" name="Google Shape;2603;p230"/>
          <p:cNvSpPr/>
          <p:nvPr/>
        </p:nvSpPr>
        <p:spPr>
          <a:xfrm>
            <a:off x="684212" y="1773237"/>
            <a:ext cx="2808287" cy="1366837"/>
          </a:xfrm>
          <a:prstGeom prst="roundRect">
            <a:avLst>
              <a:gd fmla="val 5695" name="adj"/>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Découpage en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lots de réalisation</a:t>
            </a:r>
            <a:r>
              <a:rPr b="0" i="0" lang="en-US" sz="1800" u="none">
                <a:solidFill>
                  <a:schemeClr val="dk1"/>
                </a:solidFill>
                <a:latin typeface="Arial"/>
                <a:ea typeface="Arial"/>
                <a:cs typeface="Arial"/>
                <a:sym typeface="Arial"/>
              </a:rPr>
              <a:t> </a:t>
            </a:r>
            <a:endParaRPr/>
          </a:p>
        </p:txBody>
      </p:sp>
      <p:sp>
        <p:nvSpPr>
          <p:cNvPr id="2604" name="Google Shape;2604;p230"/>
          <p:cNvSpPr/>
          <p:nvPr/>
        </p:nvSpPr>
        <p:spPr>
          <a:xfrm>
            <a:off x="684212" y="3789362"/>
            <a:ext cx="2808287" cy="1366837"/>
          </a:xfrm>
          <a:prstGeom prst="roundRect">
            <a:avLst>
              <a:gd fmla="val 5695" name="adj"/>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Évaluation des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charges de réalisation</a:t>
            </a:r>
            <a:r>
              <a:rPr b="0" i="0" lang="en-US" sz="1800" u="none">
                <a:solidFill>
                  <a:schemeClr val="dk1"/>
                </a:solidFill>
                <a:latin typeface="Arial"/>
                <a:ea typeface="Arial"/>
                <a:cs typeface="Arial"/>
                <a:sym typeface="Arial"/>
              </a:rPr>
              <a:t> </a:t>
            </a:r>
            <a:endParaRPr/>
          </a:p>
        </p:txBody>
      </p:sp>
      <p:sp>
        <p:nvSpPr>
          <p:cNvPr id="2605" name="Google Shape;2605;p230"/>
          <p:cNvSpPr/>
          <p:nvPr/>
        </p:nvSpPr>
        <p:spPr>
          <a:xfrm>
            <a:off x="5076825" y="3789362"/>
            <a:ext cx="2808287" cy="1366837"/>
          </a:xfrm>
          <a:prstGeom prst="roundRect">
            <a:avLst>
              <a:gd fmla="val 5695" name="adj"/>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Planning détaillé</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 des actions planifiées</a:t>
            </a:r>
            <a:endParaRPr/>
          </a:p>
        </p:txBody>
      </p:sp>
      <p:sp>
        <p:nvSpPr>
          <p:cNvPr id="2606" name="Google Shape;2606;p230"/>
          <p:cNvSpPr/>
          <p:nvPr/>
        </p:nvSpPr>
        <p:spPr>
          <a:xfrm>
            <a:off x="5076825" y="1773237"/>
            <a:ext cx="2808287" cy="1366837"/>
          </a:xfrm>
          <a:prstGeom prst="roundRect">
            <a:avLst>
              <a:gd fmla="val 5695" name="adj"/>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Planning de réalisation</a:t>
            </a:r>
            <a:r>
              <a:rPr b="0" i="0" lang="en-US" sz="1800" u="none">
                <a:solidFill>
                  <a:schemeClr val="dk1"/>
                </a:solidFill>
                <a:latin typeface="Arial"/>
                <a:ea typeface="Arial"/>
                <a:cs typeface="Arial"/>
                <a:sym typeface="Arial"/>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03"/>
                                        </p:tgtEl>
                                        <p:attrNameLst>
                                          <p:attrName>style.visibility</p:attrName>
                                        </p:attrNameLst>
                                      </p:cBhvr>
                                      <p:to>
                                        <p:strVal val="visible"/>
                                      </p:to>
                                    </p:set>
                                    <p:animEffect filter="fade" transition="in">
                                      <p:cBhvr>
                                        <p:cTn dur="500"/>
                                        <p:tgtEl>
                                          <p:spTgt spid="26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06"/>
                                        </p:tgtEl>
                                        <p:attrNameLst>
                                          <p:attrName>style.visibility</p:attrName>
                                        </p:attrNameLst>
                                      </p:cBhvr>
                                      <p:to>
                                        <p:strVal val="visible"/>
                                      </p:to>
                                    </p:set>
                                    <p:animEffect filter="fade" transition="in">
                                      <p:cBhvr>
                                        <p:cTn dur="500"/>
                                        <p:tgtEl>
                                          <p:spTgt spid="26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04"/>
                                        </p:tgtEl>
                                        <p:attrNameLst>
                                          <p:attrName>style.visibility</p:attrName>
                                        </p:attrNameLst>
                                      </p:cBhvr>
                                      <p:to>
                                        <p:strVal val="visible"/>
                                      </p:to>
                                    </p:set>
                                    <p:animEffect filter="fade" transition="in">
                                      <p:cBhvr>
                                        <p:cTn dur="500"/>
                                        <p:tgtEl>
                                          <p:spTgt spid="26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05"/>
                                        </p:tgtEl>
                                        <p:attrNameLst>
                                          <p:attrName>style.visibility</p:attrName>
                                        </p:attrNameLst>
                                      </p:cBhvr>
                                      <p:to>
                                        <p:strVal val="visible"/>
                                      </p:to>
                                    </p:set>
                                    <p:animEffect filter="fade" transition="in">
                                      <p:cBhvr>
                                        <p:cTn dur="500"/>
                                        <p:tgtEl>
                                          <p:spTgt spid="26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0" name="Shape 2610"/>
        <p:cNvGrpSpPr/>
        <p:nvPr/>
      </p:nvGrpSpPr>
      <p:grpSpPr>
        <a:xfrm>
          <a:off x="0" y="0"/>
          <a:ext cx="0" cy="0"/>
          <a:chOff x="0" y="0"/>
          <a:chExt cx="0" cy="0"/>
        </a:xfrm>
      </p:grpSpPr>
      <p:sp>
        <p:nvSpPr>
          <p:cNvPr id="2611" name="Google Shape;2611;p231"/>
          <p:cNvSpPr txBox="1"/>
          <p:nvPr>
            <p:ph type="title"/>
          </p:nvPr>
        </p:nvSpPr>
        <p:spPr>
          <a:xfrm>
            <a:off x="468312" y="260350"/>
            <a:ext cx="8675687"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2700"/>
              <a:buFont typeface="Georgia"/>
              <a:buNone/>
            </a:pPr>
            <a:r>
              <a:rPr b="0" i="0" lang="en-US" sz="2700" u="none">
                <a:solidFill>
                  <a:schemeClr val="dk2"/>
                </a:solidFill>
                <a:latin typeface="Georgia"/>
                <a:ea typeface="Georgia"/>
                <a:cs typeface="Georgia"/>
                <a:sym typeface="Georgia"/>
              </a:rPr>
              <a:t>         </a:t>
            </a:r>
            <a:r>
              <a:rPr b="1" i="0" lang="en-US" sz="2700" u="none">
                <a:solidFill>
                  <a:schemeClr val="dk2"/>
                </a:solidFill>
                <a:latin typeface="Georgia"/>
                <a:ea typeface="Georgia"/>
                <a:cs typeface="Georgia"/>
                <a:sym typeface="Georgia"/>
              </a:rPr>
              <a:t>Définir les moyens nécessaires aux étapes suivantes</a:t>
            </a:r>
            <a:r>
              <a:rPr b="1" i="0" lang="en-US" sz="2700" u="none">
                <a:solidFill>
                  <a:schemeClr val="dk2"/>
                </a:solidFill>
                <a:latin typeface="Arial"/>
                <a:ea typeface="Arial"/>
                <a:cs typeface="Arial"/>
                <a:sym typeface="Arial"/>
              </a:rPr>
              <a:t> </a:t>
            </a:r>
            <a:r>
              <a:rPr b="0" i="0" lang="en-US" sz="4800" u="none">
                <a:solidFill>
                  <a:schemeClr val="dk2"/>
                </a:solidFill>
                <a:latin typeface="Arial"/>
                <a:ea typeface="Arial"/>
                <a:cs typeface="Arial"/>
                <a:sym typeface="Arial"/>
              </a:rPr>
              <a:t> </a:t>
            </a:r>
            <a:endParaRPr/>
          </a:p>
        </p:txBody>
      </p:sp>
      <p:sp>
        <p:nvSpPr>
          <p:cNvPr id="2612" name="Google Shape;2612;p231"/>
          <p:cNvSpPr/>
          <p:nvPr/>
        </p:nvSpPr>
        <p:spPr>
          <a:xfrm>
            <a:off x="900112" y="2276475"/>
            <a:ext cx="2808287" cy="1366837"/>
          </a:xfrm>
          <a:prstGeom prst="roundRect">
            <a:avLst>
              <a:gd fmla="val 5695" name="adj"/>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Moyens à mettre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en œuvre</a:t>
            </a:r>
            <a:endParaRPr/>
          </a:p>
        </p:txBody>
      </p:sp>
      <p:sp>
        <p:nvSpPr>
          <p:cNvPr id="2613" name="Google Shape;2613;p231"/>
          <p:cNvSpPr/>
          <p:nvPr/>
        </p:nvSpPr>
        <p:spPr>
          <a:xfrm>
            <a:off x="4859337" y="3860800"/>
            <a:ext cx="2808287" cy="1366837"/>
          </a:xfrm>
          <a:prstGeom prst="roundRect">
            <a:avLst>
              <a:gd fmla="val 5695" name="adj"/>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Calendrier  détaillé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des actions</a:t>
            </a:r>
            <a:r>
              <a:rPr b="0" i="0" lang="en-US" sz="1800" u="none">
                <a:solidFill>
                  <a:schemeClr val="dk1"/>
                </a:solidFill>
                <a:latin typeface="Arial"/>
                <a:ea typeface="Arial"/>
                <a:cs typeface="Arial"/>
                <a:sym typeface="Arial"/>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2"/>
                                        </p:tgtEl>
                                        <p:attrNameLst>
                                          <p:attrName>style.visibility</p:attrName>
                                        </p:attrNameLst>
                                      </p:cBhvr>
                                      <p:to>
                                        <p:strVal val="visible"/>
                                      </p:to>
                                    </p:set>
                                    <p:animEffect filter="fade" transition="in">
                                      <p:cBhvr>
                                        <p:cTn dur="500"/>
                                        <p:tgtEl>
                                          <p:spTgt spid="26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3"/>
                                        </p:tgtEl>
                                        <p:attrNameLst>
                                          <p:attrName>style.visibility</p:attrName>
                                        </p:attrNameLst>
                                      </p:cBhvr>
                                      <p:to>
                                        <p:strVal val="visible"/>
                                      </p:to>
                                    </p:set>
                                    <p:animEffect filter="fade" transition="in">
                                      <p:cBhvr>
                                        <p:cTn dur="500"/>
                                        <p:tgtEl>
                                          <p:spTgt spid="26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7" name="Shape 2617"/>
        <p:cNvGrpSpPr/>
        <p:nvPr/>
      </p:nvGrpSpPr>
      <p:grpSpPr>
        <a:xfrm>
          <a:off x="0" y="0"/>
          <a:ext cx="0" cy="0"/>
          <a:chOff x="0" y="0"/>
          <a:chExt cx="0" cy="0"/>
        </a:xfrm>
      </p:grpSpPr>
      <p:sp>
        <p:nvSpPr>
          <p:cNvPr id="2618" name="Google Shape;2618;p23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700"/>
              <a:buFont typeface="Arial"/>
              <a:buNone/>
            </a:pPr>
            <a:r>
              <a:rPr b="0" i="0" lang="en-US" sz="3700" u="none">
                <a:solidFill>
                  <a:schemeClr val="dk2"/>
                </a:solidFill>
                <a:latin typeface="Arial"/>
                <a:ea typeface="Arial"/>
                <a:cs typeface="Arial"/>
                <a:sym typeface="Arial"/>
              </a:rPr>
              <a:t>      </a:t>
            </a:r>
            <a:r>
              <a:rPr b="0" i="0" lang="en-US" sz="3700" u="none">
                <a:solidFill>
                  <a:schemeClr val="dk2"/>
                </a:solidFill>
                <a:latin typeface="Georgia"/>
                <a:ea typeface="Georgia"/>
                <a:cs typeface="Georgia"/>
                <a:sym typeface="Georgia"/>
              </a:rPr>
              <a:t>Rédaction d’un dossier d’étude détaillée</a:t>
            </a:r>
            <a:r>
              <a:rPr b="0" i="0" lang="en-US" sz="4800" u="none">
                <a:solidFill>
                  <a:schemeClr val="dk2"/>
                </a:solidFill>
                <a:latin typeface="Arial"/>
                <a:ea typeface="Arial"/>
                <a:cs typeface="Arial"/>
                <a:sym typeface="Arial"/>
              </a:rPr>
              <a:t>  </a:t>
            </a:r>
            <a:endParaRPr/>
          </a:p>
        </p:txBody>
      </p:sp>
      <p:sp>
        <p:nvSpPr>
          <p:cNvPr id="2619" name="Google Shape;2619;p232"/>
          <p:cNvSpPr/>
          <p:nvPr/>
        </p:nvSpPr>
        <p:spPr>
          <a:xfrm>
            <a:off x="684212" y="1700212"/>
            <a:ext cx="2808287" cy="1366837"/>
          </a:xfrm>
          <a:prstGeom prst="roundRect">
            <a:avLst>
              <a:gd fmla="val 5695" name="adj"/>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Description complète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de diagramme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de classes</a:t>
            </a:r>
            <a:endParaRPr/>
          </a:p>
        </p:txBody>
      </p:sp>
      <p:sp>
        <p:nvSpPr>
          <p:cNvPr id="2620" name="Google Shape;2620;p232"/>
          <p:cNvSpPr/>
          <p:nvPr/>
        </p:nvSpPr>
        <p:spPr>
          <a:xfrm>
            <a:off x="4932362" y="5013325"/>
            <a:ext cx="2808287" cy="1366837"/>
          </a:xfrm>
          <a:prstGeom prst="roundRect">
            <a:avLst>
              <a:gd fmla="val 5695" name="adj"/>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Description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détaillée des</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 scénarios et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des traitements</a:t>
            </a:r>
            <a:endParaRPr/>
          </a:p>
        </p:txBody>
      </p:sp>
      <p:sp>
        <p:nvSpPr>
          <p:cNvPr id="2621" name="Google Shape;2621;p232"/>
          <p:cNvSpPr/>
          <p:nvPr/>
        </p:nvSpPr>
        <p:spPr>
          <a:xfrm>
            <a:off x="2771775" y="3357562"/>
            <a:ext cx="2808287" cy="1366837"/>
          </a:xfrm>
          <a:prstGeom prst="roundRect">
            <a:avLst>
              <a:gd fmla="val 5695" name="adj"/>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Description détaillée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des méthodes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9"/>
                                        </p:tgtEl>
                                        <p:attrNameLst>
                                          <p:attrName>style.visibility</p:attrName>
                                        </p:attrNameLst>
                                      </p:cBhvr>
                                      <p:to>
                                        <p:strVal val="visible"/>
                                      </p:to>
                                    </p:set>
                                    <p:animEffect filter="fade" transition="in">
                                      <p:cBhvr>
                                        <p:cTn dur="500"/>
                                        <p:tgtEl>
                                          <p:spTgt spid="26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1"/>
                                        </p:tgtEl>
                                        <p:attrNameLst>
                                          <p:attrName>style.visibility</p:attrName>
                                        </p:attrNameLst>
                                      </p:cBhvr>
                                      <p:to>
                                        <p:strVal val="visible"/>
                                      </p:to>
                                    </p:set>
                                    <p:animEffect filter="fade" transition="in">
                                      <p:cBhvr>
                                        <p:cTn dur="500"/>
                                        <p:tgtEl>
                                          <p:spTgt spid="26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0"/>
                                        </p:tgtEl>
                                        <p:attrNameLst>
                                          <p:attrName>style.visibility</p:attrName>
                                        </p:attrNameLst>
                                      </p:cBhvr>
                                      <p:to>
                                        <p:strVal val="visible"/>
                                      </p:to>
                                    </p:set>
                                    <p:animEffect filter="fade" transition="in">
                                      <p:cBhvr>
                                        <p:cTn dur="500"/>
                                        <p:tgtEl>
                                          <p:spTgt spid="26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5" name="Shape 2625"/>
        <p:cNvGrpSpPr/>
        <p:nvPr/>
      </p:nvGrpSpPr>
      <p:grpSpPr>
        <a:xfrm>
          <a:off x="0" y="0"/>
          <a:ext cx="0" cy="0"/>
          <a:chOff x="0" y="0"/>
          <a:chExt cx="0" cy="0"/>
        </a:xfrm>
      </p:grpSpPr>
      <p:sp>
        <p:nvSpPr>
          <p:cNvPr id="2626" name="Google Shape;2626;p233"/>
          <p:cNvSpPr txBox="1"/>
          <p:nvPr>
            <p:ph type="title"/>
          </p:nvPr>
        </p:nvSpPr>
        <p:spPr>
          <a:xfrm>
            <a:off x="611187" y="1484312"/>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     </a:t>
            </a:r>
            <a:r>
              <a:rPr b="0" i="0" lang="en-US" sz="4400" u="none">
                <a:solidFill>
                  <a:schemeClr val="dk2"/>
                </a:solidFill>
                <a:latin typeface="Georgia"/>
                <a:ea typeface="Georgia"/>
                <a:cs typeface="Georgia"/>
                <a:sym typeface="Georgia"/>
              </a:rPr>
              <a:t>Élaboration</a:t>
            </a:r>
            <a:endParaRPr/>
          </a:p>
        </p:txBody>
      </p:sp>
      <p:sp>
        <p:nvSpPr>
          <p:cNvPr id="2627" name="Google Shape;2627;p233"/>
          <p:cNvSpPr txBox="1"/>
          <p:nvPr>
            <p:ph idx="1" type="body"/>
          </p:nvPr>
        </p:nvSpPr>
        <p:spPr>
          <a:xfrm>
            <a:off x="457200" y="2563812"/>
            <a:ext cx="8229600" cy="356235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a:p>
            <a:pPr indent="-139700" lvl="0" marL="342900" rtl="0" algn="l">
              <a:lnSpc>
                <a:spcPct val="100000"/>
              </a:lnSpc>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a:p>
            <a:pPr indent="-342900" lvl="0" marL="342900" rtl="0" algn="l">
              <a:lnSpc>
                <a:spcPct val="100000"/>
              </a:lnSpc>
              <a:spcBef>
                <a:spcPts val="640"/>
              </a:spcBef>
              <a:spcAft>
                <a:spcPts val="0"/>
              </a:spcAft>
              <a:buClr>
                <a:schemeClr val="dk1"/>
              </a:buClr>
              <a:buSzPts val="3200"/>
              <a:buFont typeface="Georgia"/>
              <a:buChar char="•"/>
            </a:pPr>
            <a:r>
              <a:rPr b="0" i="0" lang="en-US" sz="3200" u="none">
                <a:solidFill>
                  <a:schemeClr val="dk1"/>
                </a:solidFill>
                <a:latin typeface="Georgia"/>
                <a:ea typeface="Georgia"/>
                <a:cs typeface="Georgia"/>
                <a:sym typeface="Georgia"/>
              </a:rPr>
              <a:t>Élaboration d’un cahier de charges de réalisation </a:t>
            </a:r>
            <a:endParaRPr/>
          </a:p>
          <a:p>
            <a:pPr indent="-342900" lvl="0" marL="342900" rtl="0" algn="l">
              <a:lnSpc>
                <a:spcPct val="100000"/>
              </a:lnSpc>
              <a:spcBef>
                <a:spcPts val="640"/>
              </a:spcBef>
              <a:spcAft>
                <a:spcPts val="0"/>
              </a:spcAft>
              <a:buClr>
                <a:schemeClr val="dk1"/>
              </a:buClr>
              <a:buSzPts val="3200"/>
              <a:buFont typeface="Georgia"/>
              <a:buChar char="•"/>
            </a:pPr>
            <a:r>
              <a:rPr b="0" i="0" lang="en-US" sz="3200" u="none">
                <a:solidFill>
                  <a:schemeClr val="dk1"/>
                </a:solidFill>
                <a:latin typeface="Georgia"/>
                <a:ea typeface="Georgia"/>
                <a:cs typeface="Georgia"/>
                <a:sym typeface="Georgia"/>
              </a:rPr>
              <a:t>Élaboration d’un manuel utilisateur</a:t>
            </a:r>
            <a:endParaRPr/>
          </a:p>
          <a:p>
            <a:pPr indent="-139700" lvl="0" marL="342900" rtl="0" algn="l">
              <a:spcBef>
                <a:spcPts val="640"/>
              </a:spcBef>
              <a:spcAft>
                <a:spcPts val="0"/>
              </a:spcAft>
              <a:buClr>
                <a:schemeClr val="dk1"/>
              </a:buClr>
              <a:buSzPts val="3200"/>
              <a:buFont typeface="Arial"/>
              <a:buNone/>
            </a:pPr>
            <a:r>
              <a:t/>
            </a:r>
            <a:endParaRPr b="0" i="0" sz="3200" u="none">
              <a:solidFill>
                <a:schemeClr val="dk1"/>
              </a:solidFill>
              <a:latin typeface="Georgia"/>
              <a:ea typeface="Georgia"/>
              <a:cs typeface="Georgia"/>
              <a:sym typeface="Georgia"/>
            </a:endParaRPr>
          </a:p>
        </p:txBody>
      </p:sp>
    </p:spTree>
  </p:cSld>
  <p:clrMapOvr>
    <a:masterClrMapping/>
  </p:clrMapOvr>
</p:sld>
</file>

<file path=ppt/slides/slide2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1" name="Shape 2631"/>
        <p:cNvGrpSpPr/>
        <p:nvPr/>
      </p:nvGrpSpPr>
      <p:grpSpPr>
        <a:xfrm>
          <a:off x="0" y="0"/>
          <a:ext cx="0" cy="0"/>
          <a:chOff x="0" y="0"/>
          <a:chExt cx="0" cy="0"/>
        </a:xfrm>
      </p:grpSpPr>
      <p:sp>
        <p:nvSpPr>
          <p:cNvPr id="2632" name="Google Shape;2632;p23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Georgia"/>
              <a:buNone/>
            </a:pPr>
            <a:r>
              <a:rPr b="0" i="0" lang="en-US" sz="4400" u="none">
                <a:solidFill>
                  <a:schemeClr val="dk2"/>
                </a:solidFill>
                <a:latin typeface="Georgia"/>
                <a:ea typeface="Georgia"/>
                <a:cs typeface="Georgia"/>
                <a:sym typeface="Georgia"/>
              </a:rPr>
              <a:t>      Implantation</a:t>
            </a:r>
            <a:endParaRPr/>
          </a:p>
        </p:txBody>
      </p:sp>
      <p:sp>
        <p:nvSpPr>
          <p:cNvPr id="2633" name="Google Shape;2633;p23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Georgia"/>
              <a:buChar char="•"/>
            </a:pPr>
            <a:r>
              <a:rPr b="0" i="0" lang="en-US" sz="3200" u="none">
                <a:solidFill>
                  <a:schemeClr val="dk1"/>
                </a:solidFill>
                <a:latin typeface="Georgia"/>
                <a:ea typeface="Georgia"/>
                <a:cs typeface="Georgia"/>
                <a:sym typeface="Georgia"/>
              </a:rPr>
              <a:t>Description de l’environnement technique</a:t>
            </a:r>
            <a:endParaRPr/>
          </a:p>
          <a:p>
            <a:pPr indent="-342900" lvl="0" marL="342900" rtl="0" algn="l">
              <a:lnSpc>
                <a:spcPct val="100000"/>
              </a:lnSpc>
              <a:spcBef>
                <a:spcPts val="640"/>
              </a:spcBef>
              <a:spcAft>
                <a:spcPts val="0"/>
              </a:spcAft>
              <a:buClr>
                <a:schemeClr val="dk1"/>
              </a:buClr>
              <a:buSzPts val="3200"/>
              <a:buFont typeface="Georgia"/>
              <a:buChar char="•"/>
            </a:pPr>
            <a:r>
              <a:rPr b="0" i="0" lang="en-US" sz="3200" u="none">
                <a:solidFill>
                  <a:schemeClr val="dk1"/>
                </a:solidFill>
                <a:latin typeface="Georgia"/>
                <a:ea typeface="Georgia"/>
                <a:cs typeface="Georgia"/>
                <a:sym typeface="Georgia"/>
              </a:rPr>
              <a:t>Décrire l’organisation physique des objets</a:t>
            </a:r>
            <a:endParaRPr/>
          </a:p>
          <a:p>
            <a:pPr indent="-342900" lvl="0" marL="342900" rtl="0" algn="l">
              <a:lnSpc>
                <a:spcPct val="100000"/>
              </a:lnSpc>
              <a:spcBef>
                <a:spcPts val="640"/>
              </a:spcBef>
              <a:spcAft>
                <a:spcPts val="0"/>
              </a:spcAft>
              <a:buClr>
                <a:schemeClr val="dk1"/>
              </a:buClr>
              <a:buSzPts val="3200"/>
              <a:buFont typeface="Georgia"/>
              <a:buChar char="•"/>
            </a:pPr>
            <a:r>
              <a:rPr b="0" i="0" lang="en-US" sz="3200" u="none">
                <a:solidFill>
                  <a:schemeClr val="dk1"/>
                </a:solidFill>
                <a:latin typeface="Georgia"/>
                <a:ea typeface="Georgia"/>
                <a:cs typeface="Georgia"/>
                <a:sym typeface="Georgia"/>
              </a:rPr>
              <a:t>Décrire l’architecture technique des transactions</a:t>
            </a:r>
            <a:endParaRPr/>
          </a:p>
          <a:p>
            <a:pPr indent="-342900" lvl="0" marL="342900" rtl="0" algn="l">
              <a:lnSpc>
                <a:spcPct val="100000"/>
              </a:lnSpc>
              <a:spcBef>
                <a:spcPts val="640"/>
              </a:spcBef>
              <a:spcAft>
                <a:spcPts val="0"/>
              </a:spcAft>
              <a:buClr>
                <a:schemeClr val="dk1"/>
              </a:buClr>
              <a:buSzPts val="3200"/>
              <a:buFont typeface="Georgia"/>
              <a:buChar char="•"/>
            </a:pPr>
            <a:r>
              <a:rPr b="0" i="0" lang="en-US" sz="3200" u="none">
                <a:solidFill>
                  <a:schemeClr val="dk1"/>
                </a:solidFill>
                <a:latin typeface="Georgia"/>
                <a:ea typeface="Georgia"/>
                <a:cs typeface="Georgia"/>
                <a:sym typeface="Georgia"/>
              </a:rPr>
              <a:t>Décrire l’architecture techniques des programmes batch</a:t>
            </a:r>
            <a:endParaRPr/>
          </a:p>
          <a:p>
            <a:pPr indent="-139700" lvl="0" marL="342900" rtl="0" algn="l">
              <a:spcBef>
                <a:spcPts val="640"/>
              </a:spcBef>
              <a:spcAft>
                <a:spcPts val="0"/>
              </a:spcAft>
              <a:buClr>
                <a:schemeClr val="dk1"/>
              </a:buClr>
              <a:buSzPts val="3200"/>
              <a:buFont typeface="Arial"/>
              <a:buNone/>
            </a:pPr>
            <a:r>
              <a:t/>
            </a:r>
            <a:endParaRPr b="0" i="0" sz="3200" u="none">
              <a:solidFill>
                <a:schemeClr val="dk1"/>
              </a:solidFill>
              <a:latin typeface="Georgia"/>
              <a:ea typeface="Georgia"/>
              <a:cs typeface="Georgia"/>
              <a:sym typeface="Georgia"/>
            </a:endParaRPr>
          </a:p>
        </p:txBody>
      </p:sp>
    </p:spTree>
  </p:cSld>
  <p:clrMapOvr>
    <a:masterClrMapping/>
  </p:clrMapOvr>
</p:sld>
</file>

<file path=ppt/slides/slide2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7" name="Shape 2637"/>
        <p:cNvGrpSpPr/>
        <p:nvPr/>
      </p:nvGrpSpPr>
      <p:grpSpPr>
        <a:xfrm>
          <a:off x="0" y="0"/>
          <a:ext cx="0" cy="0"/>
          <a:chOff x="0" y="0"/>
          <a:chExt cx="0" cy="0"/>
        </a:xfrm>
      </p:grpSpPr>
      <p:sp>
        <p:nvSpPr>
          <p:cNvPr id="2638" name="Google Shape;2638;p23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Arial"/>
              <a:buNone/>
            </a:pPr>
            <a:r>
              <a:rPr b="0" i="0" lang="en-US" sz="3200" u="none">
                <a:solidFill>
                  <a:schemeClr val="dk2"/>
                </a:solidFill>
                <a:latin typeface="Arial"/>
                <a:ea typeface="Arial"/>
                <a:cs typeface="Arial"/>
                <a:sym typeface="Arial"/>
              </a:rPr>
              <a:t>       </a:t>
            </a:r>
            <a:br>
              <a:rPr b="0" i="0" lang="en-US" sz="3200" u="none">
                <a:solidFill>
                  <a:schemeClr val="dk2"/>
                </a:solidFill>
                <a:latin typeface="Arial"/>
                <a:ea typeface="Arial"/>
                <a:cs typeface="Arial"/>
                <a:sym typeface="Arial"/>
              </a:rPr>
            </a:br>
            <a:r>
              <a:rPr b="0" i="0" lang="en-US" sz="3200" u="none">
                <a:solidFill>
                  <a:schemeClr val="dk2"/>
                </a:solidFill>
                <a:latin typeface="Arial"/>
                <a:ea typeface="Arial"/>
                <a:cs typeface="Arial"/>
                <a:sym typeface="Arial"/>
              </a:rPr>
              <a:t>        </a:t>
            </a:r>
            <a:r>
              <a:rPr b="0" i="0" lang="en-US" sz="3400" u="none">
                <a:solidFill>
                  <a:schemeClr val="dk2"/>
                </a:solidFill>
                <a:latin typeface="Georgia"/>
                <a:ea typeface="Georgia"/>
                <a:cs typeface="Georgia"/>
                <a:sym typeface="Georgia"/>
              </a:rPr>
              <a:t>Description de l’environnement technique</a:t>
            </a:r>
            <a:br>
              <a:rPr b="0" i="0" lang="en-US" sz="4400" u="none">
                <a:solidFill>
                  <a:schemeClr val="dk2"/>
                </a:solidFill>
                <a:latin typeface="Arial"/>
                <a:ea typeface="Arial"/>
                <a:cs typeface="Arial"/>
                <a:sym typeface="Arial"/>
              </a:rPr>
            </a:br>
            <a:endParaRPr/>
          </a:p>
        </p:txBody>
      </p:sp>
      <p:sp>
        <p:nvSpPr>
          <p:cNvPr id="2639" name="Google Shape;2639;p235"/>
          <p:cNvSpPr/>
          <p:nvPr/>
        </p:nvSpPr>
        <p:spPr>
          <a:xfrm>
            <a:off x="4500562" y="1700212"/>
            <a:ext cx="288925" cy="287337"/>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640" name="Google Shape;2640;p235"/>
          <p:cNvSpPr txBox="1"/>
          <p:nvPr/>
        </p:nvSpPr>
        <p:spPr>
          <a:xfrm>
            <a:off x="395287" y="2420937"/>
            <a:ext cx="2520950" cy="9366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Type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de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Matériel</a:t>
            </a:r>
            <a:endParaRPr/>
          </a:p>
        </p:txBody>
      </p:sp>
      <p:sp>
        <p:nvSpPr>
          <p:cNvPr id="2641" name="Google Shape;2641;p235"/>
          <p:cNvSpPr txBox="1"/>
          <p:nvPr/>
        </p:nvSpPr>
        <p:spPr>
          <a:xfrm>
            <a:off x="5219700" y="3860800"/>
            <a:ext cx="2374900" cy="11525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Choix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De</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 SGBD</a:t>
            </a:r>
            <a:endParaRPr/>
          </a:p>
        </p:txBody>
      </p:sp>
      <p:sp>
        <p:nvSpPr>
          <p:cNvPr id="2642" name="Google Shape;2642;p235"/>
          <p:cNvSpPr txBox="1"/>
          <p:nvPr/>
        </p:nvSpPr>
        <p:spPr>
          <a:xfrm>
            <a:off x="3419475" y="5445125"/>
            <a:ext cx="2519362" cy="10795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Normes et standard</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De</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développement</a:t>
            </a:r>
            <a:endParaRPr/>
          </a:p>
        </p:txBody>
      </p:sp>
      <p:sp>
        <p:nvSpPr>
          <p:cNvPr id="2643" name="Google Shape;2643;p235"/>
          <p:cNvSpPr txBox="1"/>
          <p:nvPr/>
        </p:nvSpPr>
        <p:spPr>
          <a:xfrm>
            <a:off x="1619250" y="3860800"/>
            <a:ext cx="2376487" cy="11525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Outils d’aide</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De</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développement</a:t>
            </a:r>
            <a:endParaRPr/>
          </a:p>
        </p:txBody>
      </p:sp>
      <p:sp>
        <p:nvSpPr>
          <p:cNvPr id="2644" name="Google Shape;2644;p235"/>
          <p:cNvSpPr txBox="1"/>
          <p:nvPr/>
        </p:nvSpPr>
        <p:spPr>
          <a:xfrm>
            <a:off x="6372225" y="2420937"/>
            <a:ext cx="2520950" cy="9366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Plan de test</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Et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De réception</a:t>
            </a:r>
            <a:endParaRPr/>
          </a:p>
        </p:txBody>
      </p:sp>
      <p:cxnSp>
        <p:nvCxnSpPr>
          <p:cNvPr id="2645" name="Google Shape;2645;p235"/>
          <p:cNvCxnSpPr/>
          <p:nvPr/>
        </p:nvCxnSpPr>
        <p:spPr>
          <a:xfrm flipH="1">
            <a:off x="2916237" y="1916112"/>
            <a:ext cx="1584325" cy="504825"/>
          </a:xfrm>
          <a:prstGeom prst="straightConnector1">
            <a:avLst/>
          </a:prstGeom>
          <a:noFill/>
          <a:ln cap="flat" cmpd="sng" w="9525">
            <a:solidFill>
              <a:schemeClr val="dk1"/>
            </a:solidFill>
            <a:prstDash val="solid"/>
            <a:miter lim="800000"/>
            <a:headEnd len="med" w="med" type="none"/>
            <a:tailEnd len="med" w="med" type="triangle"/>
          </a:ln>
        </p:spPr>
      </p:cxnSp>
      <p:cxnSp>
        <p:nvCxnSpPr>
          <p:cNvPr id="2646" name="Google Shape;2646;p235"/>
          <p:cNvCxnSpPr/>
          <p:nvPr/>
        </p:nvCxnSpPr>
        <p:spPr>
          <a:xfrm>
            <a:off x="4787900" y="1916112"/>
            <a:ext cx="1584325" cy="504825"/>
          </a:xfrm>
          <a:prstGeom prst="straightConnector1">
            <a:avLst/>
          </a:prstGeom>
          <a:noFill/>
          <a:ln cap="flat" cmpd="sng" w="9525">
            <a:solidFill>
              <a:schemeClr val="dk1"/>
            </a:solidFill>
            <a:prstDash val="solid"/>
            <a:miter lim="800000"/>
            <a:headEnd len="med" w="med" type="none"/>
            <a:tailEnd len="med" w="med" type="triangle"/>
          </a:ln>
        </p:spPr>
      </p:cxnSp>
      <p:cxnSp>
        <p:nvCxnSpPr>
          <p:cNvPr id="2647" name="Google Shape;2647;p235"/>
          <p:cNvCxnSpPr/>
          <p:nvPr/>
        </p:nvCxnSpPr>
        <p:spPr>
          <a:xfrm flipH="1">
            <a:off x="3995737" y="1989137"/>
            <a:ext cx="576262" cy="1871662"/>
          </a:xfrm>
          <a:prstGeom prst="straightConnector1">
            <a:avLst/>
          </a:prstGeom>
          <a:noFill/>
          <a:ln cap="flat" cmpd="sng" w="9525">
            <a:solidFill>
              <a:schemeClr val="dk1"/>
            </a:solidFill>
            <a:prstDash val="solid"/>
            <a:miter lim="800000"/>
            <a:headEnd len="med" w="med" type="none"/>
            <a:tailEnd len="med" w="med" type="triangle"/>
          </a:ln>
        </p:spPr>
      </p:cxnSp>
      <p:cxnSp>
        <p:nvCxnSpPr>
          <p:cNvPr id="2648" name="Google Shape;2648;p235"/>
          <p:cNvCxnSpPr/>
          <p:nvPr/>
        </p:nvCxnSpPr>
        <p:spPr>
          <a:xfrm>
            <a:off x="4716462" y="1989137"/>
            <a:ext cx="503237" cy="1871662"/>
          </a:xfrm>
          <a:prstGeom prst="straightConnector1">
            <a:avLst/>
          </a:prstGeom>
          <a:noFill/>
          <a:ln cap="flat" cmpd="sng" w="9525">
            <a:solidFill>
              <a:schemeClr val="dk1"/>
            </a:solidFill>
            <a:prstDash val="solid"/>
            <a:miter lim="800000"/>
            <a:headEnd len="med" w="med" type="none"/>
            <a:tailEnd len="med" w="med" type="triangle"/>
          </a:ln>
        </p:spPr>
      </p:cxnSp>
      <p:cxnSp>
        <p:nvCxnSpPr>
          <p:cNvPr id="2649" name="Google Shape;2649;p235"/>
          <p:cNvCxnSpPr/>
          <p:nvPr/>
        </p:nvCxnSpPr>
        <p:spPr>
          <a:xfrm>
            <a:off x="4643437" y="1989137"/>
            <a:ext cx="0" cy="3455987"/>
          </a:xfrm>
          <a:prstGeom prst="straightConnector1">
            <a:avLst/>
          </a:prstGeom>
          <a:noFill/>
          <a:ln cap="flat" cmpd="sng" w="9525">
            <a:solidFill>
              <a:schemeClr val="dk1"/>
            </a:solidFill>
            <a:prstDash val="solid"/>
            <a:miter lim="800000"/>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5"/>
                                        </p:tgtEl>
                                        <p:attrNameLst>
                                          <p:attrName>style.visibility</p:attrName>
                                        </p:attrNameLst>
                                      </p:cBhvr>
                                      <p:to>
                                        <p:strVal val="visible"/>
                                      </p:to>
                                    </p:set>
                                    <p:animEffect filter="fade" transition="in">
                                      <p:cBhvr>
                                        <p:cTn dur="500"/>
                                        <p:tgtEl>
                                          <p:spTgt spid="26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0"/>
                                        </p:tgtEl>
                                        <p:attrNameLst>
                                          <p:attrName>style.visibility</p:attrName>
                                        </p:attrNameLst>
                                      </p:cBhvr>
                                      <p:to>
                                        <p:strVal val="visible"/>
                                      </p:to>
                                    </p:set>
                                    <p:animEffect filter="fade" transition="in">
                                      <p:cBhvr>
                                        <p:cTn dur="500"/>
                                        <p:tgtEl>
                                          <p:spTgt spid="26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7"/>
                                        </p:tgtEl>
                                        <p:attrNameLst>
                                          <p:attrName>style.visibility</p:attrName>
                                        </p:attrNameLst>
                                      </p:cBhvr>
                                      <p:to>
                                        <p:strVal val="visible"/>
                                      </p:to>
                                    </p:set>
                                    <p:animEffect filter="fade" transition="in">
                                      <p:cBhvr>
                                        <p:cTn dur="500"/>
                                        <p:tgtEl>
                                          <p:spTgt spid="26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3"/>
                                        </p:tgtEl>
                                        <p:attrNameLst>
                                          <p:attrName>style.visibility</p:attrName>
                                        </p:attrNameLst>
                                      </p:cBhvr>
                                      <p:to>
                                        <p:strVal val="visible"/>
                                      </p:to>
                                    </p:set>
                                    <p:animEffect filter="fade" transition="in">
                                      <p:cBhvr>
                                        <p:cTn dur="500"/>
                                        <p:tgtEl>
                                          <p:spTgt spid="26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9"/>
                                        </p:tgtEl>
                                        <p:attrNameLst>
                                          <p:attrName>style.visibility</p:attrName>
                                        </p:attrNameLst>
                                      </p:cBhvr>
                                      <p:to>
                                        <p:strVal val="visible"/>
                                      </p:to>
                                    </p:set>
                                    <p:animEffect filter="fade" transition="in">
                                      <p:cBhvr>
                                        <p:cTn dur="500"/>
                                        <p:tgtEl>
                                          <p:spTgt spid="26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2"/>
                                        </p:tgtEl>
                                        <p:attrNameLst>
                                          <p:attrName>style.visibility</p:attrName>
                                        </p:attrNameLst>
                                      </p:cBhvr>
                                      <p:to>
                                        <p:strVal val="visible"/>
                                      </p:to>
                                    </p:set>
                                    <p:animEffect filter="fade" transition="in">
                                      <p:cBhvr>
                                        <p:cTn dur="500"/>
                                        <p:tgtEl>
                                          <p:spTgt spid="26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8"/>
                                        </p:tgtEl>
                                        <p:attrNameLst>
                                          <p:attrName>style.visibility</p:attrName>
                                        </p:attrNameLst>
                                      </p:cBhvr>
                                      <p:to>
                                        <p:strVal val="visible"/>
                                      </p:to>
                                    </p:set>
                                    <p:animEffect filter="fade" transition="in">
                                      <p:cBhvr>
                                        <p:cTn dur="500"/>
                                        <p:tgtEl>
                                          <p:spTgt spid="26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1"/>
                                        </p:tgtEl>
                                        <p:attrNameLst>
                                          <p:attrName>style.visibility</p:attrName>
                                        </p:attrNameLst>
                                      </p:cBhvr>
                                      <p:to>
                                        <p:strVal val="visible"/>
                                      </p:to>
                                    </p:set>
                                    <p:animEffect filter="fade" transition="in">
                                      <p:cBhvr>
                                        <p:cTn dur="500"/>
                                        <p:tgtEl>
                                          <p:spTgt spid="26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6"/>
                                        </p:tgtEl>
                                        <p:attrNameLst>
                                          <p:attrName>style.visibility</p:attrName>
                                        </p:attrNameLst>
                                      </p:cBhvr>
                                      <p:to>
                                        <p:strVal val="visible"/>
                                      </p:to>
                                    </p:set>
                                    <p:animEffect filter="fade" transition="in">
                                      <p:cBhvr>
                                        <p:cTn dur="500"/>
                                        <p:tgtEl>
                                          <p:spTgt spid="26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4"/>
                                        </p:tgtEl>
                                        <p:attrNameLst>
                                          <p:attrName>style.visibility</p:attrName>
                                        </p:attrNameLst>
                                      </p:cBhvr>
                                      <p:to>
                                        <p:strVal val="visible"/>
                                      </p:to>
                                    </p:set>
                                    <p:animEffect filter="fade" transition="in">
                                      <p:cBhvr>
                                        <p:cTn dur="500"/>
                                        <p:tgtEl>
                                          <p:spTgt spid="26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3" name="Shape 2653"/>
        <p:cNvGrpSpPr/>
        <p:nvPr/>
      </p:nvGrpSpPr>
      <p:grpSpPr>
        <a:xfrm>
          <a:off x="0" y="0"/>
          <a:ext cx="0" cy="0"/>
          <a:chOff x="0" y="0"/>
          <a:chExt cx="0" cy="0"/>
        </a:xfrm>
      </p:grpSpPr>
      <p:sp>
        <p:nvSpPr>
          <p:cNvPr id="2654" name="Google Shape;2654;p23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2800"/>
              <a:buFont typeface="Arial"/>
              <a:buNone/>
            </a:pPr>
            <a:r>
              <a:rPr b="0" i="0" lang="en-US" sz="2800" u="none">
                <a:solidFill>
                  <a:schemeClr val="dk2"/>
                </a:solidFill>
                <a:latin typeface="Arial"/>
                <a:ea typeface="Arial"/>
                <a:cs typeface="Arial"/>
                <a:sym typeface="Arial"/>
              </a:rPr>
              <a:t>          </a:t>
            </a:r>
            <a:r>
              <a:rPr b="0" i="0" lang="en-US" sz="3400" u="none">
                <a:solidFill>
                  <a:schemeClr val="dk2"/>
                </a:solidFill>
                <a:latin typeface="Georgia"/>
                <a:ea typeface="Georgia"/>
                <a:cs typeface="Georgia"/>
                <a:sym typeface="Georgia"/>
              </a:rPr>
              <a:t>Décrire l’organisation physique des objets</a:t>
            </a:r>
            <a:endParaRPr/>
          </a:p>
        </p:txBody>
      </p:sp>
      <p:sp>
        <p:nvSpPr>
          <p:cNvPr id="2655" name="Google Shape;2655;p236"/>
          <p:cNvSpPr/>
          <p:nvPr/>
        </p:nvSpPr>
        <p:spPr>
          <a:xfrm>
            <a:off x="4067175" y="1700212"/>
            <a:ext cx="288925" cy="287337"/>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656" name="Google Shape;2656;p236"/>
          <p:cNvSpPr txBox="1"/>
          <p:nvPr/>
        </p:nvSpPr>
        <p:spPr>
          <a:xfrm>
            <a:off x="539750" y="3284537"/>
            <a:ext cx="1871662" cy="100806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1" i="0" sz="18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Préciser les</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Protections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d’accès</a:t>
            </a:r>
            <a:endParaRPr/>
          </a:p>
          <a:p>
            <a:pPr indent="0" lvl="0" marL="0" marR="0" rtl="0" algn="l">
              <a:lnSpc>
                <a:spcPct val="100000"/>
              </a:lnSpc>
              <a:spcBef>
                <a:spcPts val="0"/>
              </a:spcBef>
              <a:spcAft>
                <a:spcPts val="0"/>
              </a:spcAft>
              <a:buNone/>
            </a:pPr>
            <a:r>
              <a:t/>
            </a:r>
            <a:endParaRPr b="1" i="0" sz="1800" u="none">
              <a:solidFill>
                <a:schemeClr val="dk1"/>
              </a:solidFill>
              <a:latin typeface="Arial"/>
              <a:ea typeface="Arial"/>
              <a:cs typeface="Arial"/>
              <a:sym typeface="Arial"/>
            </a:endParaRPr>
          </a:p>
        </p:txBody>
      </p:sp>
      <p:sp>
        <p:nvSpPr>
          <p:cNvPr id="2657" name="Google Shape;2657;p236"/>
          <p:cNvSpPr txBox="1"/>
          <p:nvPr/>
        </p:nvSpPr>
        <p:spPr>
          <a:xfrm>
            <a:off x="5940425" y="3284537"/>
            <a:ext cx="1871662" cy="100806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Diagramme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De</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déploiement</a:t>
            </a:r>
            <a:endParaRPr/>
          </a:p>
        </p:txBody>
      </p:sp>
      <p:sp>
        <p:nvSpPr>
          <p:cNvPr id="2658" name="Google Shape;2658;p236"/>
          <p:cNvSpPr txBox="1"/>
          <p:nvPr/>
        </p:nvSpPr>
        <p:spPr>
          <a:xfrm>
            <a:off x="3348037" y="4365625"/>
            <a:ext cx="1871662" cy="100806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Préciser les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Procédures de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sécurité</a:t>
            </a:r>
            <a:endParaRPr/>
          </a:p>
        </p:txBody>
      </p:sp>
      <p:cxnSp>
        <p:nvCxnSpPr>
          <p:cNvPr id="2659" name="Google Shape;2659;p236"/>
          <p:cNvCxnSpPr/>
          <p:nvPr/>
        </p:nvCxnSpPr>
        <p:spPr>
          <a:xfrm flipH="1">
            <a:off x="2411412" y="1916112"/>
            <a:ext cx="1655762" cy="1368425"/>
          </a:xfrm>
          <a:prstGeom prst="straightConnector1">
            <a:avLst/>
          </a:prstGeom>
          <a:noFill/>
          <a:ln cap="flat" cmpd="sng" w="9525">
            <a:solidFill>
              <a:schemeClr val="dk1"/>
            </a:solidFill>
            <a:prstDash val="solid"/>
            <a:miter lim="800000"/>
            <a:headEnd len="med" w="med" type="none"/>
            <a:tailEnd len="med" w="med" type="triangle"/>
          </a:ln>
        </p:spPr>
      </p:cxnSp>
      <p:cxnSp>
        <p:nvCxnSpPr>
          <p:cNvPr id="2660" name="Google Shape;2660;p236"/>
          <p:cNvCxnSpPr/>
          <p:nvPr/>
        </p:nvCxnSpPr>
        <p:spPr>
          <a:xfrm>
            <a:off x="4211637" y="1989137"/>
            <a:ext cx="0" cy="2376487"/>
          </a:xfrm>
          <a:prstGeom prst="straightConnector1">
            <a:avLst/>
          </a:prstGeom>
          <a:noFill/>
          <a:ln cap="flat" cmpd="sng" w="9525">
            <a:solidFill>
              <a:schemeClr val="dk1"/>
            </a:solidFill>
            <a:prstDash val="solid"/>
            <a:miter lim="800000"/>
            <a:headEnd len="med" w="med" type="none"/>
            <a:tailEnd len="med" w="med" type="triangle"/>
          </a:ln>
        </p:spPr>
      </p:cxnSp>
      <p:cxnSp>
        <p:nvCxnSpPr>
          <p:cNvPr id="2661" name="Google Shape;2661;p236"/>
          <p:cNvCxnSpPr/>
          <p:nvPr/>
        </p:nvCxnSpPr>
        <p:spPr>
          <a:xfrm>
            <a:off x="4356100" y="1916112"/>
            <a:ext cx="1584325" cy="1368425"/>
          </a:xfrm>
          <a:prstGeom prst="straightConnector1">
            <a:avLst/>
          </a:prstGeom>
          <a:noFill/>
          <a:ln cap="flat" cmpd="sng" w="9525">
            <a:solidFill>
              <a:schemeClr val="dk1"/>
            </a:solidFill>
            <a:prstDash val="solid"/>
            <a:miter lim="800000"/>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9"/>
                                        </p:tgtEl>
                                        <p:attrNameLst>
                                          <p:attrName>style.visibility</p:attrName>
                                        </p:attrNameLst>
                                      </p:cBhvr>
                                      <p:to>
                                        <p:strVal val="visible"/>
                                      </p:to>
                                    </p:set>
                                    <p:animEffect filter="fade" transition="in">
                                      <p:cBhvr>
                                        <p:cTn dur="500"/>
                                        <p:tgtEl>
                                          <p:spTgt spid="26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6"/>
                                        </p:tgtEl>
                                        <p:attrNameLst>
                                          <p:attrName>style.visibility</p:attrName>
                                        </p:attrNameLst>
                                      </p:cBhvr>
                                      <p:to>
                                        <p:strVal val="visible"/>
                                      </p:to>
                                    </p:set>
                                    <p:animEffect filter="fade" transition="in">
                                      <p:cBhvr>
                                        <p:cTn dur="500"/>
                                        <p:tgtEl>
                                          <p:spTgt spid="26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0"/>
                                        </p:tgtEl>
                                        <p:attrNameLst>
                                          <p:attrName>style.visibility</p:attrName>
                                        </p:attrNameLst>
                                      </p:cBhvr>
                                      <p:to>
                                        <p:strVal val="visible"/>
                                      </p:to>
                                    </p:set>
                                    <p:animEffect filter="fade" transition="in">
                                      <p:cBhvr>
                                        <p:cTn dur="500"/>
                                        <p:tgtEl>
                                          <p:spTgt spid="26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8"/>
                                        </p:tgtEl>
                                        <p:attrNameLst>
                                          <p:attrName>style.visibility</p:attrName>
                                        </p:attrNameLst>
                                      </p:cBhvr>
                                      <p:to>
                                        <p:strVal val="visible"/>
                                      </p:to>
                                    </p:set>
                                    <p:animEffect filter="fade" transition="in">
                                      <p:cBhvr>
                                        <p:cTn dur="500"/>
                                        <p:tgtEl>
                                          <p:spTgt spid="26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1"/>
                                        </p:tgtEl>
                                        <p:attrNameLst>
                                          <p:attrName>style.visibility</p:attrName>
                                        </p:attrNameLst>
                                      </p:cBhvr>
                                      <p:to>
                                        <p:strVal val="visible"/>
                                      </p:to>
                                    </p:set>
                                    <p:animEffect filter="fade" transition="in">
                                      <p:cBhvr>
                                        <p:cTn dur="500"/>
                                        <p:tgtEl>
                                          <p:spTgt spid="26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7"/>
                                        </p:tgtEl>
                                        <p:attrNameLst>
                                          <p:attrName>style.visibility</p:attrName>
                                        </p:attrNameLst>
                                      </p:cBhvr>
                                      <p:to>
                                        <p:strVal val="visible"/>
                                      </p:to>
                                    </p:set>
                                    <p:animEffect filter="fade" transition="in">
                                      <p:cBhvr>
                                        <p:cTn dur="500"/>
                                        <p:tgtEl>
                                          <p:spTgt spid="26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5" name="Shape 2665"/>
        <p:cNvGrpSpPr/>
        <p:nvPr/>
      </p:nvGrpSpPr>
      <p:grpSpPr>
        <a:xfrm>
          <a:off x="0" y="0"/>
          <a:ext cx="0" cy="0"/>
          <a:chOff x="0" y="0"/>
          <a:chExt cx="0" cy="0"/>
        </a:xfrm>
      </p:grpSpPr>
      <p:sp>
        <p:nvSpPr>
          <p:cNvPr id="2666" name="Google Shape;2666;p23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Arial"/>
              <a:buNone/>
            </a:pPr>
            <a:r>
              <a:rPr b="0" i="0" lang="en-US" sz="3200" u="none">
                <a:solidFill>
                  <a:schemeClr val="dk2"/>
                </a:solidFill>
                <a:latin typeface="Arial"/>
                <a:ea typeface="Arial"/>
                <a:cs typeface="Arial"/>
                <a:sym typeface="Arial"/>
              </a:rPr>
              <a:t>        </a:t>
            </a:r>
            <a:br>
              <a:rPr b="0" i="0" lang="en-US" sz="3200" u="none">
                <a:solidFill>
                  <a:schemeClr val="dk2"/>
                </a:solidFill>
                <a:latin typeface="Arial"/>
                <a:ea typeface="Arial"/>
                <a:cs typeface="Arial"/>
                <a:sym typeface="Arial"/>
              </a:rPr>
            </a:br>
            <a:r>
              <a:rPr b="0" i="0" lang="en-US" sz="3200" u="none">
                <a:solidFill>
                  <a:schemeClr val="dk2"/>
                </a:solidFill>
                <a:latin typeface="Arial"/>
                <a:ea typeface="Arial"/>
                <a:cs typeface="Arial"/>
                <a:sym typeface="Arial"/>
              </a:rPr>
              <a:t>        </a:t>
            </a:r>
            <a:r>
              <a:rPr b="0" i="0" lang="en-US" sz="3200" u="none">
                <a:solidFill>
                  <a:schemeClr val="dk2"/>
                </a:solidFill>
                <a:latin typeface="Georgia"/>
                <a:ea typeface="Georgia"/>
                <a:cs typeface="Georgia"/>
                <a:sym typeface="Georgia"/>
              </a:rPr>
              <a:t>Décrire l’architecture technique des transactions</a:t>
            </a:r>
            <a:br>
              <a:rPr b="0" i="0" lang="en-US" sz="3200" u="none">
                <a:solidFill>
                  <a:schemeClr val="dk2"/>
                </a:solidFill>
                <a:latin typeface="Arial"/>
                <a:ea typeface="Arial"/>
                <a:cs typeface="Arial"/>
                <a:sym typeface="Arial"/>
              </a:rPr>
            </a:br>
            <a:endParaRPr/>
          </a:p>
        </p:txBody>
      </p:sp>
      <p:sp>
        <p:nvSpPr>
          <p:cNvPr id="2667" name="Google Shape;2667;p237"/>
          <p:cNvSpPr/>
          <p:nvPr/>
        </p:nvSpPr>
        <p:spPr>
          <a:xfrm>
            <a:off x="3924300" y="1916112"/>
            <a:ext cx="288925" cy="287337"/>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668" name="Google Shape;2668;p237"/>
          <p:cNvSpPr txBox="1"/>
          <p:nvPr/>
        </p:nvSpPr>
        <p:spPr>
          <a:xfrm>
            <a:off x="539750" y="3068637"/>
            <a:ext cx="2376487" cy="9366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Diagramme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De</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 composants</a:t>
            </a:r>
            <a:endParaRPr/>
          </a:p>
        </p:txBody>
      </p:sp>
      <p:sp>
        <p:nvSpPr>
          <p:cNvPr id="2669" name="Google Shape;2669;p237"/>
          <p:cNvSpPr txBox="1"/>
          <p:nvPr/>
        </p:nvSpPr>
        <p:spPr>
          <a:xfrm>
            <a:off x="5292725" y="3068637"/>
            <a:ext cx="2808287" cy="9366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Description techniques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De chaque transaction</a:t>
            </a:r>
            <a:endParaRPr/>
          </a:p>
        </p:txBody>
      </p:sp>
      <p:cxnSp>
        <p:nvCxnSpPr>
          <p:cNvPr id="2670" name="Google Shape;2670;p237"/>
          <p:cNvCxnSpPr/>
          <p:nvPr/>
        </p:nvCxnSpPr>
        <p:spPr>
          <a:xfrm flipH="1">
            <a:off x="2916237" y="2133600"/>
            <a:ext cx="1008062" cy="935037"/>
          </a:xfrm>
          <a:prstGeom prst="straightConnector1">
            <a:avLst/>
          </a:prstGeom>
          <a:noFill/>
          <a:ln cap="flat" cmpd="sng" w="9525">
            <a:solidFill>
              <a:schemeClr val="dk1"/>
            </a:solidFill>
            <a:prstDash val="solid"/>
            <a:miter lim="800000"/>
            <a:headEnd len="med" w="med" type="none"/>
            <a:tailEnd len="med" w="med" type="triangle"/>
          </a:ln>
        </p:spPr>
      </p:cxnSp>
      <p:cxnSp>
        <p:nvCxnSpPr>
          <p:cNvPr id="2671" name="Google Shape;2671;p237"/>
          <p:cNvCxnSpPr/>
          <p:nvPr/>
        </p:nvCxnSpPr>
        <p:spPr>
          <a:xfrm>
            <a:off x="4211637" y="2133600"/>
            <a:ext cx="1081087" cy="935037"/>
          </a:xfrm>
          <a:prstGeom prst="straightConnector1">
            <a:avLst/>
          </a:prstGeom>
          <a:noFill/>
          <a:ln cap="flat" cmpd="sng" w="9525">
            <a:solidFill>
              <a:schemeClr val="dk1"/>
            </a:solidFill>
            <a:prstDash val="solid"/>
            <a:miter lim="800000"/>
            <a:headEnd len="med" w="med" type="none"/>
            <a:tailEnd len="med" w="med" type="triangle"/>
          </a:ln>
        </p:spPr>
      </p:cxnSp>
      <p:cxnSp>
        <p:nvCxnSpPr>
          <p:cNvPr id="2672" name="Google Shape;2672;p237"/>
          <p:cNvCxnSpPr/>
          <p:nvPr/>
        </p:nvCxnSpPr>
        <p:spPr>
          <a:xfrm>
            <a:off x="6732587" y="4005262"/>
            <a:ext cx="0" cy="576262"/>
          </a:xfrm>
          <a:prstGeom prst="straightConnector1">
            <a:avLst/>
          </a:prstGeom>
          <a:noFill/>
          <a:ln cap="flat" cmpd="sng" w="9525">
            <a:solidFill>
              <a:schemeClr val="dk1"/>
            </a:solidFill>
            <a:prstDash val="solid"/>
            <a:miter lim="800000"/>
            <a:headEnd len="med" w="med" type="none"/>
            <a:tailEnd len="med" w="med" type="none"/>
          </a:ln>
        </p:spPr>
      </p:cxnSp>
      <p:sp>
        <p:nvSpPr>
          <p:cNvPr id="2673" name="Google Shape;2673;p237"/>
          <p:cNvSpPr/>
          <p:nvPr/>
        </p:nvSpPr>
        <p:spPr>
          <a:xfrm rot="10800000">
            <a:off x="5292725" y="4581525"/>
            <a:ext cx="2808287" cy="1512887"/>
          </a:xfrm>
          <a:prstGeom prst="foldedCorner">
            <a:avLst>
              <a:gd fmla="val 19378" name="adj"/>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Algorithmes</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Accès au données</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Sécurité technique</a:t>
            </a:r>
            <a:endParaRPr/>
          </a:p>
        </p:txBody>
      </p:sp>
      <p:cxnSp>
        <p:nvCxnSpPr>
          <p:cNvPr id="2674" name="Google Shape;2674;p237"/>
          <p:cNvCxnSpPr/>
          <p:nvPr/>
        </p:nvCxnSpPr>
        <p:spPr>
          <a:xfrm>
            <a:off x="1763712" y="4005262"/>
            <a:ext cx="0" cy="576262"/>
          </a:xfrm>
          <a:prstGeom prst="straightConnector1">
            <a:avLst/>
          </a:prstGeom>
          <a:noFill/>
          <a:ln cap="flat" cmpd="sng" w="9525">
            <a:solidFill>
              <a:schemeClr val="dk1"/>
            </a:solidFill>
            <a:prstDash val="solid"/>
            <a:miter lim="800000"/>
            <a:headEnd len="med" w="med" type="none"/>
            <a:tailEnd len="med" w="med" type="none"/>
          </a:ln>
        </p:spPr>
      </p:cxnSp>
      <p:sp>
        <p:nvSpPr>
          <p:cNvPr id="2675" name="Google Shape;2675;p237"/>
          <p:cNvSpPr/>
          <p:nvPr/>
        </p:nvSpPr>
        <p:spPr>
          <a:xfrm rot="10800000">
            <a:off x="323850" y="4581525"/>
            <a:ext cx="2808287" cy="1512887"/>
          </a:xfrm>
          <a:prstGeom prst="foldedCorner">
            <a:avLst>
              <a:gd fmla="val 19378" name="adj"/>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Schéma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D’enchaînement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des transactions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0"/>
                                        </p:tgtEl>
                                        <p:attrNameLst>
                                          <p:attrName>style.visibility</p:attrName>
                                        </p:attrNameLst>
                                      </p:cBhvr>
                                      <p:to>
                                        <p:strVal val="visible"/>
                                      </p:to>
                                    </p:set>
                                    <p:animEffect filter="fade" transition="in">
                                      <p:cBhvr>
                                        <p:cTn dur="500"/>
                                        <p:tgtEl>
                                          <p:spTgt spid="26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8"/>
                                        </p:tgtEl>
                                        <p:attrNameLst>
                                          <p:attrName>style.visibility</p:attrName>
                                        </p:attrNameLst>
                                      </p:cBhvr>
                                      <p:to>
                                        <p:strVal val="visible"/>
                                      </p:to>
                                    </p:set>
                                    <p:animEffect filter="fade" transition="in">
                                      <p:cBhvr>
                                        <p:cTn dur="500"/>
                                        <p:tgtEl>
                                          <p:spTgt spid="26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4"/>
                                        </p:tgtEl>
                                        <p:attrNameLst>
                                          <p:attrName>style.visibility</p:attrName>
                                        </p:attrNameLst>
                                      </p:cBhvr>
                                      <p:to>
                                        <p:strVal val="visible"/>
                                      </p:to>
                                    </p:set>
                                    <p:animEffect filter="fade" transition="in">
                                      <p:cBhvr>
                                        <p:cTn dur="500"/>
                                        <p:tgtEl>
                                          <p:spTgt spid="26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5"/>
                                        </p:tgtEl>
                                        <p:attrNameLst>
                                          <p:attrName>style.visibility</p:attrName>
                                        </p:attrNameLst>
                                      </p:cBhvr>
                                      <p:to>
                                        <p:strVal val="visible"/>
                                      </p:to>
                                    </p:set>
                                    <p:animEffect filter="fade" transition="in">
                                      <p:cBhvr>
                                        <p:cTn dur="500"/>
                                        <p:tgtEl>
                                          <p:spTgt spid="26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1"/>
                                        </p:tgtEl>
                                        <p:attrNameLst>
                                          <p:attrName>style.visibility</p:attrName>
                                        </p:attrNameLst>
                                      </p:cBhvr>
                                      <p:to>
                                        <p:strVal val="visible"/>
                                      </p:to>
                                    </p:set>
                                    <p:animEffect filter="fade" transition="in">
                                      <p:cBhvr>
                                        <p:cTn dur="500"/>
                                        <p:tgtEl>
                                          <p:spTgt spid="26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9"/>
                                        </p:tgtEl>
                                        <p:attrNameLst>
                                          <p:attrName>style.visibility</p:attrName>
                                        </p:attrNameLst>
                                      </p:cBhvr>
                                      <p:to>
                                        <p:strVal val="visible"/>
                                      </p:to>
                                    </p:set>
                                    <p:animEffect filter="fade" transition="in">
                                      <p:cBhvr>
                                        <p:cTn dur="500"/>
                                        <p:tgtEl>
                                          <p:spTgt spid="26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2"/>
                                        </p:tgtEl>
                                        <p:attrNameLst>
                                          <p:attrName>style.visibility</p:attrName>
                                        </p:attrNameLst>
                                      </p:cBhvr>
                                      <p:to>
                                        <p:strVal val="visible"/>
                                      </p:to>
                                    </p:set>
                                    <p:animEffect filter="fade" transition="in">
                                      <p:cBhvr>
                                        <p:cTn dur="500"/>
                                        <p:tgtEl>
                                          <p:spTgt spid="26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3"/>
                                        </p:tgtEl>
                                        <p:attrNameLst>
                                          <p:attrName>style.visibility</p:attrName>
                                        </p:attrNameLst>
                                      </p:cBhvr>
                                      <p:to>
                                        <p:strVal val="visible"/>
                                      </p:to>
                                    </p:set>
                                    <p:animEffect filter="fade" transition="in">
                                      <p:cBhvr>
                                        <p:cTn dur="500"/>
                                        <p:tgtEl>
                                          <p:spTgt spid="26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9" name="Shape 2679"/>
        <p:cNvGrpSpPr/>
        <p:nvPr/>
      </p:nvGrpSpPr>
      <p:grpSpPr>
        <a:xfrm>
          <a:off x="0" y="0"/>
          <a:ext cx="0" cy="0"/>
          <a:chOff x="0" y="0"/>
          <a:chExt cx="0" cy="0"/>
        </a:xfrm>
      </p:grpSpPr>
      <p:sp>
        <p:nvSpPr>
          <p:cNvPr id="2680" name="Google Shape;2680;p23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Arial"/>
              <a:buNone/>
            </a:pPr>
            <a:r>
              <a:rPr b="0" i="0" lang="en-US" sz="3200" u="none">
                <a:solidFill>
                  <a:schemeClr val="dk2"/>
                </a:solidFill>
                <a:latin typeface="Arial"/>
                <a:ea typeface="Arial"/>
                <a:cs typeface="Arial"/>
                <a:sym typeface="Arial"/>
              </a:rPr>
              <a:t>        </a:t>
            </a:r>
            <a:br>
              <a:rPr b="0" i="0" lang="en-US" sz="3200" u="none">
                <a:solidFill>
                  <a:schemeClr val="dk2"/>
                </a:solidFill>
                <a:latin typeface="Arial"/>
                <a:ea typeface="Arial"/>
                <a:cs typeface="Arial"/>
                <a:sym typeface="Arial"/>
              </a:rPr>
            </a:br>
            <a:r>
              <a:rPr b="0" i="0" lang="en-US" sz="3200" u="none">
                <a:solidFill>
                  <a:schemeClr val="dk2"/>
                </a:solidFill>
                <a:latin typeface="Arial"/>
                <a:ea typeface="Arial"/>
                <a:cs typeface="Arial"/>
                <a:sym typeface="Arial"/>
              </a:rPr>
              <a:t>        </a:t>
            </a:r>
            <a:r>
              <a:rPr b="1" i="0" lang="en-US" sz="2300" u="none">
                <a:solidFill>
                  <a:schemeClr val="dk2"/>
                </a:solidFill>
                <a:latin typeface="Georgia"/>
                <a:ea typeface="Georgia"/>
                <a:cs typeface="Georgia"/>
                <a:sym typeface="Georgia"/>
              </a:rPr>
              <a:t>Décrire l’architecture techniques des programmes batch</a:t>
            </a:r>
            <a:br>
              <a:rPr b="0" i="0" lang="en-US" sz="2700" u="none">
                <a:solidFill>
                  <a:schemeClr val="dk2"/>
                </a:solidFill>
                <a:latin typeface="Arial"/>
                <a:ea typeface="Arial"/>
                <a:cs typeface="Arial"/>
                <a:sym typeface="Arial"/>
              </a:rPr>
            </a:br>
            <a:endParaRPr/>
          </a:p>
        </p:txBody>
      </p:sp>
      <p:sp>
        <p:nvSpPr>
          <p:cNvPr id="2681" name="Google Shape;2681;p238"/>
          <p:cNvSpPr/>
          <p:nvPr/>
        </p:nvSpPr>
        <p:spPr>
          <a:xfrm>
            <a:off x="3924300" y="1916112"/>
            <a:ext cx="288925" cy="287337"/>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682" name="Google Shape;2682;p238"/>
          <p:cNvSpPr txBox="1"/>
          <p:nvPr/>
        </p:nvSpPr>
        <p:spPr>
          <a:xfrm>
            <a:off x="539750" y="3068637"/>
            <a:ext cx="2376487" cy="9366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Diagramme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De</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 composants</a:t>
            </a:r>
            <a:endParaRPr/>
          </a:p>
        </p:txBody>
      </p:sp>
      <p:sp>
        <p:nvSpPr>
          <p:cNvPr id="2683" name="Google Shape;2683;p238"/>
          <p:cNvSpPr txBox="1"/>
          <p:nvPr/>
        </p:nvSpPr>
        <p:spPr>
          <a:xfrm>
            <a:off x="5292725" y="3068637"/>
            <a:ext cx="2808287" cy="9366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Description techniques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De chaque programme</a:t>
            </a:r>
            <a:endParaRPr/>
          </a:p>
        </p:txBody>
      </p:sp>
      <p:cxnSp>
        <p:nvCxnSpPr>
          <p:cNvPr id="2684" name="Google Shape;2684;p238"/>
          <p:cNvCxnSpPr/>
          <p:nvPr/>
        </p:nvCxnSpPr>
        <p:spPr>
          <a:xfrm flipH="1">
            <a:off x="2916237" y="2133600"/>
            <a:ext cx="1008062" cy="935037"/>
          </a:xfrm>
          <a:prstGeom prst="straightConnector1">
            <a:avLst/>
          </a:prstGeom>
          <a:noFill/>
          <a:ln cap="flat" cmpd="sng" w="9525">
            <a:solidFill>
              <a:schemeClr val="dk1"/>
            </a:solidFill>
            <a:prstDash val="solid"/>
            <a:miter lim="800000"/>
            <a:headEnd len="med" w="med" type="none"/>
            <a:tailEnd len="med" w="med" type="triangle"/>
          </a:ln>
        </p:spPr>
      </p:cxnSp>
      <p:cxnSp>
        <p:nvCxnSpPr>
          <p:cNvPr id="2685" name="Google Shape;2685;p238"/>
          <p:cNvCxnSpPr/>
          <p:nvPr/>
        </p:nvCxnSpPr>
        <p:spPr>
          <a:xfrm>
            <a:off x="4211637" y="2133600"/>
            <a:ext cx="1081087" cy="935037"/>
          </a:xfrm>
          <a:prstGeom prst="straightConnector1">
            <a:avLst/>
          </a:prstGeom>
          <a:noFill/>
          <a:ln cap="flat" cmpd="sng" w="9525">
            <a:solidFill>
              <a:schemeClr val="dk1"/>
            </a:solidFill>
            <a:prstDash val="solid"/>
            <a:miter lim="800000"/>
            <a:headEnd len="med" w="med" type="none"/>
            <a:tailEnd len="med" w="med" type="triangle"/>
          </a:ln>
        </p:spPr>
      </p:cxnSp>
      <p:cxnSp>
        <p:nvCxnSpPr>
          <p:cNvPr id="2686" name="Google Shape;2686;p238"/>
          <p:cNvCxnSpPr/>
          <p:nvPr/>
        </p:nvCxnSpPr>
        <p:spPr>
          <a:xfrm>
            <a:off x="6732587" y="4005262"/>
            <a:ext cx="0" cy="576262"/>
          </a:xfrm>
          <a:prstGeom prst="straightConnector1">
            <a:avLst/>
          </a:prstGeom>
          <a:noFill/>
          <a:ln cap="flat" cmpd="sng" w="9525">
            <a:solidFill>
              <a:schemeClr val="dk1"/>
            </a:solidFill>
            <a:prstDash val="solid"/>
            <a:miter lim="800000"/>
            <a:headEnd len="med" w="med" type="none"/>
            <a:tailEnd len="med" w="med" type="none"/>
          </a:ln>
        </p:spPr>
      </p:cxnSp>
      <p:sp>
        <p:nvSpPr>
          <p:cNvPr id="2687" name="Google Shape;2687;p238"/>
          <p:cNvSpPr/>
          <p:nvPr/>
        </p:nvSpPr>
        <p:spPr>
          <a:xfrm rot="10800000">
            <a:off x="5292725" y="4581525"/>
            <a:ext cx="2808287" cy="1512887"/>
          </a:xfrm>
          <a:prstGeom prst="foldedCorner">
            <a:avLst>
              <a:gd fmla="val 19378" name="adj"/>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Algorithmes</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Accès au données</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Critère de tri</a:t>
            </a:r>
            <a:endParaRPr/>
          </a:p>
        </p:txBody>
      </p:sp>
      <p:cxnSp>
        <p:nvCxnSpPr>
          <p:cNvPr id="2688" name="Google Shape;2688;p238"/>
          <p:cNvCxnSpPr/>
          <p:nvPr/>
        </p:nvCxnSpPr>
        <p:spPr>
          <a:xfrm>
            <a:off x="1763712" y="4005262"/>
            <a:ext cx="0" cy="576262"/>
          </a:xfrm>
          <a:prstGeom prst="straightConnector1">
            <a:avLst/>
          </a:prstGeom>
          <a:noFill/>
          <a:ln cap="flat" cmpd="sng" w="9525">
            <a:solidFill>
              <a:schemeClr val="dk1"/>
            </a:solidFill>
            <a:prstDash val="solid"/>
            <a:miter lim="800000"/>
            <a:headEnd len="med" w="med" type="none"/>
            <a:tailEnd len="med" w="med" type="none"/>
          </a:ln>
        </p:spPr>
      </p:cxnSp>
      <p:sp>
        <p:nvSpPr>
          <p:cNvPr id="2689" name="Google Shape;2689;p238"/>
          <p:cNvSpPr/>
          <p:nvPr/>
        </p:nvSpPr>
        <p:spPr>
          <a:xfrm rot="10800000">
            <a:off x="323850" y="4581525"/>
            <a:ext cx="2808287" cy="1512887"/>
          </a:xfrm>
          <a:prstGeom prst="foldedCorner">
            <a:avLst>
              <a:gd fmla="val 19378" name="adj"/>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Schéma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D’enchaînement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Des programmes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4"/>
                                        </p:tgtEl>
                                        <p:attrNameLst>
                                          <p:attrName>style.visibility</p:attrName>
                                        </p:attrNameLst>
                                      </p:cBhvr>
                                      <p:to>
                                        <p:strVal val="visible"/>
                                      </p:to>
                                    </p:set>
                                    <p:animEffect filter="fade" transition="in">
                                      <p:cBhvr>
                                        <p:cTn dur="500"/>
                                        <p:tgtEl>
                                          <p:spTgt spid="26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2"/>
                                        </p:tgtEl>
                                        <p:attrNameLst>
                                          <p:attrName>style.visibility</p:attrName>
                                        </p:attrNameLst>
                                      </p:cBhvr>
                                      <p:to>
                                        <p:strVal val="visible"/>
                                      </p:to>
                                    </p:set>
                                    <p:animEffect filter="fade" transition="in">
                                      <p:cBhvr>
                                        <p:cTn dur="500"/>
                                        <p:tgtEl>
                                          <p:spTgt spid="26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8"/>
                                        </p:tgtEl>
                                        <p:attrNameLst>
                                          <p:attrName>style.visibility</p:attrName>
                                        </p:attrNameLst>
                                      </p:cBhvr>
                                      <p:to>
                                        <p:strVal val="visible"/>
                                      </p:to>
                                    </p:set>
                                    <p:animEffect filter="fade" transition="in">
                                      <p:cBhvr>
                                        <p:cTn dur="500"/>
                                        <p:tgtEl>
                                          <p:spTgt spid="26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9"/>
                                        </p:tgtEl>
                                        <p:attrNameLst>
                                          <p:attrName>style.visibility</p:attrName>
                                        </p:attrNameLst>
                                      </p:cBhvr>
                                      <p:to>
                                        <p:strVal val="visible"/>
                                      </p:to>
                                    </p:set>
                                    <p:animEffect filter="fade" transition="in">
                                      <p:cBhvr>
                                        <p:cTn dur="500"/>
                                        <p:tgtEl>
                                          <p:spTgt spid="26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5"/>
                                        </p:tgtEl>
                                        <p:attrNameLst>
                                          <p:attrName>style.visibility</p:attrName>
                                        </p:attrNameLst>
                                      </p:cBhvr>
                                      <p:to>
                                        <p:strVal val="visible"/>
                                      </p:to>
                                    </p:set>
                                    <p:animEffect filter="fade" transition="in">
                                      <p:cBhvr>
                                        <p:cTn dur="500"/>
                                        <p:tgtEl>
                                          <p:spTgt spid="26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3"/>
                                        </p:tgtEl>
                                        <p:attrNameLst>
                                          <p:attrName>style.visibility</p:attrName>
                                        </p:attrNameLst>
                                      </p:cBhvr>
                                      <p:to>
                                        <p:strVal val="visible"/>
                                      </p:to>
                                    </p:set>
                                    <p:animEffect filter="fade" transition="in">
                                      <p:cBhvr>
                                        <p:cTn dur="500"/>
                                        <p:tgtEl>
                                          <p:spTgt spid="26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6"/>
                                        </p:tgtEl>
                                        <p:attrNameLst>
                                          <p:attrName>style.visibility</p:attrName>
                                        </p:attrNameLst>
                                      </p:cBhvr>
                                      <p:to>
                                        <p:strVal val="visible"/>
                                      </p:to>
                                    </p:set>
                                    <p:animEffect filter="fade" transition="in">
                                      <p:cBhvr>
                                        <p:cTn dur="500"/>
                                        <p:tgtEl>
                                          <p:spTgt spid="26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7"/>
                                        </p:tgtEl>
                                        <p:attrNameLst>
                                          <p:attrName>style.visibility</p:attrName>
                                        </p:attrNameLst>
                                      </p:cBhvr>
                                      <p:to>
                                        <p:strVal val="visible"/>
                                      </p:to>
                                    </p:set>
                                    <p:animEffect filter="fade" transition="in">
                                      <p:cBhvr>
                                        <p:cTn dur="500"/>
                                        <p:tgtEl>
                                          <p:spTgt spid="26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3" name="Shape 2693"/>
        <p:cNvGrpSpPr/>
        <p:nvPr/>
      </p:nvGrpSpPr>
      <p:grpSpPr>
        <a:xfrm>
          <a:off x="0" y="0"/>
          <a:ext cx="0" cy="0"/>
          <a:chOff x="0" y="0"/>
          <a:chExt cx="0" cy="0"/>
        </a:xfrm>
      </p:grpSpPr>
      <p:sp>
        <p:nvSpPr>
          <p:cNvPr id="2694" name="Google Shape;2694;p23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4 –Conclusion </a:t>
            </a:r>
            <a:endParaRPr/>
          </a:p>
        </p:txBody>
      </p:sp>
      <p:sp>
        <p:nvSpPr>
          <p:cNvPr id="2695" name="Google Shape;2695;p23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Comme UML la démarche UP, si elle est assimilée par le chef de projet, ne l’est pas forcément des développeurs et encore moins des utilisateurs qui peuvent y être associés. Ses concepts ne sont pas simples à appréhender et à implanter dans une gestion de projet. Cela nécessite une démarche active de la part de celui qui décide de mener le projet selon ces instructions de façon à ce que la démarche soit effectivement un succès.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odèle par défaut">
  <a:themeElements>
    <a:clrScheme name="Modèle par défau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Modèle par défaut">
  <a:themeElements>
    <a:clrScheme name="Modèle par défau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Modèle par défaut">
  <a:themeElements>
    <a:clrScheme name="Modèle par défau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2007-10-07T15:36:05Z</dcterms:created>
  <dc:creator>douzi</dc:creator>
</cp:coreProperties>
</file>

<file path=docProps/custom.xml><?xml version="1.0" encoding="utf-8"?>
<Properties xmlns="http://schemas.openxmlformats.org/officeDocument/2006/custom-properties" xmlns:vt="http://schemas.openxmlformats.org/officeDocument/2006/docPropsVTypes"/>
</file>