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Lst>
  <p:notesMasterIdLst>
    <p:notesMasterId r:id="rId8"/>
  </p:notesMasterIdLst>
  <p:sldIdLst>
    <p:sldId id="256" r:id="rId6"/>
    <p:sldId id="315" r:id="rId7"/>
    <p:sldId id="316" r:id="rId9"/>
    <p:sldId id="321" r:id="rId10"/>
    <p:sldId id="322" r:id="rId11"/>
    <p:sldId id="323" r:id="rId12"/>
    <p:sldId id="324" r:id="rId13"/>
    <p:sldId id="325" r:id="rId14"/>
    <p:sldId id="326" r:id="rId15"/>
    <p:sldId id="327" r:id="rId16"/>
    <p:sldId id="399" r:id="rId17"/>
    <p:sldId id="400" r:id="rId18"/>
    <p:sldId id="401" r:id="rId19"/>
    <p:sldId id="328" r:id="rId20"/>
    <p:sldId id="329" r:id="rId21"/>
    <p:sldId id="330" r:id="rId22"/>
    <p:sldId id="331" r:id="rId23"/>
    <p:sldId id="332" r:id="rId24"/>
    <p:sldId id="333" r:id="rId25"/>
    <p:sldId id="334" r:id="rId26"/>
    <p:sldId id="335" r:id="rId27"/>
    <p:sldId id="336" r:id="rId28"/>
    <p:sldId id="337" r:id="rId29"/>
    <p:sldId id="338" r:id="rId30"/>
    <p:sldId id="339" r:id="rId31"/>
    <p:sldId id="340" r:id="rId32"/>
    <p:sldId id="341" r:id="rId33"/>
    <p:sldId id="258" r:id="rId34"/>
    <p:sldId id="259" r:id="rId35"/>
    <p:sldId id="260" r:id="rId36"/>
    <p:sldId id="473" r:id="rId37"/>
    <p:sldId id="261" r:id="rId38"/>
    <p:sldId id="474" r:id="rId39"/>
    <p:sldId id="475" r:id="rId40"/>
    <p:sldId id="476" r:id="rId41"/>
    <p:sldId id="477" r:id="rId42"/>
    <p:sldId id="262" r:id="rId43"/>
    <p:sldId id="478" r:id="rId44"/>
    <p:sldId id="479" r:id="rId45"/>
    <p:sldId id="480" r:id="rId46"/>
    <p:sldId id="263" r:id="rId47"/>
    <p:sldId id="481" r:id="rId48"/>
    <p:sldId id="264" r:id="rId49"/>
    <p:sldId id="265" r:id="rId50"/>
    <p:sldId id="483" r:id="rId51"/>
    <p:sldId id="484" r:id="rId52"/>
    <p:sldId id="485" r:id="rId53"/>
    <p:sldId id="307" r:id="rId54"/>
    <p:sldId id="487" r:id="rId55"/>
    <p:sldId id="308" r:id="rId56"/>
    <p:sldId id="486" r:id="rId57"/>
    <p:sldId id="309" r:id="rId58"/>
    <p:sldId id="488" r:id="rId59"/>
    <p:sldId id="310" r:id="rId60"/>
    <p:sldId id="489" r:id="rId61"/>
    <p:sldId id="482" r:id="rId62"/>
    <p:sldId id="490" r:id="rId63"/>
    <p:sldId id="491" r:id="rId64"/>
    <p:sldId id="266" r:id="rId65"/>
    <p:sldId id="492" r:id="rId66"/>
    <p:sldId id="267" r:id="rId67"/>
    <p:sldId id="493" r:id="rId68"/>
    <p:sldId id="494" r:id="rId69"/>
    <p:sldId id="495" r:id="rId70"/>
    <p:sldId id="496" r:id="rId71"/>
    <p:sldId id="497" r:id="rId72"/>
    <p:sldId id="498" r:id="rId73"/>
    <p:sldId id="268" r:id="rId74"/>
    <p:sldId id="269" r:id="rId75"/>
    <p:sldId id="270" r:id="rId76"/>
    <p:sldId id="271" r:id="rId77"/>
    <p:sldId id="272" r:id="rId78"/>
    <p:sldId id="273" r:id="rId79"/>
    <p:sldId id="274" r:id="rId80"/>
    <p:sldId id="275" r:id="rId81"/>
    <p:sldId id="276" r:id="rId82"/>
    <p:sldId id="277" r:id="rId83"/>
    <p:sldId id="278" r:id="rId84"/>
    <p:sldId id="279" r:id="rId85"/>
    <p:sldId id="499" r:id="rId86"/>
    <p:sldId id="500" r:id="rId87"/>
    <p:sldId id="280" r:id="rId88"/>
    <p:sldId id="311" r:id="rId89"/>
    <p:sldId id="501" r:id="rId90"/>
    <p:sldId id="503" r:id="rId91"/>
    <p:sldId id="312" r:id="rId92"/>
    <p:sldId id="502" r:id="rId93"/>
    <p:sldId id="506" r:id="rId94"/>
    <p:sldId id="507" r:id="rId95"/>
    <p:sldId id="314" r:id="rId96"/>
    <p:sldId id="504" r:id="rId97"/>
    <p:sldId id="505" r:id="rId98"/>
    <p:sldId id="313" r:id="rId99"/>
    <p:sldId id="281" r:id="rId100"/>
    <p:sldId id="282" r:id="rId101"/>
    <p:sldId id="283" r:id="rId102"/>
    <p:sldId id="508" r:id="rId103"/>
    <p:sldId id="512" r:id="rId104"/>
    <p:sldId id="509" r:id="rId105"/>
    <p:sldId id="510" r:id="rId106"/>
    <p:sldId id="511" r:id="rId107"/>
    <p:sldId id="284" r:id="rId108"/>
    <p:sldId id="285" r:id="rId109"/>
    <p:sldId id="286" r:id="rId110"/>
    <p:sldId id="287" r:id="rId111"/>
    <p:sldId id="288" r:id="rId112"/>
    <p:sldId id="289" r:id="rId113"/>
    <p:sldId id="516" r:id="rId114"/>
    <p:sldId id="517" r:id="rId115"/>
    <p:sldId id="518" r:id="rId116"/>
    <p:sldId id="290" r:id="rId117"/>
    <p:sldId id="291" r:id="rId118"/>
    <p:sldId id="292" r:id="rId119"/>
    <p:sldId id="293" r:id="rId120"/>
    <p:sldId id="294" r:id="rId121"/>
    <p:sldId id="295" r:id="rId122"/>
    <p:sldId id="296" r:id="rId123"/>
    <p:sldId id="513" r:id="rId124"/>
    <p:sldId id="514" r:id="rId125"/>
    <p:sldId id="515" r:id="rId126"/>
    <p:sldId id="297" r:id="rId127"/>
    <p:sldId id="298" r:id="rId128"/>
    <p:sldId id="299" r:id="rId129"/>
    <p:sldId id="300" r:id="rId130"/>
    <p:sldId id="301" r:id="rId131"/>
    <p:sldId id="302" r:id="rId132"/>
    <p:sldId id="303" r:id="rId133"/>
    <p:sldId id="304" r:id="rId134"/>
    <p:sldId id="305" r:id="rId135"/>
    <p:sldId id="306" r:id="rId13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8" d="100"/>
          <a:sy n="68" d="100"/>
        </p:scale>
        <p:origin x="792" y="72"/>
      </p:cViewPr>
      <p:guideLst>
        <p:guide orient="horz" pos="2159"/>
        <p:guide pos="383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slide" Target="slides/slide3.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notesMaster" Target="notesMasters/notesMaster1.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9" Type="http://schemas.openxmlformats.org/officeDocument/2006/relationships/tableStyles" Target="tableStyles.xml"/><Relationship Id="rId138" Type="http://schemas.openxmlformats.org/officeDocument/2006/relationships/viewProps" Target="viewProps.xml"/><Relationship Id="rId137" Type="http://schemas.openxmlformats.org/officeDocument/2006/relationships/presProps" Target="presProps.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 Type="http://schemas.openxmlformats.org/officeDocument/2006/relationships/slide" Target="slides/slide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121" Type="http://schemas.openxmlformats.org/officeDocument/2006/relationships/slide" Target="slides/slide115.xml"/><Relationship Id="rId120" Type="http://schemas.openxmlformats.org/officeDocument/2006/relationships/slide" Target="slides/slide114.xml"/><Relationship Id="rId12" Type="http://schemas.openxmlformats.org/officeDocument/2006/relationships/slide" Target="slides/slide6.xml"/><Relationship Id="rId119" Type="http://schemas.openxmlformats.org/officeDocument/2006/relationships/slide" Target="slides/slide113.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110" Type="http://schemas.openxmlformats.org/officeDocument/2006/relationships/slide" Target="slides/slide104.xml"/><Relationship Id="rId11" Type="http://schemas.openxmlformats.org/officeDocument/2006/relationships/slide" Target="slides/slide5.xml"/><Relationship Id="rId109" Type="http://schemas.openxmlformats.org/officeDocument/2006/relationships/slide" Target="slides/slide103.xml"/><Relationship Id="rId108" Type="http://schemas.openxmlformats.org/officeDocument/2006/relationships/slide" Target="slides/slide102.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PlaceHolder 1"/>
          <p:cNvSpPr>
            <a:spLocks noGrp="1" noRot="1" noChangeAspect="1"/>
          </p:cNvSpPr>
          <p:nvPr>
            <p:ph type="sldImg"/>
          </p:nvPr>
        </p:nvSpPr>
        <p:spPr>
          <a:xfrm>
            <a:off x="216000" y="812520"/>
            <a:ext cx="7127280" cy="4008960"/>
          </a:xfrm>
          <a:prstGeom prst="rect">
            <a:avLst/>
          </a:prstGeom>
        </p:spPr>
        <p:txBody>
          <a:bodyPr lIns="0" tIns="0" rIns="0" bIns="0" anchor="ctr"/>
          <a:lstStyle/>
          <a:p>
            <a:pPr algn="ctr"/>
            <a:r>
              <a:rPr lang="fr-FR" sz="4400" b="0" strike="noStrike" spc="-1">
                <a:latin typeface="Arial" panose="020B0604020202020204"/>
              </a:rPr>
              <a:t>Cliquez pour déplacer la diapo</a:t>
            </a:r>
            <a:endParaRPr lang="fr-FR" sz="4400" b="0" strike="noStrike" spc="-1">
              <a:latin typeface="Arial" panose="020B0604020202020204"/>
            </a:endParaRPr>
          </a:p>
        </p:txBody>
      </p:sp>
      <p:sp>
        <p:nvSpPr>
          <p:cNvPr id="171" name="PlaceHolder 2"/>
          <p:cNvSpPr>
            <a:spLocks noGrp="1"/>
          </p:cNvSpPr>
          <p:nvPr>
            <p:ph type="body"/>
          </p:nvPr>
        </p:nvSpPr>
        <p:spPr>
          <a:xfrm>
            <a:off x="756000" y="5078520"/>
            <a:ext cx="6047640" cy="4811040"/>
          </a:xfrm>
          <a:prstGeom prst="rect">
            <a:avLst/>
          </a:prstGeom>
        </p:spPr>
        <p:txBody>
          <a:bodyPr lIns="0" tIns="0" rIns="0" bIns="0"/>
          <a:lstStyle/>
          <a:p>
            <a:r>
              <a:rPr lang="fr-FR" sz="2000" b="0" strike="noStrike" spc="-1">
                <a:latin typeface="Arial" panose="020B0604020202020204"/>
              </a:rPr>
              <a:t>Cliquez pour modifier le format des notes</a:t>
            </a:r>
            <a:endParaRPr lang="fr-FR" sz="2000" b="0" strike="noStrike" spc="-1">
              <a:latin typeface="Arial" panose="020B0604020202020204"/>
            </a:endParaRPr>
          </a:p>
        </p:txBody>
      </p:sp>
      <p:sp>
        <p:nvSpPr>
          <p:cNvPr id="172" name="PlaceHolder 3"/>
          <p:cNvSpPr>
            <a:spLocks noGrp="1"/>
          </p:cNvSpPr>
          <p:nvPr>
            <p:ph type="hdr"/>
          </p:nvPr>
        </p:nvSpPr>
        <p:spPr>
          <a:xfrm>
            <a:off x="0" y="0"/>
            <a:ext cx="3280680" cy="534240"/>
          </a:xfrm>
          <a:prstGeom prst="rect">
            <a:avLst/>
          </a:prstGeom>
        </p:spPr>
        <p:txBody>
          <a:bodyPr lIns="0" tIns="0" rIns="0" bIns="0"/>
          <a:lstStyle/>
          <a:p>
            <a:r>
              <a:rPr lang="fr-FR" sz="1400" b="0" strike="noStrike" spc="-1">
                <a:latin typeface="Times New Roman" panose="02020603050405020304"/>
              </a:rPr>
              <a:t>&lt;en-tête&gt;</a:t>
            </a:r>
            <a:endParaRPr lang="fr-FR" sz="1400" b="0" strike="noStrike" spc="-1">
              <a:latin typeface="Times New Roman" panose="02020603050405020304"/>
            </a:endParaRPr>
          </a:p>
        </p:txBody>
      </p:sp>
      <p:sp>
        <p:nvSpPr>
          <p:cNvPr id="173" name="PlaceHolder 4"/>
          <p:cNvSpPr>
            <a:spLocks noGrp="1"/>
          </p:cNvSpPr>
          <p:nvPr>
            <p:ph type="dt"/>
          </p:nvPr>
        </p:nvSpPr>
        <p:spPr>
          <a:xfrm>
            <a:off x="4278960" y="0"/>
            <a:ext cx="3280680" cy="534240"/>
          </a:xfrm>
          <a:prstGeom prst="rect">
            <a:avLst/>
          </a:prstGeom>
        </p:spPr>
        <p:txBody>
          <a:bodyPr lIns="0" tIns="0" rIns="0" bIns="0"/>
          <a:lstStyle/>
          <a:p>
            <a:pPr algn="r"/>
            <a:r>
              <a:rPr lang="fr-FR" sz="1400" b="0" strike="noStrike" spc="-1">
                <a:latin typeface="Times New Roman" panose="02020603050405020304"/>
              </a:rPr>
              <a:t>&lt;date/heure&gt;</a:t>
            </a:r>
            <a:endParaRPr lang="fr-FR" sz="1400" b="0" strike="noStrike" spc="-1">
              <a:latin typeface="Times New Roman" panose="02020603050405020304"/>
            </a:endParaRPr>
          </a:p>
        </p:txBody>
      </p:sp>
      <p:sp>
        <p:nvSpPr>
          <p:cNvPr id="174" name="PlaceHolder 5"/>
          <p:cNvSpPr>
            <a:spLocks noGrp="1"/>
          </p:cNvSpPr>
          <p:nvPr>
            <p:ph type="ftr"/>
          </p:nvPr>
        </p:nvSpPr>
        <p:spPr>
          <a:xfrm>
            <a:off x="0" y="10157400"/>
            <a:ext cx="3280680" cy="534240"/>
          </a:xfrm>
          <a:prstGeom prst="rect">
            <a:avLst/>
          </a:prstGeom>
        </p:spPr>
        <p:txBody>
          <a:bodyPr lIns="0" tIns="0" rIns="0" bIns="0" anchor="b"/>
          <a:lstStyle/>
          <a:p>
            <a:r>
              <a:rPr lang="fr-FR" sz="1400" b="0" strike="noStrike" spc="-1">
                <a:latin typeface="Times New Roman" panose="02020603050405020304"/>
              </a:rPr>
              <a:t>&lt;pied de page&gt;</a:t>
            </a:r>
            <a:endParaRPr lang="fr-FR" sz="1400" b="0" strike="noStrike" spc="-1">
              <a:latin typeface="Times New Roman" panose="02020603050405020304"/>
            </a:endParaRPr>
          </a:p>
        </p:txBody>
      </p:sp>
      <p:sp>
        <p:nvSpPr>
          <p:cNvPr id="175" name="PlaceHolder 6"/>
          <p:cNvSpPr>
            <a:spLocks noGrp="1"/>
          </p:cNvSpPr>
          <p:nvPr>
            <p:ph type="sldNum"/>
          </p:nvPr>
        </p:nvSpPr>
        <p:spPr>
          <a:xfrm>
            <a:off x="4278960" y="10157400"/>
            <a:ext cx="3280680" cy="534240"/>
          </a:xfrm>
          <a:prstGeom prst="rect">
            <a:avLst/>
          </a:prstGeom>
        </p:spPr>
        <p:txBody>
          <a:bodyPr lIns="0" tIns="0" rIns="0" bIns="0" anchor="b"/>
          <a:lstStyle/>
          <a:p>
            <a:pPr algn="r"/>
            <a:fld id="{98B9E68C-CB24-45E1-A81F-A9B4959F7108}" type="slidenum">
              <a:rPr lang="fr-FR" sz="1400" b="0" strike="noStrike" spc="-1">
                <a:latin typeface="Times New Roman" panose="02020603050405020304"/>
              </a:rPr>
            </a:fld>
            <a:endParaRPr lang="fr-FR" sz="14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Espace réservé de l'image des diapositives 1"/>
          <p:cNvSpPr>
            <a:spLocks noGrp="1"/>
          </p:cNvSpPr>
          <p:nvPr>
            <p:ph type="sldImg"/>
          </p:nvPr>
        </p:nvSpPr>
        <p:spPr/>
      </p:sp>
      <p:sp>
        <p:nvSpPr>
          <p:cNvPr id="3" name="Espace réservé du texte 2"/>
          <p:cNvSpPr>
            <a:spLocks noGrp="1"/>
          </p:cNvSpPr>
          <p:nvPr>
            <p:ph type="body"/>
          </p:nvPr>
        </p:nvSpPr>
        <p:spPr/>
        <p:txBody>
          <a:bodyPr/>
          <a:p>
            <a:endParaRPr lang="fr-F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17488" y="812800"/>
            <a:ext cx="7124700" cy="4008438"/>
          </a:xfrm>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p:nvPr>
        </p:nvSpPr>
        <p:spPr/>
        <p:txBody>
          <a:bodyPr/>
          <a:lstStyle/>
          <a:p>
            <a:pPr algn="r"/>
            <a:fld id="{98B9E68C-CB24-45E1-A81F-A9B4959F7108}" type="slidenum">
              <a:rPr lang="fr-FR" sz="1400" b="0" strike="noStrike" spc="-1" smtClean="0">
                <a:latin typeface="Times New Roman" panose="02020603050405020304"/>
              </a:rPr>
            </a:fld>
            <a:endParaRPr lang="fr-FR" sz="1400" b="0" strike="noStrike" spc="-1">
              <a:latin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Espace réservé de l'image des diapositives 1"/>
          <p:cNvSpPr>
            <a:spLocks noGrp="1"/>
          </p:cNvSpPr>
          <p:nvPr>
            <p:ph type="sldImg"/>
          </p:nvPr>
        </p:nvSpPr>
        <p:spPr/>
      </p:sp>
      <p:sp>
        <p:nvSpPr>
          <p:cNvPr id="3" name="Espace réservé du texte 2"/>
          <p:cNvSpPr>
            <a:spLocks noGrp="1"/>
          </p:cNvSpPr>
          <p:nvPr>
            <p:ph type="body"/>
          </p:nvPr>
        </p:nvSpPr>
        <p:spPr/>
        <p:txBody>
          <a:bodyPr/>
          <a:p>
            <a:r>
              <a:rPr lang="en-US" altLang="fr-FR"/>
              <a:t>"Aujourd’hui, nous allons aborder un concept fondamental en structures de donn</a:t>
            </a:r>
            <a:r>
              <a:rPr lang="en-US" altLang="en-US"/>
              <a:t>é</a:t>
            </a:r>
            <a:r>
              <a:rPr lang="en-US" altLang="fr-FR"/>
              <a:t>es : les structures dynamiques lin</a:t>
            </a:r>
            <a:r>
              <a:rPr lang="en-US" altLang="en-US"/>
              <a:t>é</a:t>
            </a:r>
            <a:r>
              <a:rPr lang="en-US" altLang="fr-FR"/>
              <a:t>aires. Contrairement aux tableaux classiques, qui ont une taille fixe d</a:t>
            </a:r>
            <a:r>
              <a:rPr lang="en-US" altLang="en-US"/>
              <a:t>é</a:t>
            </a:r>
            <a:r>
              <a:rPr lang="en-US" altLang="fr-FR"/>
              <a:t>finie à l’avance, les structures dynamiques permettent d’ajouter ou de supprimer des </a:t>
            </a:r>
            <a:r>
              <a:rPr lang="en-US" altLang="en-US"/>
              <a:t>é</a:t>
            </a:r>
            <a:r>
              <a:rPr lang="en-US" altLang="fr-FR"/>
              <a:t>l</a:t>
            </a:r>
            <a:r>
              <a:rPr lang="en-US" altLang="en-US"/>
              <a:t>é</a:t>
            </a:r>
            <a:r>
              <a:rPr lang="en-US" altLang="fr-FR"/>
              <a:t>ments à tout moment sans gaspillage de m</a:t>
            </a:r>
            <a:r>
              <a:rPr lang="en-US" altLang="en-US"/>
              <a:t>é</a:t>
            </a:r>
            <a:r>
              <a:rPr lang="en-US" altLang="fr-FR"/>
              <a:t>moire. Parmi ces structures, nous retrouvons trois types essentiels : les piles, les files et les listes."</a:t>
            </a:r>
            <a:endParaRPr lang="en-US" altLang="fr-FR"/>
          </a:p>
          <a:p>
            <a:endParaRPr lang="en-US" altLang="fr-FR"/>
          </a:p>
          <a:p>
            <a:r>
              <a:rPr lang="zh-CN" altLang="en-US"/>
              <a:t>🔹</a:t>
            </a:r>
            <a:r>
              <a:rPr lang="en-US" altLang="fr-FR"/>
              <a:t> D</a:t>
            </a:r>
            <a:r>
              <a:rPr lang="en-US" altLang="en-US"/>
              <a:t>é</a:t>
            </a:r>
            <a:r>
              <a:rPr lang="en-US" altLang="fr-FR"/>
              <a:t>finition des Structures Dynamiques Lin</a:t>
            </a:r>
            <a:r>
              <a:rPr lang="en-US" altLang="en-US"/>
              <a:t>é</a:t>
            </a:r>
            <a:r>
              <a:rPr lang="en-US" altLang="fr-FR"/>
              <a:t>aires</a:t>
            </a:r>
            <a:endParaRPr lang="en-US" altLang="fr-FR"/>
          </a:p>
          <a:p>
            <a:r>
              <a:rPr lang="en-US" altLang="fr-FR"/>
              <a:t>Les piles, files et listes sont des structures de donn</a:t>
            </a:r>
            <a:r>
              <a:rPr lang="en-US" altLang="en-US"/>
              <a:t>é</a:t>
            </a:r>
            <a:r>
              <a:rPr lang="en-US" altLang="fr-FR"/>
              <a:t>es dites dynamiques lin</a:t>
            </a:r>
            <a:r>
              <a:rPr lang="en-US" altLang="en-US"/>
              <a:t>é</a:t>
            </a:r>
            <a:r>
              <a:rPr lang="en-US" altLang="fr-FR"/>
              <a:t>aires car :</a:t>
            </a:r>
            <a:endParaRPr lang="en-US" altLang="fr-FR"/>
          </a:p>
          <a:p>
            <a:r>
              <a:rPr lang="en-US" altLang="en-US"/>
              <a:t>✅</a:t>
            </a:r>
            <a:r>
              <a:rPr lang="en-US" altLang="fr-FR"/>
              <a:t> Elles permettent d’ajouter ou de supprimer des </a:t>
            </a:r>
            <a:r>
              <a:rPr lang="en-US" altLang="en-US"/>
              <a:t>é</a:t>
            </a:r>
            <a:r>
              <a:rPr lang="en-US" altLang="fr-FR"/>
              <a:t>l</a:t>
            </a:r>
            <a:r>
              <a:rPr lang="en-US" altLang="en-US"/>
              <a:t>é</a:t>
            </a:r>
            <a:r>
              <a:rPr lang="en-US" altLang="fr-FR"/>
              <a:t>ments de mani</a:t>
            </a:r>
            <a:r>
              <a:rPr lang="en-US" altLang="en-US"/>
              <a:t>è</a:t>
            </a:r>
            <a:r>
              <a:rPr lang="en-US" altLang="fr-FR"/>
              <a:t>re flexible.</a:t>
            </a:r>
            <a:endParaRPr lang="en-US" altLang="fr-FR"/>
          </a:p>
          <a:p>
            <a:r>
              <a:rPr lang="en-US" altLang="en-US"/>
              <a:t>✅</a:t>
            </a:r>
            <a:r>
              <a:rPr lang="en-US" altLang="fr-FR"/>
              <a:t> Elles organisent les </a:t>
            </a:r>
            <a:r>
              <a:rPr lang="en-US" altLang="en-US"/>
              <a:t>é</a:t>
            </a:r>
            <a:r>
              <a:rPr lang="en-US" altLang="fr-FR"/>
              <a:t>l</a:t>
            </a:r>
            <a:r>
              <a:rPr lang="en-US" altLang="en-US"/>
              <a:t>é</a:t>
            </a:r>
            <a:r>
              <a:rPr lang="en-US" altLang="fr-FR"/>
              <a:t>ments de fa</a:t>
            </a:r>
            <a:r>
              <a:rPr lang="en-US" altLang="en-US"/>
              <a:t>ç</a:t>
            </a:r>
            <a:r>
              <a:rPr lang="en-US" altLang="fr-FR"/>
              <a:t>on lin</a:t>
            </a:r>
            <a:r>
              <a:rPr lang="en-US" altLang="en-US"/>
              <a:t>é</a:t>
            </a:r>
            <a:r>
              <a:rPr lang="en-US" altLang="fr-FR"/>
              <a:t>aire, un </a:t>
            </a:r>
            <a:r>
              <a:rPr lang="en-US" altLang="en-US"/>
              <a:t>é</a:t>
            </a:r>
            <a:r>
              <a:rPr lang="en-US" altLang="fr-FR"/>
              <a:t>l</a:t>
            </a:r>
            <a:r>
              <a:rPr lang="en-US" altLang="en-US"/>
              <a:t>é</a:t>
            </a:r>
            <a:r>
              <a:rPr lang="en-US" altLang="fr-FR"/>
              <a:t>ment apr</a:t>
            </a:r>
            <a:r>
              <a:rPr lang="en-US" altLang="en-US"/>
              <a:t>è</a:t>
            </a:r>
            <a:r>
              <a:rPr lang="en-US" altLang="fr-FR"/>
              <a:t>s l’autre.</a:t>
            </a:r>
            <a:endParaRPr lang="en-US" altLang="fr-FR"/>
          </a:p>
          <a:p>
            <a:endParaRPr lang="en-US" altLang="fr-FR"/>
          </a:p>
          <a:p>
            <a:r>
              <a:rPr lang="zh-CN" altLang="en-US"/>
              <a:t>📌</a:t>
            </a:r>
            <a:r>
              <a:rPr lang="en-US" altLang="fr-FR"/>
              <a:t> Diff</a:t>
            </a:r>
            <a:r>
              <a:rPr lang="en-US" altLang="en-US"/>
              <a:t>é</a:t>
            </a:r>
            <a:r>
              <a:rPr lang="en-US" altLang="fr-FR"/>
              <a:t>rence avec un tableau statique ?</a:t>
            </a:r>
            <a:endParaRPr lang="en-US" altLang="fr-FR"/>
          </a:p>
          <a:p>
            <a:r>
              <a:rPr lang="en-US" altLang="fr-FR"/>
              <a:t>Un tableau a une taille fixe d</a:t>
            </a:r>
            <a:r>
              <a:rPr lang="en-US" altLang="en-US"/>
              <a:t>è</a:t>
            </a:r>
            <a:r>
              <a:rPr lang="en-US" altLang="fr-FR"/>
              <a:t>s sa d</a:t>
            </a:r>
            <a:r>
              <a:rPr lang="en-US" altLang="en-US"/>
              <a:t>é</a:t>
            </a:r>
            <a:r>
              <a:rPr lang="en-US" altLang="fr-FR"/>
              <a:t>claration, tandis qu’une structure dynamique peut grandir ou r</a:t>
            </a:r>
            <a:r>
              <a:rPr lang="en-US" altLang="en-US"/>
              <a:t>é</a:t>
            </a:r>
            <a:r>
              <a:rPr lang="en-US" altLang="fr-FR"/>
              <a:t>tr</a:t>
            </a:r>
            <a:r>
              <a:rPr lang="en-US" altLang="en-US"/>
              <a:t>é</a:t>
            </a:r>
            <a:r>
              <a:rPr lang="en-US" altLang="fr-FR"/>
              <a:t>cir selon les besoins.</a:t>
            </a:r>
            <a:endParaRPr lang="en-US" altLang="fr-FR"/>
          </a:p>
          <a:p>
            <a:endParaRPr lang="en-US" altLang="fr-FR"/>
          </a:p>
          <a:p>
            <a:r>
              <a:rPr lang="zh-CN" altLang="en-US"/>
              <a:t>🔹</a:t>
            </a:r>
            <a:r>
              <a:rPr lang="en-US" altLang="fr-FR"/>
              <a:t> Cat</a:t>
            </a:r>
            <a:r>
              <a:rPr lang="en-US" altLang="en-US"/>
              <a:t>é</a:t>
            </a:r>
            <a:r>
              <a:rPr lang="en-US" altLang="fr-FR"/>
              <a:t>gories d’Op</a:t>
            </a:r>
            <a:r>
              <a:rPr lang="en-US" altLang="en-US"/>
              <a:t>é</a:t>
            </a:r>
            <a:r>
              <a:rPr lang="en-US" altLang="fr-FR"/>
              <a:t>rations sur un Ensemble Dynamique</a:t>
            </a:r>
            <a:endParaRPr lang="en-US" altLang="fr-FR"/>
          </a:p>
          <a:p>
            <a:r>
              <a:rPr lang="en-US" altLang="fr-FR"/>
              <a:t>Toutes les op</a:t>
            </a:r>
            <a:r>
              <a:rPr lang="en-US" altLang="en-US"/>
              <a:t>é</a:t>
            </a:r>
            <a:r>
              <a:rPr lang="en-US" altLang="fr-FR"/>
              <a:t>rations sur les structures dynamiques peuvent </a:t>
            </a:r>
            <a:r>
              <a:rPr lang="en-US" altLang="en-US"/>
              <a:t>ê</a:t>
            </a:r>
            <a:r>
              <a:rPr lang="en-US" altLang="fr-FR"/>
              <a:t>tre regroup</a:t>
            </a:r>
            <a:r>
              <a:rPr lang="en-US" altLang="en-US"/>
              <a:t>é</a:t>
            </a:r>
            <a:r>
              <a:rPr lang="en-US" altLang="fr-FR"/>
              <a:t>es en deux grandes cat</a:t>
            </a:r>
            <a:r>
              <a:rPr lang="en-US" altLang="en-US"/>
              <a:t>é</a:t>
            </a:r>
            <a:r>
              <a:rPr lang="en-US" altLang="fr-FR"/>
              <a:t>gories :</a:t>
            </a:r>
            <a:endParaRPr lang="en-US" altLang="fr-FR"/>
          </a:p>
          <a:p>
            <a:endParaRPr lang="en-US" altLang="fr-FR"/>
          </a:p>
          <a:p>
            <a:r>
              <a:rPr lang="en-US" altLang="fr-FR"/>
              <a:t>1</a:t>
            </a:r>
            <a:r>
              <a:rPr lang="en-US" altLang="en-US"/>
              <a:t>️</a:t>
            </a:r>
            <a:r>
              <a:rPr lang="en-US" altLang="en-US"/>
              <a:t>⃣</a:t>
            </a:r>
            <a:r>
              <a:rPr lang="en-US" altLang="fr-FR"/>
              <a:t> Les Requ</a:t>
            </a:r>
            <a:r>
              <a:rPr lang="en-US" altLang="en-US"/>
              <a:t>ê</a:t>
            </a:r>
            <a:r>
              <a:rPr lang="en-US" altLang="fr-FR"/>
              <a:t>tes (Consultation)</a:t>
            </a:r>
            <a:endParaRPr lang="en-US" altLang="fr-FR"/>
          </a:p>
          <a:p>
            <a:r>
              <a:rPr lang="en-US" altLang="fr-FR"/>
              <a:t>Ce sont des op</a:t>
            </a:r>
            <a:r>
              <a:rPr lang="en-US" altLang="en-US"/>
              <a:t>é</a:t>
            </a:r>
            <a:r>
              <a:rPr lang="en-US" altLang="fr-FR"/>
              <a:t>rations de lecture qui ne modifient pas la structure.</a:t>
            </a:r>
            <a:endParaRPr lang="en-US" altLang="fr-FR"/>
          </a:p>
          <a:p>
            <a:r>
              <a:rPr lang="en-US" altLang="fr-FR"/>
              <a:t>Elles permettent de chercher des informations ou d’acc</a:t>
            </a:r>
            <a:r>
              <a:rPr lang="en-US" altLang="en-US"/>
              <a:t>é</a:t>
            </a:r>
            <a:r>
              <a:rPr lang="en-US" altLang="fr-FR"/>
              <a:t>der à un </a:t>
            </a:r>
            <a:r>
              <a:rPr lang="en-US" altLang="en-US"/>
              <a:t>é</a:t>
            </a:r>
            <a:r>
              <a:rPr lang="en-US" altLang="fr-FR"/>
              <a:t>l</a:t>
            </a:r>
            <a:r>
              <a:rPr lang="en-US" altLang="en-US"/>
              <a:t>é</a:t>
            </a:r>
            <a:r>
              <a:rPr lang="en-US" altLang="fr-FR"/>
              <a:t>ment particulier.</a:t>
            </a:r>
            <a:endParaRPr lang="en-US" altLang="fr-FR"/>
          </a:p>
          <a:p>
            <a:endParaRPr lang="en-US" altLang="fr-FR"/>
          </a:p>
          <a:p>
            <a:r>
              <a:rPr lang="zh-CN" altLang="en-US"/>
              <a:t>💡</a:t>
            </a:r>
            <a:r>
              <a:rPr lang="en-US" altLang="fr-FR"/>
              <a:t> Exemples de requ</a:t>
            </a:r>
            <a:r>
              <a:rPr lang="en-US" altLang="en-US"/>
              <a:t>ê</a:t>
            </a:r>
            <a:r>
              <a:rPr lang="en-US" altLang="fr-FR"/>
              <a:t>tes :</a:t>
            </a:r>
            <a:endParaRPr lang="en-US" altLang="fr-FR"/>
          </a:p>
          <a:p>
            <a:endParaRPr lang="en-US" altLang="fr-FR"/>
          </a:p>
          <a:p>
            <a:r>
              <a:rPr lang="en-US" altLang="fr-FR"/>
              <a:t>Rechercher(S, cl</a:t>
            </a:r>
            <a:r>
              <a:rPr lang="en-US" altLang="en-US"/>
              <a:t>é</a:t>
            </a:r>
            <a:r>
              <a:rPr lang="en-US" altLang="fr-FR"/>
              <a:t>) </a:t>
            </a:r>
            <a:r>
              <a:rPr lang="en-US" altLang="en-US"/>
              <a:t>→</a:t>
            </a:r>
            <a:r>
              <a:rPr lang="en-US" altLang="fr-FR"/>
              <a:t> Recherche d’un </a:t>
            </a:r>
            <a:r>
              <a:rPr lang="en-US" altLang="en-US"/>
              <a:t>é</a:t>
            </a:r>
            <a:r>
              <a:rPr lang="en-US" altLang="fr-FR"/>
              <a:t>l</a:t>
            </a:r>
            <a:r>
              <a:rPr lang="en-US" altLang="en-US"/>
              <a:t>é</a:t>
            </a:r>
            <a:r>
              <a:rPr lang="en-US" altLang="fr-FR"/>
              <a:t>ment dans la structure S.</a:t>
            </a:r>
            <a:endParaRPr lang="en-US" altLang="fr-FR"/>
          </a:p>
          <a:p>
            <a:r>
              <a:rPr lang="en-US" altLang="fr-FR"/>
              <a:t>Min(S) </a:t>
            </a:r>
            <a:r>
              <a:rPr lang="en-US" altLang="en-US"/>
              <a:t>→</a:t>
            </a:r>
            <a:r>
              <a:rPr lang="en-US" altLang="fr-FR"/>
              <a:t> Trouve l’</a:t>
            </a:r>
            <a:r>
              <a:rPr lang="en-US" altLang="en-US"/>
              <a:t>é</a:t>
            </a:r>
            <a:r>
              <a:rPr lang="en-US" altLang="fr-FR"/>
              <a:t>l</a:t>
            </a:r>
            <a:r>
              <a:rPr lang="en-US" altLang="en-US"/>
              <a:t>é</a:t>
            </a:r>
            <a:r>
              <a:rPr lang="en-US" altLang="fr-FR"/>
              <a:t>ment minimum.</a:t>
            </a:r>
            <a:endParaRPr lang="en-US" altLang="fr-FR"/>
          </a:p>
          <a:p>
            <a:r>
              <a:rPr lang="en-US" altLang="fr-FR"/>
              <a:t>Max(S) </a:t>
            </a:r>
            <a:r>
              <a:rPr lang="en-US" altLang="en-US"/>
              <a:t>→</a:t>
            </a:r>
            <a:r>
              <a:rPr lang="en-US" altLang="fr-FR"/>
              <a:t> Trouve l’</a:t>
            </a:r>
            <a:r>
              <a:rPr lang="en-US" altLang="en-US"/>
              <a:t>é</a:t>
            </a:r>
            <a:r>
              <a:rPr lang="en-US" altLang="fr-FR"/>
              <a:t>l</a:t>
            </a:r>
            <a:r>
              <a:rPr lang="en-US" altLang="en-US"/>
              <a:t>é</a:t>
            </a:r>
            <a:r>
              <a:rPr lang="en-US" altLang="fr-FR"/>
              <a:t>ment maximum.</a:t>
            </a:r>
            <a:endParaRPr lang="en-US" altLang="fr-FR"/>
          </a:p>
          <a:p>
            <a:r>
              <a:rPr lang="en-US" altLang="fr-FR"/>
              <a:t>Successeur(S, elt) </a:t>
            </a:r>
            <a:r>
              <a:rPr lang="en-US" altLang="en-US"/>
              <a:t>→</a:t>
            </a:r>
            <a:r>
              <a:rPr lang="en-US" altLang="fr-FR"/>
              <a:t> Trouve l’</a:t>
            </a:r>
            <a:r>
              <a:rPr lang="en-US" altLang="en-US"/>
              <a:t>é</a:t>
            </a:r>
            <a:r>
              <a:rPr lang="en-US" altLang="fr-FR"/>
              <a:t>l</a:t>
            </a:r>
            <a:r>
              <a:rPr lang="en-US" altLang="en-US"/>
              <a:t>é</a:t>
            </a:r>
            <a:r>
              <a:rPr lang="en-US" altLang="fr-FR"/>
              <a:t>ment suivant dans l’ordre.</a:t>
            </a:r>
            <a:endParaRPr lang="en-US" altLang="fr-FR"/>
          </a:p>
          <a:p>
            <a:r>
              <a:rPr lang="en-US" altLang="fr-FR"/>
              <a:t>Pr</a:t>
            </a:r>
            <a:r>
              <a:rPr lang="en-US" altLang="en-US"/>
              <a:t>é</a:t>
            </a:r>
            <a:r>
              <a:rPr lang="en-US" altLang="fr-FR"/>
              <a:t>d</a:t>
            </a:r>
            <a:r>
              <a:rPr lang="en-US" altLang="en-US"/>
              <a:t>é</a:t>
            </a:r>
            <a:r>
              <a:rPr lang="en-US" altLang="fr-FR"/>
              <a:t>cesseur(S, elt) </a:t>
            </a:r>
            <a:r>
              <a:rPr lang="en-US" altLang="en-US"/>
              <a:t>→</a:t>
            </a:r>
            <a:r>
              <a:rPr lang="en-US" altLang="fr-FR"/>
              <a:t> Trouve l’</a:t>
            </a:r>
            <a:r>
              <a:rPr lang="en-US" altLang="en-US"/>
              <a:t>é</a:t>
            </a:r>
            <a:r>
              <a:rPr lang="en-US" altLang="fr-FR"/>
              <a:t>l</a:t>
            </a:r>
            <a:r>
              <a:rPr lang="en-US" altLang="en-US"/>
              <a:t>é</a:t>
            </a:r>
            <a:r>
              <a:rPr lang="en-US" altLang="fr-FR"/>
              <a:t>ment pr</a:t>
            </a:r>
            <a:r>
              <a:rPr lang="en-US" altLang="en-US"/>
              <a:t>é</a:t>
            </a:r>
            <a:r>
              <a:rPr lang="en-US" altLang="fr-FR"/>
              <a:t>c</a:t>
            </a:r>
            <a:r>
              <a:rPr lang="en-US" altLang="en-US"/>
              <a:t>é</a:t>
            </a:r>
            <a:r>
              <a:rPr lang="en-US" altLang="fr-FR"/>
              <a:t>dent.</a:t>
            </a:r>
            <a:endParaRPr lang="en-US" altLang="fr-FR"/>
          </a:p>
          <a:p>
            <a:r>
              <a:rPr lang="zh-CN" altLang="en-US"/>
              <a:t>📌</a:t>
            </a:r>
            <a:r>
              <a:rPr lang="en-US" altLang="fr-FR"/>
              <a:t> Exemple concret :</a:t>
            </a:r>
            <a:endParaRPr lang="en-US" altLang="fr-FR"/>
          </a:p>
          <a:p>
            <a:r>
              <a:rPr lang="en-US" altLang="fr-FR"/>
              <a:t>Si vous avez une liste d’</a:t>
            </a:r>
            <a:r>
              <a:rPr lang="en-US" altLang="en-US"/>
              <a:t>é</a:t>
            </a:r>
            <a:r>
              <a:rPr lang="en-US" altLang="fr-FR"/>
              <a:t>tudiants tri</a:t>
            </a:r>
            <a:r>
              <a:rPr lang="en-US" altLang="en-US"/>
              <a:t>é</a:t>
            </a:r>
            <a:r>
              <a:rPr lang="en-US" altLang="fr-FR"/>
              <a:t>e par ordre alphab</a:t>
            </a:r>
            <a:r>
              <a:rPr lang="en-US" altLang="en-US"/>
              <a:t>é</a:t>
            </a:r>
            <a:r>
              <a:rPr lang="en-US" altLang="fr-FR"/>
              <a:t>tique, la fonction Successeur(S, "Ali") vous donnera l’</a:t>
            </a:r>
            <a:r>
              <a:rPr lang="en-US" altLang="en-US"/>
              <a:t>é</a:t>
            </a:r>
            <a:r>
              <a:rPr lang="en-US" altLang="fr-FR"/>
              <a:t>tudiant qui vient juste apr</a:t>
            </a:r>
            <a:r>
              <a:rPr lang="en-US" altLang="en-US"/>
              <a:t>è</a:t>
            </a:r>
            <a:r>
              <a:rPr lang="en-US" altLang="fr-FR"/>
              <a:t>s Ali.</a:t>
            </a:r>
            <a:endParaRPr lang="en-US" altLang="fr-FR"/>
          </a:p>
          <a:p>
            <a:endParaRPr lang="en-US" altLang="fr-FR"/>
          </a:p>
          <a:p>
            <a:r>
              <a:rPr lang="en-US" altLang="fr-FR"/>
              <a:t>2</a:t>
            </a:r>
            <a:r>
              <a:rPr lang="en-US" altLang="en-US"/>
              <a:t>️</a:t>
            </a:r>
            <a:r>
              <a:rPr lang="en-US" altLang="en-US"/>
              <a:t>⃣</a:t>
            </a:r>
            <a:r>
              <a:rPr lang="en-US" altLang="fr-FR"/>
              <a:t> Les Op</a:t>
            </a:r>
            <a:r>
              <a:rPr lang="en-US" altLang="en-US"/>
              <a:t>é</a:t>
            </a:r>
            <a:r>
              <a:rPr lang="en-US" altLang="fr-FR"/>
              <a:t>rations de Modification</a:t>
            </a:r>
            <a:endParaRPr lang="en-US" altLang="fr-FR"/>
          </a:p>
          <a:p>
            <a:r>
              <a:rPr lang="en-US" altLang="fr-FR"/>
              <a:t>Ce sont des op</a:t>
            </a:r>
            <a:r>
              <a:rPr lang="en-US" altLang="en-US"/>
              <a:t>é</a:t>
            </a:r>
            <a:r>
              <a:rPr lang="en-US" altLang="fr-FR"/>
              <a:t>rations qui modifient la structure en ajoutant, supprimant ou modifiant des </a:t>
            </a:r>
            <a:r>
              <a:rPr lang="en-US" altLang="en-US"/>
              <a:t>é</a:t>
            </a:r>
            <a:r>
              <a:rPr lang="en-US" altLang="fr-FR"/>
              <a:t>l</a:t>
            </a:r>
            <a:r>
              <a:rPr lang="en-US" altLang="en-US"/>
              <a:t>é</a:t>
            </a:r>
            <a:r>
              <a:rPr lang="en-US" altLang="fr-FR"/>
              <a:t>ments.</a:t>
            </a:r>
            <a:endParaRPr lang="en-US" altLang="fr-FR"/>
          </a:p>
          <a:p>
            <a:endParaRPr lang="en-US" altLang="fr-FR"/>
          </a:p>
          <a:p>
            <a:r>
              <a:rPr lang="zh-CN" altLang="en-US"/>
              <a:t>💡</a:t>
            </a:r>
            <a:r>
              <a:rPr lang="en-US" altLang="fr-FR"/>
              <a:t> Op</a:t>
            </a:r>
            <a:r>
              <a:rPr lang="en-US" altLang="en-US"/>
              <a:t>é</a:t>
            </a:r>
            <a:r>
              <a:rPr lang="en-US" altLang="fr-FR"/>
              <a:t>rations classiques de modification :</a:t>
            </a:r>
            <a:endParaRPr lang="en-US" altLang="fr-FR"/>
          </a:p>
          <a:p>
            <a:endParaRPr lang="en-US" altLang="fr-FR"/>
          </a:p>
          <a:p>
            <a:r>
              <a:rPr lang="en-US" altLang="fr-FR"/>
              <a:t>Insertion(S, elt) </a:t>
            </a:r>
            <a:r>
              <a:rPr lang="en-US" altLang="en-US"/>
              <a:t>→</a:t>
            </a:r>
            <a:r>
              <a:rPr lang="en-US" altLang="fr-FR"/>
              <a:t> Ajoute un nouvel </a:t>
            </a:r>
            <a:r>
              <a:rPr lang="en-US" altLang="en-US"/>
              <a:t>é</a:t>
            </a:r>
            <a:r>
              <a:rPr lang="en-US" altLang="fr-FR"/>
              <a:t>l</a:t>
            </a:r>
            <a:r>
              <a:rPr lang="en-US" altLang="en-US"/>
              <a:t>é</a:t>
            </a:r>
            <a:r>
              <a:rPr lang="en-US" altLang="fr-FR"/>
              <a:t>ment elt dans S.</a:t>
            </a:r>
            <a:endParaRPr lang="en-US" altLang="fr-FR"/>
          </a:p>
          <a:p>
            <a:r>
              <a:rPr lang="en-US" altLang="fr-FR"/>
              <a:t>Suppression(S, elt) </a:t>
            </a:r>
            <a:r>
              <a:rPr lang="en-US" altLang="en-US"/>
              <a:t>→</a:t>
            </a:r>
            <a:r>
              <a:rPr lang="en-US" altLang="fr-FR"/>
              <a:t> Supprime l’</a:t>
            </a:r>
            <a:r>
              <a:rPr lang="en-US" altLang="en-US"/>
              <a:t>é</a:t>
            </a:r>
            <a:r>
              <a:rPr lang="en-US" altLang="fr-FR"/>
              <a:t>l</a:t>
            </a:r>
            <a:r>
              <a:rPr lang="en-US" altLang="en-US"/>
              <a:t>é</a:t>
            </a:r>
            <a:r>
              <a:rPr lang="en-US" altLang="fr-FR"/>
              <a:t>ment elt de S.</a:t>
            </a:r>
            <a:endParaRPr lang="en-US" altLang="fr-FR"/>
          </a:p>
          <a:p>
            <a:r>
              <a:rPr lang="zh-CN" altLang="en-US"/>
              <a:t>📌</a:t>
            </a:r>
            <a:r>
              <a:rPr lang="en-US" altLang="fr-FR"/>
              <a:t> Exemple concret :</a:t>
            </a:r>
            <a:endParaRPr lang="en-US" altLang="fr-FR"/>
          </a:p>
          <a:p>
            <a:r>
              <a:rPr lang="en-US" altLang="fr-FR"/>
              <a:t>Dans une file d’attente à un guichet :</a:t>
            </a:r>
            <a:endParaRPr lang="en-US" altLang="fr-FR"/>
          </a:p>
          <a:p>
            <a:r>
              <a:rPr lang="en-US" altLang="en-US"/>
              <a:t>✔</a:t>
            </a:r>
            <a:r>
              <a:rPr lang="en-US" altLang="fr-FR"/>
              <a:t> Insertion(S, elt) correspond à une nouvelle personne qui rejoint la file.</a:t>
            </a:r>
            <a:endParaRPr lang="en-US" altLang="fr-FR"/>
          </a:p>
          <a:p>
            <a:r>
              <a:rPr lang="en-US" altLang="en-US"/>
              <a:t>✔</a:t>
            </a:r>
            <a:r>
              <a:rPr lang="en-US" altLang="fr-FR"/>
              <a:t> Suppression(S, elt) correspond à la personne qui est servie et quitte la file.</a:t>
            </a:r>
            <a:endParaRPr lang="en-US" altLang="fr-FR"/>
          </a:p>
          <a:p>
            <a:endParaRPr lang="en-US" altLang="fr-FR"/>
          </a:p>
          <a:p>
            <a:r>
              <a:rPr lang="zh-CN" altLang="en-US"/>
              <a:t>🔹</a:t>
            </a:r>
            <a:r>
              <a:rPr lang="en-US" altLang="fr-FR"/>
              <a:t> Focus sur les Structures Dynamiques</a:t>
            </a:r>
            <a:endParaRPr lang="en-US" altLang="fr-FR"/>
          </a:p>
          <a:p>
            <a:r>
              <a:rPr lang="en-US" altLang="fr-FR"/>
              <a:t>Les trois structures dynamiques les plus courantes sont :</a:t>
            </a:r>
            <a:endParaRPr lang="en-US" altLang="fr-FR"/>
          </a:p>
          <a:p>
            <a:r>
              <a:rPr lang="en-US" altLang="fr-FR"/>
              <a:t>1</a:t>
            </a:r>
            <a:r>
              <a:rPr lang="en-US" altLang="en-US"/>
              <a:t>️</a:t>
            </a:r>
            <a:r>
              <a:rPr lang="en-US" altLang="en-US"/>
              <a:t>⃣</a:t>
            </a:r>
            <a:r>
              <a:rPr lang="en-US" altLang="fr-FR"/>
              <a:t> Les Piles (Stacks) – Principe LIFO (Last In, First Out)</a:t>
            </a:r>
            <a:endParaRPr lang="en-US" altLang="fr-FR"/>
          </a:p>
          <a:p>
            <a:r>
              <a:rPr lang="en-US" altLang="fr-FR"/>
              <a:t>2</a:t>
            </a:r>
            <a:r>
              <a:rPr lang="en-US" altLang="en-US"/>
              <a:t>️</a:t>
            </a:r>
            <a:r>
              <a:rPr lang="en-US" altLang="en-US"/>
              <a:t>⃣</a:t>
            </a:r>
            <a:r>
              <a:rPr lang="en-US" altLang="fr-FR"/>
              <a:t> Les Files (Queues) – Principe FIFO (First In, First Out)</a:t>
            </a:r>
            <a:endParaRPr lang="en-US" altLang="fr-FR"/>
          </a:p>
          <a:p>
            <a:r>
              <a:rPr lang="en-US" altLang="fr-FR"/>
              <a:t>3</a:t>
            </a:r>
            <a:r>
              <a:rPr lang="en-US" altLang="en-US"/>
              <a:t>️</a:t>
            </a:r>
            <a:r>
              <a:rPr lang="en-US" altLang="en-US"/>
              <a:t>⃣</a:t>
            </a:r>
            <a:r>
              <a:rPr lang="en-US" altLang="fr-FR"/>
              <a:t> Les Listes (Linked Lists) – Acc</a:t>
            </a:r>
            <a:r>
              <a:rPr lang="en-US" altLang="en-US"/>
              <a:t>è</a:t>
            </a:r>
            <a:r>
              <a:rPr lang="en-US" altLang="fr-FR"/>
              <a:t>s dynamique et flexibilit</a:t>
            </a:r>
            <a:r>
              <a:rPr lang="en-US" altLang="en-US"/>
              <a:t>é</a:t>
            </a:r>
            <a:endParaRPr lang="en-US" altLang="en-US"/>
          </a:p>
          <a:p>
            <a:endParaRPr lang="en-US" altLang="fr-FR"/>
          </a:p>
          <a:p>
            <a:r>
              <a:rPr lang="zh-CN" altLang="en-US"/>
              <a:t>📌</a:t>
            </a:r>
            <a:r>
              <a:rPr lang="en-US" altLang="fr-FR"/>
              <a:t> Pourquoi utiliser une structure dynamique ?</a:t>
            </a:r>
            <a:endParaRPr lang="en-US" altLang="fr-FR"/>
          </a:p>
          <a:p>
            <a:r>
              <a:rPr lang="en-US" altLang="en-US"/>
              <a:t>✅</a:t>
            </a:r>
            <a:r>
              <a:rPr lang="en-US" altLang="fr-FR"/>
              <a:t> </a:t>
            </a:r>
            <a:r>
              <a:rPr lang="en-US" altLang="en-US"/>
              <a:t>É</a:t>
            </a:r>
            <a:r>
              <a:rPr lang="en-US" altLang="fr-FR"/>
              <a:t>conomie de m</a:t>
            </a:r>
            <a:r>
              <a:rPr lang="en-US" altLang="en-US"/>
              <a:t>é</a:t>
            </a:r>
            <a:r>
              <a:rPr lang="en-US" altLang="fr-FR"/>
              <a:t>moire (ajout et suppression à volont</a:t>
            </a:r>
            <a:r>
              <a:rPr lang="en-US" altLang="en-US"/>
              <a:t>é</a:t>
            </a:r>
            <a:r>
              <a:rPr lang="en-US" altLang="fr-FR"/>
              <a:t>).</a:t>
            </a:r>
            <a:endParaRPr lang="en-US" altLang="fr-FR"/>
          </a:p>
          <a:p>
            <a:r>
              <a:rPr lang="en-US" altLang="en-US"/>
              <a:t>✅</a:t>
            </a:r>
            <a:r>
              <a:rPr lang="en-US" altLang="fr-FR"/>
              <a:t> Flexibilit</a:t>
            </a:r>
            <a:r>
              <a:rPr lang="en-US" altLang="en-US"/>
              <a:t>é</a:t>
            </a:r>
            <a:r>
              <a:rPr lang="en-US" altLang="fr-FR"/>
              <a:t> (pas de taille fixe).</a:t>
            </a:r>
            <a:endParaRPr lang="en-US" altLang="fr-FR"/>
          </a:p>
          <a:p>
            <a:r>
              <a:rPr lang="en-US" altLang="en-US"/>
              <a:t>✅</a:t>
            </a:r>
            <a:r>
              <a:rPr lang="en-US" altLang="fr-FR"/>
              <a:t> Adaptabilit</a:t>
            </a:r>
            <a:r>
              <a:rPr lang="en-US" altLang="en-US"/>
              <a:t>é</a:t>
            </a:r>
            <a:r>
              <a:rPr lang="en-US" altLang="fr-FR"/>
              <a:t> aux besoins de l’algorithme.</a:t>
            </a:r>
            <a:endParaRPr lang="en-US" alt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CustomShape 1"/>
          <p:cNvSpPr/>
          <p:nvPr/>
        </p:nvSpPr>
        <p:spPr>
          <a:xfrm>
            <a:off x="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fr-FR" sz="1100" b="0" strike="noStrike" spc="-1">
                <a:solidFill>
                  <a:srgbClr val="000000"/>
                </a:solidFill>
                <a:latin typeface="Times New Roman" panose="02020603050405020304"/>
              </a:rPr>
              <a:t>CSI2510</a:t>
            </a:r>
            <a:endParaRPr lang="fr-FR" sz="1100" b="0" strike="noStrike" spc="-1">
              <a:latin typeface="Arial" panose="020B0604020202020204"/>
            </a:endParaRPr>
          </a:p>
        </p:txBody>
      </p:sp>
      <p:sp>
        <p:nvSpPr>
          <p:cNvPr id="418" name="CustomShape 2"/>
          <p:cNvSpPr/>
          <p:nvPr/>
        </p:nvSpPr>
        <p:spPr>
          <a:xfrm>
            <a:off x="388476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7B2015B-E18A-4736-B51D-905CCE991D3D}" type="slidenum">
              <a:rPr lang="fr-FR" sz="1100" b="0" strike="noStrike" spc="-1">
                <a:solidFill>
                  <a:srgbClr val="000000"/>
                </a:solidFill>
                <a:latin typeface="Times New Roman" panose="02020603050405020304"/>
              </a:rPr>
            </a:fld>
            <a:endParaRPr lang="fr-FR" sz="1100" b="0" strike="noStrike" spc="-1">
              <a:latin typeface="Arial" panose="020B0604020202020204"/>
            </a:endParaRPr>
          </a:p>
        </p:txBody>
      </p:sp>
      <p:sp>
        <p:nvSpPr>
          <p:cNvPr id="419" name="PlaceHolder 3"/>
          <p:cNvSpPr>
            <a:spLocks noGrp="1" noRot="1" noChangeAspect="1"/>
          </p:cNvSpPr>
          <p:nvPr>
            <p:ph type="sldImg"/>
          </p:nvPr>
        </p:nvSpPr>
        <p:spPr>
          <a:xfrm>
            <a:off x="685800" y="1143000"/>
            <a:ext cx="5485680" cy="3085560"/>
          </a:xfrm>
          <a:prstGeom prst="rect">
            <a:avLst/>
          </a:prstGeom>
        </p:spPr>
      </p:sp>
      <p:sp>
        <p:nvSpPr>
          <p:cNvPr id="420" name="PlaceHolder 4"/>
          <p:cNvSpPr>
            <a:spLocks noGrp="1"/>
          </p:cNvSpPr>
          <p:nvPr>
            <p:ph type="body"/>
          </p:nvPr>
        </p:nvSpPr>
        <p:spPr>
          <a:xfrm>
            <a:off x="685800" y="4400640"/>
            <a:ext cx="5485680" cy="3599640"/>
          </a:xfrm>
          <a:prstGeom prst="rect">
            <a:avLst/>
          </a:prstGeom>
        </p:spPr>
        <p:txBody>
          <a:bodyPr lIns="0" tIns="0" rIns="0" bIns="0"/>
          <a:lstStyle/>
          <a:p>
            <a:endParaRPr lang="fr-FR" sz="2000" b="0" strike="noStrike" spc="-1">
              <a:latin typeface="Arial" panose="020B060402020202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CustomShape 1"/>
          <p:cNvSpPr/>
          <p:nvPr/>
        </p:nvSpPr>
        <p:spPr>
          <a:xfrm>
            <a:off x="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fr-FR" sz="1100" b="0" strike="noStrike" spc="-1">
                <a:solidFill>
                  <a:srgbClr val="000000"/>
                </a:solidFill>
                <a:latin typeface="Times New Roman" panose="02020603050405020304"/>
              </a:rPr>
              <a:t>CSI2510</a:t>
            </a:r>
            <a:endParaRPr lang="fr-FR" sz="1100" b="0" strike="noStrike" spc="-1">
              <a:latin typeface="Arial" panose="020B0604020202020204"/>
            </a:endParaRPr>
          </a:p>
        </p:txBody>
      </p:sp>
      <p:sp>
        <p:nvSpPr>
          <p:cNvPr id="418" name="CustomShape 2"/>
          <p:cNvSpPr/>
          <p:nvPr/>
        </p:nvSpPr>
        <p:spPr>
          <a:xfrm>
            <a:off x="388476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7B2015B-E18A-4736-B51D-905CCE991D3D}" type="slidenum">
              <a:rPr lang="fr-FR" sz="1100" b="0" strike="noStrike" spc="-1">
                <a:solidFill>
                  <a:srgbClr val="000000"/>
                </a:solidFill>
                <a:latin typeface="Times New Roman" panose="02020603050405020304"/>
              </a:rPr>
            </a:fld>
            <a:endParaRPr lang="fr-FR" sz="1100" b="0" strike="noStrike" spc="-1">
              <a:latin typeface="Arial" panose="020B0604020202020204"/>
            </a:endParaRPr>
          </a:p>
        </p:txBody>
      </p:sp>
      <p:sp>
        <p:nvSpPr>
          <p:cNvPr id="419" name="PlaceHolder 3"/>
          <p:cNvSpPr>
            <a:spLocks noGrp="1" noRot="1" noChangeAspect="1"/>
          </p:cNvSpPr>
          <p:nvPr>
            <p:ph type="sldImg"/>
          </p:nvPr>
        </p:nvSpPr>
        <p:spPr>
          <a:xfrm>
            <a:off x="685800" y="1143000"/>
            <a:ext cx="5485680" cy="3085560"/>
          </a:xfrm>
          <a:prstGeom prst="rect">
            <a:avLst/>
          </a:prstGeom>
        </p:spPr>
      </p:sp>
      <p:sp>
        <p:nvSpPr>
          <p:cNvPr id="420" name="PlaceHolder 4"/>
          <p:cNvSpPr>
            <a:spLocks noGrp="1"/>
          </p:cNvSpPr>
          <p:nvPr>
            <p:ph type="body"/>
          </p:nvPr>
        </p:nvSpPr>
        <p:spPr>
          <a:xfrm>
            <a:off x="685800" y="4400640"/>
            <a:ext cx="5485680" cy="3599640"/>
          </a:xfrm>
          <a:prstGeom prst="rect">
            <a:avLst/>
          </a:prstGeom>
        </p:spPr>
        <p:txBody>
          <a:bodyPr lIns="0" tIns="0" rIns="0" bIns="0"/>
          <a:lstStyle/>
          <a:p>
            <a:endParaRPr lang="fr-FR" sz="2000" b="0" strike="noStrike" spc="-1">
              <a:latin typeface="Arial" panose="020B060402020202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Espace réservé de l'image des diapositives 1"/>
          <p:cNvSpPr>
            <a:spLocks noGrp="1"/>
          </p:cNvSpPr>
          <p:nvPr>
            <p:ph type="sldImg"/>
          </p:nvPr>
        </p:nvSpPr>
        <p:spPr/>
      </p:sp>
      <p:sp>
        <p:nvSpPr>
          <p:cNvPr id="3" name="Espace réservé du texte 2"/>
          <p:cNvSpPr>
            <a:spLocks noGrp="1"/>
          </p:cNvSpPr>
          <p:nvPr>
            <p:ph type="body"/>
          </p:nvPr>
        </p:nvSpPr>
        <p:spPr/>
        <p:txBody>
          <a:bodyPr/>
          <a:p>
            <a:endParaRPr lang="fr-FR"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Espace réservé de l'image des diapositives 1"/>
          <p:cNvSpPr>
            <a:spLocks noGrp="1"/>
          </p:cNvSpPr>
          <p:nvPr>
            <p:ph type="sldImg"/>
          </p:nvPr>
        </p:nvSpPr>
        <p:spPr/>
      </p:sp>
      <p:sp>
        <p:nvSpPr>
          <p:cNvPr id="3" name="Espace réservé du texte 2"/>
          <p:cNvSpPr>
            <a:spLocks noGrp="1"/>
          </p:cNvSpPr>
          <p:nvPr>
            <p:ph type="body"/>
          </p:nvPr>
        </p:nvSpPr>
        <p:spPr/>
        <p:txBody>
          <a:bodyPr/>
          <a:p>
            <a:endParaRPr lang="fr-F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4"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fr-FR"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fr-FR"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1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1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2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2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2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2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2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2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2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3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31"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3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3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3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36"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3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38"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50"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fr-FR" sz="3200" b="0" strike="noStrike" spc="-1">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52"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5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7"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fr-FR" sz="3200" b="0" strike="noStrike" spc="-1">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5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6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6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6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6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65"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6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6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69"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71"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72"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7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7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7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77"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79"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80"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81"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82"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83"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84"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96"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fr-FR" sz="3200" b="0" strike="noStrike" spc="-1">
              <a:latin typeface="Arial" panose="020B0604020202020204"/>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9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0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10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3"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fr-FR" sz="3200" b="0" strike="noStrike" spc="-1">
              <a:latin typeface="Arial" panose="020B0604020202020204"/>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0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0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10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0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11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1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1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1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1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1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1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2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2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2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2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2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2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2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3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35"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fr-FR" sz="3200" b="0" strike="noStrike" spc="-1">
              <a:latin typeface="Arial" panose="020B0604020202020204"/>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3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3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14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2"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fr-FR" sz="3200" b="0" strike="noStrike" spc="-1">
              <a:latin typeface="Arial" panose="020B0604020202020204"/>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4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4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14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4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panose="020B0604020202020204"/>
            </a:endParaRPr>
          </a:p>
        </p:txBody>
      </p:sp>
      <p:sp>
        <p:nvSpPr>
          <p:cNvPr id="14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5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5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5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5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5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5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5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6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6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6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fr-FR" sz="4400" b="0" strike="noStrike" spc="-1">
              <a:latin typeface="Arial" panose="020B0604020202020204"/>
            </a:endParaRPr>
          </a:p>
        </p:txBody>
      </p:sp>
      <p:sp>
        <p:nvSpPr>
          <p:cNvPr id="16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6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6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6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6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
        <p:nvSpPr>
          <p:cNvPr id="16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3200" b="0" strike="noStrike" spc="-1">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3" Type="http://schemas.openxmlformats.org/officeDocument/2006/relationships/theme" Target="../theme/theme4.xml"/><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stomShape 1"/>
          <p:cNvSpPr/>
          <p:nvPr/>
        </p:nvSpPr>
        <p:spPr>
          <a:xfrm rot="5400000">
            <a:off x="11617200" y="5801760"/>
            <a:ext cx="1818720" cy="272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fr-FR" sz="1200" b="0" strike="noStrike" spc="-1">
                <a:solidFill>
                  <a:srgbClr val="000000"/>
                </a:solidFill>
                <a:latin typeface="Calibri" panose="020F0502020204030204"/>
                <a:ea typeface="DejaVu Sans"/>
              </a:rPr>
              <a:t>© Copyright Showeet.com</a:t>
            </a:r>
            <a:endParaRPr lang="fr-FR" sz="1200" b="0" strike="noStrike" spc="-1">
              <a:latin typeface="Arial" panose="020B0604020202020204"/>
            </a:endParaRPr>
          </a:p>
        </p:txBody>
      </p:sp>
      <p:sp>
        <p:nvSpPr>
          <p:cNvPr id="4" name="PlaceHolder 2"/>
          <p:cNvSpPr>
            <a:spLocks noGrp="1"/>
          </p:cNvSpPr>
          <p:nvPr>
            <p:ph type="title"/>
          </p:nvPr>
        </p:nvSpPr>
        <p:spPr>
          <a:xfrm>
            <a:off x="609480" y="274680"/>
            <a:ext cx="10972080" cy="1142280"/>
          </a:xfrm>
          <a:prstGeom prst="rect">
            <a:avLst/>
          </a:prstGeom>
        </p:spPr>
        <p:txBody>
          <a:bodyPr lIns="0" tIns="0" rIns="0" bIns="0" anchor="ctr"/>
          <a:lstStyle/>
          <a:p>
            <a:r>
              <a:rPr lang="fr-FR" sz="1800" b="0" strike="noStrike" spc="-1">
                <a:latin typeface="Arial" panose="020B0604020202020204"/>
              </a:rPr>
              <a:t>Cliquez pour éditer le format du texte-titre</a:t>
            </a:r>
            <a:endParaRPr lang="fr-FR" sz="1800" b="0" strike="noStrike" spc="-1">
              <a:latin typeface="Arial" panose="020B0604020202020204"/>
            </a:endParaRPr>
          </a:p>
        </p:txBody>
      </p:sp>
      <p:sp>
        <p:nvSpPr>
          <p:cNvPr id="2" name="PlaceHolder 3"/>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fr-FR" sz="3200" b="0" strike="noStrike" spc="-1">
                <a:latin typeface="Arial" panose="020B0604020202020204"/>
              </a:rPr>
              <a:t>Cliquez pour éditer le format du plan de texte</a:t>
            </a:r>
            <a:endParaRPr lang="fr-FR" sz="3200" b="0" strike="noStrike" spc="-1">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2800" b="0" strike="noStrike" spc="-1">
                <a:latin typeface="Arial" panose="020B0604020202020204"/>
              </a:rPr>
              <a:t>Second niveau de plan</a:t>
            </a:r>
            <a:endParaRPr lang="fr-FR" sz="2800" b="0" strike="noStrike" spc="-1">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2400" b="0" strike="noStrike" spc="-1">
                <a:latin typeface="Arial" panose="020B0604020202020204"/>
              </a:rPr>
              <a:t>Troisième niveau de plan</a:t>
            </a:r>
            <a:endParaRPr lang="fr-FR" sz="2400" b="0" strike="noStrike" spc="-1">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2000" b="0" strike="noStrike" spc="-1">
                <a:latin typeface="Arial" panose="020B0604020202020204"/>
              </a:rPr>
              <a:t>Quatrième niveau de plan</a:t>
            </a:r>
            <a:endParaRPr lang="fr-FR" sz="2000" b="0" strike="noStrike" spc="-1">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Cinquième niveau de plan</a:t>
            </a:r>
            <a:endParaRPr lang="fr-FR" sz="2000" b="0" strike="noStrike" spc="-1">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Sixième niveau de plan</a:t>
            </a:r>
            <a:endParaRPr lang="fr-FR" sz="2000" b="0" strike="noStrike" spc="-1">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Septième niveau de plan</a:t>
            </a:r>
            <a:endParaRPr lang="fr-FR"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CustomShape 1"/>
          <p:cNvSpPr/>
          <p:nvPr/>
        </p:nvSpPr>
        <p:spPr>
          <a:xfrm rot="5400000">
            <a:off x="11617200" y="5801760"/>
            <a:ext cx="1818720" cy="272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fr-FR" sz="1200" b="0" strike="noStrike" spc="-1">
                <a:solidFill>
                  <a:srgbClr val="000000"/>
                </a:solidFill>
                <a:latin typeface="Calibri" panose="020F0502020204030204"/>
                <a:ea typeface="DejaVu Sans"/>
              </a:rPr>
              <a:t>© Copyright Showeet.com</a:t>
            </a:r>
            <a:endParaRPr lang="fr-FR" sz="1200" b="0" strike="noStrike" spc="-1">
              <a:latin typeface="Arial" panose="020B0604020202020204"/>
            </a:endParaRPr>
          </a:p>
        </p:txBody>
      </p:sp>
      <p:sp>
        <p:nvSpPr>
          <p:cNvPr id="40" name="CustomShape 2"/>
          <p:cNvSpPr/>
          <p:nvPr/>
        </p:nvSpPr>
        <p:spPr>
          <a:xfrm>
            <a:off x="0" y="-9720"/>
            <a:ext cx="12191400" cy="1180440"/>
          </a:xfrm>
          <a:prstGeom prst="rect">
            <a:avLst/>
          </a:prstGeom>
          <a:solidFill>
            <a:srgbClr val="273339"/>
          </a:solidFill>
          <a:ln>
            <a:noFill/>
          </a:ln>
        </p:spPr>
        <p:style>
          <a:lnRef idx="2">
            <a:schemeClr val="accent1">
              <a:shade val="50000"/>
            </a:schemeClr>
          </a:lnRef>
          <a:fillRef idx="1">
            <a:schemeClr val="accent1"/>
          </a:fillRef>
          <a:effectRef idx="0">
            <a:schemeClr val="accent1"/>
          </a:effectRef>
          <a:fontRef idx="minor"/>
        </p:style>
      </p:sp>
      <p:grpSp>
        <p:nvGrpSpPr>
          <p:cNvPr id="41" name="Group 3"/>
          <p:cNvGrpSpPr/>
          <p:nvPr/>
        </p:nvGrpSpPr>
        <p:grpSpPr>
          <a:xfrm>
            <a:off x="0" y="6766560"/>
            <a:ext cx="12191040" cy="90720"/>
            <a:chOff x="0" y="6766560"/>
            <a:chExt cx="12191040" cy="90720"/>
          </a:xfrm>
        </p:grpSpPr>
        <p:sp>
          <p:nvSpPr>
            <p:cNvPr id="42" name="CustomShape 4"/>
            <p:cNvSpPr/>
            <p:nvPr/>
          </p:nvSpPr>
          <p:spPr>
            <a:xfrm>
              <a:off x="0" y="6766560"/>
              <a:ext cx="2439360" cy="90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43" name="CustomShape 5"/>
            <p:cNvSpPr/>
            <p:nvPr/>
          </p:nvSpPr>
          <p:spPr>
            <a:xfrm>
              <a:off x="2440080" y="6766560"/>
              <a:ext cx="2439360" cy="90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44" name="CustomShape 6"/>
            <p:cNvSpPr/>
            <p:nvPr/>
          </p:nvSpPr>
          <p:spPr>
            <a:xfrm>
              <a:off x="4879800" y="6766560"/>
              <a:ext cx="2439360" cy="907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sp>
        <p:sp>
          <p:nvSpPr>
            <p:cNvPr id="45" name="CustomShape 7"/>
            <p:cNvSpPr/>
            <p:nvPr/>
          </p:nvSpPr>
          <p:spPr>
            <a:xfrm>
              <a:off x="7319880" y="6766560"/>
              <a:ext cx="2439360" cy="90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46" name="CustomShape 8"/>
            <p:cNvSpPr/>
            <p:nvPr/>
          </p:nvSpPr>
          <p:spPr>
            <a:xfrm>
              <a:off x="9759600" y="6766560"/>
              <a:ext cx="2431440" cy="907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sp>
      </p:grpSp>
      <p:sp>
        <p:nvSpPr>
          <p:cNvPr id="47" name="PlaceHolder 9"/>
          <p:cNvSpPr>
            <a:spLocks noGrp="1"/>
          </p:cNvSpPr>
          <p:nvPr>
            <p:ph type="title"/>
          </p:nvPr>
        </p:nvSpPr>
        <p:spPr>
          <a:xfrm>
            <a:off x="609480" y="273600"/>
            <a:ext cx="10972440" cy="1144800"/>
          </a:xfrm>
          <a:prstGeom prst="rect">
            <a:avLst/>
          </a:prstGeom>
        </p:spPr>
        <p:txBody>
          <a:bodyPr lIns="0" tIns="0" rIns="0" bIns="0" anchor="ctr"/>
          <a:lstStyle/>
          <a:p>
            <a:pPr algn="ctr"/>
            <a:r>
              <a:rPr lang="fr-FR" sz="4400" b="0" strike="noStrike" spc="-1">
                <a:latin typeface="Arial" panose="020B0604020202020204"/>
              </a:rPr>
              <a:t>Cliquez pour éditer le format du texte-titre</a:t>
            </a:r>
            <a:endParaRPr lang="fr-FR" sz="4400" b="0" strike="noStrike" spc="-1">
              <a:latin typeface="Arial" panose="020B0604020202020204"/>
            </a:endParaRPr>
          </a:p>
        </p:txBody>
      </p:sp>
      <p:sp>
        <p:nvSpPr>
          <p:cNvPr id="48" name="PlaceHolder 10"/>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fr-FR" sz="3200" b="0" strike="noStrike" spc="-1">
                <a:latin typeface="Arial" panose="020B0604020202020204"/>
              </a:rPr>
              <a:t>Cliquez pour éditer le format du plan de texte</a:t>
            </a:r>
            <a:endParaRPr lang="fr-FR" sz="3200" b="0" strike="noStrike" spc="-1">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2800" b="0" strike="noStrike" spc="-1">
                <a:latin typeface="Arial" panose="020B0604020202020204"/>
              </a:rPr>
              <a:t>Second niveau de plan</a:t>
            </a:r>
            <a:endParaRPr lang="fr-FR" sz="2800" b="0" strike="noStrike" spc="-1">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2400" b="0" strike="noStrike" spc="-1">
                <a:latin typeface="Arial" panose="020B0604020202020204"/>
              </a:rPr>
              <a:t>Troisième niveau de plan</a:t>
            </a:r>
            <a:endParaRPr lang="fr-FR" sz="2400" b="0" strike="noStrike" spc="-1">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2000" b="0" strike="noStrike" spc="-1">
                <a:latin typeface="Arial" panose="020B0604020202020204"/>
              </a:rPr>
              <a:t>Quatrième niveau de plan</a:t>
            </a:r>
            <a:endParaRPr lang="fr-FR" sz="2000" b="0" strike="noStrike" spc="-1">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Cinquième niveau de plan</a:t>
            </a:r>
            <a:endParaRPr lang="fr-FR" sz="2000" b="0" strike="noStrike" spc="-1">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Sixième niveau de plan</a:t>
            </a:r>
            <a:endParaRPr lang="fr-FR" sz="2000" b="0" strike="noStrike" spc="-1">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Septième niveau de plan</a:t>
            </a:r>
            <a:endParaRPr lang="fr-FR"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 name="CustomShape 1"/>
          <p:cNvSpPr/>
          <p:nvPr/>
        </p:nvSpPr>
        <p:spPr>
          <a:xfrm rot="5400000">
            <a:off x="11617200" y="5801760"/>
            <a:ext cx="1818720" cy="272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fr-FR" sz="1200" b="0" strike="noStrike" spc="-1">
                <a:solidFill>
                  <a:srgbClr val="000000"/>
                </a:solidFill>
                <a:latin typeface="Calibri" panose="020F0502020204030204"/>
                <a:ea typeface="DejaVu Sans"/>
              </a:rPr>
              <a:t>© Copyright Showeet.com</a:t>
            </a:r>
            <a:endParaRPr lang="fr-FR" sz="1200" b="0" strike="noStrike" spc="-1">
              <a:latin typeface="Arial" panose="020B0604020202020204"/>
            </a:endParaRPr>
          </a:p>
        </p:txBody>
      </p:sp>
      <p:sp>
        <p:nvSpPr>
          <p:cNvPr id="86" name="CustomShape 2"/>
          <p:cNvSpPr/>
          <p:nvPr/>
        </p:nvSpPr>
        <p:spPr>
          <a:xfrm>
            <a:off x="0" y="-9720"/>
            <a:ext cx="12191400" cy="1180440"/>
          </a:xfrm>
          <a:prstGeom prst="rect">
            <a:avLst/>
          </a:prstGeom>
          <a:solidFill>
            <a:srgbClr val="273339"/>
          </a:solidFill>
          <a:ln>
            <a:noFill/>
          </a:ln>
        </p:spPr>
        <p:style>
          <a:lnRef idx="2">
            <a:schemeClr val="accent1">
              <a:shade val="50000"/>
            </a:schemeClr>
          </a:lnRef>
          <a:fillRef idx="1">
            <a:schemeClr val="accent1"/>
          </a:fillRef>
          <a:effectRef idx="0">
            <a:schemeClr val="accent1"/>
          </a:effectRef>
          <a:fontRef idx="minor"/>
        </p:style>
      </p:sp>
      <p:grpSp>
        <p:nvGrpSpPr>
          <p:cNvPr id="87" name="Group 3"/>
          <p:cNvGrpSpPr/>
          <p:nvPr/>
        </p:nvGrpSpPr>
        <p:grpSpPr>
          <a:xfrm>
            <a:off x="0" y="6766560"/>
            <a:ext cx="12191040" cy="90720"/>
            <a:chOff x="0" y="6766560"/>
            <a:chExt cx="12191040" cy="90720"/>
          </a:xfrm>
        </p:grpSpPr>
        <p:sp>
          <p:nvSpPr>
            <p:cNvPr id="88" name="CustomShape 4"/>
            <p:cNvSpPr/>
            <p:nvPr/>
          </p:nvSpPr>
          <p:spPr>
            <a:xfrm>
              <a:off x="0" y="6766560"/>
              <a:ext cx="2439360" cy="90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89" name="CustomShape 5"/>
            <p:cNvSpPr/>
            <p:nvPr/>
          </p:nvSpPr>
          <p:spPr>
            <a:xfrm>
              <a:off x="2440080" y="6766560"/>
              <a:ext cx="2439360" cy="90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90" name="CustomShape 6"/>
            <p:cNvSpPr/>
            <p:nvPr/>
          </p:nvSpPr>
          <p:spPr>
            <a:xfrm>
              <a:off x="4879800" y="6766560"/>
              <a:ext cx="2439360" cy="907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sp>
        <p:sp>
          <p:nvSpPr>
            <p:cNvPr id="91" name="CustomShape 7"/>
            <p:cNvSpPr/>
            <p:nvPr/>
          </p:nvSpPr>
          <p:spPr>
            <a:xfrm>
              <a:off x="7319880" y="6766560"/>
              <a:ext cx="2439360" cy="90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92" name="CustomShape 8"/>
            <p:cNvSpPr/>
            <p:nvPr/>
          </p:nvSpPr>
          <p:spPr>
            <a:xfrm>
              <a:off x="9759600" y="6766560"/>
              <a:ext cx="2431440" cy="907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sp>
      </p:grpSp>
      <p:sp>
        <p:nvSpPr>
          <p:cNvPr id="93" name="PlaceHolder 9"/>
          <p:cNvSpPr>
            <a:spLocks noGrp="1"/>
          </p:cNvSpPr>
          <p:nvPr>
            <p:ph type="title"/>
          </p:nvPr>
        </p:nvSpPr>
        <p:spPr>
          <a:xfrm>
            <a:off x="609480" y="273600"/>
            <a:ext cx="10972440" cy="1144800"/>
          </a:xfrm>
          <a:prstGeom prst="rect">
            <a:avLst/>
          </a:prstGeom>
        </p:spPr>
        <p:txBody>
          <a:bodyPr lIns="0" tIns="0" rIns="0" bIns="0" anchor="ctr"/>
          <a:lstStyle/>
          <a:p>
            <a:pPr algn="ctr"/>
            <a:r>
              <a:rPr lang="fr-FR" sz="4400" b="0" strike="noStrike" spc="-1">
                <a:latin typeface="Arial" panose="020B0604020202020204"/>
              </a:rPr>
              <a:t>Cliquez pour éditer le format du texte-titre</a:t>
            </a:r>
            <a:endParaRPr lang="fr-FR" sz="4400" b="0" strike="noStrike" spc="-1">
              <a:latin typeface="Arial" panose="020B0604020202020204"/>
            </a:endParaRPr>
          </a:p>
        </p:txBody>
      </p:sp>
      <p:sp>
        <p:nvSpPr>
          <p:cNvPr id="94" name="PlaceHolder 10"/>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fr-FR" sz="3200" b="0" strike="noStrike" spc="-1">
                <a:latin typeface="Arial" panose="020B0604020202020204"/>
              </a:rPr>
              <a:t>Cliquez pour éditer le format du plan de texte</a:t>
            </a:r>
            <a:endParaRPr lang="fr-FR" sz="3200" b="0" strike="noStrike" spc="-1">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2800" b="0" strike="noStrike" spc="-1">
                <a:latin typeface="Arial" panose="020B0604020202020204"/>
              </a:rPr>
              <a:t>Second niveau de plan</a:t>
            </a:r>
            <a:endParaRPr lang="fr-FR" sz="2800" b="0" strike="noStrike" spc="-1">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2400" b="0" strike="noStrike" spc="-1">
                <a:latin typeface="Arial" panose="020B0604020202020204"/>
              </a:rPr>
              <a:t>Troisième niveau de plan</a:t>
            </a:r>
            <a:endParaRPr lang="fr-FR" sz="2400" b="0" strike="noStrike" spc="-1">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2000" b="0" strike="noStrike" spc="-1">
                <a:latin typeface="Arial" panose="020B0604020202020204"/>
              </a:rPr>
              <a:t>Quatrième niveau de plan</a:t>
            </a:r>
            <a:endParaRPr lang="fr-FR" sz="2000" b="0" strike="noStrike" spc="-1">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Cinquième niveau de plan</a:t>
            </a:r>
            <a:endParaRPr lang="fr-FR" sz="2000" b="0" strike="noStrike" spc="-1">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Sixième niveau de plan</a:t>
            </a:r>
            <a:endParaRPr lang="fr-FR" sz="2000" b="0" strike="noStrike" spc="-1">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Septième niveau de plan</a:t>
            </a:r>
            <a:endParaRPr lang="fr-FR"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 name="CustomShape 1"/>
          <p:cNvSpPr/>
          <p:nvPr/>
        </p:nvSpPr>
        <p:spPr>
          <a:xfrm rot="5400000">
            <a:off x="11617200" y="5801760"/>
            <a:ext cx="1818720" cy="272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fr-FR" sz="1200" b="0" strike="noStrike" spc="-1">
                <a:solidFill>
                  <a:srgbClr val="000000"/>
                </a:solidFill>
                <a:latin typeface="Calibri" panose="020F0502020204030204"/>
                <a:ea typeface="DejaVu Sans"/>
              </a:rPr>
              <a:t>© Copyright Showeet.com</a:t>
            </a:r>
            <a:endParaRPr lang="fr-FR" sz="1200" b="0" strike="noStrike" spc="-1">
              <a:latin typeface="Arial" panose="020B0604020202020204"/>
            </a:endParaRPr>
          </a:p>
        </p:txBody>
      </p:sp>
      <p:sp>
        <p:nvSpPr>
          <p:cNvPr id="132" name="PlaceHolder 2"/>
          <p:cNvSpPr>
            <a:spLocks noGrp="1"/>
          </p:cNvSpPr>
          <p:nvPr>
            <p:ph type="title"/>
          </p:nvPr>
        </p:nvSpPr>
        <p:spPr>
          <a:xfrm>
            <a:off x="609480" y="273600"/>
            <a:ext cx="10972440" cy="1144800"/>
          </a:xfrm>
          <a:prstGeom prst="rect">
            <a:avLst/>
          </a:prstGeom>
        </p:spPr>
        <p:txBody>
          <a:bodyPr lIns="0" tIns="0" rIns="0" bIns="0" anchor="ctr"/>
          <a:lstStyle/>
          <a:p>
            <a:pPr algn="ctr"/>
            <a:r>
              <a:rPr lang="fr-FR" sz="4400" b="0" strike="noStrike" spc="-1">
                <a:latin typeface="Arial" panose="020B0604020202020204"/>
              </a:rPr>
              <a:t>Cliquez pour éditer le format du texte-titre</a:t>
            </a:r>
            <a:endParaRPr lang="fr-FR" sz="4400" b="0" strike="noStrike" spc="-1">
              <a:latin typeface="Arial" panose="020B0604020202020204"/>
            </a:endParaRPr>
          </a:p>
        </p:txBody>
      </p:sp>
      <p:sp>
        <p:nvSpPr>
          <p:cNvPr id="133" name="PlaceHolder 3"/>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fr-FR" sz="3200" b="0" strike="noStrike" spc="-1">
                <a:latin typeface="Arial" panose="020B0604020202020204"/>
              </a:rPr>
              <a:t>Cliquez pour éditer le format du plan de texte</a:t>
            </a:r>
            <a:endParaRPr lang="fr-FR" sz="3200" b="0" strike="noStrike" spc="-1">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2800" b="0" strike="noStrike" spc="-1">
                <a:latin typeface="Arial" panose="020B0604020202020204"/>
              </a:rPr>
              <a:t>Second niveau de plan</a:t>
            </a:r>
            <a:endParaRPr lang="fr-FR" sz="2800" b="0" strike="noStrike" spc="-1">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2400" b="0" strike="noStrike" spc="-1">
                <a:latin typeface="Arial" panose="020B0604020202020204"/>
              </a:rPr>
              <a:t>Troisième niveau de plan</a:t>
            </a:r>
            <a:endParaRPr lang="fr-FR" sz="2400" b="0" strike="noStrike" spc="-1">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2000" b="0" strike="noStrike" spc="-1">
                <a:latin typeface="Arial" panose="020B0604020202020204"/>
              </a:rPr>
              <a:t>Quatrième niveau de plan</a:t>
            </a:r>
            <a:endParaRPr lang="fr-FR" sz="2000" b="0" strike="noStrike" spc="-1">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Cinquième niveau de plan</a:t>
            </a:r>
            <a:endParaRPr lang="fr-FR" sz="2000" b="0" strike="noStrike" spc="-1">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Sixième niveau de plan</a:t>
            </a:r>
            <a:endParaRPr lang="fr-FR" sz="2000" b="0" strike="noStrike" spc="-1">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strike="noStrike" spc="-1">
                <a:latin typeface="Arial" panose="020B0604020202020204"/>
              </a:rPr>
              <a:t>Septième niveau de plan</a:t>
            </a:r>
            <a:endParaRPr lang="fr-FR"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image" Target="../media/image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hyperlink" Target="https://www.newversion.9raytifclick.com/cours/tableau-a-une-dimension/" TargetMode="Externa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image" Target="../media/image7.jpe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image" Target="../media/image7.jpe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6.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png"/><Relationship Id="rId1" Type="http://schemas.openxmlformats.org/officeDocument/2006/relationships/image" Target="../media/image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png"/><Relationship Id="rId1" Type="http://schemas.openxmlformats.org/officeDocument/2006/relationships/image" Target="../media/image2.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8.png"/><Relationship Id="rId1" Type="http://schemas.openxmlformats.org/officeDocument/2006/relationships/image" Target="../media/image2.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9.png"/><Relationship Id="rId1" Type="http://schemas.openxmlformats.org/officeDocument/2006/relationships/image" Target="../media/image2.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0.png"/><Relationship Id="rId1" Type="http://schemas.openxmlformats.org/officeDocument/2006/relationships/image" Target="../media/image2.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1.png"/><Relationship Id="rId1" Type="http://schemas.openxmlformats.org/officeDocument/2006/relationships/image" Target="../media/image2.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6.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2.png"/><Relationship Id="rId1" Type="http://schemas.openxmlformats.org/officeDocument/2006/relationships/image" Target="../media/image2.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23.png"/><Relationship Id="rId1" Type="http://schemas.openxmlformats.org/officeDocument/2006/relationships/image" Target="../media/image2.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png"/></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24.png"/><Relationship Id="rId1" Type="http://schemas.openxmlformats.org/officeDocument/2006/relationships/image" Target="../media/image2.png"/></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25.png"/><Relationship Id="rId1" Type="http://schemas.openxmlformats.org/officeDocument/2006/relationships/image" Target="../media/image2.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26.png"/><Relationship Id="rId1" Type="http://schemas.openxmlformats.org/officeDocument/2006/relationships/image" Target="../media/image2.png"/></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26.png"/><Relationship Id="rId1" Type="http://schemas.openxmlformats.org/officeDocument/2006/relationships/image" Target="../media/image2.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png"/></Relationships>
</file>

<file path=ppt/slides/_rels/slide124.xml.rels><?xml version="1.0" encoding="UTF-8" standalone="yes"?>
<Relationships xmlns="http://schemas.openxmlformats.org/package/2006/relationships"><Relationship Id="rId4" Type="http://schemas.openxmlformats.org/officeDocument/2006/relationships/slideLayout" Target="../slideLayouts/slideLayout37.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png"/></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29.png"/><Relationship Id="rId1" Type="http://schemas.openxmlformats.org/officeDocument/2006/relationships/image" Target="../media/image2.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30.png"/><Relationship Id="rId1" Type="http://schemas.openxmlformats.org/officeDocument/2006/relationships/image" Target="../media/image2.png"/></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31.png"/><Relationship Id="rId1" Type="http://schemas.openxmlformats.org/officeDocument/2006/relationships/image" Target="../media/image2.png"/></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32.png"/><Relationship Id="rId1" Type="http://schemas.openxmlformats.org/officeDocument/2006/relationships/image" Target="../media/image2.png"/></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3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6" name="CustomShape 1"/>
          <p:cNvSpPr/>
          <p:nvPr/>
        </p:nvSpPr>
        <p:spPr>
          <a:xfrm>
            <a:off x="1612900" y="2187575"/>
            <a:ext cx="9444990" cy="24815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8000" b="0" strike="noStrike" spc="-1">
                <a:solidFill>
                  <a:srgbClr val="004A66"/>
                </a:solidFill>
                <a:latin typeface="Times New Roman" panose="02020603050405020304"/>
              </a:rPr>
              <a:t>Structures de Données</a:t>
            </a:r>
            <a:endParaRPr lang="fr-FR" sz="8000" b="0" strike="noStrike" spc="-1">
              <a:latin typeface="Arial" panose="020B0604020202020204"/>
            </a:endParaRPr>
          </a:p>
        </p:txBody>
      </p:sp>
      <p:sp>
        <p:nvSpPr>
          <p:cNvPr id="177" name="CustomShape 2"/>
          <p:cNvSpPr/>
          <p:nvPr/>
        </p:nvSpPr>
        <p:spPr>
          <a:xfrm>
            <a:off x="2927785" y="5301045"/>
            <a:ext cx="5292720" cy="1071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ctr">
              <a:lnSpc>
                <a:spcPct val="90000"/>
              </a:lnSpc>
              <a:spcBef>
                <a:spcPts val="1000"/>
              </a:spcBef>
            </a:pPr>
            <a:r>
              <a:rPr lang="fr-FR" sz="2800" b="1" strike="noStrike" spc="-1" dirty="0">
                <a:solidFill>
                  <a:srgbClr val="FF0000"/>
                </a:solidFill>
                <a:latin typeface="Times New Roman" panose="02020603050405020304"/>
              </a:rPr>
              <a:t>Pr. Omar ZAHOUR</a:t>
            </a:r>
            <a:endParaRPr lang="fr-FR" sz="2800" b="1" spc="-1" dirty="0">
              <a:solidFill>
                <a:srgbClr val="FF0000"/>
              </a:solidFill>
              <a:latin typeface="Times New Roman" panose="02020603050405020304"/>
            </a:endParaRPr>
          </a:p>
          <a:p>
            <a:pPr algn="ctr">
              <a:lnSpc>
                <a:spcPct val="90000"/>
              </a:lnSpc>
              <a:spcBef>
                <a:spcPts val="1000"/>
              </a:spcBef>
            </a:pPr>
            <a:r>
              <a:rPr lang="fr-FR" sz="2800" b="1" strike="noStrike" spc="-1">
                <a:solidFill>
                  <a:srgbClr val="FF0000"/>
                </a:solidFill>
                <a:latin typeface="Times New Roman" panose="02020603050405020304"/>
              </a:rPr>
              <a:t>2024-2025</a:t>
            </a:r>
            <a:endParaRPr lang="fr-FR" sz="2800" b="1" strike="noStrike" spc="-1" dirty="0">
              <a:solidFill>
                <a:srgbClr val="FF0000"/>
              </a:solidFill>
              <a:latin typeface="Times New Roman" panose="02020603050405020304"/>
            </a:endParaRPr>
          </a:p>
        </p:txBody>
      </p:sp>
      <p:sp>
        <p:nvSpPr>
          <p:cNvPr id="180" name="CustomShape 3"/>
          <p:cNvSpPr/>
          <p:nvPr/>
        </p:nvSpPr>
        <p:spPr>
          <a:xfrm>
            <a:off x="3630960" y="123480"/>
            <a:ext cx="6563520" cy="1581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50000"/>
              </a:lnSpc>
            </a:pPr>
            <a:r>
              <a:rPr lang="fr-FR" sz="2400" b="1" strike="noStrike" spc="-1">
                <a:solidFill>
                  <a:srgbClr val="273339"/>
                </a:solidFill>
                <a:latin typeface="Times New Roman" panose="02020603050405020304"/>
                <a:ea typeface="DejaVu Sans"/>
              </a:rPr>
              <a:t>Université Hassan II - Casablanca</a:t>
            </a:r>
            <a:endParaRPr lang="fr-FR" sz="2400" b="0" strike="noStrike" spc="-1">
              <a:latin typeface="Arial" panose="020B0604020202020204"/>
            </a:endParaRPr>
          </a:p>
          <a:p>
            <a:pPr algn="ctr">
              <a:lnSpc>
                <a:spcPct val="150000"/>
              </a:lnSpc>
            </a:pPr>
            <a:r>
              <a:rPr lang="fr-FR" sz="2000" b="1" strike="noStrike" spc="-1">
                <a:solidFill>
                  <a:srgbClr val="273339"/>
                </a:solidFill>
                <a:latin typeface="Times New Roman" panose="02020603050405020304"/>
                <a:ea typeface="DejaVu Sans"/>
              </a:rPr>
              <a:t>Faculté des Sciences Ben M’sik</a:t>
            </a:r>
            <a:endParaRPr lang="fr-FR" sz="2000" b="0" strike="noStrike" spc="-1">
              <a:latin typeface="Arial" panose="020B0604020202020204"/>
            </a:endParaRPr>
          </a:p>
          <a:p>
            <a:pPr algn="ctr">
              <a:lnSpc>
                <a:spcPct val="150000"/>
              </a:lnSpc>
            </a:pPr>
            <a:r>
              <a:rPr lang="fr-FR" sz="1800" b="1" strike="noStrike" spc="-1">
                <a:solidFill>
                  <a:srgbClr val="273339"/>
                </a:solidFill>
                <a:latin typeface="Times New Roman" panose="02020603050405020304"/>
                <a:ea typeface="DejaVu Sans"/>
              </a:rPr>
              <a:t>Département mathématique et informatique </a:t>
            </a:r>
            <a:endParaRPr lang="fr-FR" sz="1800" b="0" strike="noStrike" spc="-1">
              <a:latin typeface="Arial" panose="020B0604020202020204"/>
            </a:endParaRPr>
          </a:p>
          <a:p>
            <a:pPr algn="ctr">
              <a:lnSpc>
                <a:spcPct val="150000"/>
              </a:lnSpc>
            </a:pPr>
            <a:endParaRPr lang="fr-FR" sz="1800" b="0" strike="noStrike" spc="-1">
              <a:latin typeface="Arial" panose="020B0604020202020204"/>
            </a:endParaRPr>
          </a:p>
          <a:p>
            <a:pPr algn="ctr">
              <a:lnSpc>
                <a:spcPct val="150000"/>
              </a:lnSpc>
            </a:pPr>
            <a:endParaRPr lang="fr-FR" sz="1800" b="0" strike="noStrike" spc="-1">
              <a:latin typeface="Arial" panose="020B0604020202020204"/>
            </a:endParaRPr>
          </a:p>
        </p:txBody>
      </p:sp>
      <p:pic>
        <p:nvPicPr>
          <p:cNvPr id="181" name="Image 10"/>
          <p:cNvPicPr/>
          <p:nvPr/>
        </p:nvPicPr>
        <p:blipFill>
          <a:blip r:embed="rId1"/>
          <a:stretch>
            <a:fillRect/>
          </a:stretch>
        </p:blipFill>
        <p:spPr>
          <a:xfrm>
            <a:off x="346680" y="219240"/>
            <a:ext cx="2675880" cy="1226160"/>
          </a:xfrm>
          <a:prstGeom prst="rect">
            <a:avLst/>
          </a:prstGeom>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err="1">
                <a:solidFill>
                  <a:srgbClr val="FFFFFF"/>
                </a:solidFill>
                <a:latin typeface="Times New Roman" panose="02020603050405020304"/>
              </a:rPr>
              <a:t>Stuctures</a:t>
            </a:r>
            <a:r>
              <a:rPr lang="fr-FR" sz="4000" b="0" strike="noStrike" spc="-1" dirty="0">
                <a:solidFill>
                  <a:srgbClr val="FFFFFF"/>
                </a:solidFill>
                <a:latin typeface="Times New Roman" panose="02020603050405020304"/>
              </a:rPr>
              <a:t> de données ?</a:t>
            </a:r>
            <a:endParaRPr lang="fr-FR" sz="4000" b="0" strike="noStrike" spc="-1" dirty="0">
              <a:latin typeface="Arial" panose="020B0604020202020204"/>
            </a:endParaRPr>
          </a:p>
        </p:txBody>
      </p:sp>
      <p:sp>
        <p:nvSpPr>
          <p:cNvPr id="185" name="CustomShape 3"/>
          <p:cNvSpPr/>
          <p:nvPr/>
        </p:nvSpPr>
        <p:spPr>
          <a:xfrm>
            <a:off x="885240" y="2423880"/>
            <a:ext cx="7053120"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10000"/>
          </a:bodyPr>
          <a:lstStyle/>
          <a:p>
            <a:pPr marL="228600" indent="-227965" algn="just">
              <a:lnSpc>
                <a:spcPct val="100000"/>
              </a:lnSpc>
              <a:spcBef>
                <a:spcPts val="1000"/>
              </a:spcBef>
            </a:pPr>
            <a:r>
              <a:rPr lang="fr-FR" sz="2400" b="1" u="sng" strike="noStrike" spc="-1">
                <a:solidFill>
                  <a:srgbClr val="3D590D"/>
                </a:solidFill>
                <a:uFillTx/>
                <a:latin typeface="Times New Roman" panose="02020603050405020304"/>
              </a:rPr>
              <a:t>Définition </a:t>
            </a:r>
            <a:r>
              <a:rPr lang="fr-FR" sz="2400" b="1" strike="noStrike" spc="-1">
                <a:solidFill>
                  <a:srgbClr val="3D590D"/>
                </a:solidFill>
                <a:latin typeface="Times New Roman" panose="02020603050405020304"/>
              </a:rPr>
              <a:t>: </a:t>
            </a:r>
            <a:r>
              <a:rPr lang="fr-FR" sz="2000" b="0" strike="noStrike" spc="-1">
                <a:solidFill>
                  <a:srgbClr val="000000"/>
                </a:solidFill>
                <a:latin typeface="Times New Roman" panose="02020603050405020304"/>
              </a:rPr>
              <a:t>une </a:t>
            </a:r>
            <a:r>
              <a:rPr lang="fr-FR" sz="2000" b="1" strike="noStrike" spc="-1">
                <a:solidFill>
                  <a:srgbClr val="9B0D40"/>
                </a:solidFill>
                <a:latin typeface="Times New Roman" panose="02020603050405020304"/>
              </a:rPr>
              <a:t>structure de donnée</a:t>
            </a:r>
            <a:r>
              <a:rPr lang="fr-FR" sz="2000" b="0" strike="noStrike" spc="-1">
                <a:solidFill>
                  <a:srgbClr val="9B0D40"/>
                </a:solidFill>
                <a:latin typeface="Times New Roman" panose="02020603050405020304"/>
              </a:rPr>
              <a:t> </a:t>
            </a:r>
            <a:r>
              <a:rPr lang="fr-FR" sz="2000" b="0" strike="noStrike" spc="-1">
                <a:solidFill>
                  <a:srgbClr val="000000"/>
                </a:solidFill>
                <a:latin typeface="Times New Roman" panose="02020603050405020304"/>
              </a:rPr>
              <a:t>est un moyen de coder et de structurer les données manipulées.</a:t>
            </a:r>
            <a:endParaRPr lang="fr-FR" sz="2000" b="0" strike="noStrike" spc="-1">
              <a:latin typeface="Arial" panose="020B0604020202020204"/>
            </a:endParaRPr>
          </a:p>
          <a:p>
            <a:pPr marL="685800" indent="-227965">
              <a:lnSpc>
                <a:spcPct val="90000"/>
              </a:lnSpc>
              <a:spcBef>
                <a:spcPts val="500"/>
              </a:spcBef>
            </a:pPr>
            <a:endParaRPr lang="fr-FR" sz="2000" b="0" strike="noStrike" spc="-1">
              <a:latin typeface="Arial" panose="020B0604020202020204"/>
            </a:endParaRPr>
          </a:p>
          <a:p>
            <a:pPr marL="685800" indent="-227965">
              <a:lnSpc>
                <a:spcPct val="90000"/>
              </a:lnSpc>
              <a:spcBef>
                <a:spcPts val="1200"/>
              </a:spcBef>
            </a:pPr>
            <a:r>
              <a:rPr lang="fr-FR" sz="2400" b="1" u="sng" strike="noStrike" spc="-1">
                <a:solidFill>
                  <a:srgbClr val="3D590D"/>
                </a:solidFill>
                <a:uFillTx/>
                <a:latin typeface="Times New Roman" panose="02020603050405020304"/>
              </a:rPr>
              <a:t>Exemple</a:t>
            </a:r>
            <a:r>
              <a:rPr lang="fr-FR" sz="2400" b="1" strike="noStrike" spc="-1">
                <a:solidFill>
                  <a:srgbClr val="3D590D"/>
                </a:solidFill>
                <a:latin typeface="Times New Roman" panose="02020603050405020304"/>
              </a:rPr>
              <a:t> :</a:t>
            </a:r>
            <a:endParaRPr lang="fr-FR" sz="2400" b="0" strike="noStrike" spc="-1">
              <a:latin typeface="Arial" panose="020B0604020202020204"/>
            </a:endParaRPr>
          </a:p>
          <a:p>
            <a:pPr marL="685800" indent="-227965">
              <a:lnSpc>
                <a:spcPct val="90000"/>
              </a:lnSpc>
              <a:spcBef>
                <a:spcPts val="1000"/>
              </a:spcBef>
            </a:pPr>
            <a:r>
              <a:rPr lang="fr-FR" sz="2000" b="0" strike="noStrike" spc="-1">
                <a:solidFill>
                  <a:srgbClr val="000000"/>
                </a:solidFill>
                <a:latin typeface="Times New Roman" panose="02020603050405020304"/>
              </a:rPr>
              <a:t>type </a:t>
            </a:r>
            <a:r>
              <a:rPr lang="fr-FR" sz="2000" b="1" strike="noStrike" spc="-1">
                <a:solidFill>
                  <a:srgbClr val="000000"/>
                </a:solidFill>
                <a:latin typeface="Times New Roman" panose="02020603050405020304"/>
              </a:rPr>
              <a:t>suite </a:t>
            </a:r>
            <a:r>
              <a:rPr lang="fr-FR" sz="2000" b="0" strike="noStrike" spc="-1">
                <a:solidFill>
                  <a:srgbClr val="000000"/>
                </a:solidFill>
                <a:latin typeface="Times New Roman" panose="02020603050405020304"/>
              </a:rPr>
              <a:t>= tableau [1..N] d’entiers</a:t>
            </a:r>
            <a:endParaRPr lang="fr-FR" sz="2000" b="0" strike="noStrike" spc="-1">
              <a:latin typeface="Arial" panose="020B0604020202020204"/>
            </a:endParaRPr>
          </a:p>
          <a:p>
            <a:pPr marL="685800" indent="-227965">
              <a:lnSpc>
                <a:spcPct val="90000"/>
              </a:lnSpc>
              <a:spcBef>
                <a:spcPts val="1000"/>
              </a:spcBef>
            </a:pPr>
            <a:r>
              <a:rPr lang="fr-FR" sz="2000" b="0" strike="noStrike" spc="-1">
                <a:solidFill>
                  <a:srgbClr val="000000"/>
                </a:solidFill>
                <a:latin typeface="Times New Roman" panose="02020603050405020304"/>
              </a:rPr>
              <a:t>	</a:t>
            </a:r>
            <a:r>
              <a:rPr lang="fr-FR" sz="2000" b="1" strike="noStrike" spc="-1">
                <a:solidFill>
                  <a:srgbClr val="000000"/>
                </a:solidFill>
                <a:latin typeface="Times New Roman" panose="02020603050405020304"/>
              </a:rPr>
              <a:t>etudiant</a:t>
            </a:r>
            <a:r>
              <a:rPr lang="fr-FR" sz="2000" b="0" strike="noStrike" spc="-1">
                <a:solidFill>
                  <a:srgbClr val="000000"/>
                </a:solidFill>
                <a:latin typeface="Times New Roman" panose="02020603050405020304"/>
              </a:rPr>
              <a:t> = structure</a:t>
            </a:r>
            <a:endParaRPr lang="fr-FR" sz="2000" b="0" strike="noStrike" spc="-1">
              <a:latin typeface="Arial" panose="020B0604020202020204"/>
            </a:endParaRPr>
          </a:p>
          <a:p>
            <a:pPr marL="685800" indent="-227965">
              <a:lnSpc>
                <a:spcPct val="90000"/>
              </a:lnSpc>
              <a:spcBef>
                <a:spcPts val="1000"/>
              </a:spcBef>
            </a:pPr>
            <a:r>
              <a:rPr lang="fr-FR" sz="2000" b="0" strike="noStrike" spc="-1">
                <a:solidFill>
                  <a:srgbClr val="000000"/>
                </a:solidFill>
                <a:latin typeface="Times New Roman" panose="02020603050405020304"/>
              </a:rPr>
              <a:t>			nom, prénom : chaîne de caractères</a:t>
            </a:r>
            <a:endParaRPr lang="fr-FR" sz="2000" b="0" strike="noStrike" spc="-1">
              <a:latin typeface="Arial" panose="020B0604020202020204"/>
            </a:endParaRPr>
          </a:p>
          <a:p>
            <a:pPr marL="685800" indent="-227965">
              <a:lnSpc>
                <a:spcPct val="90000"/>
              </a:lnSpc>
              <a:spcBef>
                <a:spcPts val="1000"/>
              </a:spcBef>
            </a:pPr>
            <a:r>
              <a:rPr lang="fr-FR" sz="2000" b="0" strike="noStrike" spc="-1">
                <a:solidFill>
                  <a:srgbClr val="000000"/>
                </a:solidFill>
                <a:latin typeface="Times New Roman" panose="02020603050405020304"/>
              </a:rPr>
              <a:t>			âge : entier positif</a:t>
            </a:r>
            <a:endParaRPr lang="fr-FR" sz="2000" b="0" strike="noStrike" spc="-1">
              <a:latin typeface="Arial" panose="020B0604020202020204"/>
            </a:endParaRPr>
          </a:p>
          <a:p>
            <a:pPr marL="685800" indent="-227965">
              <a:lnSpc>
                <a:spcPct val="90000"/>
              </a:lnSpc>
              <a:spcBef>
                <a:spcPts val="1000"/>
              </a:spcBef>
            </a:pPr>
            <a:r>
              <a:rPr lang="fr-FR" sz="2000" b="0" strike="noStrike" spc="-1">
                <a:solidFill>
                  <a:srgbClr val="000000"/>
                </a:solidFill>
                <a:latin typeface="Times New Roman" panose="02020603050405020304"/>
              </a:rPr>
              <a:t>			sexe : caractère</a:t>
            </a:r>
            <a:endParaRPr lang="fr-FR" sz="2000" b="0" strike="noStrike" spc="-1">
              <a:latin typeface="Arial" panose="020B0604020202020204"/>
            </a:endParaRPr>
          </a:p>
          <a:p>
            <a:pPr marL="685800" indent="-227965">
              <a:lnSpc>
                <a:spcPct val="90000"/>
              </a:lnSpc>
              <a:spcBef>
                <a:spcPts val="1000"/>
              </a:spcBef>
            </a:pPr>
            <a:r>
              <a:rPr lang="fr-FR" sz="2000" b="0" strike="noStrike" spc="-1">
                <a:solidFill>
                  <a:srgbClr val="000000"/>
                </a:solidFill>
                <a:latin typeface="Times New Roman" panose="02020603050405020304"/>
              </a:rPr>
              <a:t>			...</a:t>
            </a:r>
            <a:endParaRPr lang="fr-FR" sz="2000" b="0" strike="noStrike" spc="-1">
              <a:latin typeface="Arial" panose="020B0604020202020204"/>
            </a:endParaRPr>
          </a:p>
          <a:p>
            <a:pPr marL="685800" indent="-227965">
              <a:lnSpc>
                <a:spcPct val="90000"/>
              </a:lnSpc>
              <a:spcBef>
                <a:spcPts val="1000"/>
              </a:spcBef>
            </a:pPr>
            <a:r>
              <a:rPr lang="fr-FR" sz="2000" b="0" strike="noStrike" spc="-1">
                <a:solidFill>
                  <a:srgbClr val="000000"/>
                </a:solidFill>
                <a:latin typeface="Times New Roman" panose="02020603050405020304"/>
              </a:rPr>
              <a:t>		fin structure</a:t>
            </a:r>
            <a:endParaRPr lang="fr-FR" sz="2000" b="0" strike="noStrike" spc="-1">
              <a:latin typeface="Arial" panose="020B0604020202020204"/>
            </a:endParaRPr>
          </a:p>
          <a:p>
            <a:pPr marL="685800" indent="-227965">
              <a:lnSpc>
                <a:spcPct val="90000"/>
              </a:lnSpc>
              <a:spcBef>
                <a:spcPts val="500"/>
              </a:spcBef>
            </a:pPr>
            <a:endParaRPr lang="fr-FR" sz="2000" b="0" strike="noStrike" spc="-1">
              <a:latin typeface="Arial" panose="020B0604020202020204"/>
            </a:endParaRPr>
          </a:p>
        </p:txBody>
      </p:sp>
      <p:grpSp>
        <p:nvGrpSpPr>
          <p:cNvPr id="186" name="Group 4"/>
          <p:cNvGrpSpPr/>
          <p:nvPr/>
        </p:nvGrpSpPr>
        <p:grpSpPr>
          <a:xfrm>
            <a:off x="7912080" y="2754000"/>
            <a:ext cx="2971440" cy="2590200"/>
            <a:chOff x="7912080" y="2754000"/>
            <a:chExt cx="2971440" cy="2590200"/>
          </a:xfrm>
        </p:grpSpPr>
        <p:grpSp>
          <p:nvGrpSpPr>
            <p:cNvPr id="187" name="Group 5"/>
            <p:cNvGrpSpPr/>
            <p:nvPr/>
          </p:nvGrpSpPr>
          <p:grpSpPr>
            <a:xfrm>
              <a:off x="7912080" y="2754000"/>
              <a:ext cx="1162080" cy="2590200"/>
              <a:chOff x="7912080" y="2754000"/>
              <a:chExt cx="1162080" cy="2590200"/>
            </a:xfrm>
          </p:grpSpPr>
          <p:sp>
            <p:nvSpPr>
              <p:cNvPr id="188" name="CustomShape 6"/>
              <p:cNvSpPr/>
              <p:nvPr/>
            </p:nvSpPr>
            <p:spPr>
              <a:xfrm>
                <a:off x="7912080" y="2754000"/>
                <a:ext cx="1162080" cy="323280"/>
              </a:xfrm>
              <a:prstGeom prst="rect">
                <a:avLst/>
              </a:prstGeom>
              <a:solidFill>
                <a:schemeClr val="bg2">
                  <a:lumMod val="20000"/>
                  <a:lumOff val="80000"/>
                </a:schemeClr>
              </a:solidFill>
              <a:ln w="9360">
                <a:solidFill>
                  <a:schemeClr val="tx2">
                    <a:lumMod val="60000"/>
                    <a:lumOff val="40000"/>
                  </a:schemeClr>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fr-FR" sz="2000" b="0" strike="noStrike" spc="-1">
                    <a:solidFill>
                      <a:srgbClr val="CC3300"/>
                    </a:solidFill>
                    <a:latin typeface="Times New Roman" panose="02020603050405020304"/>
                    <a:ea typeface="DejaVu Sans"/>
                  </a:rPr>
                  <a:t>Données</a:t>
                </a:r>
                <a:endParaRPr lang="fr-FR" sz="2000" b="0" strike="noStrike" spc="-1">
                  <a:latin typeface="Arial" panose="020B0604020202020204"/>
                </a:endParaRPr>
              </a:p>
            </p:txBody>
          </p:sp>
          <p:sp>
            <p:nvSpPr>
              <p:cNvPr id="189" name="CustomShape 7"/>
              <p:cNvSpPr/>
              <p:nvPr/>
            </p:nvSpPr>
            <p:spPr>
              <a:xfrm>
                <a:off x="7912080" y="3466440"/>
                <a:ext cx="1162080" cy="1165320"/>
              </a:xfrm>
              <a:prstGeom prst="rect">
                <a:avLst/>
              </a:prstGeom>
              <a:solidFill>
                <a:schemeClr val="bg2">
                  <a:lumMod val="20000"/>
                  <a:lumOff val="80000"/>
                </a:schemeClr>
              </a:solidFill>
              <a:ln w="9360">
                <a:solidFill>
                  <a:schemeClr val="tx2">
                    <a:lumMod val="60000"/>
                    <a:lumOff val="40000"/>
                  </a:schemeClr>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fr-FR" sz="2000" b="0" strike="noStrike" spc="-1">
                    <a:solidFill>
                      <a:srgbClr val="19262F"/>
                    </a:solidFill>
                    <a:latin typeface="Times New Roman" panose="02020603050405020304"/>
                    <a:ea typeface="DejaVu Sans"/>
                  </a:rPr>
                  <a:t>Algorithme</a:t>
                </a:r>
                <a:endParaRPr lang="fr-FR" sz="2000" b="0" strike="noStrike" spc="-1">
                  <a:latin typeface="Arial" panose="020B0604020202020204"/>
                </a:endParaRPr>
              </a:p>
            </p:txBody>
          </p:sp>
          <p:sp>
            <p:nvSpPr>
              <p:cNvPr id="190" name="CustomShape 8"/>
              <p:cNvSpPr/>
              <p:nvPr/>
            </p:nvSpPr>
            <p:spPr>
              <a:xfrm>
                <a:off x="7912080" y="5020920"/>
                <a:ext cx="1162080" cy="323280"/>
              </a:xfrm>
              <a:prstGeom prst="rect">
                <a:avLst/>
              </a:prstGeom>
              <a:solidFill>
                <a:schemeClr val="bg2">
                  <a:lumMod val="20000"/>
                  <a:lumOff val="80000"/>
                </a:schemeClr>
              </a:solidFill>
              <a:ln w="9360">
                <a:solidFill>
                  <a:schemeClr val="tx2">
                    <a:lumMod val="60000"/>
                    <a:lumOff val="40000"/>
                  </a:schemeClr>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fr-FR" sz="2000" b="0" strike="noStrike" spc="-1">
                    <a:solidFill>
                      <a:srgbClr val="CC3300"/>
                    </a:solidFill>
                    <a:latin typeface="Times New Roman" panose="02020603050405020304"/>
                    <a:ea typeface="DejaVu Sans"/>
                  </a:rPr>
                  <a:t>Résultats</a:t>
                </a:r>
                <a:endParaRPr lang="fr-FR" sz="2000" b="0" strike="noStrike" spc="-1">
                  <a:latin typeface="Arial" panose="020B0604020202020204"/>
                </a:endParaRPr>
              </a:p>
            </p:txBody>
          </p:sp>
          <p:sp>
            <p:nvSpPr>
              <p:cNvPr id="191" name="CustomShape 9"/>
              <p:cNvSpPr/>
              <p:nvPr/>
            </p:nvSpPr>
            <p:spPr>
              <a:xfrm>
                <a:off x="8396640" y="3077640"/>
                <a:ext cx="96120" cy="388080"/>
              </a:xfrm>
              <a:prstGeom prst="downArrow">
                <a:avLst>
                  <a:gd name="adj1" fmla="val 50000"/>
                  <a:gd name="adj2" fmla="val 75000"/>
                </a:avLst>
              </a:prstGeom>
              <a:solidFill>
                <a:schemeClr val="accent4">
                  <a:lumMod val="75000"/>
                </a:schemeClr>
              </a:solidFill>
              <a:ln w="19080">
                <a:solidFill>
                  <a:schemeClr val="accent4">
                    <a:lumMod val="50000"/>
                  </a:schemeClr>
                </a:solidFill>
                <a:miter/>
              </a:ln>
            </p:spPr>
            <p:style>
              <a:lnRef idx="0">
                <a:scrgbClr r="0" g="0" b="0"/>
              </a:lnRef>
              <a:fillRef idx="0">
                <a:scrgbClr r="0" g="0" b="0"/>
              </a:fillRef>
              <a:effectRef idx="0">
                <a:scrgbClr r="0" g="0" b="0"/>
              </a:effectRef>
              <a:fontRef idx="minor"/>
            </p:style>
          </p:sp>
          <p:sp>
            <p:nvSpPr>
              <p:cNvPr id="192" name="CustomShape 10"/>
              <p:cNvSpPr/>
              <p:nvPr/>
            </p:nvSpPr>
            <p:spPr>
              <a:xfrm>
                <a:off x="8396640" y="4632120"/>
                <a:ext cx="96120" cy="388080"/>
              </a:xfrm>
              <a:prstGeom prst="downArrow">
                <a:avLst>
                  <a:gd name="adj1" fmla="val 50000"/>
                  <a:gd name="adj2" fmla="val 75000"/>
                </a:avLst>
              </a:prstGeom>
              <a:solidFill>
                <a:schemeClr val="accent4">
                  <a:lumMod val="75000"/>
                </a:schemeClr>
              </a:solidFill>
              <a:ln w="19080">
                <a:solidFill>
                  <a:schemeClr val="accent4">
                    <a:lumMod val="50000"/>
                  </a:schemeClr>
                </a:solidFill>
                <a:miter/>
              </a:ln>
            </p:spPr>
            <p:style>
              <a:lnRef idx="0">
                <a:scrgbClr r="0" g="0" b="0"/>
              </a:lnRef>
              <a:fillRef idx="0">
                <a:scrgbClr r="0" g="0" b="0"/>
              </a:fillRef>
              <a:effectRef idx="0">
                <a:scrgbClr r="0" g="0" b="0"/>
              </a:effectRef>
              <a:fontRef idx="minor"/>
            </p:style>
          </p:sp>
        </p:grpSp>
        <p:sp>
          <p:nvSpPr>
            <p:cNvPr id="193" name="CustomShape 11"/>
            <p:cNvSpPr/>
            <p:nvPr/>
          </p:nvSpPr>
          <p:spPr>
            <a:xfrm>
              <a:off x="9764280" y="3596040"/>
              <a:ext cx="1119240" cy="1100520"/>
            </a:xfrm>
            <a:prstGeom prst="rect">
              <a:avLst/>
            </a:prstGeom>
            <a:solidFill>
              <a:schemeClr val="bg2">
                <a:lumMod val="20000"/>
                <a:lumOff val="80000"/>
              </a:schemeClr>
            </a:solidFill>
            <a:ln w="9360">
              <a:solidFill>
                <a:schemeClr val="tx2">
                  <a:lumMod val="60000"/>
                  <a:lumOff val="40000"/>
                </a:schemeClr>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fr-FR" sz="2000" b="0" strike="noStrike" spc="-1">
                  <a:solidFill>
                    <a:srgbClr val="CC3300"/>
                  </a:solidFill>
                  <a:latin typeface="Times New Roman" panose="02020603050405020304"/>
                  <a:ea typeface="DejaVu Sans"/>
                </a:rPr>
                <a:t>Structures </a:t>
              </a:r>
              <a:endParaRPr lang="fr-FR" sz="2000" b="0" strike="noStrike" spc="-1">
                <a:latin typeface="Arial" panose="020B0604020202020204"/>
              </a:endParaRPr>
            </a:p>
            <a:p>
              <a:pPr algn="ctr">
                <a:lnSpc>
                  <a:spcPct val="100000"/>
                </a:lnSpc>
              </a:pPr>
              <a:r>
                <a:rPr lang="fr-FR" sz="2000" b="0" strike="noStrike" spc="-1">
                  <a:solidFill>
                    <a:srgbClr val="CC3300"/>
                  </a:solidFill>
                  <a:latin typeface="Times New Roman" panose="02020603050405020304"/>
                  <a:ea typeface="DejaVu Sans"/>
                </a:rPr>
                <a:t>de</a:t>
              </a:r>
              <a:endParaRPr lang="fr-FR" sz="2000" b="0" strike="noStrike" spc="-1">
                <a:latin typeface="Arial" panose="020B0604020202020204"/>
              </a:endParaRPr>
            </a:p>
            <a:p>
              <a:pPr algn="ctr">
                <a:lnSpc>
                  <a:spcPct val="100000"/>
                </a:lnSpc>
              </a:pPr>
              <a:r>
                <a:rPr lang="fr-FR" sz="2000" b="0" strike="noStrike" spc="-1">
                  <a:solidFill>
                    <a:srgbClr val="CC3300"/>
                  </a:solidFill>
                  <a:latin typeface="Times New Roman" panose="02020603050405020304"/>
                  <a:ea typeface="DejaVu Sans"/>
                </a:rPr>
                <a:t>données</a:t>
              </a:r>
              <a:endParaRPr lang="fr-FR" sz="2000" b="0" strike="noStrike" spc="-1">
                <a:latin typeface="Arial" panose="020B0604020202020204"/>
              </a:endParaRPr>
            </a:p>
          </p:txBody>
        </p:sp>
        <p:sp>
          <p:nvSpPr>
            <p:cNvPr id="194" name="CustomShape 12"/>
            <p:cNvSpPr/>
            <p:nvPr/>
          </p:nvSpPr>
          <p:spPr>
            <a:xfrm>
              <a:off x="9075240" y="2916000"/>
              <a:ext cx="688320" cy="1229760"/>
            </a:xfrm>
            <a:custGeom>
              <a:avLst/>
              <a:gdLst/>
              <a:ahLst/>
              <a:cxnLst/>
              <a:rect l="l" t="t" r="r" b="b"/>
              <a:pathLst>
                <a:path w="21600" h="21600">
                  <a:moveTo>
                    <a:pt x="0" y="0"/>
                  </a:moveTo>
                  <a:lnTo>
                    <a:pt x="21600" y="21600"/>
                  </a:lnTo>
                </a:path>
              </a:pathLst>
            </a:custGeom>
            <a:noFill/>
            <a:ln w="28440">
              <a:solidFill>
                <a:schemeClr val="accent2">
                  <a:lumMod val="50000"/>
                </a:schemeClr>
              </a:solidFill>
              <a:round/>
              <a:headEnd type="triangle" w="med" len="med"/>
            </a:ln>
          </p:spPr>
          <p:style>
            <a:lnRef idx="0">
              <a:scrgbClr r="0" g="0" b="0"/>
            </a:lnRef>
            <a:fillRef idx="0">
              <a:scrgbClr r="0" g="0" b="0"/>
            </a:fillRef>
            <a:effectRef idx="0">
              <a:scrgbClr r="0" g="0" b="0"/>
            </a:effectRef>
            <a:fontRef idx="minor"/>
          </p:style>
        </p:sp>
        <p:sp>
          <p:nvSpPr>
            <p:cNvPr id="195" name="CustomShape 13"/>
            <p:cNvSpPr/>
            <p:nvPr/>
          </p:nvSpPr>
          <p:spPr>
            <a:xfrm flipH="1">
              <a:off x="9074520" y="4146480"/>
              <a:ext cx="688320" cy="1035720"/>
            </a:xfrm>
            <a:custGeom>
              <a:avLst/>
              <a:gdLst/>
              <a:ahLst/>
              <a:cxnLst/>
              <a:rect l="l" t="t" r="r" b="b"/>
              <a:pathLst>
                <a:path w="21600" h="21600">
                  <a:moveTo>
                    <a:pt x="0" y="0"/>
                  </a:moveTo>
                  <a:lnTo>
                    <a:pt x="21600" y="21600"/>
                  </a:lnTo>
                </a:path>
              </a:pathLst>
            </a:custGeom>
            <a:noFill/>
            <a:ln w="28440">
              <a:solidFill>
                <a:schemeClr val="accent2">
                  <a:lumMod val="50000"/>
                </a:schemeClr>
              </a:solidFill>
              <a:round/>
              <a:tailEnd type="triangle" w="med" len="med"/>
            </a:ln>
          </p:spPr>
          <p:style>
            <a:lnRef idx="0">
              <a:scrgbClr r="0" g="0" b="0"/>
            </a:lnRef>
            <a:fillRef idx="0">
              <a:scrgbClr r="0" g="0" b="0"/>
            </a:fillRef>
            <a:effectRef idx="0">
              <a:scrgbClr r="0" g="0" b="0"/>
            </a:effectRef>
            <a:fontRef idx="minor"/>
          </p:style>
        </p:sp>
      </p:grpSp>
      <p:sp>
        <p:nvSpPr>
          <p:cNvPr id="196" name="CustomShape 14"/>
          <p:cNvSpPr/>
          <p:nvPr/>
        </p:nvSpPr>
        <p:spPr>
          <a:xfrm>
            <a:off x="5592240" y="6293880"/>
            <a:ext cx="6058080" cy="39492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1000"/>
              </a:spcBef>
            </a:pPr>
            <a:r>
              <a:rPr lang="fr-FR" sz="2000" b="1" i="1" strike="noStrike" spc="-1">
                <a:solidFill>
                  <a:srgbClr val="4F090B"/>
                </a:solidFill>
                <a:latin typeface="Times New Roman" panose="02020603050405020304"/>
                <a:ea typeface="DejaVu Sans"/>
              </a:rPr>
              <a:t>Programme = Algorithme + Structures de données</a:t>
            </a:r>
            <a:endParaRPr lang="fr-FR" sz="2000" b="0" strike="noStrike" spc="-1">
              <a:latin typeface="Arial" panose="020B06040202020202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a:t>
            </a:r>
            <a:endParaRPr lang="fr-FR" sz="4000" b="0" strike="noStrike" spc="-1" dirty="0">
              <a:latin typeface="Arial" panose="020B0604020202020204"/>
            </a:endParaRPr>
          </a:p>
        </p:txBody>
      </p:sp>
      <p:sp>
        <p:nvSpPr>
          <p:cNvPr id="185" name="CustomShape 3"/>
          <p:cNvSpPr/>
          <p:nvPr/>
        </p:nvSpPr>
        <p:spPr>
          <a:xfrm>
            <a:off x="885240" y="2423880"/>
            <a:ext cx="10950120"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100000"/>
              </a:lnSpc>
              <a:spcBef>
                <a:spcPts val="1000"/>
              </a:spcBef>
            </a:pPr>
            <a:r>
              <a:rPr lang="fr-FR" sz="2400" b="1" u="sng" spc="-1" dirty="0">
                <a:solidFill>
                  <a:srgbClr val="3D590D"/>
                </a:solidFill>
                <a:latin typeface="Times New Roman" panose="02020603050405020304"/>
              </a:rPr>
              <a:t>Introduction</a:t>
            </a:r>
            <a:r>
              <a:rPr lang="fr-FR" sz="2400" b="1" u="sng" strike="noStrike" spc="-1" dirty="0">
                <a:solidFill>
                  <a:srgbClr val="3D590D"/>
                </a:solidFill>
                <a:uFillTx/>
                <a:latin typeface="Times New Roman" panose="02020603050405020304"/>
              </a:rPr>
              <a:t> </a:t>
            </a:r>
            <a:r>
              <a:rPr lang="fr-FR" sz="2400" b="1" strike="noStrike" spc="-1" dirty="0">
                <a:solidFill>
                  <a:srgbClr val="3D590D"/>
                </a:solidFill>
                <a:latin typeface="Times New Roman" panose="02020603050405020304"/>
              </a:rPr>
              <a:t>:</a:t>
            </a:r>
            <a:endParaRPr lang="fr-FR" sz="2400" b="1" spc="-1" dirty="0">
              <a:solidFill>
                <a:srgbClr val="3D590D"/>
              </a:solidFill>
              <a:latin typeface="Times New Roman" panose="02020603050405020304"/>
            </a:endParaRPr>
          </a:p>
          <a:p>
            <a:pPr marL="228600" indent="-227965" algn="just">
              <a:lnSpc>
                <a:spcPct val="100000"/>
              </a:lnSpc>
              <a:spcBef>
                <a:spcPts val="1000"/>
              </a:spcBef>
            </a:pPr>
            <a:r>
              <a:rPr lang="fr-FR" sz="2000" b="0" i="0" dirty="0">
                <a:solidFill>
                  <a:srgbClr val="2D3748"/>
                </a:solidFill>
                <a:effectLst/>
                <a:latin typeface="Garamand"/>
              </a:rPr>
              <a:t>    </a:t>
            </a:r>
            <a:r>
              <a:rPr lang="fr-FR" sz="2400" b="0" i="0" dirty="0">
                <a:solidFill>
                  <a:srgbClr val="2D3748"/>
                </a:solidFill>
                <a:effectLst/>
                <a:latin typeface="Times New Roman" panose="02020603050405020304" pitchFamily="18" charset="0"/>
                <a:cs typeface="Times New Roman" panose="02020603050405020304" pitchFamily="18" charset="0"/>
              </a:rPr>
              <a:t>Le type</a:t>
            </a:r>
            <a:r>
              <a:rPr lang="fr-FR" sz="2400" b="0" i="0" dirty="0">
                <a:solidFill>
                  <a:srgbClr val="FF0000"/>
                </a:solidFill>
                <a:effectLst/>
                <a:latin typeface="Times New Roman" panose="02020603050405020304" pitchFamily="18" charset="0"/>
                <a:cs typeface="Times New Roman" panose="02020603050405020304" pitchFamily="18" charset="0"/>
              </a:rPr>
              <a:t> tableau </a:t>
            </a:r>
            <a:r>
              <a:rPr lang="fr-FR" sz="2400" b="0" i="0" dirty="0">
                <a:solidFill>
                  <a:srgbClr val="2D3748"/>
                </a:solidFill>
                <a:effectLst/>
                <a:latin typeface="Times New Roman" panose="02020603050405020304" pitchFamily="18" charset="0"/>
                <a:cs typeface="Times New Roman" panose="02020603050405020304" pitchFamily="18" charset="0"/>
              </a:rPr>
              <a:t>nous a permis de définir une structure composée de plusieurs éléments, cette structure nous permettrait de réunir les éléments de même type. Mais si nous voulons regrouper les informations n’ayant pas nécessairement le même type au sein d’une même structure.</a:t>
            </a:r>
            <a:endParaRPr lang="fr-FR" sz="2400" b="0" i="0" dirty="0">
              <a:solidFill>
                <a:srgbClr val="2D3748"/>
              </a:solidFill>
              <a:effectLst/>
              <a:latin typeface="Times New Roman" panose="02020603050405020304" pitchFamily="18" charset="0"/>
              <a:cs typeface="Times New Roman" panose="02020603050405020304" pitchFamily="18" charset="0"/>
            </a:endParaRPr>
          </a:p>
          <a:p>
            <a:pPr marL="228600" indent="-227965" algn="just">
              <a:lnSpc>
                <a:spcPct val="100000"/>
              </a:lnSpc>
              <a:spcBef>
                <a:spcPts val="1000"/>
              </a:spcBef>
            </a:pPr>
            <a:endParaRPr lang="fr-FR" sz="2000" b="0" i="0" dirty="0">
              <a:solidFill>
                <a:srgbClr val="2D3748"/>
              </a:solidFill>
              <a:effectLst/>
              <a:latin typeface="Times New Roman" panose="02020603050405020304" pitchFamily="18" charset="0"/>
              <a:cs typeface="Times New Roman" panose="02020603050405020304" pitchFamily="18" charset="0"/>
            </a:endParaRPr>
          </a:p>
          <a:p>
            <a:pPr marL="228600" indent="-227965" algn="just">
              <a:lnSpc>
                <a:spcPct val="100000"/>
              </a:lnSpc>
              <a:spcBef>
                <a:spcPts val="1000"/>
              </a:spcBef>
            </a:pPr>
            <a:r>
              <a:rPr lang="fr-FR" sz="2400" b="1" u="sng" spc="-1" dirty="0">
                <a:solidFill>
                  <a:srgbClr val="3D590D"/>
                </a:solidFill>
                <a:latin typeface="Times New Roman" panose="02020603050405020304"/>
              </a:rPr>
              <a:t>Exemple:</a:t>
            </a:r>
            <a:r>
              <a:rPr lang="fr-FR" sz="2000" b="0" i="0" dirty="0">
                <a:solidFill>
                  <a:srgbClr val="2D3748"/>
                </a:solidFill>
                <a:effectLst/>
                <a:latin typeface="Times New Roman" panose="02020603050405020304" pitchFamily="18" charset="0"/>
                <a:cs typeface="Times New Roman" panose="02020603050405020304" pitchFamily="18" charset="0"/>
              </a:rPr>
              <a:t>    </a:t>
            </a:r>
            <a:r>
              <a:rPr lang="fr-FR" sz="2400" b="0" i="0" dirty="0">
                <a:solidFill>
                  <a:srgbClr val="2D3748"/>
                </a:solidFill>
                <a:effectLst/>
                <a:latin typeface="Times New Roman" panose="02020603050405020304" pitchFamily="18" charset="0"/>
                <a:cs typeface="Times New Roman" panose="02020603050405020304" pitchFamily="18" charset="0"/>
              </a:rPr>
              <a:t>Les informations concernant un étudiant. Une nouvelle structure appelée , </a:t>
            </a:r>
            <a:r>
              <a:rPr lang="fr-FR" sz="2400" dirty="0">
                <a:solidFill>
                  <a:srgbClr val="FF0000"/>
                </a:solidFill>
                <a:latin typeface="Times New Roman" panose="02020603050405020304" pitchFamily="18" charset="0"/>
                <a:cs typeface="Times New Roman" panose="02020603050405020304" pitchFamily="18" charset="0"/>
              </a:rPr>
              <a:t>E</a:t>
            </a:r>
            <a:r>
              <a:rPr lang="fr-FR" sz="2400" b="0" i="0" dirty="0">
                <a:solidFill>
                  <a:srgbClr val="FF0000"/>
                </a:solidFill>
                <a:effectLst/>
                <a:latin typeface="Times New Roman" panose="02020603050405020304" pitchFamily="18" charset="0"/>
                <a:cs typeface="Times New Roman" panose="02020603050405020304" pitchFamily="18" charset="0"/>
              </a:rPr>
              <a:t>nregistrements</a:t>
            </a:r>
            <a:r>
              <a:rPr lang="fr-FR" sz="2400" b="0" i="0" dirty="0">
                <a:solidFill>
                  <a:srgbClr val="2D3748"/>
                </a:solidFill>
                <a:effectLst/>
                <a:latin typeface="Times New Roman" panose="02020603050405020304" pitchFamily="18" charset="0"/>
                <a:cs typeface="Times New Roman" panose="02020603050405020304" pitchFamily="18" charset="0"/>
              </a:rPr>
              <a:t>, est plus adaptée pour représenter ce type d’information.</a:t>
            </a:r>
            <a:endParaRPr lang="fr-FR" sz="2400" b="0" strike="noStrike" spc="-1" dirty="0">
              <a:latin typeface="Times New Roman" panose="02020603050405020304" pitchFamily="18" charset="0"/>
              <a:cs typeface="Times New Roman" panose="02020603050405020304" pitchFamily="18" charset="0"/>
            </a:endParaRPr>
          </a:p>
          <a:p>
            <a:pPr marL="228600" indent="-227965" algn="just">
              <a:lnSpc>
                <a:spcPct val="100000"/>
              </a:lnSpc>
              <a:spcBef>
                <a:spcPts val="1000"/>
              </a:spcBef>
            </a:pPr>
            <a:endParaRPr lang="fr-FR" sz="20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a:t>
            </a:r>
            <a:endParaRPr lang="fr-FR" sz="4000" b="0" strike="noStrike" spc="-1" dirty="0">
              <a:latin typeface="Arial" panose="020B0604020202020204"/>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100000"/>
              </a:lnSpc>
              <a:spcBef>
                <a:spcPts val="1000"/>
              </a:spcBef>
            </a:pPr>
            <a:r>
              <a:rPr lang="fr-FR" sz="2400" b="1" u="sng" spc="-1" dirty="0" err="1">
                <a:solidFill>
                  <a:srgbClr val="3D590D"/>
                </a:solidFill>
                <a:latin typeface="Times New Roman" panose="02020603050405020304"/>
              </a:rPr>
              <a:t>Definition</a:t>
            </a:r>
            <a:r>
              <a:rPr lang="fr-FR" sz="2400" b="1" u="sng" spc="-1" dirty="0">
                <a:solidFill>
                  <a:srgbClr val="3D590D"/>
                </a:solidFill>
                <a:latin typeface="Times New Roman" panose="02020603050405020304"/>
              </a:rPr>
              <a:t>:</a:t>
            </a:r>
            <a:endParaRPr lang="fr-FR" sz="2400" b="1" u="sng" spc="-1" dirty="0">
              <a:solidFill>
                <a:srgbClr val="3D590D"/>
              </a:solidFill>
              <a:latin typeface="Times New Roman" panose="02020603050405020304"/>
            </a:endParaRPr>
          </a:p>
          <a:p>
            <a:pPr marL="228600" indent="-227965" algn="just">
              <a:lnSpc>
                <a:spcPct val="100000"/>
              </a:lnSpc>
              <a:spcBef>
                <a:spcPts val="1000"/>
              </a:spcBef>
            </a:pPr>
            <a:r>
              <a:rPr lang="fr-FR" sz="2000" b="0" i="0" dirty="0">
                <a:solidFill>
                  <a:srgbClr val="2D3748"/>
                </a:solidFill>
                <a:effectLst/>
                <a:latin typeface="Garamand"/>
              </a:rPr>
              <a:t>    </a:t>
            </a:r>
            <a:r>
              <a:rPr lang="fr-FR" sz="2400" b="0" i="0" dirty="0">
                <a:solidFill>
                  <a:srgbClr val="2D3748"/>
                </a:solidFill>
                <a:effectLst/>
                <a:latin typeface="Times New Roman" panose="02020603050405020304" pitchFamily="18" charset="0"/>
                <a:cs typeface="Times New Roman" panose="02020603050405020304" pitchFamily="18" charset="0"/>
              </a:rPr>
              <a:t>Les enregistrements sont des structures de données dont les éléments peuvent être de différents types et qui se rapportent</a:t>
            </a:r>
            <a:r>
              <a:rPr lang="fr-FR" sz="2400" b="0" i="0" dirty="0">
                <a:solidFill>
                  <a:srgbClr val="FF0000"/>
                </a:solidFill>
                <a:effectLst/>
                <a:latin typeface="Times New Roman" panose="02020603050405020304" pitchFamily="18" charset="0"/>
                <a:cs typeface="Times New Roman" panose="02020603050405020304" pitchFamily="18" charset="0"/>
              </a:rPr>
              <a:t> </a:t>
            </a:r>
            <a:r>
              <a:rPr lang="fr-FR" sz="2400" b="1" i="0" dirty="0">
                <a:solidFill>
                  <a:srgbClr val="C00000"/>
                </a:solidFill>
                <a:effectLst/>
                <a:latin typeface="Times New Roman" panose="02020603050405020304" pitchFamily="18" charset="0"/>
                <a:cs typeface="Times New Roman" panose="02020603050405020304" pitchFamily="18" charset="0"/>
              </a:rPr>
              <a:t>à la même entité sémantique</a:t>
            </a:r>
            <a:r>
              <a:rPr lang="fr-FR" sz="2400" b="0" i="0" dirty="0">
                <a:solidFill>
                  <a:srgbClr val="2D3748"/>
                </a:solidFill>
                <a:effectLst/>
                <a:latin typeface="Times New Roman" panose="02020603050405020304" pitchFamily="18" charset="0"/>
                <a:cs typeface="Times New Roman" panose="02020603050405020304" pitchFamily="18" charset="0"/>
              </a:rPr>
              <a:t>. Les éléments qui composent un enregistrement sont appelés </a:t>
            </a:r>
            <a:r>
              <a:rPr lang="fr-FR" sz="2400" b="1" i="0" u="sng" dirty="0">
                <a:solidFill>
                  <a:srgbClr val="C00000"/>
                </a:solidFill>
                <a:effectLst/>
                <a:latin typeface="Times New Roman" panose="02020603050405020304" pitchFamily="18" charset="0"/>
                <a:cs typeface="Times New Roman" panose="02020603050405020304" pitchFamily="18" charset="0"/>
              </a:rPr>
              <a:t>champs</a:t>
            </a:r>
            <a:r>
              <a:rPr lang="fr-FR" sz="2400" b="1" i="0" dirty="0">
                <a:solidFill>
                  <a:srgbClr val="2D3748"/>
                </a:solidFill>
                <a:effectLst/>
                <a:latin typeface="Times New Roman" panose="02020603050405020304" pitchFamily="18" charset="0"/>
                <a:cs typeface="Times New Roman" panose="02020603050405020304" pitchFamily="18" charset="0"/>
              </a:rPr>
              <a:t>. </a:t>
            </a:r>
            <a:endParaRPr lang="fr-FR" sz="2400" b="1" i="0" dirty="0">
              <a:solidFill>
                <a:srgbClr val="2D3748"/>
              </a:solidFill>
              <a:effectLst/>
              <a:latin typeface="Times New Roman" panose="02020603050405020304" pitchFamily="18" charset="0"/>
              <a:cs typeface="Times New Roman" panose="02020603050405020304" pitchFamily="18" charset="0"/>
            </a:endParaRPr>
          </a:p>
          <a:p>
            <a:pPr marL="228600" indent="-227965" algn="just">
              <a:lnSpc>
                <a:spcPct val="100000"/>
              </a:lnSpc>
              <a:spcBef>
                <a:spcPts val="1000"/>
              </a:spcBef>
            </a:pPr>
            <a:r>
              <a:rPr lang="fr-FR" sz="2400" dirty="0">
                <a:solidFill>
                  <a:srgbClr val="2D3748"/>
                </a:solidFill>
                <a:latin typeface="Times New Roman" panose="02020603050405020304" pitchFamily="18" charset="0"/>
                <a:cs typeface="Times New Roman" panose="02020603050405020304" pitchFamily="18" charset="0"/>
              </a:rPr>
              <a:t>    </a:t>
            </a:r>
            <a:r>
              <a:rPr lang="fr-FR" sz="2400" b="0" i="0" dirty="0">
                <a:solidFill>
                  <a:srgbClr val="2D3748"/>
                </a:solidFill>
                <a:effectLst/>
                <a:latin typeface="Times New Roman" panose="02020603050405020304" pitchFamily="18" charset="0"/>
                <a:cs typeface="Times New Roman" panose="02020603050405020304" pitchFamily="18" charset="0"/>
              </a:rPr>
              <a:t>Avant de déclarer </a:t>
            </a:r>
            <a:r>
              <a:rPr lang="fr-FR" sz="2400" b="1" i="0" u="sng" dirty="0">
                <a:solidFill>
                  <a:srgbClr val="C00000"/>
                </a:solidFill>
                <a:effectLst/>
                <a:latin typeface="Times New Roman" panose="02020603050405020304" pitchFamily="18" charset="0"/>
                <a:cs typeface="Times New Roman" panose="02020603050405020304" pitchFamily="18" charset="0"/>
              </a:rPr>
              <a:t>une variable enregistrement</a:t>
            </a:r>
            <a:r>
              <a:rPr lang="fr-FR" sz="2400" b="1" i="0" dirty="0">
                <a:solidFill>
                  <a:srgbClr val="2D3748"/>
                </a:solidFill>
                <a:effectLst/>
                <a:latin typeface="Times New Roman" panose="02020603050405020304" pitchFamily="18" charset="0"/>
                <a:cs typeface="Times New Roman" panose="02020603050405020304" pitchFamily="18" charset="0"/>
              </a:rPr>
              <a:t>, </a:t>
            </a:r>
            <a:r>
              <a:rPr lang="fr-FR" sz="2400" b="0" i="0" dirty="0">
                <a:solidFill>
                  <a:srgbClr val="2D3748"/>
                </a:solidFill>
                <a:effectLst/>
                <a:latin typeface="Times New Roman" panose="02020603050405020304" pitchFamily="18" charset="0"/>
                <a:cs typeface="Times New Roman" panose="02020603050405020304" pitchFamily="18" charset="0"/>
              </a:rPr>
              <a:t>il faut avoir au préalable définit son type, c’est à dire le nom et le type des champs qui le composent. Le type d’un enregistrement est </a:t>
            </a:r>
            <a:r>
              <a:rPr lang="fr-FR" sz="2400" b="1" i="0" u="sng" dirty="0">
                <a:solidFill>
                  <a:srgbClr val="C00000"/>
                </a:solidFill>
                <a:effectLst/>
                <a:latin typeface="Times New Roman" panose="02020603050405020304" pitchFamily="18" charset="0"/>
                <a:cs typeface="Times New Roman" panose="02020603050405020304" pitchFamily="18" charset="0"/>
              </a:rPr>
              <a:t>appelé type structuré</a:t>
            </a:r>
            <a:r>
              <a:rPr lang="fr-FR" sz="2400" b="0" i="0" dirty="0">
                <a:solidFill>
                  <a:srgbClr val="2D3748"/>
                </a:solidFill>
                <a:effectLst/>
                <a:latin typeface="Times New Roman" panose="02020603050405020304" pitchFamily="18" charset="0"/>
                <a:cs typeface="Times New Roman" panose="02020603050405020304" pitchFamily="18" charset="0"/>
              </a:rPr>
              <a:t>. (Les enregistrements sont parfois appelé structures, en analogie avec le langage C).</a:t>
            </a:r>
            <a:endParaRPr lang="fr-FR" sz="2400" b="0"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endParaRPr lang="fr-FR" sz="4000" b="0" strike="noStrike" spc="-1" dirty="0">
              <a:latin typeface="Arial" panose="020B0604020202020204"/>
            </a:endParaRPr>
          </a:p>
        </p:txBody>
      </p:sp>
      <p:sp>
        <p:nvSpPr>
          <p:cNvPr id="185" name="CustomShape 3"/>
          <p:cNvSpPr/>
          <p:nvPr/>
        </p:nvSpPr>
        <p:spPr>
          <a:xfrm>
            <a:off x="885239" y="2574719"/>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100000"/>
              </a:lnSpc>
              <a:spcBef>
                <a:spcPts val="1000"/>
              </a:spcBef>
            </a:pPr>
            <a:r>
              <a:rPr lang="fr-FR" sz="2400" b="1" u="sng" spc="-1" dirty="0">
                <a:solidFill>
                  <a:srgbClr val="3D590D"/>
                </a:solidFill>
                <a:latin typeface="Times New Roman" panose="02020603050405020304"/>
              </a:rPr>
              <a:t>Exemple:</a:t>
            </a:r>
            <a:endParaRPr lang="fr-FR" sz="2400" b="1" u="sng" spc="-1" dirty="0">
              <a:solidFill>
                <a:srgbClr val="3D590D"/>
              </a:solidFill>
              <a:latin typeface="Times New Roman" panose="02020603050405020304"/>
            </a:endParaRPr>
          </a:p>
          <a:p>
            <a:pPr marL="228600" indent="-227965">
              <a:lnSpc>
                <a:spcPct val="100000"/>
              </a:lnSpc>
              <a:spcBef>
                <a:spcPts val="1000"/>
              </a:spcBef>
            </a:pPr>
            <a:endParaRPr lang="fr-FR" sz="2400" b="1" u="sng" spc="-1" dirty="0">
              <a:solidFill>
                <a:srgbClr val="3D590D"/>
              </a:solidFill>
              <a:latin typeface="Times New Roman" panose="02020603050405020304"/>
            </a:endParaRPr>
          </a:p>
          <a:p>
            <a:pPr marL="228600" indent="-227965">
              <a:lnSpc>
                <a:spcPct val="100000"/>
              </a:lnSpc>
              <a:spcBef>
                <a:spcPts val="1000"/>
              </a:spcBef>
            </a:pPr>
            <a:endParaRPr lang="fr-FR" sz="2400" b="1" u="sng" spc="-1" dirty="0">
              <a:solidFill>
                <a:srgbClr val="3D590D"/>
              </a:solidFill>
              <a:latin typeface="Times New Roman" panose="02020603050405020304"/>
            </a:endParaRPr>
          </a:p>
          <a:p>
            <a:pPr marL="228600" indent="-227965">
              <a:lnSpc>
                <a:spcPct val="100000"/>
              </a:lnSpc>
              <a:spcBef>
                <a:spcPts val="1000"/>
              </a:spcBef>
            </a:pPr>
            <a:r>
              <a:rPr lang="fr-FR" sz="2000" b="0" i="0" dirty="0">
                <a:solidFill>
                  <a:srgbClr val="2D3748"/>
                </a:solidFill>
                <a:effectLst/>
                <a:latin typeface="Garamand"/>
              </a:rPr>
              <a:t>    </a:t>
            </a:r>
            <a:endParaRPr lang="fr-FR" sz="2400" b="0" strike="noStrike" spc="-1" dirty="0">
              <a:latin typeface="Times New Roman" panose="02020603050405020304" pitchFamily="18" charset="0"/>
              <a:cs typeface="Times New Roman" panose="02020603050405020304" pitchFamily="18" charset="0"/>
            </a:endParaRPr>
          </a:p>
        </p:txBody>
      </p:sp>
      <p:graphicFrame>
        <p:nvGraphicFramePr>
          <p:cNvPr id="2" name="Tableau 1"/>
          <p:cNvGraphicFramePr>
            <a:graphicFrameLocks noGrp="1"/>
          </p:cNvGraphicFramePr>
          <p:nvPr/>
        </p:nvGraphicFramePr>
        <p:xfrm>
          <a:off x="1153504" y="3428640"/>
          <a:ext cx="10057040" cy="2039464"/>
        </p:xfrm>
        <a:graphic>
          <a:graphicData uri="http://schemas.openxmlformats.org/drawingml/2006/table">
            <a:tbl>
              <a:tblPr firstRow="1" bandRow="1">
                <a:tableStyleId>{5940675A-B579-460E-94D1-54222C63F5DA}</a:tableStyleId>
              </a:tblPr>
              <a:tblGrid>
                <a:gridCol w="5028520"/>
                <a:gridCol w="5028520"/>
              </a:tblGrid>
              <a:tr h="576424">
                <a:tc>
                  <a:txBody>
                    <a:bodyPr/>
                    <a:lstStyle/>
                    <a:p>
                      <a:r>
                        <a:rPr lang="fr-FR" dirty="0"/>
                        <a:t>Type structuré (nouveau type)</a:t>
                      </a:r>
                      <a:endParaRPr lang="fr-FR" dirty="0"/>
                    </a:p>
                  </a:txBody>
                  <a:tcPr/>
                </a:tc>
                <a:tc>
                  <a:txBody>
                    <a:bodyPr/>
                    <a:lstStyle/>
                    <a:p>
                      <a:r>
                        <a:rPr lang="fr-FR" dirty="0"/>
                        <a:t>Variable enregistrement(Variable de ce type)</a:t>
                      </a:r>
                      <a:endParaRPr lang="fr-FR" dirty="0"/>
                    </a:p>
                  </a:txBody>
                  <a:tcPr/>
                </a:tc>
              </a:tr>
              <a:tr h="1119135">
                <a:tc>
                  <a:txBody>
                    <a:bodyPr/>
                    <a:lstStyle/>
                    <a:p>
                      <a:r>
                        <a:rPr lang="fr-FR" dirty="0"/>
                        <a:t>                               Date</a:t>
                      </a:r>
                      <a:endParaRPr lang="fr-FR" dirty="0"/>
                    </a:p>
                    <a:p>
                      <a:endParaRPr lang="fr-FR" dirty="0"/>
                    </a:p>
                    <a:p>
                      <a:endParaRPr lang="fr-FR" dirty="0"/>
                    </a:p>
                    <a:p>
                      <a:r>
                        <a:rPr lang="fr-FR" dirty="0"/>
                        <a:t>  Jour                      mois                      année</a:t>
                      </a:r>
                      <a:endParaRPr lang="fr-FR" dirty="0"/>
                    </a:p>
                    <a:p>
                      <a:endParaRPr lang="fr-FR" dirty="0"/>
                    </a:p>
                  </a:txBody>
                  <a:tcPr/>
                </a:tc>
                <a:tc>
                  <a:txBody>
                    <a:bodyPr/>
                    <a:lstStyle/>
                    <a:p>
                      <a:r>
                        <a:rPr lang="fr-FR" dirty="0"/>
                        <a:t>D1: Date</a:t>
                      </a:r>
                      <a:endParaRPr lang="fr-FR" dirty="0"/>
                    </a:p>
                  </a:txBody>
                  <a:tcPr/>
                </a:tc>
              </a:tr>
            </a:tbl>
          </a:graphicData>
        </a:graphic>
      </p:graphicFrame>
      <p:cxnSp>
        <p:nvCxnSpPr>
          <p:cNvPr id="4" name="Connecteur droit avec flèche 3"/>
          <p:cNvCxnSpPr/>
          <p:nvPr/>
        </p:nvCxnSpPr>
        <p:spPr>
          <a:xfrm flipH="1">
            <a:off x="1847528" y="4293096"/>
            <a:ext cx="1368152" cy="6480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p:nvPr/>
        </p:nvCxnSpPr>
        <p:spPr>
          <a:xfrm>
            <a:off x="3431704" y="4293096"/>
            <a:ext cx="0" cy="5760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3719736" y="4293096"/>
            <a:ext cx="1584176" cy="6480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Définition</a:t>
            </a:r>
            <a:endParaRPr lang="fr-FR" sz="4000" b="0" strike="noStrike" spc="-1" dirty="0">
              <a:latin typeface="Arial" panose="020B0604020202020204"/>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just"/>
            <a:r>
              <a:rPr lang="fr-FR" sz="2400" b="0" i="0" dirty="0">
                <a:solidFill>
                  <a:srgbClr val="2D3748"/>
                </a:solidFill>
                <a:effectLst/>
                <a:latin typeface="Garamand"/>
              </a:rPr>
              <a:t>Jusqu’à présent, nous n’avons utilisé que des types primitifs (</a:t>
            </a:r>
            <a:r>
              <a:rPr lang="fr-FR" sz="2400" b="0" i="0" dirty="0">
                <a:solidFill>
                  <a:schemeClr val="accent1">
                    <a:lumMod val="75000"/>
                  </a:schemeClr>
                </a:solidFill>
                <a:effectLst/>
                <a:latin typeface="Garamand"/>
              </a:rPr>
              <a:t>caractères, </a:t>
            </a:r>
            <a:r>
              <a:rPr lang="fr-FR" sz="2400" b="0" i="0" dirty="0" err="1">
                <a:solidFill>
                  <a:schemeClr val="accent1">
                    <a:lumMod val="75000"/>
                  </a:schemeClr>
                </a:solidFill>
                <a:effectLst/>
                <a:latin typeface="Garamand"/>
              </a:rPr>
              <a:t>booleen</a:t>
            </a:r>
            <a:r>
              <a:rPr lang="fr-FR" sz="2400" b="0" i="0" dirty="0">
                <a:solidFill>
                  <a:schemeClr val="accent1">
                    <a:lumMod val="75000"/>
                  </a:schemeClr>
                </a:solidFill>
                <a:effectLst/>
                <a:latin typeface="Garamand"/>
              </a:rPr>
              <a:t>, entiers, réels, chaînes</a:t>
            </a:r>
            <a:r>
              <a:rPr lang="fr-FR" sz="2400" b="0" i="0" dirty="0">
                <a:solidFill>
                  <a:srgbClr val="2D3748"/>
                </a:solidFill>
                <a:effectLst/>
                <a:latin typeface="Garamand"/>
              </a:rPr>
              <a:t>) et </a:t>
            </a:r>
            <a:r>
              <a:rPr lang="fr-FR" sz="2400" b="0" i="0" dirty="0">
                <a:solidFill>
                  <a:schemeClr val="accent1">
                    <a:lumMod val="75000"/>
                  </a:schemeClr>
                </a:solidFill>
                <a:effectLst/>
                <a:latin typeface="Garamand"/>
              </a:rPr>
              <a:t>des tableaux de types primitifs</a:t>
            </a:r>
            <a:r>
              <a:rPr lang="fr-FR" sz="2400" b="0" i="0" dirty="0">
                <a:solidFill>
                  <a:srgbClr val="2D3748"/>
                </a:solidFill>
                <a:effectLst/>
                <a:latin typeface="Garamand"/>
              </a:rPr>
              <a:t>. Mais il est possible de </a:t>
            </a:r>
            <a:r>
              <a:rPr lang="fr-FR" sz="2400" b="1" i="0" u="sng" dirty="0">
                <a:solidFill>
                  <a:srgbClr val="C00000"/>
                </a:solidFill>
                <a:effectLst/>
                <a:latin typeface="Garamand"/>
              </a:rPr>
              <a:t>créer nos propres types</a:t>
            </a:r>
            <a:r>
              <a:rPr lang="fr-FR" sz="2400" b="0" i="0" dirty="0">
                <a:solidFill>
                  <a:srgbClr val="2D3748"/>
                </a:solidFill>
                <a:effectLst/>
                <a:latin typeface="Garamand"/>
              </a:rPr>
              <a:t>, puis de déclarer des variables ou des tableaux d’éléments de ce type.</a:t>
            </a:r>
            <a:endParaRPr lang="fr-FR" sz="2400" b="0" i="0" dirty="0">
              <a:solidFill>
                <a:srgbClr val="2D3748"/>
              </a:solidFill>
              <a:effectLst/>
              <a:latin typeface="Garamand"/>
            </a:endParaRPr>
          </a:p>
          <a:p>
            <a:pPr algn="just"/>
            <a:endParaRPr lang="fr-FR" sz="2400" b="0" i="0" dirty="0">
              <a:solidFill>
                <a:srgbClr val="2D3748"/>
              </a:solidFill>
              <a:effectLst/>
              <a:latin typeface="Garamand"/>
            </a:endParaRPr>
          </a:p>
          <a:p>
            <a:pPr algn="just"/>
            <a:r>
              <a:rPr lang="fr-FR" sz="2400" b="0" i="0" dirty="0">
                <a:solidFill>
                  <a:srgbClr val="2D3748"/>
                </a:solidFill>
                <a:effectLst/>
                <a:latin typeface="Garamand"/>
              </a:rPr>
              <a:t>Pour ce faire, il faut déclarer </a:t>
            </a:r>
            <a:r>
              <a:rPr lang="fr-FR" sz="2400" b="1" i="0" dirty="0">
                <a:solidFill>
                  <a:srgbClr val="C00000"/>
                </a:solidFill>
                <a:effectLst/>
                <a:latin typeface="Garamand"/>
              </a:rPr>
              <a:t>un nouveau type</a:t>
            </a:r>
            <a:r>
              <a:rPr lang="fr-FR" sz="2400" b="0" i="0" dirty="0">
                <a:solidFill>
                  <a:srgbClr val="2D3748"/>
                </a:solidFill>
                <a:effectLst/>
                <a:latin typeface="Garamand"/>
              </a:rPr>
              <a:t>, fondé sur d’autres types existants. Après l’avoir défini, on peut alors utiliser </a:t>
            </a:r>
            <a:r>
              <a:rPr lang="fr-FR" sz="2400" b="1" i="0" dirty="0">
                <a:solidFill>
                  <a:srgbClr val="C00000"/>
                </a:solidFill>
                <a:effectLst/>
                <a:latin typeface="Garamand"/>
              </a:rPr>
              <a:t>ce type structuré</a:t>
            </a:r>
            <a:r>
              <a:rPr lang="fr-FR" sz="2400" b="0" i="0" dirty="0">
                <a:solidFill>
                  <a:srgbClr val="C00000"/>
                </a:solidFill>
                <a:effectLst/>
                <a:latin typeface="Garamand"/>
              </a:rPr>
              <a:t> </a:t>
            </a:r>
            <a:r>
              <a:rPr lang="fr-FR" sz="2400" b="0" i="0" dirty="0">
                <a:solidFill>
                  <a:srgbClr val="2D3748"/>
                </a:solidFill>
                <a:effectLst/>
                <a:latin typeface="Garamand"/>
              </a:rPr>
              <a:t>comme tout autre type normal en déclarant une ou plusieurs variables de ce type. Les variables de type structuré sont appelées </a:t>
            </a:r>
            <a:r>
              <a:rPr lang="fr-FR" sz="2400" b="1" i="0" dirty="0">
                <a:solidFill>
                  <a:srgbClr val="C00000"/>
                </a:solidFill>
                <a:effectLst/>
                <a:latin typeface="Garamand"/>
              </a:rPr>
              <a:t>enregistrements</a:t>
            </a:r>
            <a:r>
              <a:rPr lang="fr-FR" sz="2400" b="0" i="0" dirty="0">
                <a:solidFill>
                  <a:srgbClr val="2D3748"/>
                </a:solidFill>
                <a:effectLst/>
                <a:latin typeface="Garamand"/>
              </a:rPr>
              <a:t>.</a:t>
            </a:r>
            <a:endParaRPr lang="fr-FR" sz="24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Définition</a:t>
            </a:r>
            <a:endParaRPr lang="fr-FR" sz="4000" b="0" strike="noStrike" spc="-1" dirty="0">
              <a:latin typeface="Arial" panose="020B0604020202020204"/>
            </a:endParaRPr>
          </a:p>
        </p:txBody>
      </p:sp>
      <p:sp>
        <p:nvSpPr>
          <p:cNvPr id="185" name="CustomShape 3"/>
          <p:cNvSpPr/>
          <p:nvPr/>
        </p:nvSpPr>
        <p:spPr>
          <a:xfrm>
            <a:off x="885240" y="2423880"/>
            <a:ext cx="10755376" cy="86110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just"/>
            <a:r>
              <a:rPr lang="fr-FR" sz="2400" b="0" i="0" dirty="0">
                <a:solidFill>
                  <a:srgbClr val="2D3748"/>
                </a:solidFill>
                <a:effectLst/>
                <a:latin typeface="Garamand"/>
              </a:rPr>
              <a:t>La déclaration des types structurés se fait, dans les algorithmes, avant la déclaration des variables.</a:t>
            </a:r>
            <a:endParaRPr lang="fr-FR" sz="2400" b="0" i="0" dirty="0">
              <a:solidFill>
                <a:srgbClr val="2D3748"/>
              </a:solidFill>
              <a:effectLst/>
              <a:latin typeface="Garamand"/>
            </a:endParaRPr>
          </a:p>
        </p:txBody>
      </p:sp>
      <p:sp>
        <p:nvSpPr>
          <p:cNvPr id="2" name="CustomShape 3"/>
          <p:cNvSpPr/>
          <p:nvPr/>
        </p:nvSpPr>
        <p:spPr>
          <a:xfrm>
            <a:off x="857743" y="3284984"/>
            <a:ext cx="10755376" cy="338437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l"/>
            <a:endParaRPr lang="fr-FR" sz="2400" b="0" i="0" dirty="0">
              <a:solidFill>
                <a:srgbClr val="2D3748"/>
              </a:solidFill>
              <a:effectLst/>
              <a:latin typeface="Garamand"/>
            </a:endParaRPr>
          </a:p>
        </p:txBody>
      </p:sp>
      <p:graphicFrame>
        <p:nvGraphicFramePr>
          <p:cNvPr id="3" name="Tableau 2"/>
          <p:cNvGraphicFramePr>
            <a:graphicFrameLocks noGrp="1"/>
          </p:cNvGraphicFramePr>
          <p:nvPr/>
        </p:nvGraphicFramePr>
        <p:xfrm>
          <a:off x="1179360" y="3321920"/>
          <a:ext cx="9832680" cy="2987397"/>
        </p:xfrm>
        <a:graphic>
          <a:graphicData uri="http://schemas.openxmlformats.org/drawingml/2006/table">
            <a:tbl>
              <a:tblPr firstRow="1" bandRow="1">
                <a:tableStyleId>{5940675A-B579-460E-94D1-54222C63F5DA}</a:tableStyleId>
              </a:tblPr>
              <a:tblGrid>
                <a:gridCol w="4916340"/>
                <a:gridCol w="4916340"/>
              </a:tblGrid>
              <a:tr h="426771">
                <a:tc>
                  <a:txBody>
                    <a:bodyPr/>
                    <a:lstStyle/>
                    <a:p>
                      <a:r>
                        <a:rPr lang="fr-FR" b="1" dirty="0">
                          <a:solidFill>
                            <a:schemeClr val="accent1">
                              <a:lumMod val="75000"/>
                            </a:schemeClr>
                          </a:solidFill>
                          <a:effectLst/>
                        </a:rPr>
                        <a:t>Syntaxe :</a:t>
                      </a:r>
                      <a:endParaRPr lang="fr-FR" dirty="0">
                        <a:solidFill>
                          <a:schemeClr val="accent1">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FR" b="1" dirty="0">
                          <a:solidFill>
                            <a:schemeClr val="accent1">
                              <a:lumMod val="75000"/>
                            </a:schemeClr>
                          </a:solidFill>
                          <a:effectLst/>
                        </a:rPr>
                        <a:t>Exemple : </a:t>
                      </a:r>
                      <a:endParaRPr lang="fr-FR" dirty="0">
                        <a:solidFill>
                          <a:schemeClr val="accent1">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426771">
                <a:tc>
                  <a:txBody>
                    <a:bodyPr/>
                    <a:lstStyle/>
                    <a:p>
                      <a:r>
                        <a:rPr lang="fr-FR" b="0" dirty="0">
                          <a:solidFill>
                            <a:srgbClr val="0070C0"/>
                          </a:solidFill>
                          <a:effectLst/>
                          <a:latin typeface="+mn-lt"/>
                          <a:ea typeface="+mn-ea"/>
                          <a:cs typeface="+mn-cs"/>
                        </a:rPr>
                        <a:t>Nom Enregistrement</a:t>
                      </a:r>
                      <a:r>
                        <a:rPr lang="fr-FR" b="0" dirty="0">
                          <a:solidFill>
                            <a:schemeClr val="dk1"/>
                          </a:solidFill>
                          <a:effectLst/>
                        </a:rPr>
                        <a:t>: </a:t>
                      </a:r>
                      <a:r>
                        <a:rPr lang="fr-FR" b="0" dirty="0">
                          <a:solidFill>
                            <a:schemeClr val="accent4">
                              <a:lumMod val="75000"/>
                            </a:schemeClr>
                          </a:solidFill>
                          <a:effectLst/>
                        </a:rPr>
                        <a:t>Enregistrement</a:t>
                      </a:r>
                      <a:endParaRPr lang="fr-FR" dirty="0">
                        <a:solidFill>
                          <a:schemeClr val="accent4">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FR" b="0" dirty="0">
                          <a:solidFill>
                            <a:srgbClr val="0070C0"/>
                          </a:solidFill>
                          <a:effectLst/>
                          <a:latin typeface="+mn-lt"/>
                          <a:ea typeface="+mn-ea"/>
                          <a:cs typeface="+mn-cs"/>
                        </a:rPr>
                        <a:t>Stagiaire</a:t>
                      </a:r>
                      <a:r>
                        <a:rPr lang="fr-FR" b="0" dirty="0">
                          <a:solidFill>
                            <a:schemeClr val="dk1"/>
                          </a:solidFill>
                          <a:effectLst/>
                        </a:rPr>
                        <a:t> : </a:t>
                      </a:r>
                      <a:r>
                        <a:rPr lang="fr-FR" b="0" dirty="0">
                          <a:solidFill>
                            <a:schemeClr val="accent4">
                              <a:lumMod val="75000"/>
                            </a:schemeClr>
                          </a:solidFill>
                          <a:effectLst/>
                        </a:rPr>
                        <a:t>enregistrement</a:t>
                      </a:r>
                      <a:endParaRPr lang="fr-FR" dirty="0">
                        <a:solidFill>
                          <a:schemeClr val="accent4">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426771">
                <a:tc>
                  <a:txBody>
                    <a:bodyPr/>
                    <a:lstStyle/>
                    <a:p>
                      <a:r>
                        <a:rPr lang="fr-FR" b="0" dirty="0">
                          <a:solidFill>
                            <a:srgbClr val="0070C0"/>
                          </a:solidFill>
                          <a:effectLst/>
                        </a:rPr>
                        <a:t>Nom Champ 1 </a:t>
                      </a:r>
                      <a:r>
                        <a:rPr lang="fr-FR" b="0" dirty="0">
                          <a:solidFill>
                            <a:schemeClr val="dk1"/>
                          </a:solidFill>
                          <a:effectLst/>
                        </a:rPr>
                        <a:t>: </a:t>
                      </a:r>
                      <a:r>
                        <a:rPr lang="fr-FR" b="0" dirty="0">
                          <a:solidFill>
                            <a:schemeClr val="accent4">
                              <a:lumMod val="75000"/>
                            </a:schemeClr>
                          </a:solidFill>
                          <a:effectLst/>
                        </a:rPr>
                        <a:t>Type Champ 1</a:t>
                      </a:r>
                      <a:endParaRPr lang="fr-FR" dirty="0">
                        <a:solidFill>
                          <a:schemeClr val="accent4">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FR" b="0" dirty="0">
                          <a:solidFill>
                            <a:srgbClr val="0070C0"/>
                          </a:solidFill>
                          <a:effectLst/>
                          <a:latin typeface="+mn-lt"/>
                          <a:ea typeface="+mn-ea"/>
                          <a:cs typeface="+mn-cs"/>
                        </a:rPr>
                        <a:t>code_inscription</a:t>
                      </a:r>
                      <a:r>
                        <a:rPr lang="fr-FR" b="0" dirty="0">
                          <a:solidFill>
                            <a:schemeClr val="dk1"/>
                          </a:solidFill>
                          <a:effectLst/>
                        </a:rPr>
                        <a:t>:  </a:t>
                      </a:r>
                      <a:r>
                        <a:rPr lang="fr-FR" b="0" dirty="0">
                          <a:solidFill>
                            <a:schemeClr val="accent4">
                              <a:lumMod val="75000"/>
                            </a:schemeClr>
                          </a:solidFill>
                          <a:effectLst/>
                        </a:rPr>
                        <a:t>entier</a:t>
                      </a:r>
                      <a:r>
                        <a:rPr lang="fr-FR" b="0" dirty="0">
                          <a:solidFill>
                            <a:schemeClr val="dk1"/>
                          </a:solidFill>
                          <a:effectLst/>
                        </a:rPr>
                        <a:t> </a:t>
                      </a:r>
                      <a:endParaRPr lang="fr-F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426771">
                <a:tc>
                  <a:txBody>
                    <a:bodyPr/>
                    <a:lstStyle/>
                    <a:p>
                      <a:r>
                        <a:rPr lang="fr-FR" b="0" dirty="0">
                          <a:solidFill>
                            <a:srgbClr val="0070C0"/>
                          </a:solidFill>
                          <a:effectLst/>
                          <a:latin typeface="+mn-lt"/>
                          <a:ea typeface="+mn-ea"/>
                          <a:cs typeface="+mn-cs"/>
                        </a:rPr>
                        <a:t>Nom Champ 2 </a:t>
                      </a:r>
                      <a:r>
                        <a:rPr lang="fr-FR" b="0" dirty="0">
                          <a:solidFill>
                            <a:schemeClr val="dk1"/>
                          </a:solidFill>
                          <a:effectLst/>
                        </a:rPr>
                        <a:t>: </a:t>
                      </a:r>
                      <a:r>
                        <a:rPr lang="fr-FR" b="0" dirty="0">
                          <a:solidFill>
                            <a:schemeClr val="accent4">
                              <a:lumMod val="75000"/>
                            </a:schemeClr>
                          </a:solidFill>
                          <a:effectLst/>
                        </a:rPr>
                        <a:t>Type Champ 2</a:t>
                      </a:r>
                      <a:endParaRPr lang="fr-FR" dirty="0">
                        <a:solidFill>
                          <a:schemeClr val="accent4">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FR" b="0" dirty="0">
                          <a:solidFill>
                            <a:srgbClr val="0070C0"/>
                          </a:solidFill>
                          <a:effectLst/>
                          <a:latin typeface="+mn-lt"/>
                          <a:ea typeface="+mn-ea"/>
                          <a:cs typeface="+mn-cs"/>
                        </a:rPr>
                        <a:t>nom</a:t>
                      </a:r>
                      <a:r>
                        <a:rPr lang="fr-FR" b="0" dirty="0">
                          <a:solidFill>
                            <a:schemeClr val="dk1"/>
                          </a:solidFill>
                          <a:effectLst/>
                        </a:rPr>
                        <a:t>: </a:t>
                      </a:r>
                      <a:r>
                        <a:rPr lang="fr-FR" b="0" dirty="0">
                          <a:solidFill>
                            <a:schemeClr val="accent4">
                              <a:lumMod val="75000"/>
                            </a:schemeClr>
                          </a:solidFill>
                          <a:effectLst/>
                        </a:rPr>
                        <a:t>chaine</a:t>
                      </a:r>
                      <a:endParaRPr lang="fr-FR" dirty="0">
                        <a:solidFill>
                          <a:schemeClr val="accent4">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426771">
                <a:tc>
                  <a:txBody>
                    <a:bodyPr/>
                    <a:lstStyle/>
                    <a:p>
                      <a:r>
                        <a:rPr lang="fr-FR" dirty="0"/>
                        <a:t>…………</a:t>
                      </a:r>
                      <a:endParaRPr lang="fr-F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FR" b="0" dirty="0">
                          <a:solidFill>
                            <a:srgbClr val="0070C0"/>
                          </a:solidFill>
                          <a:effectLst/>
                          <a:latin typeface="+mn-lt"/>
                          <a:ea typeface="+mn-ea"/>
                          <a:cs typeface="+mn-cs"/>
                        </a:rPr>
                        <a:t>prenom</a:t>
                      </a:r>
                      <a:r>
                        <a:rPr lang="fr-FR" b="0" dirty="0">
                          <a:solidFill>
                            <a:schemeClr val="dk1"/>
                          </a:solidFill>
                          <a:effectLst/>
                        </a:rPr>
                        <a:t>: </a:t>
                      </a:r>
                      <a:r>
                        <a:rPr lang="fr-FR" b="0" dirty="0">
                          <a:solidFill>
                            <a:schemeClr val="accent4">
                              <a:lumMod val="75000"/>
                            </a:schemeClr>
                          </a:solidFill>
                          <a:effectLst/>
                        </a:rPr>
                        <a:t>chaine</a:t>
                      </a:r>
                      <a:endParaRPr lang="fr-FR" dirty="0">
                        <a:solidFill>
                          <a:schemeClr val="accent4">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426771">
                <a:tc>
                  <a:txBody>
                    <a:bodyPr/>
                    <a:lstStyle/>
                    <a:p>
                      <a:r>
                        <a:rPr lang="fr-FR" b="0" dirty="0">
                          <a:solidFill>
                            <a:srgbClr val="0070C0"/>
                          </a:solidFill>
                          <a:effectLst/>
                          <a:latin typeface="+mn-lt"/>
                          <a:ea typeface="+mn-ea"/>
                          <a:cs typeface="+mn-cs"/>
                        </a:rPr>
                        <a:t>Nom Champ n </a:t>
                      </a:r>
                      <a:r>
                        <a:rPr lang="fr-FR" b="0" dirty="0">
                          <a:solidFill>
                            <a:schemeClr val="dk1"/>
                          </a:solidFill>
                          <a:effectLst/>
                        </a:rPr>
                        <a:t>: </a:t>
                      </a:r>
                      <a:r>
                        <a:rPr lang="fr-FR" b="0" dirty="0">
                          <a:solidFill>
                            <a:schemeClr val="accent4">
                              <a:lumMod val="75000"/>
                            </a:schemeClr>
                          </a:solidFill>
                          <a:effectLst/>
                        </a:rPr>
                        <a:t>Type Champ n</a:t>
                      </a:r>
                      <a:endParaRPr lang="fr-FR" dirty="0">
                        <a:solidFill>
                          <a:schemeClr val="accent4">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FR" b="0" dirty="0">
                          <a:solidFill>
                            <a:srgbClr val="0070C0"/>
                          </a:solidFill>
                          <a:effectLst/>
                          <a:latin typeface="+mn-lt"/>
                          <a:ea typeface="+mn-ea"/>
                          <a:cs typeface="+mn-cs"/>
                        </a:rPr>
                        <a:t>groupe</a:t>
                      </a:r>
                      <a:r>
                        <a:rPr lang="fr-FR" b="0" dirty="0">
                          <a:solidFill>
                            <a:schemeClr val="dk1"/>
                          </a:solidFill>
                          <a:effectLst/>
                        </a:rPr>
                        <a:t>: </a:t>
                      </a:r>
                      <a:r>
                        <a:rPr lang="fr-FR" b="0" dirty="0">
                          <a:solidFill>
                            <a:schemeClr val="accent4">
                              <a:lumMod val="75000"/>
                            </a:schemeClr>
                          </a:solidFill>
                          <a:effectLst/>
                        </a:rPr>
                        <a:t>chaine</a:t>
                      </a:r>
                      <a:endParaRPr lang="fr-FR" dirty="0">
                        <a:solidFill>
                          <a:schemeClr val="accent4">
                            <a:lumMod val="7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426771">
                <a:tc>
                  <a:txBody>
                    <a:bodyPr/>
                    <a:lstStyle/>
                    <a:p>
                      <a:r>
                        <a:rPr lang="fr-FR" b="0" dirty="0">
                          <a:solidFill>
                            <a:schemeClr val="dk1"/>
                          </a:solidFill>
                          <a:effectLst/>
                        </a:rPr>
                        <a:t>Fin Enregistrement</a:t>
                      </a:r>
                      <a:endParaRPr lang="fr-F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fr-FR" b="0" dirty="0">
                          <a:solidFill>
                            <a:schemeClr val="dk1"/>
                          </a:solidFill>
                          <a:effectLst/>
                        </a:rPr>
                        <a:t>Fin  enregistrement</a:t>
                      </a:r>
                      <a:endParaRPr lang="fr-F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 Déclaration</a:t>
            </a:r>
            <a:endParaRPr lang="fr-FR" sz="4000" b="0" strike="noStrike" spc="-1" dirty="0">
              <a:latin typeface="Arial" panose="020B0604020202020204"/>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just"/>
            <a:r>
              <a:rPr lang="fr-FR" sz="2400" b="0" i="0" dirty="0">
                <a:solidFill>
                  <a:srgbClr val="2D3748"/>
                </a:solidFill>
                <a:effectLst/>
                <a:latin typeface="Garamand"/>
              </a:rPr>
              <a:t>Une fois qu’on a défini un type structuré, on peut déclarer des variables enregistrements exactement de la même façon que l’on déclare des variables d’un type primitif. </a:t>
            </a:r>
            <a:endParaRPr lang="fr-FR" sz="2400" b="0" i="0" dirty="0">
              <a:solidFill>
                <a:srgbClr val="2D3748"/>
              </a:solidFill>
              <a:effectLst/>
              <a:latin typeface="Garamand"/>
            </a:endParaRPr>
          </a:p>
        </p:txBody>
      </p:sp>
      <p:graphicFrame>
        <p:nvGraphicFramePr>
          <p:cNvPr id="2" name="Tableau 1"/>
          <p:cNvGraphicFramePr>
            <a:graphicFrameLocks noGrp="1"/>
          </p:cNvGraphicFramePr>
          <p:nvPr/>
        </p:nvGraphicFramePr>
        <p:xfrm>
          <a:off x="2031520" y="4140500"/>
          <a:ext cx="8024920" cy="946114"/>
        </p:xfrm>
        <a:graphic>
          <a:graphicData uri="http://schemas.openxmlformats.org/drawingml/2006/table">
            <a:tbl>
              <a:tblPr firstRow="1" bandRow="1">
                <a:tableStyleId>{2D5ABB26-0587-4C30-8999-92F81FD0307C}</a:tableStyleId>
              </a:tblPr>
              <a:tblGrid>
                <a:gridCol w="3992472"/>
                <a:gridCol w="4032448"/>
              </a:tblGrid>
              <a:tr h="580354">
                <a:tc>
                  <a:txBody>
                    <a:bodyPr/>
                    <a:lstStyle/>
                    <a:p>
                      <a:r>
                        <a:rPr lang="fr-FR" b="1" dirty="0">
                          <a:solidFill>
                            <a:schemeClr val="accent1">
                              <a:lumMod val="75000"/>
                            </a:schemeClr>
                          </a:solidFill>
                          <a:effectLst/>
                        </a:rPr>
                        <a:t>Syntaxe</a:t>
                      </a:r>
                      <a:endParaRPr lang="fr-FR" dirty="0">
                        <a:solidFill>
                          <a:schemeClr val="accent1">
                            <a:lumMod val="75000"/>
                          </a:schemeClr>
                        </a:solidFill>
                      </a:endParaRPr>
                    </a:p>
                  </a:txBody>
                  <a:tcPr/>
                </a:tc>
                <a:tc>
                  <a:txBody>
                    <a:bodyPr/>
                    <a:lstStyle/>
                    <a:p>
                      <a:r>
                        <a:rPr lang="fr-FR" b="1" dirty="0">
                          <a:solidFill>
                            <a:schemeClr val="accent1">
                              <a:lumMod val="75000"/>
                            </a:schemeClr>
                          </a:solidFill>
                          <a:effectLst/>
                        </a:rPr>
                        <a:t>Exemple</a:t>
                      </a:r>
                      <a:r>
                        <a:rPr lang="fr-FR" b="0" dirty="0">
                          <a:solidFill>
                            <a:srgbClr val="002060"/>
                          </a:solidFill>
                          <a:effectLst/>
                        </a:rPr>
                        <a:t> :</a:t>
                      </a:r>
                      <a:endParaRPr lang="fr-FR" dirty="0">
                        <a:solidFill>
                          <a:srgbClr val="002060"/>
                        </a:solidFill>
                      </a:endParaRPr>
                    </a:p>
                  </a:txBody>
                  <a:tcPr/>
                </a:tc>
              </a:tr>
              <a:tr h="292322">
                <a:tc>
                  <a:txBody>
                    <a:bodyPr/>
                    <a:lstStyle/>
                    <a:p>
                      <a:r>
                        <a:rPr lang="fr-FR" dirty="0">
                          <a:solidFill>
                            <a:srgbClr val="0070C0"/>
                          </a:solidFill>
                          <a:effectLst/>
                        </a:rPr>
                        <a:t>Nom Var </a:t>
                      </a:r>
                      <a:r>
                        <a:rPr lang="fr-FR" dirty="0">
                          <a:effectLst/>
                        </a:rPr>
                        <a:t>: </a:t>
                      </a:r>
                      <a:r>
                        <a:rPr lang="fr-FR" dirty="0">
                          <a:solidFill>
                            <a:schemeClr val="accent4">
                              <a:lumMod val="75000"/>
                            </a:schemeClr>
                          </a:solidFill>
                          <a:effectLst/>
                        </a:rPr>
                        <a:t>Nom Enregistrement</a:t>
                      </a:r>
                      <a:endParaRPr lang="fr-FR" dirty="0">
                        <a:solidFill>
                          <a:schemeClr val="accent4">
                            <a:lumMod val="75000"/>
                          </a:schemeClr>
                        </a:solidFill>
                        <a:effectLst/>
                      </a:endParaRPr>
                    </a:p>
                  </a:txBody>
                  <a:tcPr anchor="ctr"/>
                </a:tc>
                <a:tc>
                  <a:txBody>
                    <a:bodyPr/>
                    <a:lstStyle/>
                    <a:p>
                      <a:pPr algn="l"/>
                      <a:r>
                        <a:rPr lang="fr-FR" dirty="0">
                          <a:solidFill>
                            <a:srgbClr val="0070C0"/>
                          </a:solidFill>
                          <a:effectLst/>
                        </a:rPr>
                        <a:t>S1</a:t>
                      </a:r>
                      <a:r>
                        <a:rPr lang="fr-FR" dirty="0">
                          <a:solidFill>
                            <a:schemeClr val="dk1"/>
                          </a:solidFill>
                          <a:effectLst/>
                        </a:rPr>
                        <a:t> : </a:t>
                      </a:r>
                      <a:r>
                        <a:rPr lang="fr-FR" dirty="0">
                          <a:solidFill>
                            <a:schemeClr val="accent4">
                              <a:lumMod val="75000"/>
                            </a:schemeClr>
                          </a:solidFill>
                          <a:effectLst/>
                        </a:rPr>
                        <a:t>Stagiaire</a:t>
                      </a:r>
                      <a:endParaRPr lang="fr-FR" dirty="0">
                        <a:solidFill>
                          <a:schemeClr val="accent4">
                            <a:lumMod val="75000"/>
                          </a:schemeClr>
                        </a:solidFill>
                        <a:effectLst/>
                        <a:latin typeface="+mn-lt"/>
                        <a:ea typeface="+mn-ea"/>
                        <a:cs typeface="+mn-cs"/>
                      </a:endParaRPr>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Accès aux champs d’un enregistrement</a:t>
            </a:r>
            <a:endParaRPr lang="fr-FR" sz="4000" b="0" strike="noStrike" spc="-1" dirty="0">
              <a:latin typeface="Arial" panose="020B0604020202020204"/>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l"/>
            <a:endParaRPr lang="fr-FR" sz="2400" b="0" i="0" dirty="0">
              <a:solidFill>
                <a:srgbClr val="2D3748"/>
              </a:solidFill>
              <a:effectLst/>
              <a:latin typeface="Garamand"/>
            </a:endParaRPr>
          </a:p>
          <a:p>
            <a:pPr algn="just"/>
            <a:r>
              <a:rPr lang="fr-FR" sz="2400" b="0" i="0" dirty="0">
                <a:solidFill>
                  <a:srgbClr val="2D3748"/>
                </a:solidFill>
                <a:effectLst/>
                <a:latin typeface="Garamand"/>
              </a:rPr>
              <a:t>Les champs des enregistrements sont accessibles à travers leur nom, grâce à l’opérateur  </a:t>
            </a:r>
            <a:r>
              <a:rPr lang="fr-FR" sz="2400" b="0" i="0" dirty="0">
                <a:solidFill>
                  <a:srgbClr val="C00000"/>
                </a:solidFill>
                <a:effectLst/>
                <a:latin typeface="Garamand"/>
              </a:rPr>
              <a:t>’.’</a:t>
            </a:r>
            <a:endParaRPr lang="fr-FR" sz="2400" b="0" i="0" dirty="0">
              <a:solidFill>
                <a:srgbClr val="C00000"/>
              </a:solidFill>
              <a:effectLst/>
              <a:latin typeface="Garamand"/>
            </a:endParaRPr>
          </a:p>
          <a:p>
            <a:pPr algn="just"/>
            <a:r>
              <a:rPr lang="fr-FR" sz="2400" b="1" i="0" dirty="0">
                <a:solidFill>
                  <a:srgbClr val="C00000"/>
                </a:solidFill>
                <a:effectLst/>
                <a:latin typeface="Garamand"/>
              </a:rPr>
              <a:t>Nom </a:t>
            </a:r>
            <a:r>
              <a:rPr lang="fr-FR" sz="2400" b="1" i="0" dirty="0" err="1">
                <a:solidFill>
                  <a:srgbClr val="C00000"/>
                </a:solidFill>
                <a:effectLst/>
                <a:latin typeface="Garamand"/>
              </a:rPr>
              <a:t>Var.NomChamp</a:t>
            </a:r>
            <a:r>
              <a:rPr lang="fr-FR" sz="2400" b="1" i="0" dirty="0">
                <a:solidFill>
                  <a:srgbClr val="C00000"/>
                </a:solidFill>
                <a:effectLst/>
                <a:latin typeface="Garamand"/>
              </a:rPr>
              <a:t> </a:t>
            </a:r>
            <a:r>
              <a:rPr lang="fr-FR" sz="2400" b="0" i="0" dirty="0">
                <a:solidFill>
                  <a:srgbClr val="2D3748"/>
                </a:solidFill>
                <a:effectLst/>
                <a:latin typeface="Garamand"/>
              </a:rPr>
              <a:t>représente la valeur mémorisée dans le champ de l’enregistrement </a:t>
            </a:r>
            <a:endParaRPr lang="fr-FR" sz="2400" b="0" i="0" dirty="0">
              <a:solidFill>
                <a:srgbClr val="2D3748"/>
              </a:solidFill>
              <a:effectLst/>
              <a:latin typeface="Garamand"/>
            </a:endParaRPr>
          </a:p>
          <a:p>
            <a:pPr algn="just"/>
            <a:endParaRPr lang="fr-FR" sz="2400" b="0" i="0" dirty="0">
              <a:solidFill>
                <a:srgbClr val="2D3748"/>
              </a:solidFill>
              <a:effectLst/>
              <a:latin typeface="Garamand"/>
            </a:endParaRPr>
          </a:p>
          <a:p>
            <a:pPr algn="just"/>
            <a:r>
              <a:rPr lang="fr-FR" sz="2400" b="1" i="0" dirty="0">
                <a:solidFill>
                  <a:schemeClr val="accent4">
                    <a:lumMod val="50000"/>
                  </a:schemeClr>
                </a:solidFill>
                <a:effectLst/>
                <a:latin typeface="Garamand"/>
              </a:rPr>
              <a:t>Par exemple</a:t>
            </a:r>
            <a:r>
              <a:rPr lang="fr-FR" sz="2400" b="0" i="0" dirty="0">
                <a:solidFill>
                  <a:srgbClr val="2D3748"/>
                </a:solidFill>
                <a:effectLst/>
                <a:latin typeface="Garamand"/>
              </a:rPr>
              <a:t>, pour accéder au groupe de la variable S1, on utilise l’expression : S1.groupe</a:t>
            </a:r>
            <a:endParaRPr lang="fr-FR" sz="2400" b="0" i="0" dirty="0">
              <a:solidFill>
                <a:srgbClr val="2D3748"/>
              </a:solidFill>
              <a:effectLst/>
              <a:latin typeface="Garamand"/>
            </a:endParaRPr>
          </a:p>
          <a:p>
            <a:pPr algn="just"/>
            <a:endParaRPr lang="fr-FR" sz="2400" b="0" i="0" dirty="0">
              <a:solidFill>
                <a:srgbClr val="2D3748"/>
              </a:solidFill>
              <a:effectLst/>
              <a:latin typeface="Garamand"/>
            </a:endParaRPr>
          </a:p>
          <a:p>
            <a:pPr algn="just"/>
            <a:r>
              <a:rPr lang="fr-FR" sz="2400" b="0" i="0" dirty="0">
                <a:solidFill>
                  <a:srgbClr val="2D3748"/>
                </a:solidFill>
                <a:effectLst/>
                <a:highlight>
                  <a:srgbClr val="FFFF00"/>
                </a:highlight>
                <a:latin typeface="Garamand"/>
              </a:rPr>
              <a:t>Remarque : </a:t>
            </a:r>
            <a:endParaRPr lang="fr-FR" sz="2400" b="0" i="0" dirty="0">
              <a:solidFill>
                <a:srgbClr val="2D3748"/>
              </a:solidFill>
              <a:effectLst/>
              <a:highlight>
                <a:srgbClr val="FFFF00"/>
              </a:highlight>
              <a:latin typeface="Garamand"/>
            </a:endParaRPr>
          </a:p>
          <a:p>
            <a:pPr algn="just"/>
            <a:r>
              <a:rPr lang="fr-FR" sz="2400" b="0" i="0" dirty="0">
                <a:solidFill>
                  <a:srgbClr val="2D3748"/>
                </a:solidFill>
                <a:effectLst/>
                <a:latin typeface="Garamand"/>
              </a:rPr>
              <a:t>la lecture d’une telle expression se fait de droit à gauche : le groupe du stagiaire S1.</a:t>
            </a:r>
            <a:endParaRPr lang="fr-FR" sz="24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Accès aux champs d’un enregistrement</a:t>
            </a:r>
            <a:endParaRPr lang="fr-FR" sz="4000" b="0" strike="noStrike" spc="-1" dirty="0">
              <a:latin typeface="Arial" panose="020B0604020202020204"/>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just"/>
            <a:r>
              <a:rPr lang="fr-FR" sz="2400" b="0" i="0" dirty="0">
                <a:solidFill>
                  <a:srgbClr val="2D3748"/>
                </a:solidFill>
                <a:effectLst/>
                <a:highlight>
                  <a:srgbClr val="FFFF00"/>
                </a:highlight>
                <a:latin typeface="Garamand"/>
              </a:rPr>
              <a:t>Attention : </a:t>
            </a:r>
            <a:r>
              <a:rPr lang="fr-FR" sz="2400" b="0" i="0" dirty="0">
                <a:solidFill>
                  <a:srgbClr val="2D3748"/>
                </a:solidFill>
                <a:effectLst/>
                <a:latin typeface="Garamand"/>
              </a:rPr>
              <a:t>le nom d’un champ est </a:t>
            </a:r>
            <a:r>
              <a:rPr lang="fr-FR" sz="2400" b="1" i="0" dirty="0">
                <a:solidFill>
                  <a:schemeClr val="accent3">
                    <a:lumMod val="50000"/>
                  </a:schemeClr>
                </a:solidFill>
                <a:effectLst/>
                <a:latin typeface="Garamand"/>
              </a:rPr>
              <a:t>TOUJOURS</a:t>
            </a:r>
            <a:r>
              <a:rPr lang="fr-FR" sz="2400" b="0" i="0" dirty="0">
                <a:solidFill>
                  <a:srgbClr val="2D3748"/>
                </a:solidFill>
                <a:effectLst/>
                <a:latin typeface="Garamand"/>
              </a:rPr>
              <a:t> précédé du nom de la variable déclarée avec le type enregistrement auquel il appartient. On ne peut pas trouver un nom de champ tout seul, sans indication de la variable.</a:t>
            </a:r>
            <a:endParaRPr lang="fr-FR" sz="2400" b="0" i="0" dirty="0">
              <a:solidFill>
                <a:srgbClr val="2D3748"/>
              </a:solidFill>
              <a:effectLst/>
              <a:latin typeface="Garamand"/>
            </a:endParaRPr>
          </a:p>
          <a:p>
            <a:pPr algn="l"/>
            <a:endParaRPr lang="fr-FR" sz="2400" dirty="0">
              <a:solidFill>
                <a:srgbClr val="2D3748"/>
              </a:solidFill>
              <a:latin typeface="Garamand"/>
            </a:endParaRPr>
          </a:p>
          <a:p>
            <a:pPr algn="l"/>
            <a:r>
              <a:rPr lang="fr-FR" sz="2400" b="1" i="0" dirty="0">
                <a:solidFill>
                  <a:schemeClr val="accent4">
                    <a:lumMod val="50000"/>
                  </a:schemeClr>
                </a:solidFill>
                <a:effectLst/>
                <a:latin typeface="Garamand"/>
              </a:rPr>
              <a:t>Activité 1:</a:t>
            </a:r>
            <a:endParaRPr lang="fr-FR" sz="2400" b="1" i="0" dirty="0">
              <a:solidFill>
                <a:schemeClr val="accent4">
                  <a:lumMod val="50000"/>
                </a:schemeClr>
              </a:solidFill>
              <a:effectLst/>
              <a:latin typeface="Garamand"/>
            </a:endParaRPr>
          </a:p>
          <a:p>
            <a:pPr algn="l"/>
            <a:endParaRPr lang="fr-FR" sz="2400" b="1" dirty="0">
              <a:solidFill>
                <a:schemeClr val="accent4">
                  <a:lumMod val="50000"/>
                </a:schemeClr>
              </a:solidFill>
              <a:latin typeface="Garamand"/>
            </a:endParaRPr>
          </a:p>
          <a:p>
            <a:pPr algn="just"/>
            <a:r>
              <a:rPr lang="fr-FR" sz="2400" b="0" i="0" dirty="0">
                <a:solidFill>
                  <a:srgbClr val="2D3748"/>
                </a:solidFill>
                <a:effectLst/>
                <a:latin typeface="Garamand"/>
              </a:rPr>
              <a:t>Écrire  un algorithme qui permet la saisie des données (nom,  prénom et âge) concernant les  personnes pers1 et pers2, puis affichage de la différence d’âge entre  ces  deux personnes</a:t>
            </a:r>
            <a:endParaRPr lang="fr-FR" sz="2400" b="1" i="0" dirty="0">
              <a:solidFill>
                <a:schemeClr val="accent4">
                  <a:lumMod val="50000"/>
                </a:schemeClr>
              </a:solidFill>
              <a:effectLst/>
              <a:latin typeface="Garamand"/>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Accès aux champs d’un enregistrement</a:t>
            </a:r>
            <a:endParaRPr lang="fr-FR" sz="4000" b="0" strike="noStrike" spc="-1" dirty="0">
              <a:latin typeface="Arial" panose="020B0604020202020204"/>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algn="just"/>
            <a:r>
              <a:rPr lang="fr-FR" sz="10665" b="0" i="0" dirty="0">
                <a:solidFill>
                  <a:srgbClr val="2D3748"/>
                </a:solidFill>
                <a:effectLst/>
                <a:highlight>
                  <a:srgbClr val="FFFF00"/>
                </a:highlight>
                <a:latin typeface="Garamand"/>
              </a:rPr>
              <a:t>Solution: </a:t>
            </a:r>
            <a:r>
              <a:rPr lang="en-US" altLang="fr-FR" sz="10665" b="1" i="0" dirty="0">
                <a:solidFill>
                  <a:schemeClr val="accent4">
                    <a:lumMod val="50000"/>
                  </a:schemeClr>
                </a:solidFill>
                <a:effectLst/>
                <a:latin typeface="Garamand"/>
              </a:rPr>
              <a:t>Algorithme DifferenceAge</a:t>
            </a:r>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D</a:t>
            </a:r>
            <a:r>
              <a:rPr lang="en-US" altLang="en-US" sz="10665" b="1" i="0" dirty="0">
                <a:solidFill>
                  <a:schemeClr val="accent4">
                    <a:lumMod val="50000"/>
                  </a:schemeClr>
                </a:solidFill>
                <a:effectLst/>
                <a:latin typeface="Garamand"/>
              </a:rPr>
              <a:t>é</a:t>
            </a:r>
            <a:r>
              <a:rPr lang="en-US" altLang="fr-FR" sz="10665" b="1" i="0" dirty="0">
                <a:solidFill>
                  <a:schemeClr val="accent4">
                    <a:lumMod val="50000"/>
                  </a:schemeClr>
                </a:solidFill>
                <a:effectLst/>
                <a:latin typeface="Garamand"/>
              </a:rPr>
              <a:t>but</a:t>
            </a:r>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    // D</a:t>
            </a:r>
            <a:r>
              <a:rPr lang="en-US" altLang="en-US" sz="10665" b="1" i="0" dirty="0">
                <a:solidFill>
                  <a:schemeClr val="accent4">
                    <a:lumMod val="50000"/>
                  </a:schemeClr>
                </a:solidFill>
                <a:effectLst/>
                <a:latin typeface="Garamand"/>
              </a:rPr>
              <a:t>é</a:t>
            </a:r>
            <a:r>
              <a:rPr lang="en-US" altLang="fr-FR" sz="10665" b="1" i="0" dirty="0">
                <a:solidFill>
                  <a:schemeClr val="accent4">
                    <a:lumMod val="50000"/>
                  </a:schemeClr>
                </a:solidFill>
                <a:effectLst/>
                <a:latin typeface="Garamand"/>
              </a:rPr>
              <a:t>claration de la structure Personne</a:t>
            </a:r>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    Type Personne = Enregistrement</a:t>
            </a:r>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        nom : Cha</a:t>
            </a:r>
            <a:r>
              <a:rPr lang="en-US" altLang="en-US" sz="10665" b="1" i="0" dirty="0">
                <a:solidFill>
                  <a:schemeClr val="accent4">
                    <a:lumMod val="50000"/>
                  </a:schemeClr>
                </a:solidFill>
                <a:effectLst/>
                <a:latin typeface="Garamand"/>
              </a:rPr>
              <a:t>î</a:t>
            </a:r>
            <a:r>
              <a:rPr lang="en-US" altLang="fr-FR" sz="10665" b="1" i="0" dirty="0">
                <a:solidFill>
                  <a:schemeClr val="accent4">
                    <a:lumMod val="50000"/>
                  </a:schemeClr>
                </a:solidFill>
                <a:effectLst/>
                <a:latin typeface="Garamand"/>
              </a:rPr>
              <a:t>ne</a:t>
            </a:r>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        prenom : Cha</a:t>
            </a:r>
            <a:r>
              <a:rPr lang="en-US" altLang="en-US" sz="10665" b="1" i="0" dirty="0">
                <a:solidFill>
                  <a:schemeClr val="accent4">
                    <a:lumMod val="50000"/>
                  </a:schemeClr>
                </a:solidFill>
                <a:effectLst/>
                <a:latin typeface="Garamand"/>
              </a:rPr>
              <a:t>î</a:t>
            </a:r>
            <a:r>
              <a:rPr lang="en-US" altLang="fr-FR" sz="10665" b="1" i="0" dirty="0">
                <a:solidFill>
                  <a:schemeClr val="accent4">
                    <a:lumMod val="50000"/>
                  </a:schemeClr>
                </a:solidFill>
                <a:effectLst/>
                <a:latin typeface="Garamand"/>
              </a:rPr>
              <a:t>ne</a:t>
            </a:r>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        age : Entier</a:t>
            </a:r>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    Fin Enregistrement</a:t>
            </a:r>
            <a:endParaRPr lang="en-US" altLang="fr-FR" sz="10665" b="1" i="0" dirty="0">
              <a:solidFill>
                <a:schemeClr val="accent4">
                  <a:lumMod val="50000"/>
                </a:schemeClr>
              </a:solidFill>
              <a:effectLst/>
              <a:latin typeface="Garamand"/>
            </a:endParaRPr>
          </a:p>
          <a:p>
            <a:pPr algn="just"/>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    </a:t>
            </a:r>
            <a:endParaRPr lang="en-US" altLang="fr-FR" sz="2400" b="1" i="0" dirty="0">
              <a:solidFill>
                <a:schemeClr val="accent4">
                  <a:lumMod val="50000"/>
                </a:schemeClr>
              </a:solidFill>
              <a:effectLst/>
              <a:latin typeface="Garamand"/>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Accès aux champs d’un enregistrement</a:t>
            </a:r>
            <a:endParaRPr lang="fr-FR" sz="4000" b="0" strike="noStrike" spc="-1" dirty="0">
              <a:latin typeface="Arial" panose="020B0604020202020204"/>
            </a:endParaRPr>
          </a:p>
        </p:txBody>
      </p:sp>
      <p:sp>
        <p:nvSpPr>
          <p:cNvPr id="185" name="CustomShape 3"/>
          <p:cNvSpPr/>
          <p:nvPr/>
        </p:nvSpPr>
        <p:spPr>
          <a:xfrm>
            <a:off x="885190" y="2423795"/>
            <a:ext cx="10755630" cy="446214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algn="just"/>
            <a:r>
              <a:rPr lang="fr-FR" sz="10665" b="0" i="0" dirty="0">
                <a:solidFill>
                  <a:srgbClr val="2D3748"/>
                </a:solidFill>
                <a:effectLst/>
                <a:highlight>
                  <a:srgbClr val="FFFF00"/>
                </a:highlight>
                <a:latin typeface="Garamand"/>
              </a:rPr>
              <a:t>Solution: </a:t>
            </a:r>
            <a:endParaRPr lang="en-US" altLang="fr-FR" sz="10665"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D</a:t>
            </a:r>
            <a:r>
              <a:rPr lang="en-US" altLang="en-US" sz="9600" b="1" dirty="0">
                <a:solidFill>
                  <a:schemeClr val="accent4">
                    <a:lumMod val="50000"/>
                  </a:schemeClr>
                </a:solidFill>
                <a:effectLst/>
                <a:latin typeface="Garamand"/>
                <a:sym typeface="+mn-ea"/>
              </a:rPr>
              <a:t>é</a:t>
            </a:r>
            <a:r>
              <a:rPr lang="en-US" altLang="fr-FR" sz="9600" b="1" dirty="0">
                <a:solidFill>
                  <a:schemeClr val="accent4">
                    <a:lumMod val="50000"/>
                  </a:schemeClr>
                </a:solidFill>
                <a:effectLst/>
                <a:latin typeface="Garamand"/>
                <a:sym typeface="+mn-ea"/>
              </a:rPr>
              <a:t>claration des variables</a:t>
            </a:r>
            <a:endParaRPr lang="en-US" altLang="fr-FR" sz="9600"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D</a:t>
            </a:r>
            <a:r>
              <a:rPr lang="en-US" altLang="en-US" sz="9600" b="1" dirty="0">
                <a:solidFill>
                  <a:schemeClr val="accent4">
                    <a:lumMod val="50000"/>
                  </a:schemeClr>
                </a:solidFill>
                <a:effectLst/>
                <a:latin typeface="Garamand"/>
                <a:sym typeface="+mn-ea"/>
              </a:rPr>
              <a:t>é</a:t>
            </a:r>
            <a:r>
              <a:rPr lang="en-US" altLang="fr-FR" sz="9600" b="1" dirty="0">
                <a:solidFill>
                  <a:schemeClr val="accent4">
                    <a:lumMod val="50000"/>
                  </a:schemeClr>
                </a:solidFill>
                <a:effectLst/>
                <a:latin typeface="Garamand"/>
                <a:sym typeface="+mn-ea"/>
              </a:rPr>
              <a:t>clarer pers1, pers2 : Personne</a:t>
            </a:r>
            <a:endParaRPr lang="en-US" altLang="fr-FR" sz="9600"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D</a:t>
            </a:r>
            <a:r>
              <a:rPr lang="en-US" altLang="en-US" sz="9600" b="1" dirty="0">
                <a:solidFill>
                  <a:schemeClr val="accent4">
                    <a:lumMod val="50000"/>
                  </a:schemeClr>
                </a:solidFill>
                <a:effectLst/>
                <a:latin typeface="Garamand"/>
                <a:sym typeface="+mn-ea"/>
              </a:rPr>
              <a:t>é</a:t>
            </a:r>
            <a:r>
              <a:rPr lang="en-US" altLang="fr-FR" sz="9600" b="1" dirty="0">
                <a:solidFill>
                  <a:schemeClr val="accent4">
                    <a:lumMod val="50000"/>
                  </a:schemeClr>
                </a:solidFill>
                <a:effectLst/>
                <a:latin typeface="Garamand"/>
                <a:sym typeface="+mn-ea"/>
              </a:rPr>
              <a:t>clarer difference : Entier</a:t>
            </a:r>
            <a:endParaRPr lang="en-US" altLang="fr-FR" sz="9600"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Saisie des informations de la premi</a:t>
            </a:r>
            <a:r>
              <a:rPr lang="en-US" altLang="en-US" sz="9600" b="1" dirty="0">
                <a:solidFill>
                  <a:schemeClr val="accent4">
                    <a:lumMod val="50000"/>
                  </a:schemeClr>
                </a:solidFill>
                <a:effectLst/>
                <a:latin typeface="Garamand"/>
                <a:sym typeface="+mn-ea"/>
              </a:rPr>
              <a:t>è</a:t>
            </a:r>
            <a:r>
              <a:rPr lang="en-US" altLang="fr-FR" sz="9600" b="1" dirty="0">
                <a:solidFill>
                  <a:schemeClr val="accent4">
                    <a:lumMod val="50000"/>
                  </a:schemeClr>
                </a:solidFill>
                <a:effectLst/>
                <a:latin typeface="Garamand"/>
                <a:sym typeface="+mn-ea"/>
              </a:rPr>
              <a:t>re personne</a:t>
            </a:r>
            <a:endParaRPr lang="en-US" altLang="fr-FR" sz="9600"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Ecrire "Entrez le nom de la premi</a:t>
            </a:r>
            <a:r>
              <a:rPr lang="en-US" altLang="en-US" sz="9600" b="1" dirty="0">
                <a:solidFill>
                  <a:schemeClr val="accent4">
                    <a:lumMod val="50000"/>
                  </a:schemeClr>
                </a:solidFill>
                <a:effectLst/>
                <a:latin typeface="Garamand"/>
                <a:sym typeface="+mn-ea"/>
              </a:rPr>
              <a:t>è</a:t>
            </a:r>
            <a:r>
              <a:rPr lang="en-US" altLang="fr-FR" sz="9600" b="1" dirty="0">
                <a:solidFill>
                  <a:schemeClr val="accent4">
                    <a:lumMod val="50000"/>
                  </a:schemeClr>
                </a:solidFill>
                <a:effectLst/>
                <a:latin typeface="Garamand"/>
                <a:sym typeface="+mn-ea"/>
              </a:rPr>
              <a:t>re personne : "</a:t>
            </a:r>
            <a:endParaRPr lang="en-US" altLang="fr-FR" sz="9600"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Lire pers1.nom</a:t>
            </a:r>
            <a:endParaRPr lang="en-US" altLang="fr-FR" sz="9600"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Ecrire "Entrez le pr</a:t>
            </a:r>
            <a:r>
              <a:rPr lang="en-US" altLang="en-US" sz="9600" b="1" dirty="0">
                <a:solidFill>
                  <a:schemeClr val="accent4">
                    <a:lumMod val="50000"/>
                  </a:schemeClr>
                </a:solidFill>
                <a:effectLst/>
                <a:latin typeface="Garamand"/>
                <a:sym typeface="+mn-ea"/>
              </a:rPr>
              <a:t>é</a:t>
            </a:r>
            <a:r>
              <a:rPr lang="en-US" altLang="fr-FR" sz="9600" b="1" dirty="0">
                <a:solidFill>
                  <a:schemeClr val="accent4">
                    <a:lumMod val="50000"/>
                  </a:schemeClr>
                </a:solidFill>
                <a:effectLst/>
                <a:latin typeface="Garamand"/>
                <a:sym typeface="+mn-ea"/>
              </a:rPr>
              <a:t>nom de la premi</a:t>
            </a:r>
            <a:r>
              <a:rPr lang="en-US" altLang="en-US" sz="9600" b="1" dirty="0">
                <a:solidFill>
                  <a:schemeClr val="accent4">
                    <a:lumMod val="50000"/>
                  </a:schemeClr>
                </a:solidFill>
                <a:effectLst/>
                <a:latin typeface="Garamand"/>
                <a:sym typeface="+mn-ea"/>
              </a:rPr>
              <a:t>è</a:t>
            </a:r>
            <a:r>
              <a:rPr lang="en-US" altLang="fr-FR" sz="9600" b="1" dirty="0">
                <a:solidFill>
                  <a:schemeClr val="accent4">
                    <a:lumMod val="50000"/>
                  </a:schemeClr>
                </a:solidFill>
                <a:effectLst/>
                <a:latin typeface="Garamand"/>
                <a:sym typeface="+mn-ea"/>
              </a:rPr>
              <a:t>re personne : "</a:t>
            </a:r>
            <a:endParaRPr lang="en-US" altLang="fr-FR" sz="9600"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Lire pers1.prenom</a:t>
            </a:r>
            <a:endParaRPr lang="en-US" altLang="fr-FR" sz="9600"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Ecrire "Entrez l'</a:t>
            </a:r>
            <a:r>
              <a:rPr lang="en-US" altLang="en-US" sz="9600" b="1" dirty="0">
                <a:solidFill>
                  <a:schemeClr val="accent4">
                    <a:lumMod val="50000"/>
                  </a:schemeClr>
                </a:solidFill>
                <a:effectLst/>
                <a:latin typeface="Garamand"/>
                <a:sym typeface="+mn-ea"/>
              </a:rPr>
              <a:t>â</a:t>
            </a:r>
            <a:r>
              <a:rPr lang="en-US" altLang="fr-FR" sz="9600" b="1" dirty="0">
                <a:solidFill>
                  <a:schemeClr val="accent4">
                    <a:lumMod val="50000"/>
                  </a:schemeClr>
                </a:solidFill>
                <a:effectLst/>
                <a:latin typeface="Garamand"/>
                <a:sym typeface="+mn-ea"/>
              </a:rPr>
              <a:t>ge de la premi</a:t>
            </a:r>
            <a:r>
              <a:rPr lang="en-US" altLang="en-US" sz="9600" b="1" dirty="0">
                <a:solidFill>
                  <a:schemeClr val="accent4">
                    <a:lumMod val="50000"/>
                  </a:schemeClr>
                </a:solidFill>
                <a:effectLst/>
                <a:latin typeface="Garamand"/>
                <a:sym typeface="+mn-ea"/>
              </a:rPr>
              <a:t>è</a:t>
            </a:r>
            <a:r>
              <a:rPr lang="en-US" altLang="fr-FR" sz="9600" b="1" dirty="0">
                <a:solidFill>
                  <a:schemeClr val="accent4">
                    <a:lumMod val="50000"/>
                  </a:schemeClr>
                </a:solidFill>
                <a:effectLst/>
                <a:latin typeface="Garamand"/>
                <a:sym typeface="+mn-ea"/>
              </a:rPr>
              <a:t>re personne : "</a:t>
            </a:r>
            <a:endParaRPr lang="en-US" altLang="fr-FR" sz="9600" b="1" i="0" dirty="0">
              <a:solidFill>
                <a:schemeClr val="accent4">
                  <a:lumMod val="50000"/>
                </a:schemeClr>
              </a:solidFill>
              <a:effectLst/>
              <a:latin typeface="Garamand"/>
            </a:endParaRPr>
          </a:p>
          <a:p>
            <a:pPr algn="just"/>
            <a:r>
              <a:rPr lang="en-US" altLang="fr-FR" sz="9600" b="1" dirty="0">
                <a:solidFill>
                  <a:schemeClr val="accent4">
                    <a:lumMod val="50000"/>
                  </a:schemeClr>
                </a:solidFill>
                <a:effectLst/>
                <a:latin typeface="Garamand"/>
                <a:sym typeface="+mn-ea"/>
              </a:rPr>
              <a:t>    Lire pers1.age</a:t>
            </a:r>
            <a:endParaRPr lang="en-US" altLang="fr-FR" sz="10665" b="1" i="0" dirty="0">
              <a:solidFill>
                <a:schemeClr val="accent4">
                  <a:lumMod val="50000"/>
                </a:schemeClr>
              </a:solidFill>
              <a:effectLst/>
              <a:latin typeface="Garamand"/>
            </a:endParaRPr>
          </a:p>
          <a:p>
            <a:pPr algn="just"/>
            <a:endParaRPr lang="en-US" altLang="fr-FR" sz="10665" b="1" i="0" dirty="0">
              <a:solidFill>
                <a:schemeClr val="accent4">
                  <a:lumMod val="50000"/>
                </a:schemeClr>
              </a:solidFill>
              <a:effectLst/>
              <a:latin typeface="Garamand"/>
            </a:endParaRPr>
          </a:p>
          <a:p>
            <a:pPr algn="just"/>
            <a:r>
              <a:rPr lang="en-US" altLang="fr-FR" sz="10665" b="1" dirty="0">
                <a:solidFill>
                  <a:schemeClr val="accent4">
                    <a:lumMod val="50000"/>
                  </a:schemeClr>
                </a:solidFill>
                <a:effectLst/>
                <a:latin typeface="Garamand"/>
                <a:sym typeface="+mn-ea"/>
              </a:rPr>
              <a:t>    </a:t>
            </a:r>
            <a:endParaRPr lang="en-US" altLang="fr-FR" sz="10665" b="1" i="0" dirty="0">
              <a:solidFill>
                <a:schemeClr val="accent4">
                  <a:lumMod val="50000"/>
                </a:schemeClr>
              </a:solidFill>
              <a:effectLst/>
              <a:latin typeface="Garamand"/>
            </a:endParaRPr>
          </a:p>
          <a:p>
            <a:pPr algn="just"/>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    </a:t>
            </a:r>
            <a:endParaRPr lang="en-US" altLang="fr-FR" sz="2400" b="1" i="0" dirty="0">
              <a:solidFill>
                <a:schemeClr val="accent4">
                  <a:lumMod val="50000"/>
                </a:schemeClr>
              </a:solidFill>
              <a:effectLst/>
              <a:latin typeface="Garamand"/>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Accès aux champs d’un enregistrement</a:t>
            </a:r>
            <a:endParaRPr lang="fr-FR" sz="4000" b="0" strike="noStrike" spc="-1" dirty="0">
              <a:latin typeface="Arial" panose="020B0604020202020204"/>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algn="just"/>
            <a:r>
              <a:rPr lang="fr-FR" sz="10665" b="0" i="0" dirty="0">
                <a:solidFill>
                  <a:srgbClr val="2D3748"/>
                </a:solidFill>
                <a:effectLst/>
                <a:highlight>
                  <a:srgbClr val="FFFF00"/>
                </a:highlight>
                <a:latin typeface="Garamand"/>
              </a:rPr>
              <a:t>Solution: </a:t>
            </a:r>
            <a:r>
              <a:rPr lang="en-US" altLang="fr-FR" sz="8000" b="1" dirty="0">
                <a:solidFill>
                  <a:schemeClr val="accent4">
                    <a:lumMod val="50000"/>
                  </a:schemeClr>
                </a:solidFill>
                <a:effectLst/>
                <a:latin typeface="Garamand"/>
                <a:sym typeface="+mn-ea"/>
              </a:rPr>
              <a:t>// Saisie des informations de la deuxi</a:t>
            </a:r>
            <a:r>
              <a:rPr lang="en-US" altLang="en-US" sz="8000" b="1" dirty="0">
                <a:solidFill>
                  <a:schemeClr val="accent4">
                    <a:lumMod val="50000"/>
                  </a:schemeClr>
                </a:solidFill>
                <a:effectLst/>
                <a:latin typeface="Garamand"/>
                <a:sym typeface="+mn-ea"/>
              </a:rPr>
              <a:t>è</a:t>
            </a:r>
            <a:r>
              <a:rPr lang="en-US" altLang="fr-FR" sz="8000" b="1" dirty="0">
                <a:solidFill>
                  <a:schemeClr val="accent4">
                    <a:lumMod val="50000"/>
                  </a:schemeClr>
                </a:solidFill>
                <a:effectLst/>
                <a:latin typeface="Garamand"/>
                <a:sym typeface="+mn-ea"/>
              </a:rPr>
              <a:t>me personne</a:t>
            </a:r>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    Ecrire "Entrez le nom de la deuxi</a:t>
            </a:r>
            <a:r>
              <a:rPr lang="en-US" altLang="en-US" sz="8000" b="1" dirty="0">
                <a:solidFill>
                  <a:schemeClr val="accent4">
                    <a:lumMod val="50000"/>
                  </a:schemeClr>
                </a:solidFill>
                <a:effectLst/>
                <a:latin typeface="Garamand"/>
                <a:sym typeface="+mn-ea"/>
              </a:rPr>
              <a:t>è</a:t>
            </a:r>
            <a:r>
              <a:rPr lang="en-US" altLang="fr-FR" sz="8000" b="1" dirty="0">
                <a:solidFill>
                  <a:schemeClr val="accent4">
                    <a:lumMod val="50000"/>
                  </a:schemeClr>
                </a:solidFill>
                <a:effectLst/>
                <a:latin typeface="Garamand"/>
                <a:sym typeface="+mn-ea"/>
              </a:rPr>
              <a:t>me personne : "</a:t>
            </a:r>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    Lire pers2.nom</a:t>
            </a:r>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    Ecrire "Entrez le pr</a:t>
            </a:r>
            <a:r>
              <a:rPr lang="en-US" altLang="en-US" sz="8000" b="1" dirty="0">
                <a:solidFill>
                  <a:schemeClr val="accent4">
                    <a:lumMod val="50000"/>
                  </a:schemeClr>
                </a:solidFill>
                <a:effectLst/>
                <a:latin typeface="Garamand"/>
                <a:sym typeface="+mn-ea"/>
              </a:rPr>
              <a:t>é</a:t>
            </a:r>
            <a:r>
              <a:rPr lang="en-US" altLang="fr-FR" sz="8000" b="1" dirty="0">
                <a:solidFill>
                  <a:schemeClr val="accent4">
                    <a:lumMod val="50000"/>
                  </a:schemeClr>
                </a:solidFill>
                <a:effectLst/>
                <a:latin typeface="Garamand"/>
                <a:sym typeface="+mn-ea"/>
              </a:rPr>
              <a:t>nom de la deuxi</a:t>
            </a:r>
            <a:r>
              <a:rPr lang="en-US" altLang="en-US" sz="8000" b="1" dirty="0">
                <a:solidFill>
                  <a:schemeClr val="accent4">
                    <a:lumMod val="50000"/>
                  </a:schemeClr>
                </a:solidFill>
                <a:effectLst/>
                <a:latin typeface="Garamand"/>
                <a:sym typeface="+mn-ea"/>
              </a:rPr>
              <a:t>è</a:t>
            </a:r>
            <a:r>
              <a:rPr lang="en-US" altLang="fr-FR" sz="8000" b="1" dirty="0">
                <a:solidFill>
                  <a:schemeClr val="accent4">
                    <a:lumMod val="50000"/>
                  </a:schemeClr>
                </a:solidFill>
                <a:effectLst/>
                <a:latin typeface="Garamand"/>
                <a:sym typeface="+mn-ea"/>
              </a:rPr>
              <a:t>me personne : "</a:t>
            </a:r>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    Lire pers2.prenom</a:t>
            </a:r>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    Ecrire "Entrez l'</a:t>
            </a:r>
            <a:r>
              <a:rPr lang="en-US" altLang="en-US" sz="8000" b="1" dirty="0">
                <a:solidFill>
                  <a:schemeClr val="accent4">
                    <a:lumMod val="50000"/>
                  </a:schemeClr>
                </a:solidFill>
                <a:effectLst/>
                <a:latin typeface="Garamand"/>
                <a:sym typeface="+mn-ea"/>
              </a:rPr>
              <a:t>â</a:t>
            </a:r>
            <a:r>
              <a:rPr lang="en-US" altLang="fr-FR" sz="8000" b="1" dirty="0">
                <a:solidFill>
                  <a:schemeClr val="accent4">
                    <a:lumMod val="50000"/>
                  </a:schemeClr>
                </a:solidFill>
                <a:effectLst/>
                <a:latin typeface="Garamand"/>
                <a:sym typeface="+mn-ea"/>
              </a:rPr>
              <a:t>ge de la deuxi</a:t>
            </a:r>
            <a:r>
              <a:rPr lang="en-US" altLang="en-US" sz="8000" b="1" dirty="0">
                <a:solidFill>
                  <a:schemeClr val="accent4">
                    <a:lumMod val="50000"/>
                  </a:schemeClr>
                </a:solidFill>
                <a:effectLst/>
                <a:latin typeface="Garamand"/>
                <a:sym typeface="+mn-ea"/>
              </a:rPr>
              <a:t>è</a:t>
            </a:r>
            <a:r>
              <a:rPr lang="en-US" altLang="fr-FR" sz="8000" b="1" dirty="0">
                <a:solidFill>
                  <a:schemeClr val="accent4">
                    <a:lumMod val="50000"/>
                  </a:schemeClr>
                </a:solidFill>
                <a:effectLst/>
                <a:latin typeface="Garamand"/>
                <a:sym typeface="+mn-ea"/>
              </a:rPr>
              <a:t>me personne : "</a:t>
            </a:r>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    Lire pers2.age</a:t>
            </a:r>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 Calcul de la diff</a:t>
            </a:r>
            <a:r>
              <a:rPr lang="en-US" altLang="en-US" sz="8000" b="1" dirty="0">
                <a:solidFill>
                  <a:schemeClr val="accent4">
                    <a:lumMod val="50000"/>
                  </a:schemeClr>
                </a:solidFill>
                <a:effectLst/>
                <a:latin typeface="Garamand"/>
                <a:sym typeface="+mn-ea"/>
              </a:rPr>
              <a:t>é</a:t>
            </a:r>
            <a:r>
              <a:rPr lang="en-US" altLang="fr-FR" sz="8000" b="1" dirty="0">
                <a:solidFill>
                  <a:schemeClr val="accent4">
                    <a:lumMod val="50000"/>
                  </a:schemeClr>
                </a:solidFill>
                <a:effectLst/>
                <a:latin typeface="Garamand"/>
                <a:sym typeface="+mn-ea"/>
              </a:rPr>
              <a:t>rence d'</a:t>
            </a:r>
            <a:r>
              <a:rPr lang="en-US" altLang="en-US" sz="8000" b="1" dirty="0">
                <a:solidFill>
                  <a:schemeClr val="accent4">
                    <a:lumMod val="50000"/>
                  </a:schemeClr>
                </a:solidFill>
                <a:effectLst/>
                <a:latin typeface="Garamand"/>
                <a:sym typeface="+mn-ea"/>
              </a:rPr>
              <a:t>â</a:t>
            </a:r>
            <a:r>
              <a:rPr lang="en-US" altLang="fr-FR" sz="8000" b="1" dirty="0">
                <a:solidFill>
                  <a:schemeClr val="accent4">
                    <a:lumMod val="50000"/>
                  </a:schemeClr>
                </a:solidFill>
                <a:effectLst/>
                <a:latin typeface="Garamand"/>
                <a:sym typeface="+mn-ea"/>
              </a:rPr>
              <a:t>ge</a:t>
            </a:r>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    difference </a:t>
            </a:r>
            <a:r>
              <a:rPr lang="en-US" altLang="en-US" sz="8000" b="1" dirty="0">
                <a:solidFill>
                  <a:schemeClr val="accent4">
                    <a:lumMod val="50000"/>
                  </a:schemeClr>
                </a:solidFill>
                <a:effectLst/>
                <a:latin typeface="Garamand"/>
                <a:sym typeface="+mn-ea"/>
              </a:rPr>
              <a:t>←</a:t>
            </a:r>
            <a:r>
              <a:rPr lang="en-US" altLang="fr-FR" sz="8000" b="1" dirty="0">
                <a:solidFill>
                  <a:schemeClr val="accent4">
                    <a:lumMod val="50000"/>
                  </a:schemeClr>
                </a:solidFill>
                <a:effectLst/>
                <a:latin typeface="Garamand"/>
                <a:sym typeface="+mn-ea"/>
              </a:rPr>
              <a:t> abs(pers1.age - pers2.age)</a:t>
            </a:r>
            <a:endParaRPr lang="en-US" altLang="fr-FR" sz="8000" b="1" dirty="0">
              <a:solidFill>
                <a:schemeClr val="accent4">
                  <a:lumMod val="50000"/>
                </a:schemeClr>
              </a:solidFill>
              <a:effectLst/>
              <a:latin typeface="Garamand"/>
              <a:sym typeface="+mn-ea"/>
            </a:endParaRPr>
          </a:p>
          <a:p>
            <a:pPr algn="just"/>
            <a:r>
              <a:rPr lang="en-US" altLang="fr-FR" sz="8000" b="1" dirty="0">
                <a:solidFill>
                  <a:schemeClr val="accent4">
                    <a:lumMod val="50000"/>
                  </a:schemeClr>
                </a:solidFill>
                <a:effectLst/>
                <a:latin typeface="Garamand"/>
                <a:sym typeface="+mn-ea"/>
              </a:rPr>
              <a:t>// Affichage des informations et de la diff</a:t>
            </a:r>
            <a:r>
              <a:rPr lang="en-US" altLang="en-US" sz="8000" b="1" dirty="0">
                <a:solidFill>
                  <a:schemeClr val="accent4">
                    <a:lumMod val="50000"/>
                  </a:schemeClr>
                </a:solidFill>
                <a:effectLst/>
                <a:latin typeface="Garamand"/>
                <a:sym typeface="+mn-ea"/>
              </a:rPr>
              <a:t>é</a:t>
            </a:r>
            <a:r>
              <a:rPr lang="en-US" altLang="fr-FR" sz="8000" b="1" dirty="0">
                <a:solidFill>
                  <a:schemeClr val="accent4">
                    <a:lumMod val="50000"/>
                  </a:schemeClr>
                </a:solidFill>
                <a:effectLst/>
                <a:latin typeface="Garamand"/>
                <a:sym typeface="+mn-ea"/>
              </a:rPr>
              <a:t>rence d'</a:t>
            </a:r>
            <a:r>
              <a:rPr lang="en-US" altLang="en-US" sz="8000" b="1" dirty="0">
                <a:solidFill>
                  <a:schemeClr val="accent4">
                    <a:lumMod val="50000"/>
                  </a:schemeClr>
                </a:solidFill>
                <a:effectLst/>
                <a:latin typeface="Garamand"/>
                <a:sym typeface="+mn-ea"/>
              </a:rPr>
              <a:t>â</a:t>
            </a:r>
            <a:r>
              <a:rPr lang="en-US" altLang="fr-FR" sz="8000" b="1" dirty="0">
                <a:solidFill>
                  <a:schemeClr val="accent4">
                    <a:lumMod val="50000"/>
                  </a:schemeClr>
                </a:solidFill>
                <a:effectLst/>
                <a:latin typeface="Garamand"/>
                <a:sym typeface="+mn-ea"/>
              </a:rPr>
              <a:t>ge</a:t>
            </a:r>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    Ecrire "La diff</a:t>
            </a:r>
            <a:r>
              <a:rPr lang="en-US" altLang="en-US" sz="8000" b="1" dirty="0">
                <a:solidFill>
                  <a:schemeClr val="accent4">
                    <a:lumMod val="50000"/>
                  </a:schemeClr>
                </a:solidFill>
                <a:effectLst/>
                <a:latin typeface="Garamand"/>
                <a:sym typeface="+mn-ea"/>
              </a:rPr>
              <a:t>é</a:t>
            </a:r>
            <a:r>
              <a:rPr lang="en-US" altLang="fr-FR" sz="8000" b="1" dirty="0">
                <a:solidFill>
                  <a:schemeClr val="accent4">
                    <a:lumMod val="50000"/>
                  </a:schemeClr>
                </a:solidFill>
                <a:effectLst/>
                <a:latin typeface="Garamand"/>
                <a:sym typeface="+mn-ea"/>
              </a:rPr>
              <a:t>rence d'</a:t>
            </a:r>
            <a:r>
              <a:rPr lang="en-US" altLang="en-US" sz="8000" b="1" dirty="0">
                <a:solidFill>
                  <a:schemeClr val="accent4">
                    <a:lumMod val="50000"/>
                  </a:schemeClr>
                </a:solidFill>
                <a:effectLst/>
                <a:latin typeface="Garamand"/>
                <a:sym typeface="+mn-ea"/>
              </a:rPr>
              <a:t>â</a:t>
            </a:r>
            <a:r>
              <a:rPr lang="en-US" altLang="fr-FR" sz="8000" b="1" dirty="0">
                <a:solidFill>
                  <a:schemeClr val="accent4">
                    <a:lumMod val="50000"/>
                  </a:schemeClr>
                </a:solidFill>
                <a:effectLst/>
                <a:latin typeface="Garamand"/>
                <a:sym typeface="+mn-ea"/>
              </a:rPr>
              <a:t>ge entre ", pers1.prenom, " et ", pers2.prenom, " est de ", difference, " ans."</a:t>
            </a:r>
            <a:endParaRPr lang="en-US" altLang="fr-FR" sz="8000" b="1" i="0" dirty="0">
              <a:solidFill>
                <a:schemeClr val="accent4">
                  <a:lumMod val="50000"/>
                </a:schemeClr>
              </a:solidFill>
              <a:effectLst/>
              <a:latin typeface="Garamand"/>
            </a:endParaRPr>
          </a:p>
          <a:p>
            <a:pPr algn="just"/>
            <a:endParaRPr lang="en-US" altLang="fr-FR" sz="8000" b="1" i="0" dirty="0">
              <a:solidFill>
                <a:schemeClr val="accent4">
                  <a:lumMod val="50000"/>
                </a:schemeClr>
              </a:solidFill>
              <a:effectLst/>
              <a:latin typeface="Garamand"/>
            </a:endParaRPr>
          </a:p>
          <a:p>
            <a:pPr algn="just"/>
            <a:r>
              <a:rPr lang="en-US" altLang="fr-FR" sz="8000" b="1" dirty="0">
                <a:solidFill>
                  <a:schemeClr val="accent4">
                    <a:lumMod val="50000"/>
                  </a:schemeClr>
                </a:solidFill>
                <a:effectLst/>
                <a:latin typeface="Garamand"/>
                <a:sym typeface="+mn-ea"/>
              </a:rPr>
              <a:t>Fin Algorithme</a:t>
            </a:r>
            <a:endParaRPr lang="en-US" altLang="fr-FR" sz="8000" b="1" i="0" dirty="0">
              <a:solidFill>
                <a:schemeClr val="accent4">
                  <a:lumMod val="50000"/>
                </a:schemeClr>
              </a:solidFill>
              <a:effectLst/>
              <a:latin typeface="Garamand"/>
            </a:endParaRPr>
          </a:p>
          <a:p>
            <a:pPr algn="just"/>
            <a:endParaRPr lang="en-US" altLang="fr-FR" sz="10665" b="1" i="0" dirty="0">
              <a:solidFill>
                <a:schemeClr val="accent4">
                  <a:lumMod val="50000"/>
                </a:schemeClr>
              </a:solidFill>
              <a:effectLst/>
              <a:latin typeface="Garamand"/>
            </a:endParaRPr>
          </a:p>
          <a:p>
            <a:pPr algn="just"/>
            <a:r>
              <a:rPr lang="en-US" altLang="fr-FR" sz="10665" b="1" dirty="0">
                <a:solidFill>
                  <a:schemeClr val="accent4">
                    <a:lumMod val="50000"/>
                  </a:schemeClr>
                </a:solidFill>
                <a:effectLst/>
                <a:latin typeface="Garamand"/>
                <a:sym typeface="+mn-ea"/>
              </a:rPr>
              <a:t>    </a:t>
            </a:r>
            <a:endParaRPr lang="en-US" altLang="fr-FR" sz="10665" b="1" i="0" dirty="0">
              <a:solidFill>
                <a:schemeClr val="accent4">
                  <a:lumMod val="50000"/>
                </a:schemeClr>
              </a:solidFill>
              <a:effectLst/>
              <a:latin typeface="Garamand"/>
            </a:endParaRPr>
          </a:p>
          <a:p>
            <a:pPr algn="just"/>
            <a:endParaRPr lang="en-US" altLang="fr-FR" sz="10665" b="1" i="0" dirty="0">
              <a:solidFill>
                <a:schemeClr val="accent4">
                  <a:lumMod val="50000"/>
                </a:schemeClr>
              </a:solidFill>
              <a:effectLst/>
              <a:latin typeface="Garamand"/>
            </a:endParaRPr>
          </a:p>
          <a:p>
            <a:pPr algn="just"/>
            <a:r>
              <a:rPr lang="en-US" altLang="fr-FR" sz="10665" b="1" dirty="0">
                <a:solidFill>
                  <a:schemeClr val="accent4">
                    <a:lumMod val="50000"/>
                  </a:schemeClr>
                </a:solidFill>
                <a:effectLst/>
                <a:latin typeface="Garamand"/>
                <a:sym typeface="+mn-ea"/>
              </a:rPr>
              <a:t>    </a:t>
            </a:r>
            <a:endParaRPr lang="en-US" altLang="fr-FR" sz="10665" b="1" i="0" dirty="0">
              <a:solidFill>
                <a:schemeClr val="accent4">
                  <a:lumMod val="50000"/>
                </a:schemeClr>
              </a:solidFill>
              <a:effectLst/>
              <a:latin typeface="Garamand"/>
            </a:endParaRPr>
          </a:p>
          <a:p>
            <a:pPr algn="just"/>
            <a:endParaRPr lang="en-US" altLang="fr-FR" sz="10665" b="1" i="0" dirty="0">
              <a:solidFill>
                <a:schemeClr val="accent4">
                  <a:lumMod val="50000"/>
                </a:schemeClr>
              </a:solidFill>
              <a:effectLst/>
              <a:latin typeface="Garamand"/>
            </a:endParaRPr>
          </a:p>
          <a:p>
            <a:pPr algn="just"/>
            <a:r>
              <a:rPr lang="en-US" altLang="fr-FR" sz="10665" b="1" i="0" dirty="0">
                <a:solidFill>
                  <a:schemeClr val="accent4">
                    <a:lumMod val="50000"/>
                  </a:schemeClr>
                </a:solidFill>
                <a:effectLst/>
                <a:latin typeface="Garamand"/>
              </a:rPr>
              <a:t>    </a:t>
            </a:r>
            <a:endParaRPr lang="en-US" altLang="fr-FR" sz="2400" b="1" i="0" dirty="0">
              <a:solidFill>
                <a:schemeClr val="accent4">
                  <a:lumMod val="50000"/>
                </a:schemeClr>
              </a:solidFill>
              <a:effectLst/>
              <a:latin typeface="Garamand"/>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structuré)</a:t>
            </a:r>
            <a:endParaRPr lang="fr-FR" sz="4000" b="0" i="0" dirty="0">
              <a:solidFill>
                <a:srgbClr val="FFFFFF"/>
              </a:solidFill>
              <a:effectLst/>
              <a:latin typeface="var(--global-heading-font-family)"/>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l"/>
            <a:r>
              <a:rPr lang="fr-FR" sz="2400" b="0" i="0" dirty="0">
                <a:solidFill>
                  <a:srgbClr val="2D3748"/>
                </a:solidFill>
                <a:effectLst/>
                <a:latin typeface="Garamand"/>
              </a:rPr>
              <a:t>Un type structuré peut être utilisé comme type pour des champs d’un autre  type structuré.</a:t>
            </a:r>
            <a:endParaRPr lang="fr-FR" sz="2400" b="0" i="0" dirty="0">
              <a:solidFill>
                <a:srgbClr val="2D3748"/>
              </a:solidFill>
              <a:effectLst/>
              <a:latin typeface="Garamand"/>
            </a:endParaRPr>
          </a:p>
          <a:p>
            <a:pPr algn="l"/>
            <a:endParaRPr lang="fr-FR" sz="2400" b="0" i="0" dirty="0">
              <a:solidFill>
                <a:srgbClr val="2D3748"/>
              </a:solidFill>
              <a:effectLst/>
              <a:latin typeface="Garamand"/>
            </a:endParaRPr>
          </a:p>
          <a:p>
            <a:pPr algn="l"/>
            <a:r>
              <a:rPr lang="fr-FR" sz="2400" b="1" i="0" dirty="0">
                <a:solidFill>
                  <a:schemeClr val="accent4">
                    <a:lumMod val="75000"/>
                  </a:schemeClr>
                </a:solidFill>
                <a:effectLst/>
                <a:latin typeface="Garamand"/>
              </a:rPr>
              <a:t>Exemple : </a:t>
            </a:r>
            <a:r>
              <a:rPr lang="fr-FR" sz="2400" b="0" i="0" dirty="0">
                <a:solidFill>
                  <a:srgbClr val="2D3748"/>
                </a:solidFill>
                <a:effectLst/>
                <a:latin typeface="Garamand"/>
              </a:rPr>
              <a:t>Déclarer une  structure Personne qui contient  les  champs : nom  , prenom et  Date  de  Naissance ( composée du jour,  mois,  année ).</a:t>
            </a:r>
            <a:endParaRPr lang="fr-FR" sz="2400" b="0" i="0" dirty="0">
              <a:solidFill>
                <a:srgbClr val="2D3748"/>
              </a:solidFill>
              <a:effectLst/>
              <a:latin typeface="Garamand"/>
            </a:endParaRPr>
          </a:p>
          <a:p>
            <a:pPr algn="l"/>
            <a:endParaRPr lang="fr-FR" sz="2400" b="0" i="0" dirty="0">
              <a:solidFill>
                <a:srgbClr val="2D3748"/>
              </a:solidFill>
              <a:effectLst/>
              <a:latin typeface="Garamand"/>
            </a:endParaRPr>
          </a:p>
          <a:p>
            <a:pPr algn="l"/>
            <a:r>
              <a:rPr lang="fr-FR" sz="2400" b="1" dirty="0">
                <a:solidFill>
                  <a:srgbClr val="2D3748"/>
                </a:solidFill>
                <a:highlight>
                  <a:srgbClr val="FFFF00"/>
                </a:highlight>
                <a:latin typeface="Garamand"/>
              </a:rPr>
              <a:t>Remarque: </a:t>
            </a:r>
            <a:endParaRPr lang="fr-FR" sz="2400" b="1" i="0" dirty="0">
              <a:solidFill>
                <a:srgbClr val="2D3748"/>
              </a:solidFill>
              <a:effectLst/>
              <a:highlight>
                <a:srgbClr val="FFFF00"/>
              </a:highlight>
              <a:latin typeface="Garamand"/>
            </a:endParaRPr>
          </a:p>
          <a:p>
            <a:pPr algn="l"/>
            <a:r>
              <a:rPr lang="fr-FR" sz="2400" b="0" i="0" dirty="0">
                <a:solidFill>
                  <a:srgbClr val="2D3748"/>
                </a:solidFill>
                <a:effectLst/>
                <a:latin typeface="Garamand"/>
              </a:rPr>
              <a:t>Une  date   correspond donc  à  une  entité du  monde réel  qu’on  doit représenter par  un  type enregistrement à 3 champs. Si on déclare le type  date  au  préalable, on peut  l’utiliser dans la déclaration du type personne pour le type de la date  de naissance.</a:t>
            </a:r>
            <a:endParaRPr lang="fr-FR" sz="24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180" y="72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a:t>
            </a:r>
            <a:endParaRPr lang="fr-FR" sz="4000" b="0" i="0" dirty="0">
              <a:solidFill>
                <a:srgbClr val="FFFFFF"/>
              </a:solidFill>
              <a:effectLst/>
              <a:latin typeface="var(--global-heading-font-family)"/>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l"/>
            <a:endParaRPr lang="fr-FR" sz="2400" b="0" i="0" dirty="0">
              <a:solidFill>
                <a:srgbClr val="2D3748"/>
              </a:solidFill>
              <a:effectLst/>
              <a:latin typeface="Garamand"/>
            </a:endParaRPr>
          </a:p>
        </p:txBody>
      </p:sp>
      <p:graphicFrame>
        <p:nvGraphicFramePr>
          <p:cNvPr id="4" name="Tableau 3"/>
          <p:cNvGraphicFramePr>
            <a:graphicFrameLocks noGrp="1"/>
          </p:cNvGraphicFramePr>
          <p:nvPr/>
        </p:nvGraphicFramePr>
        <p:xfrm>
          <a:off x="885240" y="2275656"/>
          <a:ext cx="4064000" cy="4079240"/>
        </p:xfrm>
        <a:graphic>
          <a:graphicData uri="http://schemas.openxmlformats.org/drawingml/2006/table">
            <a:tbl>
              <a:tblPr firstRow="1" bandRow="1">
                <a:tableStyleId>{2D5ABB26-0587-4C30-8999-92F81FD0307C}</a:tableStyleId>
              </a:tblPr>
              <a:tblGrid>
                <a:gridCol w="4064000"/>
              </a:tblGrid>
              <a:tr h="370840">
                <a:tc>
                  <a:txBody>
                    <a:bodyPr/>
                    <a:lstStyle/>
                    <a:p>
                      <a:r>
                        <a:rPr lang="fr-FR" b="1" dirty="0">
                          <a:solidFill>
                            <a:schemeClr val="accent1">
                              <a:lumMod val="75000"/>
                            </a:schemeClr>
                          </a:solidFill>
                          <a:effectLst/>
                        </a:rPr>
                        <a:t>Solution :</a:t>
                      </a:r>
                      <a:endParaRPr lang="fr-FR" dirty="0">
                        <a:solidFill>
                          <a:schemeClr val="accent1">
                            <a:lumMod val="75000"/>
                          </a:schemeClr>
                        </a:solidFill>
                      </a:endParaRPr>
                    </a:p>
                  </a:txBody>
                  <a:tcPr/>
                </a:tc>
              </a:tr>
              <a:tr h="370840">
                <a:tc>
                  <a:txBody>
                    <a:bodyPr/>
                    <a:lstStyle/>
                    <a:p>
                      <a:r>
                        <a:rPr lang="fr-FR" b="1" dirty="0"/>
                        <a:t>date :enregistrement</a:t>
                      </a:r>
                      <a:endParaRPr lang="fr-FR" b="1" dirty="0"/>
                    </a:p>
                  </a:txBody>
                  <a:tcPr/>
                </a:tc>
              </a:tr>
              <a:tr h="370840">
                <a:tc>
                  <a:txBody>
                    <a:bodyPr/>
                    <a:lstStyle/>
                    <a:p>
                      <a:r>
                        <a:rPr lang="fr-FR" b="1" dirty="0"/>
                        <a:t>jour:  entier</a:t>
                      </a:r>
                      <a:endParaRPr lang="fr-FR" b="1" dirty="0"/>
                    </a:p>
                  </a:txBody>
                  <a:tcPr/>
                </a:tc>
              </a:tr>
              <a:tr h="370840">
                <a:tc>
                  <a:txBody>
                    <a:bodyPr/>
                    <a:lstStyle/>
                    <a:p>
                      <a:r>
                        <a:rPr lang="fr-FR" b="1" dirty="0"/>
                        <a:t>mois:  entier</a:t>
                      </a:r>
                      <a:endParaRPr lang="fr-FR" b="1" dirty="0"/>
                    </a:p>
                  </a:txBody>
                  <a:tcPr/>
                </a:tc>
              </a:tr>
              <a:tr h="370840">
                <a:tc>
                  <a:txBody>
                    <a:bodyPr/>
                    <a:lstStyle/>
                    <a:p>
                      <a:r>
                        <a:rPr lang="fr-FR" b="1" dirty="0"/>
                        <a:t>année: entier</a:t>
                      </a:r>
                      <a:endParaRPr lang="fr-FR" b="1" dirty="0"/>
                    </a:p>
                  </a:txBody>
                  <a:tcPr/>
                </a:tc>
              </a:tr>
              <a:tr h="370840">
                <a:tc>
                  <a:txBody>
                    <a:bodyPr/>
                    <a:lstStyle/>
                    <a:p>
                      <a:r>
                        <a:rPr lang="fr-FR" b="1" dirty="0"/>
                        <a:t>Fin  enregistrement</a:t>
                      </a:r>
                      <a:endParaRPr lang="fr-FR" b="1" dirty="0"/>
                    </a:p>
                  </a:txBody>
                  <a:tcPr/>
                </a:tc>
              </a:tr>
              <a:tr h="370840">
                <a:tc>
                  <a:txBody>
                    <a:bodyPr/>
                    <a:lstStyle/>
                    <a:p>
                      <a:r>
                        <a:rPr lang="fr-FR" b="1" dirty="0"/>
                        <a:t>personne : enregistrement</a:t>
                      </a:r>
                      <a:endParaRPr lang="fr-FR" b="1" dirty="0"/>
                    </a:p>
                  </a:txBody>
                  <a:tcPr/>
                </a:tc>
              </a:tr>
              <a:tr h="370840">
                <a:tc>
                  <a:txBody>
                    <a:bodyPr/>
                    <a:lstStyle/>
                    <a:p>
                      <a:r>
                        <a:rPr lang="fr-FR" b="1" dirty="0"/>
                        <a:t>nom:  chaîne</a:t>
                      </a:r>
                      <a:endParaRPr lang="fr-FR" b="1" dirty="0"/>
                    </a:p>
                  </a:txBody>
                  <a:tcPr/>
                </a:tc>
              </a:tr>
              <a:tr h="370840">
                <a:tc>
                  <a:txBody>
                    <a:bodyPr/>
                    <a:lstStyle/>
                    <a:p>
                      <a:r>
                        <a:rPr lang="fr-FR" b="1" dirty="0" err="1"/>
                        <a:t>dateNaissance</a:t>
                      </a:r>
                      <a:r>
                        <a:rPr lang="fr-FR" b="1" dirty="0"/>
                        <a:t>: </a:t>
                      </a:r>
                      <a:r>
                        <a:rPr lang="fr-FR" b="1" dirty="0">
                          <a:effectLst/>
                        </a:rPr>
                        <a:t>date</a:t>
                      </a:r>
                      <a:endParaRPr lang="fr-FR" b="1" dirty="0"/>
                    </a:p>
                  </a:txBody>
                  <a:tcPr/>
                </a:tc>
              </a:tr>
              <a:tr h="370840">
                <a:tc>
                  <a:txBody>
                    <a:bodyPr/>
                    <a:lstStyle/>
                    <a:p>
                      <a:r>
                        <a:rPr lang="fr-FR" b="1" dirty="0"/>
                        <a:t>nationalité : chaine</a:t>
                      </a:r>
                      <a:endParaRPr lang="fr-FR" b="1" dirty="0"/>
                    </a:p>
                  </a:txBody>
                  <a:tcPr/>
                </a:tc>
              </a:tr>
              <a:tr h="370840">
                <a:tc>
                  <a:txBody>
                    <a:bodyPr/>
                    <a:lstStyle/>
                    <a:p>
                      <a:r>
                        <a:rPr lang="fr-FR" b="1" dirty="0"/>
                        <a:t>Fin  enregistrement</a:t>
                      </a:r>
                      <a:endParaRPr lang="fr-FR" b="1" dirty="0"/>
                    </a:p>
                  </a:txBody>
                  <a:tcPr/>
                </a:tc>
              </a:tr>
            </a:tbl>
          </a:graphicData>
        </a:graphic>
      </p:graphicFrame>
      <p:pic>
        <p:nvPicPr>
          <p:cNvPr id="1032" name="Picture 8" descr="enregistrement : cas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4465" y="2538210"/>
            <a:ext cx="5292981" cy="3140502"/>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p:cNvSpPr txBox="1"/>
          <p:nvPr/>
        </p:nvSpPr>
        <p:spPr>
          <a:xfrm>
            <a:off x="4151784" y="5523608"/>
            <a:ext cx="7344816" cy="1015663"/>
          </a:xfrm>
          <a:prstGeom prst="rect">
            <a:avLst/>
          </a:prstGeom>
          <a:noFill/>
        </p:spPr>
        <p:txBody>
          <a:bodyPr wrap="square" rtlCol="0">
            <a:spAutoFit/>
          </a:bodyPr>
          <a:lstStyle/>
          <a:p>
            <a:r>
              <a:rPr lang="fr-FR" sz="2000" b="0" i="0" dirty="0">
                <a:solidFill>
                  <a:srgbClr val="2D3748"/>
                </a:solidFill>
                <a:effectLst/>
                <a:latin typeface="Garamand"/>
              </a:rPr>
              <a:t>Pour accéder à l’année de naissance d’une  personne p1, il faut utiliser deux fois l’opérateur ‘.’ : </a:t>
            </a:r>
            <a:r>
              <a:rPr lang="fr-FR" sz="2000" b="1" i="0" dirty="0">
                <a:solidFill>
                  <a:srgbClr val="2D3748"/>
                </a:solidFill>
                <a:effectLst/>
                <a:latin typeface="Garamand"/>
              </a:rPr>
              <a:t>p1.dateNaissance.année</a:t>
            </a:r>
            <a:r>
              <a:rPr lang="fr-FR" sz="2000" b="0" i="0" dirty="0">
                <a:solidFill>
                  <a:srgbClr val="2D3748"/>
                </a:solidFill>
                <a:effectLst/>
                <a:latin typeface="Garamand"/>
              </a:rPr>
              <a:t>  : l’année de la date  de naissance de la personne p1.</a:t>
            </a:r>
            <a:endParaRPr lang="fr-FR"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structuré)</a:t>
            </a:r>
            <a:endParaRPr lang="fr-FR" sz="4000" b="0" i="0" dirty="0">
              <a:solidFill>
                <a:srgbClr val="FFFFFF"/>
              </a:solidFill>
              <a:effectLst/>
              <a:latin typeface="var(--global-heading-font-family)"/>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ctr"/>
            <a:r>
              <a:rPr lang="fr-FR" sz="2400" b="1" i="0" dirty="0">
                <a:solidFill>
                  <a:srgbClr val="2D3748"/>
                </a:solidFill>
                <a:effectLst/>
                <a:latin typeface="Garamand"/>
              </a:rPr>
              <a:t> </a:t>
            </a:r>
            <a:r>
              <a:rPr lang="fr-FR" sz="3200" b="1" i="0" dirty="0">
                <a:solidFill>
                  <a:schemeClr val="accent4">
                    <a:lumMod val="50000"/>
                  </a:schemeClr>
                </a:solidFill>
                <a:effectLst/>
                <a:latin typeface="Garamand"/>
              </a:rPr>
              <a:t>Activité 2</a:t>
            </a:r>
            <a:r>
              <a:rPr lang="fr-FR" sz="3200" b="1" i="0" dirty="0">
                <a:solidFill>
                  <a:schemeClr val="accent4">
                    <a:lumMod val="50000"/>
                  </a:schemeClr>
                </a:solidFill>
                <a:effectLst/>
                <a:latin typeface="Garamand"/>
              </a:rPr>
              <a:t> :</a:t>
            </a:r>
            <a:endParaRPr lang="fr-FR" sz="3200" b="1" i="0" dirty="0">
              <a:solidFill>
                <a:schemeClr val="accent4">
                  <a:lumMod val="50000"/>
                </a:schemeClr>
              </a:solidFill>
              <a:effectLst/>
              <a:latin typeface="Garamand"/>
            </a:endParaRPr>
          </a:p>
          <a:p>
            <a:pPr algn="l"/>
            <a:endParaRPr lang="fr-FR" sz="2400" b="1" dirty="0">
              <a:solidFill>
                <a:srgbClr val="2D3748"/>
              </a:solidFill>
              <a:latin typeface="Garamand"/>
            </a:endParaRPr>
          </a:p>
          <a:p>
            <a:pPr algn="l"/>
            <a:r>
              <a:rPr lang="fr-FR" sz="2400" b="1" i="0" dirty="0">
                <a:solidFill>
                  <a:srgbClr val="2D3748"/>
                </a:solidFill>
                <a:effectLst/>
                <a:latin typeface="Garamand"/>
              </a:rPr>
              <a:t> </a:t>
            </a:r>
            <a:r>
              <a:rPr lang="fr-FR" sz="2400" b="0" i="0" dirty="0">
                <a:solidFill>
                  <a:srgbClr val="2D3748"/>
                </a:solidFill>
                <a:effectLst/>
                <a:latin typeface="Garamand"/>
              </a:rPr>
              <a:t>Définir la structure </a:t>
            </a:r>
            <a:r>
              <a:rPr lang="fr-FR" sz="2400" b="1" i="0" dirty="0">
                <a:solidFill>
                  <a:srgbClr val="2D3748"/>
                </a:solidFill>
                <a:effectLst/>
                <a:latin typeface="Garamand"/>
              </a:rPr>
              <a:t>fournisseur</a:t>
            </a:r>
            <a:r>
              <a:rPr lang="fr-FR" sz="2400" b="0" i="0" dirty="0">
                <a:solidFill>
                  <a:srgbClr val="2D3748"/>
                </a:solidFill>
                <a:effectLst/>
                <a:latin typeface="Garamand"/>
              </a:rPr>
              <a:t> et la structure </a:t>
            </a:r>
            <a:r>
              <a:rPr lang="fr-FR" sz="2400" b="1" i="0" dirty="0">
                <a:solidFill>
                  <a:srgbClr val="2D3748"/>
                </a:solidFill>
                <a:effectLst/>
                <a:latin typeface="Garamand"/>
              </a:rPr>
              <a:t>Produit</a:t>
            </a:r>
            <a:r>
              <a:rPr lang="fr-FR" sz="2400" b="0" i="0" dirty="0">
                <a:solidFill>
                  <a:srgbClr val="2D3748"/>
                </a:solidFill>
                <a:effectLst/>
                <a:latin typeface="Garamand"/>
              </a:rPr>
              <a:t> tel que:</a:t>
            </a:r>
            <a:endParaRPr lang="fr-FR" sz="2400" b="0" i="0" dirty="0">
              <a:solidFill>
                <a:srgbClr val="2D3748"/>
              </a:solidFill>
              <a:effectLst/>
              <a:latin typeface="Garamand"/>
            </a:endParaRPr>
          </a:p>
          <a:p>
            <a:pPr algn="l"/>
            <a:endParaRPr lang="fr-FR" sz="2400" b="0" i="0" dirty="0">
              <a:solidFill>
                <a:srgbClr val="2D3748"/>
              </a:solidFill>
              <a:effectLst/>
              <a:latin typeface="Garamand"/>
            </a:endParaRPr>
          </a:p>
          <a:p>
            <a:pPr marL="342900" indent="-342900" algn="l">
              <a:buFont typeface="Wingdings" panose="05000000000000000000" pitchFamily="2" charset="2"/>
              <a:buChar char="§"/>
            </a:pPr>
            <a:r>
              <a:rPr lang="fr-FR" sz="2400" b="0" i="0" dirty="0">
                <a:solidFill>
                  <a:srgbClr val="2D3748"/>
                </a:solidFill>
                <a:effectLst/>
                <a:latin typeface="Garamand"/>
              </a:rPr>
              <a:t>Un fournisseur est caractérisé par son  code,  sa raison  sociale et son  numéro de téléphone.</a:t>
            </a:r>
            <a:endParaRPr lang="fr-FR" sz="2400" b="0" i="0" dirty="0">
              <a:solidFill>
                <a:srgbClr val="2D3748"/>
              </a:solidFill>
              <a:effectLst/>
              <a:latin typeface="Garamand"/>
            </a:endParaRPr>
          </a:p>
          <a:p>
            <a:pPr marL="342900" indent="-342900" algn="l">
              <a:buFont typeface="Wingdings" panose="05000000000000000000" pitchFamily="2" charset="2"/>
              <a:buChar char="§"/>
            </a:pPr>
            <a:r>
              <a:rPr lang="fr-FR" sz="2400" dirty="0">
                <a:solidFill>
                  <a:srgbClr val="2D3748"/>
                </a:solidFill>
                <a:latin typeface="Garamand"/>
              </a:rPr>
              <a:t>U</a:t>
            </a:r>
            <a:r>
              <a:rPr lang="fr-FR" sz="2400" b="0" i="0" dirty="0">
                <a:solidFill>
                  <a:srgbClr val="2D3748"/>
                </a:solidFill>
                <a:effectLst/>
                <a:latin typeface="Garamand"/>
              </a:rPr>
              <a:t>n produit est caractérisé par son  code, son  libellé, et son  prix. Aussi, Un produit est livré par un seul fournisseur. Afficher ensuite, le numéro de téléphone du fournisseur d’un produit p.</a:t>
            </a:r>
            <a:endParaRPr lang="fr-FR" sz="2400" b="0" i="0" dirty="0">
              <a:solidFill>
                <a:srgbClr val="2D3748"/>
              </a:solidFill>
              <a:effectLst/>
              <a:latin typeface="Garamand"/>
            </a:endParaRPr>
          </a:p>
          <a:p>
            <a:pPr algn="l"/>
            <a:endParaRPr lang="fr-FR" sz="24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tableau)</a:t>
            </a:r>
            <a:endParaRPr lang="fr-FR" sz="4000" b="0" i="0" dirty="0">
              <a:solidFill>
                <a:srgbClr val="FFFFFF"/>
              </a:solidFill>
              <a:effectLst/>
              <a:latin typeface="var(--global-heading-font-family)"/>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ctr"/>
            <a:endParaRPr lang="fr-FR" sz="2400" b="1" dirty="0">
              <a:solidFill>
                <a:srgbClr val="2D3748"/>
              </a:solidFill>
              <a:latin typeface="Garamand"/>
            </a:endParaRPr>
          </a:p>
          <a:p>
            <a:r>
              <a:rPr lang="fr-FR" sz="2400" b="0" i="0" dirty="0">
                <a:solidFill>
                  <a:srgbClr val="2D3748"/>
                </a:solidFill>
                <a:effectLst/>
                <a:latin typeface="Garamand"/>
              </a:rPr>
              <a:t>Il est possible aussi qu’un  champ de type structuré soit de type </a:t>
            </a:r>
            <a:r>
              <a:rPr lang="fr-FR" sz="2400" b="1" i="0" u="none" strike="noStrike" dirty="0">
                <a:solidFill>
                  <a:schemeClr val="accent3">
                    <a:lumMod val="50000"/>
                  </a:schemeClr>
                </a:solidFill>
                <a:effectLst/>
                <a:latin typeface="Garamand"/>
                <a:hlinkClick r:id="rId2"/>
              </a:rPr>
              <a:t>tableau</a:t>
            </a:r>
            <a:r>
              <a:rPr lang="fr-FR" sz="2400" b="1" i="0" dirty="0">
                <a:solidFill>
                  <a:schemeClr val="accent3">
                    <a:lumMod val="50000"/>
                  </a:schemeClr>
                </a:solidFill>
                <a:effectLst/>
                <a:latin typeface="Garamand"/>
              </a:rPr>
              <a:t>.</a:t>
            </a:r>
            <a:endParaRPr lang="fr-FR" sz="2400" b="1" i="0" dirty="0">
              <a:solidFill>
                <a:schemeClr val="accent3">
                  <a:lumMod val="50000"/>
                </a:schemeClr>
              </a:solidFill>
              <a:effectLst/>
              <a:latin typeface="Garamand"/>
            </a:endParaRPr>
          </a:p>
          <a:p>
            <a:pPr algn="just"/>
            <a:endParaRPr lang="fr-FR" sz="2400" dirty="0">
              <a:solidFill>
                <a:srgbClr val="2D3748"/>
              </a:solidFill>
              <a:latin typeface="Garamand"/>
            </a:endParaRPr>
          </a:p>
          <a:p>
            <a:pPr algn="just"/>
            <a:r>
              <a:rPr lang="fr-FR" sz="2400" b="1" dirty="0">
                <a:solidFill>
                  <a:schemeClr val="accent4">
                    <a:lumMod val="50000"/>
                  </a:schemeClr>
                </a:solidFill>
                <a:latin typeface="Garamand"/>
              </a:rPr>
              <a:t>Exercice : </a:t>
            </a:r>
            <a:r>
              <a:rPr lang="fr-FR" sz="2400" b="0" i="0" dirty="0">
                <a:solidFill>
                  <a:srgbClr val="2D3748"/>
                </a:solidFill>
                <a:effectLst/>
                <a:latin typeface="Garamand"/>
              </a:rPr>
              <a:t>Créer  une  structure ville qui contient  les  champs suivant  (altitude,  type  de  climat,  … ). Certains de  ces  critères peuvent être mémorisés pour chaque mois de l’année (par exemple température moyenne, …).</a:t>
            </a:r>
            <a:endParaRPr lang="fr-FR" sz="2400" b="0" i="0" dirty="0">
              <a:solidFill>
                <a:srgbClr val="2D3748"/>
              </a:solidFill>
              <a:effectLst/>
              <a:latin typeface="Garamand"/>
            </a:endParaRPr>
          </a:p>
          <a:p>
            <a:pPr algn="just"/>
            <a:endParaRPr lang="fr-FR" sz="2400" b="1" i="0" dirty="0">
              <a:solidFill>
                <a:schemeClr val="accent4">
                  <a:lumMod val="50000"/>
                </a:schemeClr>
              </a:solidFill>
              <a:effectLst/>
              <a:latin typeface="Garamand"/>
            </a:endParaRPr>
          </a:p>
          <a:p>
            <a:pPr algn="just"/>
            <a:r>
              <a:rPr lang="fr-FR" sz="2400" b="0" i="0" dirty="0">
                <a:solidFill>
                  <a:srgbClr val="2D3748"/>
                </a:solidFill>
                <a:effectLst/>
                <a:latin typeface="Garamand"/>
              </a:rPr>
              <a:t>1- Donner  la définition de la structure Ville</a:t>
            </a:r>
            <a:endParaRPr lang="fr-FR" sz="2400" b="0" i="0" dirty="0">
              <a:solidFill>
                <a:srgbClr val="2D3748"/>
              </a:solidFill>
              <a:effectLst/>
              <a:latin typeface="Garamand"/>
            </a:endParaRPr>
          </a:p>
          <a:p>
            <a:pPr algn="just"/>
            <a:r>
              <a:rPr lang="fr-FR" sz="2400" b="0" i="0" dirty="0">
                <a:solidFill>
                  <a:srgbClr val="2D3748"/>
                </a:solidFill>
                <a:effectLst/>
                <a:latin typeface="Garamand"/>
              </a:rPr>
              <a:t>2- déclarer une ville </a:t>
            </a:r>
            <a:r>
              <a:rPr lang="fr-FR" sz="2400" b="0" i="0" dirty="0" err="1">
                <a:solidFill>
                  <a:srgbClr val="2D3748"/>
                </a:solidFill>
                <a:effectLst/>
                <a:latin typeface="Garamand"/>
              </a:rPr>
              <a:t>MaVille</a:t>
            </a:r>
            <a:r>
              <a:rPr lang="fr-FR" sz="2400" b="0" i="0" dirty="0">
                <a:solidFill>
                  <a:srgbClr val="2D3748"/>
                </a:solidFill>
                <a:effectLst/>
                <a:latin typeface="Garamand"/>
              </a:rPr>
              <a:t> et initialiser les infos de la variable </a:t>
            </a:r>
            <a:r>
              <a:rPr lang="fr-FR" sz="2400" b="0" i="0" dirty="0" err="1">
                <a:solidFill>
                  <a:srgbClr val="2D3748"/>
                </a:solidFill>
                <a:effectLst/>
                <a:latin typeface="Garamand"/>
              </a:rPr>
              <a:t>MaVille</a:t>
            </a:r>
            <a:r>
              <a:rPr lang="fr-FR" sz="2400" b="0" i="0" dirty="0">
                <a:solidFill>
                  <a:srgbClr val="2D3748"/>
                </a:solidFill>
                <a:effectLst/>
                <a:latin typeface="Garamand"/>
              </a:rPr>
              <a:t> </a:t>
            </a:r>
            <a:endParaRPr lang="fr-FR" sz="2400" b="0" i="0" dirty="0">
              <a:solidFill>
                <a:srgbClr val="2D3748"/>
              </a:solidFill>
              <a:effectLst/>
              <a:latin typeface="Garamand"/>
            </a:endParaRPr>
          </a:p>
          <a:p>
            <a:pPr algn="l"/>
            <a:endParaRPr lang="fr-FR" sz="24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28104"/>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tableau)</a:t>
            </a:r>
            <a:endParaRPr lang="fr-FR" sz="4000" b="0" i="0" dirty="0">
              <a:solidFill>
                <a:srgbClr val="FFFFFF"/>
              </a:solidFill>
              <a:effectLst/>
              <a:latin typeface="var(--global-heading-font-family)"/>
            </a:endParaRPr>
          </a:p>
        </p:txBody>
      </p:sp>
      <p:sp>
        <p:nvSpPr>
          <p:cNvPr id="185" name="CustomShape 3"/>
          <p:cNvSpPr/>
          <p:nvPr/>
        </p:nvSpPr>
        <p:spPr>
          <a:xfrm>
            <a:off x="885240" y="2423880"/>
            <a:ext cx="3698592"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5000" lnSpcReduction="20000"/>
          </a:bodyPr>
          <a:lstStyle/>
          <a:p>
            <a:pPr algn="ctr"/>
            <a:endParaRPr lang="fr-FR" sz="2400" b="1" dirty="0">
              <a:solidFill>
                <a:srgbClr val="2D3748"/>
              </a:solidFill>
              <a:latin typeface="Garamand"/>
            </a:endParaRPr>
          </a:p>
          <a:p>
            <a:r>
              <a:rPr lang="fr-FR" sz="2400" b="1" i="0" dirty="0">
                <a:solidFill>
                  <a:schemeClr val="accent1">
                    <a:lumMod val="75000"/>
                  </a:schemeClr>
                </a:solidFill>
                <a:effectLst/>
                <a:latin typeface="Garamand"/>
              </a:rPr>
              <a:t>Solution:</a:t>
            </a:r>
            <a:endParaRPr lang="fr-FR" sz="2400" b="1" i="0" dirty="0">
              <a:solidFill>
                <a:schemeClr val="accent1">
                  <a:lumMod val="75000"/>
                </a:schemeClr>
              </a:solidFill>
              <a:effectLst/>
              <a:latin typeface="Garamand"/>
            </a:endParaRPr>
          </a:p>
          <a:p>
            <a:endParaRPr lang="fr-FR" sz="2400" b="0" i="0" dirty="0">
              <a:solidFill>
                <a:srgbClr val="2D3748"/>
              </a:solidFill>
              <a:effectLst/>
              <a:latin typeface="Garamand"/>
            </a:endParaRPr>
          </a:p>
          <a:p>
            <a:r>
              <a:rPr lang="fr-FR" sz="2400" b="0" i="0" dirty="0">
                <a:solidFill>
                  <a:srgbClr val="2D3748"/>
                </a:solidFill>
                <a:effectLst/>
                <a:latin typeface="Garamand"/>
              </a:rPr>
              <a:t>Ville : enregistrement</a:t>
            </a:r>
            <a:endParaRPr lang="fr-FR" sz="2400" b="0" i="0" dirty="0">
              <a:solidFill>
                <a:srgbClr val="2D3748"/>
              </a:solidFill>
              <a:effectLst/>
              <a:latin typeface="Garamand"/>
            </a:endParaRPr>
          </a:p>
          <a:p>
            <a:endParaRPr lang="fr-FR" sz="2400" b="0" i="0" dirty="0">
              <a:solidFill>
                <a:srgbClr val="2D3748"/>
              </a:solidFill>
              <a:effectLst/>
              <a:latin typeface="Garamand"/>
            </a:endParaRPr>
          </a:p>
          <a:p>
            <a:r>
              <a:rPr lang="fr-FR" sz="2400" b="0" i="0" dirty="0">
                <a:solidFill>
                  <a:srgbClr val="2D3748"/>
                </a:solidFill>
                <a:effectLst/>
                <a:latin typeface="Garamand"/>
              </a:rPr>
              <a:t>Nom : chaîne</a:t>
            </a:r>
            <a:endParaRPr lang="fr-FR" sz="2400" b="0" i="0" dirty="0">
              <a:solidFill>
                <a:srgbClr val="2D3748"/>
              </a:solidFill>
              <a:effectLst/>
              <a:latin typeface="Garamand"/>
            </a:endParaRPr>
          </a:p>
          <a:p>
            <a:endParaRPr lang="fr-FR" sz="2400" b="0" i="0" dirty="0">
              <a:solidFill>
                <a:srgbClr val="2D3748"/>
              </a:solidFill>
              <a:effectLst/>
              <a:latin typeface="Garamand"/>
            </a:endParaRPr>
          </a:p>
          <a:p>
            <a:r>
              <a:rPr lang="fr-FR" sz="2400" b="0" i="0" dirty="0">
                <a:solidFill>
                  <a:srgbClr val="2D3748"/>
                </a:solidFill>
                <a:effectLst/>
                <a:latin typeface="Garamand"/>
              </a:rPr>
              <a:t>Altitude  : entier</a:t>
            </a:r>
            <a:endParaRPr lang="fr-FR" sz="2400" b="0" i="0" dirty="0">
              <a:solidFill>
                <a:srgbClr val="2D3748"/>
              </a:solidFill>
              <a:effectLst/>
              <a:latin typeface="Garamand"/>
            </a:endParaRPr>
          </a:p>
          <a:p>
            <a:endParaRPr lang="fr-FR" sz="2400" b="0" i="0" dirty="0">
              <a:solidFill>
                <a:srgbClr val="2D3748"/>
              </a:solidFill>
              <a:effectLst/>
              <a:latin typeface="Garamand"/>
            </a:endParaRPr>
          </a:p>
          <a:p>
            <a:r>
              <a:rPr lang="fr-FR" sz="2400" b="0" i="0" dirty="0">
                <a:solidFill>
                  <a:srgbClr val="2D3748"/>
                </a:solidFill>
                <a:effectLst/>
                <a:latin typeface="Garamand"/>
              </a:rPr>
              <a:t>Climat  : Chaîne</a:t>
            </a:r>
            <a:endParaRPr lang="fr-FR" sz="2400" b="0" i="0" dirty="0">
              <a:solidFill>
                <a:srgbClr val="2D3748"/>
              </a:solidFill>
              <a:effectLst/>
              <a:latin typeface="Garamand"/>
            </a:endParaRPr>
          </a:p>
          <a:p>
            <a:endParaRPr lang="fr-FR" sz="2400" b="0" i="0" dirty="0">
              <a:solidFill>
                <a:srgbClr val="2D3748"/>
              </a:solidFill>
              <a:effectLst/>
              <a:latin typeface="Garamand"/>
            </a:endParaRPr>
          </a:p>
          <a:p>
            <a:r>
              <a:rPr lang="fr-FR" sz="2400" b="0" i="0" dirty="0">
                <a:solidFill>
                  <a:srgbClr val="2D3748"/>
                </a:solidFill>
                <a:effectLst/>
                <a:latin typeface="Garamand"/>
              </a:rPr>
              <a:t>Temp   : tableau[1..12] de réel  //température  moyenne  par  mois</a:t>
            </a:r>
            <a:endParaRPr lang="fr-FR" sz="2400" b="0" i="0" dirty="0">
              <a:solidFill>
                <a:srgbClr val="2D3748"/>
              </a:solidFill>
              <a:effectLst/>
              <a:latin typeface="Garamand"/>
            </a:endParaRPr>
          </a:p>
          <a:p>
            <a:endParaRPr lang="fr-FR" sz="2400" b="0" i="0" dirty="0">
              <a:solidFill>
                <a:srgbClr val="2D3748"/>
              </a:solidFill>
              <a:effectLst/>
              <a:latin typeface="Garamand"/>
            </a:endParaRPr>
          </a:p>
          <a:p>
            <a:r>
              <a:rPr lang="fr-FR" sz="2400" b="0" i="0" dirty="0">
                <a:solidFill>
                  <a:srgbClr val="2D3748"/>
                </a:solidFill>
                <a:effectLst/>
                <a:latin typeface="Garamand"/>
              </a:rPr>
              <a:t>Fin enregistrement</a:t>
            </a:r>
            <a:endParaRPr lang="fr-FR" sz="2400" b="0" i="0" dirty="0">
              <a:solidFill>
                <a:srgbClr val="2D3748"/>
              </a:solidFill>
              <a:effectLst/>
              <a:latin typeface="Garamand"/>
            </a:endParaRPr>
          </a:p>
          <a:p>
            <a:endParaRPr lang="fr-FR" sz="2400" b="0" i="0" dirty="0">
              <a:solidFill>
                <a:srgbClr val="2D3748"/>
              </a:solidFill>
              <a:effectLst/>
              <a:latin typeface="Garamand"/>
            </a:endParaRPr>
          </a:p>
          <a:p>
            <a:endParaRPr lang="fr-FR" sz="2400" b="0" i="0" dirty="0">
              <a:solidFill>
                <a:srgbClr val="2D3748"/>
              </a:solidFill>
              <a:effectLst/>
              <a:latin typeface="Garamand"/>
            </a:endParaRPr>
          </a:p>
        </p:txBody>
      </p:sp>
      <p:sp>
        <p:nvSpPr>
          <p:cNvPr id="3" name="ZoneTexte 2"/>
          <p:cNvSpPr txBox="1"/>
          <p:nvPr/>
        </p:nvSpPr>
        <p:spPr>
          <a:xfrm>
            <a:off x="4367808" y="2808669"/>
            <a:ext cx="4861020" cy="4062651"/>
          </a:xfrm>
          <a:prstGeom prst="rect">
            <a:avLst/>
          </a:prstGeom>
          <a:noFill/>
        </p:spPr>
        <p:txBody>
          <a:bodyPr wrap="square" rtlCol="0">
            <a:spAutoFit/>
          </a:bodyPr>
          <a:lstStyle/>
          <a:p>
            <a:r>
              <a:rPr lang="fr-FR" sz="2000" i="0" dirty="0" err="1">
                <a:solidFill>
                  <a:srgbClr val="2D3748"/>
                </a:solidFill>
                <a:effectLst/>
                <a:latin typeface="Garamand"/>
              </a:rPr>
              <a:t>MaVille</a:t>
            </a:r>
            <a:r>
              <a:rPr lang="fr-FR" sz="2000" i="0" dirty="0">
                <a:solidFill>
                  <a:srgbClr val="2D3748"/>
                </a:solidFill>
                <a:effectLst/>
                <a:latin typeface="Garamand"/>
              </a:rPr>
              <a:t>  : Ville</a:t>
            </a:r>
            <a:endParaRPr lang="fr-FR" sz="2000" i="0" dirty="0">
              <a:solidFill>
                <a:srgbClr val="2D3748"/>
              </a:solidFill>
              <a:effectLst/>
              <a:latin typeface="Garamand"/>
            </a:endParaRPr>
          </a:p>
          <a:p>
            <a:r>
              <a:rPr lang="fr-FR" sz="2000" i="0" dirty="0" err="1">
                <a:solidFill>
                  <a:schemeClr val="accent1">
                    <a:lumMod val="75000"/>
                  </a:schemeClr>
                </a:solidFill>
                <a:effectLst/>
                <a:latin typeface="Garamand"/>
              </a:rPr>
              <a:t>Debut</a:t>
            </a:r>
            <a:endParaRPr lang="fr-FR" sz="2000" i="0" dirty="0">
              <a:solidFill>
                <a:schemeClr val="accent1">
                  <a:lumMod val="75000"/>
                </a:schemeClr>
              </a:solidFill>
              <a:effectLst/>
              <a:latin typeface="Garamand"/>
            </a:endParaRPr>
          </a:p>
          <a:p>
            <a:r>
              <a:rPr lang="fr-FR" sz="2000" i="0" dirty="0">
                <a:solidFill>
                  <a:srgbClr val="2D3748"/>
                </a:solidFill>
                <a:effectLst/>
                <a:latin typeface="Garamand"/>
              </a:rPr>
              <a:t>Ecrire "Donner  le  nom,  le  type  de climat  et l’altitude  de  la  ville : "</a:t>
            </a:r>
            <a:endParaRPr lang="fr-FR" sz="2000" i="0" dirty="0">
              <a:solidFill>
                <a:srgbClr val="2D3748"/>
              </a:solidFill>
              <a:effectLst/>
              <a:latin typeface="Garamand"/>
            </a:endParaRPr>
          </a:p>
          <a:p>
            <a:r>
              <a:rPr lang="fr-FR" sz="2000" i="0" dirty="0">
                <a:solidFill>
                  <a:srgbClr val="2D3748"/>
                </a:solidFill>
                <a:effectLst/>
                <a:latin typeface="Garamand"/>
              </a:rPr>
              <a:t>lire  </a:t>
            </a:r>
            <a:r>
              <a:rPr lang="fr-FR" sz="2000" i="0" dirty="0" err="1">
                <a:solidFill>
                  <a:srgbClr val="2D3748"/>
                </a:solidFill>
                <a:effectLst/>
                <a:latin typeface="Garamand"/>
              </a:rPr>
              <a:t>MaVille.Nom</a:t>
            </a:r>
            <a:r>
              <a:rPr lang="fr-FR" sz="2000" i="0" dirty="0">
                <a:solidFill>
                  <a:srgbClr val="2D3748"/>
                </a:solidFill>
                <a:effectLst/>
                <a:latin typeface="Garamand"/>
              </a:rPr>
              <a:t>, </a:t>
            </a:r>
            <a:r>
              <a:rPr lang="fr-FR" sz="2000" i="0" dirty="0" err="1">
                <a:solidFill>
                  <a:srgbClr val="2D3748"/>
                </a:solidFill>
                <a:effectLst/>
                <a:latin typeface="Garamand"/>
              </a:rPr>
              <a:t>MaVille.Climat</a:t>
            </a:r>
            <a:r>
              <a:rPr lang="fr-FR" sz="2000" i="0" dirty="0">
                <a:solidFill>
                  <a:srgbClr val="2D3748"/>
                </a:solidFill>
                <a:effectLst/>
                <a:latin typeface="Garamand"/>
              </a:rPr>
              <a:t>, </a:t>
            </a:r>
            <a:r>
              <a:rPr lang="fr-FR" sz="2000" i="0" dirty="0" err="1">
                <a:solidFill>
                  <a:srgbClr val="2D3748"/>
                </a:solidFill>
                <a:effectLst/>
                <a:latin typeface="Garamand"/>
              </a:rPr>
              <a:t>MaVille.Altitude</a:t>
            </a:r>
            <a:endParaRPr lang="fr-FR" sz="2000" i="0" dirty="0">
              <a:solidFill>
                <a:srgbClr val="2D3748"/>
              </a:solidFill>
              <a:effectLst/>
              <a:latin typeface="Garamand"/>
            </a:endParaRPr>
          </a:p>
          <a:p>
            <a:r>
              <a:rPr lang="fr-FR" sz="2000" i="0" dirty="0">
                <a:solidFill>
                  <a:srgbClr val="2D3748"/>
                </a:solidFill>
                <a:effectLst/>
                <a:latin typeface="Garamand"/>
              </a:rPr>
              <a:t>Ecrire  "entrer les températures  moyennes  sur les  12   mois "</a:t>
            </a:r>
            <a:endParaRPr lang="fr-FR" sz="2000" i="0" dirty="0">
              <a:solidFill>
                <a:srgbClr val="2D3748"/>
              </a:solidFill>
              <a:effectLst/>
              <a:latin typeface="Garamand"/>
            </a:endParaRPr>
          </a:p>
          <a:p>
            <a:r>
              <a:rPr lang="fr-FR" sz="2000" i="0" dirty="0">
                <a:solidFill>
                  <a:srgbClr val="2D3748"/>
                </a:solidFill>
                <a:effectLst/>
                <a:latin typeface="Garamand"/>
              </a:rPr>
              <a:t>Pour  i allant de 1  à 12   Faire</a:t>
            </a:r>
            <a:endParaRPr lang="fr-FR" sz="2000" i="0" dirty="0">
              <a:solidFill>
                <a:srgbClr val="2D3748"/>
              </a:solidFill>
              <a:effectLst/>
              <a:latin typeface="Garamand"/>
            </a:endParaRPr>
          </a:p>
          <a:p>
            <a:r>
              <a:rPr lang="fr-FR" sz="2000" i="0" dirty="0">
                <a:solidFill>
                  <a:srgbClr val="2D3748"/>
                </a:solidFill>
                <a:effectLst/>
                <a:latin typeface="Garamand"/>
              </a:rPr>
              <a:t>Lire  </a:t>
            </a:r>
            <a:r>
              <a:rPr lang="fr-FR" sz="2000" i="0" dirty="0" err="1">
                <a:solidFill>
                  <a:srgbClr val="2D3748"/>
                </a:solidFill>
                <a:effectLst/>
                <a:latin typeface="Garamand"/>
              </a:rPr>
              <a:t>MaVille.Temp</a:t>
            </a:r>
            <a:r>
              <a:rPr lang="fr-FR" sz="2000" i="0" dirty="0">
                <a:solidFill>
                  <a:srgbClr val="2D3748"/>
                </a:solidFill>
                <a:effectLst/>
                <a:latin typeface="Garamand"/>
              </a:rPr>
              <a:t>[i]</a:t>
            </a:r>
            <a:endParaRPr lang="fr-FR" sz="2000" i="0" dirty="0">
              <a:solidFill>
                <a:srgbClr val="2D3748"/>
              </a:solidFill>
              <a:effectLst/>
              <a:latin typeface="Garamand"/>
            </a:endParaRPr>
          </a:p>
          <a:p>
            <a:r>
              <a:rPr lang="fr-FR" sz="2000" i="0" dirty="0">
                <a:solidFill>
                  <a:srgbClr val="2D3748"/>
                </a:solidFill>
                <a:effectLst/>
                <a:latin typeface="Garamand"/>
              </a:rPr>
              <a:t>Fin  Pour</a:t>
            </a:r>
            <a:endParaRPr lang="fr-FR" sz="2000" i="0" dirty="0">
              <a:solidFill>
                <a:srgbClr val="2D3748"/>
              </a:solidFill>
              <a:effectLst/>
              <a:latin typeface="Garamand"/>
            </a:endParaRPr>
          </a:p>
          <a:p>
            <a:r>
              <a:rPr lang="fr-FR" sz="2000" i="0" dirty="0">
                <a:solidFill>
                  <a:schemeClr val="accent1">
                    <a:lumMod val="75000"/>
                  </a:schemeClr>
                </a:solidFill>
                <a:effectLst/>
                <a:latin typeface="Garamand"/>
              </a:rPr>
              <a:t>Fin</a:t>
            </a:r>
            <a:endParaRPr lang="fr-FR" sz="2000" i="0" dirty="0">
              <a:solidFill>
                <a:schemeClr val="accent1">
                  <a:lumMod val="75000"/>
                </a:schemeClr>
              </a:solidFill>
              <a:effectLst/>
              <a:latin typeface="Garamand"/>
            </a:endParaRPr>
          </a:p>
          <a:p>
            <a:endParaRPr lang="fr-FR" dirty="0"/>
          </a:p>
        </p:txBody>
      </p:sp>
      <p:pic>
        <p:nvPicPr>
          <p:cNvPr id="2053" name="Picture 5" descr="enregistrement : cas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8170" y="5344384"/>
            <a:ext cx="4583830" cy="1513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tableau)</a:t>
            </a:r>
            <a:endParaRPr lang="fr-FR" sz="4000" b="0" i="0" dirty="0">
              <a:solidFill>
                <a:srgbClr val="FFFFFF"/>
              </a:solidFill>
              <a:effectLst/>
              <a:latin typeface="var(--global-heading-font-family)"/>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just"/>
            <a:endParaRPr lang="fr-FR" sz="2400" dirty="0">
              <a:solidFill>
                <a:srgbClr val="2D3748"/>
              </a:solidFill>
              <a:latin typeface="Garamand"/>
            </a:endParaRPr>
          </a:p>
          <a:p>
            <a:pPr algn="ctr"/>
            <a:r>
              <a:rPr lang="fr-FR" sz="2800" b="1" dirty="0">
                <a:solidFill>
                  <a:schemeClr val="accent4">
                    <a:lumMod val="50000"/>
                  </a:schemeClr>
                </a:solidFill>
                <a:latin typeface="Garamand"/>
              </a:rPr>
              <a:t>Activité 3 :</a:t>
            </a:r>
            <a:endParaRPr lang="fr-FR" sz="2800" b="1" dirty="0">
              <a:solidFill>
                <a:schemeClr val="accent4">
                  <a:lumMod val="50000"/>
                </a:schemeClr>
              </a:solidFill>
              <a:latin typeface="Garamand"/>
            </a:endParaRPr>
          </a:p>
          <a:p>
            <a:pPr algn="l"/>
            <a:endParaRPr lang="fr-FR" sz="2400" b="0" i="0" dirty="0">
              <a:solidFill>
                <a:srgbClr val="2D3748"/>
              </a:solidFill>
              <a:effectLst/>
              <a:latin typeface="Garamand"/>
            </a:endParaRPr>
          </a:p>
          <a:p>
            <a:pPr algn="just"/>
            <a:r>
              <a:rPr lang="fr-FR" sz="2400" b="0" i="0" dirty="0">
                <a:solidFill>
                  <a:srgbClr val="2D3748"/>
                </a:solidFill>
                <a:effectLst/>
                <a:latin typeface="Garamand"/>
              </a:rPr>
              <a:t>Un étudiant sera identifié par  son  numéro d’étudiant(NE), son  nom,  son  prénom, sa date  de  naissance (qui sera décomposée en  jour, mois et année), un tableau contenant les moyennes de  5 modules .</a:t>
            </a:r>
            <a:endParaRPr lang="fr-FR" sz="2400" b="0" i="0" dirty="0">
              <a:solidFill>
                <a:srgbClr val="2D3748"/>
              </a:solidFill>
              <a:effectLst/>
              <a:latin typeface="Garamand"/>
            </a:endParaRPr>
          </a:p>
          <a:p>
            <a:pPr algn="just"/>
            <a:r>
              <a:rPr lang="fr-FR" sz="2400" b="0" i="0" dirty="0">
                <a:solidFill>
                  <a:srgbClr val="2D3748"/>
                </a:solidFill>
                <a:effectLst/>
                <a:latin typeface="Garamand"/>
              </a:rPr>
              <a:t>Écrire  un programme en C qui permet de définir les structures de données nécessaires, lire  des informations d’un étudiant et afficher ces informations</a:t>
            </a:r>
            <a:endParaRPr lang="fr-FR" sz="2400" b="0" i="0" dirty="0">
              <a:solidFill>
                <a:srgbClr val="2D3748"/>
              </a:solidFill>
              <a:effectLst/>
              <a:latin typeface="Garamand"/>
            </a:endParaRPr>
          </a:p>
          <a:p>
            <a:pPr algn="l"/>
            <a:endParaRPr lang="fr-FR" sz="24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(Tableau de variables structurées)</a:t>
            </a:r>
            <a:endParaRPr lang="fr-FR" sz="4000" b="0" i="0" dirty="0">
              <a:solidFill>
                <a:srgbClr val="FFFFFF"/>
              </a:solidFill>
              <a:effectLst/>
              <a:latin typeface="var(--global-heading-font-family)"/>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l"/>
            <a:r>
              <a:rPr lang="fr-FR" sz="2800" b="0" i="0" dirty="0">
                <a:solidFill>
                  <a:srgbClr val="2D3748"/>
                </a:solidFill>
                <a:effectLst/>
                <a:latin typeface="Garamand"/>
              </a:rPr>
              <a:t>Il arrive souvent qu’on  veut traiter non pas un seul enregistrement mais plusieurs.</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a:p>
            <a:pPr algn="l"/>
            <a:r>
              <a:rPr lang="fr-FR" sz="2800" b="1" i="0" dirty="0">
                <a:solidFill>
                  <a:schemeClr val="accent4">
                    <a:lumMod val="50000"/>
                  </a:schemeClr>
                </a:solidFill>
                <a:effectLst/>
                <a:latin typeface="Garamand"/>
              </a:rPr>
              <a:t>Exemple :</a:t>
            </a:r>
            <a:endParaRPr lang="fr-FR" sz="2800" b="1" i="0" dirty="0">
              <a:solidFill>
                <a:schemeClr val="accent4">
                  <a:lumMod val="50000"/>
                </a:schemeClr>
              </a:solidFill>
              <a:effectLst/>
              <a:latin typeface="Garamand"/>
            </a:endParaRPr>
          </a:p>
          <a:p>
            <a:pPr algn="l"/>
            <a:r>
              <a:rPr lang="fr-FR" sz="2800" dirty="0">
                <a:solidFill>
                  <a:srgbClr val="2D3748"/>
                </a:solidFill>
                <a:latin typeface="Garamand"/>
              </a:rPr>
              <a:t>O</a:t>
            </a:r>
            <a:r>
              <a:rPr lang="fr-FR" sz="2800" b="0" i="0" dirty="0">
                <a:solidFill>
                  <a:srgbClr val="2D3748"/>
                </a:solidFill>
                <a:effectLst/>
                <a:latin typeface="Garamand"/>
              </a:rPr>
              <a:t>n veut traiter un groupe de personne. Donc, On va créer  un tableau qui regroupe toutes les personnes du  groupe. </a:t>
            </a:r>
            <a:endParaRPr lang="fr-FR" sz="2800" b="0" i="0" dirty="0">
              <a:solidFill>
                <a:srgbClr val="2D3748"/>
              </a:solidFill>
              <a:effectLst/>
              <a:latin typeface="Garamand"/>
            </a:endParaRPr>
          </a:p>
          <a:p>
            <a:pPr algn="l"/>
            <a:r>
              <a:rPr lang="fr-FR" sz="2800" dirty="0">
                <a:solidFill>
                  <a:srgbClr val="2D3748"/>
                </a:solidFill>
                <a:latin typeface="Garamand"/>
              </a:rPr>
              <a:t>I</a:t>
            </a:r>
            <a:r>
              <a:rPr lang="fr-FR" sz="2800" b="0" i="0" dirty="0">
                <a:solidFill>
                  <a:srgbClr val="2D3748"/>
                </a:solidFill>
                <a:effectLst/>
                <a:latin typeface="Garamand"/>
              </a:rPr>
              <a:t>l  s’agit  alors  d’un  </a:t>
            </a:r>
            <a:r>
              <a:rPr lang="fr-FR" sz="2800" dirty="0">
                <a:solidFill>
                  <a:srgbClr val="2D3748"/>
                </a:solidFill>
                <a:latin typeface="Garamand"/>
              </a:rPr>
              <a:t>tableau </a:t>
            </a:r>
            <a:r>
              <a:rPr lang="fr-FR" sz="2800" b="0" i="0" dirty="0">
                <a:solidFill>
                  <a:srgbClr val="2D3748"/>
                </a:solidFill>
                <a:effectLst/>
                <a:latin typeface="Garamand"/>
              </a:rPr>
              <a:t>d’</a:t>
            </a:r>
            <a:r>
              <a:rPr lang="fr-FR" sz="2800" b="0" i="0" dirty="0" err="1">
                <a:solidFill>
                  <a:srgbClr val="2D3748"/>
                </a:solidFill>
                <a:effectLst/>
                <a:latin typeface="Garamand"/>
              </a:rPr>
              <a:t>enregistrement.Les</a:t>
            </a:r>
            <a:r>
              <a:rPr lang="fr-FR" sz="2800" b="0" i="0" dirty="0">
                <a:solidFill>
                  <a:srgbClr val="2D3748"/>
                </a:solidFill>
                <a:effectLst/>
                <a:latin typeface="Garamand"/>
              </a:rPr>
              <a:t>  colonnes  sont   appelées  champs et  les  lignes enregistrements.</a:t>
            </a:r>
            <a:endParaRPr lang="fr-FR" sz="2800" b="0" i="0" dirty="0">
              <a:solidFill>
                <a:srgbClr val="2D3748"/>
              </a:solidFill>
              <a:effectLst/>
              <a:latin typeface="Garamand"/>
            </a:endParaRPr>
          </a:p>
          <a:p>
            <a:pPr algn="l"/>
            <a:endParaRPr lang="fr-FR" sz="24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(Tableau de variables structurées)</a:t>
            </a:r>
            <a:endParaRPr lang="fr-FR" sz="4000" b="0" i="0" dirty="0">
              <a:solidFill>
                <a:srgbClr val="FFFFFF"/>
              </a:solidFill>
              <a:effectLst/>
              <a:latin typeface="var(--global-heading-font-family)"/>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2500" lnSpcReduction="10000"/>
          </a:bodyPr>
          <a:lstStyle/>
          <a:p>
            <a:pPr algn="l"/>
            <a:r>
              <a:rPr lang="fr-FR" sz="2800" b="1" dirty="0">
                <a:solidFill>
                  <a:schemeClr val="accent4">
                    <a:lumMod val="50000"/>
                  </a:schemeClr>
                </a:solidFill>
                <a:latin typeface="Garamand"/>
              </a:rPr>
              <a:t>Solution:</a:t>
            </a:r>
            <a:endParaRPr lang="fr-FR" sz="2800" b="1" dirty="0">
              <a:solidFill>
                <a:schemeClr val="accent4">
                  <a:lumMod val="50000"/>
                </a:schemeClr>
              </a:solidFill>
              <a:latin typeface="Garamand"/>
            </a:endParaRPr>
          </a:p>
          <a:p>
            <a:pPr algn="l"/>
            <a:endParaRPr lang="fr-FR" sz="2800" b="0" i="0" dirty="0">
              <a:solidFill>
                <a:srgbClr val="2D3748"/>
              </a:solidFill>
              <a:effectLst/>
              <a:latin typeface="Garamand"/>
            </a:endParaRPr>
          </a:p>
          <a:p>
            <a:pPr algn="l"/>
            <a:r>
              <a:rPr lang="fr-FR" sz="2800" b="0" i="0" dirty="0">
                <a:solidFill>
                  <a:srgbClr val="2D3748"/>
                </a:solidFill>
                <a:effectLst/>
                <a:latin typeface="Garamand"/>
              </a:rPr>
              <a:t>personne : enregistrement</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a:p>
            <a:pPr algn="l"/>
            <a:r>
              <a:rPr lang="fr-FR" sz="2800" b="0" i="0" dirty="0">
                <a:solidFill>
                  <a:srgbClr val="2D3748"/>
                </a:solidFill>
                <a:effectLst/>
                <a:latin typeface="Garamand"/>
              </a:rPr>
              <a:t>nom:  chaîne</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a:p>
            <a:pPr algn="l"/>
            <a:r>
              <a:rPr lang="fr-FR" sz="2800" b="0" i="0" dirty="0" err="1">
                <a:solidFill>
                  <a:srgbClr val="2D3748"/>
                </a:solidFill>
                <a:effectLst/>
                <a:latin typeface="Garamand"/>
              </a:rPr>
              <a:t>age</a:t>
            </a:r>
            <a:r>
              <a:rPr lang="fr-FR" sz="2800" b="0" i="0" dirty="0">
                <a:solidFill>
                  <a:srgbClr val="2D3748"/>
                </a:solidFill>
                <a:effectLst/>
                <a:latin typeface="Garamand"/>
              </a:rPr>
              <a:t>:  entier</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a:p>
            <a:pPr algn="l"/>
            <a:r>
              <a:rPr lang="fr-FR" sz="2800" b="0" i="0" dirty="0">
                <a:solidFill>
                  <a:srgbClr val="2D3748"/>
                </a:solidFill>
                <a:effectLst/>
                <a:latin typeface="Garamand"/>
              </a:rPr>
              <a:t>Fin enregistrement</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a:p>
            <a:pPr algn="l"/>
            <a:r>
              <a:rPr lang="fr-FR" sz="2800" b="0" i="0" dirty="0">
                <a:solidFill>
                  <a:srgbClr val="2D3748"/>
                </a:solidFill>
                <a:effectLst/>
                <a:latin typeface="Garamand"/>
              </a:rPr>
              <a:t>Tableau     groupe[20] : personne</a:t>
            </a:r>
            <a:endParaRPr lang="fr-FR" sz="24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(Tableau de variables structurées)</a:t>
            </a:r>
            <a:endParaRPr lang="fr-FR" sz="4000" b="0" i="0" dirty="0">
              <a:solidFill>
                <a:srgbClr val="FFFFFF"/>
              </a:solidFill>
              <a:effectLst/>
              <a:latin typeface="var(--global-heading-font-family)"/>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l"/>
            <a:r>
              <a:rPr lang="fr-FR" sz="2800" b="0" i="0" dirty="0">
                <a:solidFill>
                  <a:srgbClr val="2D3748"/>
                </a:solidFill>
                <a:effectLst/>
                <a:latin typeface="Garamand"/>
              </a:rPr>
              <a:t>Chaque élément du tableau est  une  variable  structurée, contenant plusieurs variables de type différent. On accède à une variable structurée par son  indice dans le tableau :</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a:p>
            <a:pPr marL="457200" indent="-457200" algn="l">
              <a:buFont typeface="Arial" panose="020B0604020202020204" pitchFamily="34" charset="0"/>
              <a:buChar char="•"/>
            </a:pPr>
            <a:r>
              <a:rPr lang="fr-FR" sz="2800" b="1" i="0" dirty="0">
                <a:solidFill>
                  <a:schemeClr val="accent3">
                    <a:lumMod val="50000"/>
                  </a:schemeClr>
                </a:solidFill>
                <a:effectLst/>
                <a:latin typeface="Garamand"/>
              </a:rPr>
              <a:t>groupe[1]  </a:t>
            </a:r>
            <a:r>
              <a:rPr lang="fr-FR" sz="2800" b="0" i="0" dirty="0">
                <a:solidFill>
                  <a:srgbClr val="2D3748"/>
                </a:solidFill>
                <a:effectLst/>
                <a:latin typeface="Garamand"/>
              </a:rPr>
              <a:t>représente la deuxième personne du groupe</a:t>
            </a:r>
            <a:endParaRPr lang="fr-FR" sz="2800" b="0" i="0" dirty="0">
              <a:solidFill>
                <a:srgbClr val="2D3748"/>
              </a:solidFill>
              <a:effectLst/>
              <a:latin typeface="Garamand"/>
            </a:endParaRPr>
          </a:p>
          <a:p>
            <a:pPr marL="457200" indent="-457200" algn="l">
              <a:buFont typeface="Arial" panose="020B0604020202020204" pitchFamily="34" charset="0"/>
              <a:buChar char="•"/>
            </a:pPr>
            <a:r>
              <a:rPr lang="fr-FR" sz="2800" b="1" i="0" dirty="0">
                <a:solidFill>
                  <a:schemeClr val="accent3">
                    <a:lumMod val="50000"/>
                  </a:schemeClr>
                </a:solidFill>
                <a:effectLst/>
                <a:latin typeface="Garamand"/>
              </a:rPr>
              <a:t>groupe[1].nom </a:t>
            </a:r>
            <a:r>
              <a:rPr lang="fr-FR" sz="2800" b="0" i="0" dirty="0">
                <a:solidFill>
                  <a:srgbClr val="2D3748"/>
                </a:solidFill>
                <a:effectLst/>
                <a:latin typeface="Garamand"/>
              </a:rPr>
              <a:t>représente  le nom de la deuxième personne du groupe</a:t>
            </a:r>
            <a:endParaRPr lang="fr-FR" sz="28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tableau d’enregistrements)</a:t>
            </a:r>
            <a:endParaRPr lang="fr-FR" sz="4000" b="0" i="0" dirty="0">
              <a:solidFill>
                <a:srgbClr val="FFFFFF"/>
              </a:solidFill>
              <a:effectLst/>
              <a:latin typeface="var(--global-heading-font-family)"/>
            </a:endParaRPr>
          </a:p>
        </p:txBody>
      </p:sp>
      <p:sp>
        <p:nvSpPr>
          <p:cNvPr id="185" name="CustomShape 3"/>
          <p:cNvSpPr/>
          <p:nvPr/>
        </p:nvSpPr>
        <p:spPr>
          <a:xfrm>
            <a:off x="885240" y="242388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l"/>
            <a:r>
              <a:rPr lang="fr-FR" sz="2800" b="0" i="0" dirty="0">
                <a:solidFill>
                  <a:srgbClr val="2D3748"/>
                </a:solidFill>
                <a:effectLst/>
                <a:latin typeface="Garamand"/>
              </a:rPr>
              <a:t>Les tableaux d’enregistrements peuvent aussi être eux même servir de type dans un autre  type structuré.</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a:p>
            <a:pPr algn="l"/>
            <a:r>
              <a:rPr lang="fr-FR" sz="2800" b="1" i="0" dirty="0">
                <a:solidFill>
                  <a:schemeClr val="accent4">
                    <a:lumMod val="50000"/>
                  </a:schemeClr>
                </a:solidFill>
                <a:effectLst/>
                <a:latin typeface="Garamand"/>
              </a:rPr>
              <a:t>Exemple :</a:t>
            </a:r>
            <a:endParaRPr lang="fr-FR" sz="2800" b="1" i="0" dirty="0">
              <a:solidFill>
                <a:schemeClr val="accent4">
                  <a:lumMod val="50000"/>
                </a:schemeClr>
              </a:solidFill>
              <a:effectLst/>
              <a:latin typeface="Garamand"/>
            </a:endParaRPr>
          </a:p>
          <a:p>
            <a:pPr algn="l"/>
            <a:endParaRPr lang="fr-FR" sz="2800" b="1" i="0" dirty="0">
              <a:solidFill>
                <a:schemeClr val="accent4">
                  <a:lumMod val="50000"/>
                </a:schemeClr>
              </a:solidFill>
              <a:effectLst/>
              <a:latin typeface="Garamand"/>
            </a:endParaRPr>
          </a:p>
          <a:p>
            <a:pPr algn="l"/>
            <a:r>
              <a:rPr lang="fr-FR" sz="2800" b="0" i="0" dirty="0">
                <a:solidFill>
                  <a:srgbClr val="2D3748"/>
                </a:solidFill>
                <a:effectLst/>
                <a:latin typeface="Garamand"/>
              </a:rPr>
              <a:t>Dans une  entreprise, on veut pouvoir connaître les enfants des employés et leur date  de naissance. On suppose que le nombre d’enfant maximal d’un employé est de 10.</a:t>
            </a:r>
            <a:endParaRPr lang="fr-FR" sz="28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tableau d’enregistrements)</a:t>
            </a:r>
            <a:endParaRPr lang="fr-FR" sz="4000" b="0" i="0" dirty="0">
              <a:solidFill>
                <a:srgbClr val="FFFFFF"/>
              </a:solidFill>
              <a:effectLst/>
              <a:latin typeface="var(--global-heading-font-family)"/>
            </a:endParaRPr>
          </a:p>
        </p:txBody>
      </p:sp>
      <p:sp>
        <p:nvSpPr>
          <p:cNvPr id="185" name="CustomShape 3"/>
          <p:cNvSpPr/>
          <p:nvPr/>
        </p:nvSpPr>
        <p:spPr>
          <a:xfrm>
            <a:off x="283317" y="2385271"/>
            <a:ext cx="3136250"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10000"/>
          </a:bodyPr>
          <a:lstStyle/>
          <a:p>
            <a:pPr algn="l"/>
            <a:r>
              <a:rPr lang="fr-FR" sz="2800" b="1" dirty="0">
                <a:solidFill>
                  <a:schemeClr val="accent4">
                    <a:lumMod val="50000"/>
                  </a:schemeClr>
                </a:solidFill>
                <a:latin typeface="Garamand"/>
              </a:rPr>
              <a:t>Solution</a:t>
            </a:r>
            <a:r>
              <a:rPr lang="fr-FR" sz="2800" b="1" i="0" dirty="0">
                <a:solidFill>
                  <a:schemeClr val="accent4">
                    <a:lumMod val="50000"/>
                  </a:schemeClr>
                </a:solidFill>
                <a:effectLst/>
                <a:latin typeface="Garamand"/>
              </a:rPr>
              <a:t> :</a:t>
            </a:r>
            <a:endParaRPr lang="fr-FR" sz="2800" b="1" i="0" dirty="0">
              <a:solidFill>
                <a:schemeClr val="accent4">
                  <a:lumMod val="50000"/>
                </a:schemeClr>
              </a:solidFill>
              <a:effectLst/>
              <a:latin typeface="Garamand"/>
            </a:endParaRPr>
          </a:p>
          <a:p>
            <a:pPr algn="l"/>
            <a:endParaRPr lang="fr-FR" sz="2800" b="1" i="0" dirty="0">
              <a:solidFill>
                <a:schemeClr val="accent4">
                  <a:lumMod val="50000"/>
                </a:schemeClr>
              </a:solidFill>
              <a:effectLst/>
              <a:latin typeface="Garamand"/>
            </a:endParaRPr>
          </a:p>
          <a:p>
            <a:pPr algn="l"/>
            <a:r>
              <a:rPr lang="fr-FR" sz="2400" b="1" i="0" dirty="0">
                <a:effectLst/>
                <a:latin typeface="Garamand"/>
              </a:rPr>
              <a:t>Date :enregistrement</a:t>
            </a:r>
            <a:endParaRPr lang="fr-FR" sz="2400" b="1" i="0" dirty="0">
              <a:effectLst/>
              <a:latin typeface="Garamand"/>
            </a:endParaRPr>
          </a:p>
          <a:p>
            <a:pPr algn="l"/>
            <a:endParaRPr lang="fr-FR" sz="2400" b="1" i="0" dirty="0">
              <a:effectLst/>
              <a:latin typeface="Garamand"/>
            </a:endParaRPr>
          </a:p>
          <a:p>
            <a:pPr algn="l"/>
            <a:r>
              <a:rPr lang="fr-FR" sz="2400" b="1" i="0" dirty="0" err="1">
                <a:effectLst/>
                <a:latin typeface="Garamand"/>
              </a:rPr>
              <a:t>Journaiss</a:t>
            </a:r>
            <a:r>
              <a:rPr lang="fr-FR" sz="2400" b="1" i="0" dirty="0">
                <a:effectLst/>
                <a:latin typeface="Garamand"/>
              </a:rPr>
              <a:t>  : entier</a:t>
            </a:r>
            <a:endParaRPr lang="fr-FR" sz="2400" b="1" i="0" dirty="0">
              <a:effectLst/>
              <a:latin typeface="Garamand"/>
            </a:endParaRPr>
          </a:p>
          <a:p>
            <a:pPr algn="l"/>
            <a:endParaRPr lang="fr-FR" sz="2400" b="1" i="0" dirty="0">
              <a:effectLst/>
              <a:latin typeface="Garamand"/>
            </a:endParaRPr>
          </a:p>
          <a:p>
            <a:pPr algn="l"/>
            <a:r>
              <a:rPr lang="fr-FR" sz="2400" b="1" i="0" dirty="0" err="1">
                <a:effectLst/>
                <a:latin typeface="Garamand"/>
              </a:rPr>
              <a:t>Moisnaiss</a:t>
            </a:r>
            <a:r>
              <a:rPr lang="fr-FR" sz="2400" b="1" i="0" dirty="0">
                <a:effectLst/>
                <a:latin typeface="Garamand"/>
              </a:rPr>
              <a:t>  : entier</a:t>
            </a:r>
            <a:endParaRPr lang="fr-FR" sz="2400" b="1" i="0" dirty="0">
              <a:effectLst/>
              <a:latin typeface="Garamand"/>
            </a:endParaRPr>
          </a:p>
          <a:p>
            <a:pPr algn="l"/>
            <a:endParaRPr lang="fr-FR" sz="2400" b="1" i="0" dirty="0">
              <a:effectLst/>
              <a:latin typeface="Garamand"/>
            </a:endParaRPr>
          </a:p>
          <a:p>
            <a:pPr algn="l"/>
            <a:r>
              <a:rPr lang="fr-FR" sz="2400" b="1" i="0" dirty="0" err="1">
                <a:effectLst/>
                <a:latin typeface="Garamand"/>
              </a:rPr>
              <a:t>Anneenaiss</a:t>
            </a:r>
            <a:r>
              <a:rPr lang="fr-FR" sz="2400" b="1" i="0" dirty="0">
                <a:effectLst/>
                <a:latin typeface="Garamand"/>
              </a:rPr>
              <a:t> :entier</a:t>
            </a:r>
            <a:endParaRPr lang="fr-FR" sz="2400" b="1" i="0" dirty="0">
              <a:effectLst/>
              <a:latin typeface="Garamand"/>
            </a:endParaRPr>
          </a:p>
          <a:p>
            <a:pPr algn="l"/>
            <a:endParaRPr lang="fr-FR" sz="2400" b="1" i="0" dirty="0">
              <a:effectLst/>
              <a:latin typeface="Garamand"/>
            </a:endParaRPr>
          </a:p>
          <a:p>
            <a:pPr algn="l"/>
            <a:r>
              <a:rPr lang="fr-FR" sz="2400" b="1" i="0" dirty="0">
                <a:effectLst/>
                <a:latin typeface="Garamand"/>
              </a:rPr>
              <a:t>fin enregistrement</a:t>
            </a:r>
            <a:endParaRPr lang="fr-FR" sz="2400" b="1" i="0" dirty="0">
              <a:effectLst/>
              <a:latin typeface="Garamand"/>
            </a:endParaRPr>
          </a:p>
          <a:p>
            <a:pPr algn="l"/>
            <a:endParaRPr lang="fr-FR" sz="2800" b="1" i="0" dirty="0">
              <a:solidFill>
                <a:schemeClr val="accent4">
                  <a:lumMod val="50000"/>
                </a:schemeClr>
              </a:solidFill>
              <a:effectLst/>
              <a:latin typeface="Garamand"/>
            </a:endParaRPr>
          </a:p>
        </p:txBody>
      </p:sp>
      <p:sp>
        <p:nvSpPr>
          <p:cNvPr id="3" name="CustomShape 3"/>
          <p:cNvSpPr/>
          <p:nvPr/>
        </p:nvSpPr>
        <p:spPr>
          <a:xfrm>
            <a:off x="4053504" y="2385271"/>
            <a:ext cx="3240360" cy="386492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l"/>
            <a:endParaRPr lang="fr-FR" sz="2800" b="1" i="0" dirty="0">
              <a:solidFill>
                <a:schemeClr val="accent4">
                  <a:lumMod val="50000"/>
                </a:schemeClr>
              </a:solidFill>
              <a:effectLst/>
              <a:latin typeface="Garamand"/>
            </a:endParaRPr>
          </a:p>
          <a:p>
            <a:pPr algn="l"/>
            <a:r>
              <a:rPr lang="fr-FR" sz="2400" b="1" i="0" dirty="0">
                <a:effectLst/>
                <a:latin typeface="Garamand"/>
              </a:rPr>
              <a:t>Enfant :enregistrement</a:t>
            </a:r>
            <a:endParaRPr lang="fr-FR" sz="2400" b="1" i="0" dirty="0">
              <a:effectLst/>
              <a:latin typeface="Garamand"/>
            </a:endParaRPr>
          </a:p>
          <a:p>
            <a:pPr algn="l"/>
            <a:endParaRPr lang="fr-FR" sz="2400" b="1" i="0" dirty="0">
              <a:effectLst/>
              <a:latin typeface="Garamand"/>
            </a:endParaRPr>
          </a:p>
          <a:p>
            <a:pPr algn="l"/>
            <a:r>
              <a:rPr lang="fr-FR" sz="2400" b="1" i="0" dirty="0">
                <a:effectLst/>
                <a:latin typeface="Garamand"/>
              </a:rPr>
              <a:t>Nom : chaîne</a:t>
            </a:r>
            <a:endParaRPr lang="fr-FR" sz="2400" b="1" i="0" dirty="0">
              <a:effectLst/>
              <a:latin typeface="Garamand"/>
            </a:endParaRPr>
          </a:p>
          <a:p>
            <a:pPr algn="l"/>
            <a:endParaRPr lang="fr-FR" sz="2400" b="1" i="0" dirty="0">
              <a:effectLst/>
              <a:latin typeface="Garamand"/>
            </a:endParaRPr>
          </a:p>
          <a:p>
            <a:pPr algn="l"/>
            <a:r>
              <a:rPr lang="fr-FR" sz="2400" b="1" i="0" dirty="0">
                <a:effectLst/>
                <a:latin typeface="Garamand"/>
              </a:rPr>
              <a:t>Prénom  : chaîne</a:t>
            </a:r>
            <a:endParaRPr lang="fr-FR" sz="2400" b="1" i="0" dirty="0">
              <a:effectLst/>
              <a:latin typeface="Garamand"/>
            </a:endParaRPr>
          </a:p>
          <a:p>
            <a:pPr algn="l"/>
            <a:endParaRPr lang="fr-FR" sz="2400" b="1" i="0" dirty="0">
              <a:effectLst/>
              <a:latin typeface="Garamand"/>
            </a:endParaRPr>
          </a:p>
          <a:p>
            <a:pPr algn="l"/>
            <a:r>
              <a:rPr lang="fr-FR" sz="2400" b="1" i="0" dirty="0" err="1">
                <a:effectLst/>
                <a:latin typeface="Garamand"/>
              </a:rPr>
              <a:t>dateNaiss</a:t>
            </a:r>
            <a:r>
              <a:rPr lang="fr-FR" sz="2400" b="1" i="0" dirty="0">
                <a:effectLst/>
                <a:latin typeface="Garamand"/>
              </a:rPr>
              <a:t> :Date</a:t>
            </a:r>
            <a:endParaRPr lang="fr-FR" sz="2400" b="1" i="0" dirty="0">
              <a:effectLst/>
              <a:latin typeface="Garamand"/>
            </a:endParaRPr>
          </a:p>
          <a:p>
            <a:pPr algn="l"/>
            <a:endParaRPr lang="fr-FR" sz="2400" b="1" i="0" dirty="0">
              <a:effectLst/>
              <a:latin typeface="Garamand"/>
            </a:endParaRPr>
          </a:p>
          <a:p>
            <a:pPr algn="l"/>
            <a:r>
              <a:rPr lang="fr-FR" sz="2400" b="1" i="0" dirty="0">
                <a:effectLst/>
                <a:latin typeface="Garamand"/>
              </a:rPr>
              <a:t>Fin  enregistrement</a:t>
            </a:r>
            <a:endParaRPr lang="fr-FR" sz="2400" b="1" i="0" dirty="0">
              <a:effectLst/>
              <a:latin typeface="Garamand"/>
            </a:endParaRPr>
          </a:p>
          <a:p>
            <a:pPr algn="l"/>
            <a:endParaRPr lang="fr-FR" sz="2800" b="1" i="0" dirty="0">
              <a:solidFill>
                <a:schemeClr val="accent4">
                  <a:lumMod val="50000"/>
                </a:schemeClr>
              </a:solidFill>
              <a:effectLst/>
              <a:latin typeface="Garamand"/>
            </a:endParaRPr>
          </a:p>
        </p:txBody>
      </p:sp>
      <p:sp>
        <p:nvSpPr>
          <p:cNvPr id="4" name="CustomShape 3"/>
          <p:cNvSpPr/>
          <p:nvPr/>
        </p:nvSpPr>
        <p:spPr>
          <a:xfrm>
            <a:off x="7908202" y="2540268"/>
            <a:ext cx="284758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0000" lnSpcReduction="20000"/>
          </a:bodyPr>
          <a:lstStyle/>
          <a:p>
            <a:pPr algn="l"/>
            <a:endParaRPr lang="fr-FR" sz="2800" b="1" i="0" dirty="0">
              <a:solidFill>
                <a:schemeClr val="accent4">
                  <a:lumMod val="50000"/>
                </a:schemeClr>
              </a:solidFill>
              <a:effectLst/>
              <a:latin typeface="Garamand"/>
            </a:endParaRPr>
          </a:p>
          <a:p>
            <a:pPr algn="l"/>
            <a:r>
              <a:rPr lang="fr-FR" sz="2800" b="1" i="0" dirty="0">
                <a:effectLst/>
                <a:latin typeface="Garamand"/>
              </a:rPr>
              <a:t>Employé :enregistrement</a:t>
            </a:r>
            <a:endParaRPr lang="fr-FR" sz="2800" b="1" i="0" dirty="0">
              <a:effectLst/>
              <a:latin typeface="Garamand"/>
            </a:endParaRPr>
          </a:p>
          <a:p>
            <a:pPr algn="l"/>
            <a:endParaRPr lang="fr-FR" sz="2800" b="1" i="0" dirty="0">
              <a:effectLst/>
              <a:latin typeface="Garamand"/>
            </a:endParaRPr>
          </a:p>
          <a:p>
            <a:pPr algn="l"/>
            <a:r>
              <a:rPr lang="fr-FR" sz="2800" b="1" i="0" dirty="0">
                <a:effectLst/>
                <a:latin typeface="Garamand"/>
              </a:rPr>
              <a:t>Nom : chaîne</a:t>
            </a:r>
            <a:endParaRPr lang="fr-FR" sz="2800" b="1" i="0" dirty="0">
              <a:effectLst/>
              <a:latin typeface="Garamand"/>
            </a:endParaRPr>
          </a:p>
          <a:p>
            <a:pPr algn="l"/>
            <a:endParaRPr lang="fr-FR" sz="2800" b="1" i="0" dirty="0">
              <a:effectLst/>
              <a:latin typeface="Garamand"/>
            </a:endParaRPr>
          </a:p>
          <a:p>
            <a:pPr algn="l"/>
            <a:r>
              <a:rPr lang="fr-FR" sz="2800" b="1" i="0" dirty="0">
                <a:effectLst/>
                <a:latin typeface="Garamand"/>
              </a:rPr>
              <a:t>Prénom  : Chaîne</a:t>
            </a:r>
            <a:endParaRPr lang="fr-FR" sz="2800" b="1" i="0" dirty="0">
              <a:effectLst/>
              <a:latin typeface="Garamand"/>
            </a:endParaRPr>
          </a:p>
          <a:p>
            <a:pPr algn="l"/>
            <a:endParaRPr lang="fr-FR" sz="2800" b="1" i="0" dirty="0">
              <a:effectLst/>
              <a:latin typeface="Garamand"/>
            </a:endParaRPr>
          </a:p>
          <a:p>
            <a:pPr algn="l"/>
            <a:r>
              <a:rPr lang="fr-FR" sz="2800" b="1" i="0" dirty="0">
                <a:effectLst/>
                <a:latin typeface="Garamand"/>
              </a:rPr>
              <a:t>…</a:t>
            </a:r>
            <a:endParaRPr lang="fr-FR" sz="2800" b="1" i="0" dirty="0">
              <a:effectLst/>
              <a:latin typeface="Garamand"/>
            </a:endParaRPr>
          </a:p>
          <a:p>
            <a:pPr algn="l"/>
            <a:endParaRPr lang="fr-FR" sz="2800" b="1" i="0" dirty="0">
              <a:effectLst/>
              <a:latin typeface="Garamand"/>
            </a:endParaRPr>
          </a:p>
          <a:p>
            <a:pPr algn="l"/>
            <a:r>
              <a:rPr lang="fr-FR" sz="2800" b="1" i="0" dirty="0" err="1">
                <a:effectLst/>
                <a:latin typeface="Garamand"/>
              </a:rPr>
              <a:t>Nbenf</a:t>
            </a:r>
            <a:r>
              <a:rPr lang="fr-FR" sz="2800" b="1" i="0" dirty="0">
                <a:effectLst/>
                <a:latin typeface="Garamand"/>
              </a:rPr>
              <a:t>  : entier //nombre  d'enfants</a:t>
            </a:r>
            <a:endParaRPr lang="fr-FR" sz="2800" b="1" i="0" dirty="0">
              <a:effectLst/>
              <a:latin typeface="Garamand"/>
            </a:endParaRPr>
          </a:p>
          <a:p>
            <a:pPr algn="l"/>
            <a:endParaRPr lang="fr-FR" sz="2800" b="1" i="0" dirty="0">
              <a:effectLst/>
              <a:latin typeface="Garamand"/>
            </a:endParaRPr>
          </a:p>
          <a:p>
            <a:pPr algn="l"/>
            <a:r>
              <a:rPr lang="fr-FR" sz="2800" b="1" i="0" dirty="0" err="1">
                <a:effectLst/>
                <a:latin typeface="Garamand"/>
              </a:rPr>
              <a:t>enfs</a:t>
            </a:r>
            <a:r>
              <a:rPr lang="fr-FR" sz="2800" b="1" i="0" dirty="0">
                <a:effectLst/>
                <a:latin typeface="Garamand"/>
              </a:rPr>
              <a:t> : tableau[1..10] d'Enfant</a:t>
            </a:r>
            <a:endParaRPr lang="fr-FR" sz="2800" b="1" i="0" dirty="0">
              <a:effectLst/>
              <a:latin typeface="Garamand"/>
            </a:endParaRPr>
          </a:p>
          <a:p>
            <a:pPr algn="l"/>
            <a:endParaRPr lang="fr-FR" sz="2800" b="1" i="0" dirty="0">
              <a:effectLst/>
              <a:latin typeface="Garamand"/>
            </a:endParaRPr>
          </a:p>
          <a:p>
            <a:pPr algn="l"/>
            <a:r>
              <a:rPr lang="fr-FR" sz="2800" b="1" i="0" dirty="0">
                <a:effectLst/>
                <a:latin typeface="Garamand"/>
              </a:rPr>
              <a:t>Fin  enregistrement</a:t>
            </a:r>
            <a:endParaRPr lang="fr-FR" sz="2800" b="1" i="0" dirty="0">
              <a:effectLst/>
              <a:latin typeface="Garamand"/>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tableau d’enregistrements)</a:t>
            </a:r>
            <a:endParaRPr lang="fr-FR" sz="4000" b="0" i="0" dirty="0">
              <a:solidFill>
                <a:srgbClr val="FFFFFF"/>
              </a:solidFill>
              <a:effectLst/>
              <a:latin typeface="var(--global-heading-font-family)"/>
            </a:endParaRPr>
          </a:p>
        </p:txBody>
      </p:sp>
      <p:pic>
        <p:nvPicPr>
          <p:cNvPr id="5128" name="Picture 8" descr="enregistrement : cas 3"/>
          <p:cNvPicPr>
            <a:picLocks noChangeAspect="1" noChangeArrowheads="1"/>
          </p:cNvPicPr>
          <p:nvPr/>
        </p:nvPicPr>
        <p:blipFill rotWithShape="1">
          <a:blip r:embed="rId2">
            <a:extLst>
              <a:ext uri="{28A0092B-C50C-407E-A947-70E740481C1C}">
                <a14:useLocalDpi xmlns:a14="http://schemas.microsoft.com/office/drawing/2010/main" val="0"/>
              </a:ext>
            </a:extLst>
          </a:blip>
          <a:srcRect t="6354"/>
          <a:stretch>
            <a:fillRect/>
          </a:stretch>
        </p:blipFill>
        <p:spPr bwMode="auto">
          <a:xfrm>
            <a:off x="3048384" y="2420888"/>
            <a:ext cx="5976664" cy="44363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tableau d’enregistrements)</a:t>
            </a:r>
            <a:endParaRPr lang="fr-FR" sz="4000" b="0" i="0" dirty="0">
              <a:solidFill>
                <a:srgbClr val="FFFFFF"/>
              </a:solidFill>
              <a:effectLst/>
              <a:latin typeface="var(--global-heading-font-family)"/>
            </a:endParaRPr>
          </a:p>
        </p:txBody>
      </p:sp>
      <p:sp>
        <p:nvSpPr>
          <p:cNvPr id="185" name="CustomShape 3"/>
          <p:cNvSpPr/>
          <p:nvPr/>
        </p:nvSpPr>
        <p:spPr>
          <a:xfrm>
            <a:off x="839416" y="2977920"/>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l"/>
            <a:r>
              <a:rPr lang="fr-FR" sz="2800" b="0" i="0" dirty="0">
                <a:solidFill>
                  <a:srgbClr val="2D3748"/>
                </a:solidFill>
                <a:effectLst/>
                <a:latin typeface="Garamand"/>
              </a:rPr>
              <a:t>On pourrait déclarer un tableau d’Employé. Ce qui ferait des  tableaux imbriqués les uns  dans les autres…</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a:p>
            <a:pPr algn="l"/>
            <a:r>
              <a:rPr lang="fr-FR" sz="2800" b="0" i="0" dirty="0">
                <a:solidFill>
                  <a:srgbClr val="2D3748"/>
                </a:solidFill>
                <a:effectLst/>
                <a:latin typeface="Garamand"/>
              </a:rPr>
              <a:t>Tableau   </a:t>
            </a:r>
            <a:r>
              <a:rPr lang="fr-FR" sz="2800" b="0" i="0" dirty="0" err="1">
                <a:solidFill>
                  <a:srgbClr val="2D3748"/>
                </a:solidFill>
                <a:effectLst/>
                <a:latin typeface="Garamand"/>
              </a:rPr>
              <a:t>Employes</a:t>
            </a:r>
            <a:r>
              <a:rPr lang="fr-FR" sz="2800" b="0" i="0" dirty="0">
                <a:solidFill>
                  <a:srgbClr val="2D3748"/>
                </a:solidFill>
                <a:effectLst/>
                <a:latin typeface="Garamand"/>
              </a:rPr>
              <a:t>[100] : </a:t>
            </a:r>
            <a:r>
              <a:rPr lang="fr-FR" sz="2800" b="0" i="0" dirty="0" err="1">
                <a:solidFill>
                  <a:srgbClr val="2D3748"/>
                </a:solidFill>
                <a:effectLst/>
                <a:latin typeface="Garamand"/>
              </a:rPr>
              <a:t>Employe</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83" name="Picture 73"/>
          <p:cNvPicPr/>
          <p:nvPr/>
        </p:nvPicPr>
        <p:blipFill>
          <a:blip r:embed="rId1"/>
          <a:stretch>
            <a:fillRect/>
          </a:stretch>
        </p:blipFill>
        <p:spPr>
          <a:xfrm>
            <a:off x="0" y="0"/>
            <a:ext cx="12191400" cy="6857280"/>
          </a:xfrm>
          <a:prstGeom prst="rect">
            <a:avLst/>
          </a:prstGeom>
          <a:ln>
            <a:noFill/>
          </a:ln>
        </p:spPr>
      </p:pic>
      <p:sp>
        <p:nvSpPr>
          <p:cNvPr id="1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Enregistrement: </a:t>
            </a:r>
            <a:r>
              <a:rPr lang="fr-FR" sz="4000" b="0" i="0" dirty="0">
                <a:solidFill>
                  <a:srgbClr val="FFFFFF"/>
                </a:solidFill>
                <a:effectLst/>
                <a:latin typeface="var(--global-heading-font-family)"/>
              </a:rPr>
              <a:t>Cas particuliers (Un champ de type tableau d’enregistrements)</a:t>
            </a:r>
            <a:endParaRPr lang="fr-FR" sz="4000" b="0" i="0" dirty="0">
              <a:solidFill>
                <a:srgbClr val="FFFFFF"/>
              </a:solidFill>
              <a:effectLst/>
              <a:latin typeface="var(--global-heading-font-family)"/>
            </a:endParaRPr>
          </a:p>
        </p:txBody>
      </p:sp>
      <p:sp>
        <p:nvSpPr>
          <p:cNvPr id="185" name="CustomShape 3"/>
          <p:cNvSpPr/>
          <p:nvPr/>
        </p:nvSpPr>
        <p:spPr>
          <a:xfrm>
            <a:off x="839416" y="2492896"/>
            <a:ext cx="10755376" cy="417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2500" lnSpcReduction="10000"/>
          </a:bodyPr>
          <a:lstStyle/>
          <a:p>
            <a:pPr algn="l"/>
            <a:r>
              <a:rPr lang="fr-FR" sz="2800" b="0" i="0" dirty="0">
                <a:solidFill>
                  <a:srgbClr val="2D3748"/>
                </a:solidFill>
                <a:effectLst/>
                <a:latin typeface="Garamand"/>
              </a:rPr>
              <a:t>Pour  afficher  par  exemple les anniversaires de  tous  les  enfants de  l’employé  d’indice  i, il  faudrait  parcourir  le tableau de ses enfants (avec  un autre  indice que i).</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a:p>
            <a:pPr algn="l"/>
            <a:r>
              <a:rPr lang="fr-FR" sz="2800" b="0" i="0" dirty="0">
                <a:solidFill>
                  <a:srgbClr val="2D3748"/>
                </a:solidFill>
                <a:effectLst/>
                <a:latin typeface="Garamand"/>
              </a:rPr>
              <a:t>Si  (</a:t>
            </a:r>
            <a:r>
              <a:rPr lang="fr-FR" sz="2800" b="0" i="0" dirty="0" err="1">
                <a:solidFill>
                  <a:srgbClr val="2D3748"/>
                </a:solidFill>
                <a:effectLst/>
                <a:latin typeface="Garamand"/>
              </a:rPr>
              <a:t>Employes</a:t>
            </a:r>
            <a:r>
              <a:rPr lang="fr-FR" sz="2800" b="0" i="0" dirty="0">
                <a:solidFill>
                  <a:srgbClr val="2D3748"/>
                </a:solidFill>
                <a:effectLst/>
                <a:latin typeface="Garamand"/>
              </a:rPr>
              <a:t> [i].</a:t>
            </a:r>
            <a:r>
              <a:rPr lang="fr-FR" sz="2800" b="0" i="0" dirty="0" err="1">
                <a:solidFill>
                  <a:srgbClr val="2D3748"/>
                </a:solidFill>
                <a:effectLst/>
                <a:latin typeface="Garamand"/>
              </a:rPr>
              <a:t>NbEnf</a:t>
            </a:r>
            <a:r>
              <a:rPr lang="fr-FR" sz="2800" b="0" i="0" dirty="0">
                <a:solidFill>
                  <a:srgbClr val="2D3748"/>
                </a:solidFill>
                <a:effectLst/>
                <a:latin typeface="Garamand"/>
              </a:rPr>
              <a:t>  &lt;&gt;  0  ) Alors//l’employé  a des enfants</a:t>
            </a:r>
            <a:endParaRPr lang="fr-FR" sz="2800" b="0" i="0" dirty="0">
              <a:solidFill>
                <a:srgbClr val="2D3748"/>
              </a:solidFill>
              <a:effectLst/>
              <a:latin typeface="Garamand"/>
            </a:endParaRPr>
          </a:p>
          <a:p>
            <a:pPr algn="l"/>
            <a:r>
              <a:rPr lang="fr-FR" sz="2800" b="0" i="0" dirty="0">
                <a:solidFill>
                  <a:srgbClr val="2D3748"/>
                </a:solidFill>
                <a:effectLst/>
                <a:latin typeface="Garamand"/>
              </a:rPr>
              <a:t>Pour  j allant de 1  a </a:t>
            </a:r>
            <a:r>
              <a:rPr lang="fr-FR" sz="2800" b="0" i="0" dirty="0" err="1">
                <a:solidFill>
                  <a:srgbClr val="2D3748"/>
                </a:solidFill>
                <a:effectLst/>
                <a:latin typeface="Garamand"/>
              </a:rPr>
              <a:t>Employes</a:t>
            </a:r>
            <a:r>
              <a:rPr lang="fr-FR" sz="2800" b="0" i="0" dirty="0">
                <a:solidFill>
                  <a:srgbClr val="2D3748"/>
                </a:solidFill>
                <a:effectLst/>
                <a:latin typeface="Garamand"/>
              </a:rPr>
              <a:t> [i].</a:t>
            </a:r>
            <a:r>
              <a:rPr lang="fr-FR" sz="2800" b="0" i="0" dirty="0" err="1">
                <a:solidFill>
                  <a:srgbClr val="2D3748"/>
                </a:solidFill>
                <a:effectLst/>
                <a:latin typeface="Garamand"/>
              </a:rPr>
              <a:t>NbEnf</a:t>
            </a:r>
            <a:endParaRPr lang="fr-FR" sz="2800" b="0" i="0" dirty="0">
              <a:solidFill>
                <a:srgbClr val="2D3748"/>
              </a:solidFill>
              <a:effectLst/>
              <a:latin typeface="Garamand"/>
            </a:endParaRPr>
          </a:p>
          <a:p>
            <a:pPr algn="l"/>
            <a:r>
              <a:rPr lang="fr-FR" sz="2800" b="0" i="0" dirty="0">
                <a:solidFill>
                  <a:srgbClr val="2D3748"/>
                </a:solidFill>
                <a:effectLst/>
                <a:latin typeface="Garamand"/>
              </a:rPr>
              <a:t>Ecrire  </a:t>
            </a:r>
            <a:r>
              <a:rPr lang="fr-FR" sz="2800" b="0" i="0" dirty="0" err="1">
                <a:solidFill>
                  <a:srgbClr val="2D3748"/>
                </a:solidFill>
                <a:effectLst/>
                <a:latin typeface="Garamand"/>
              </a:rPr>
              <a:t>Employes</a:t>
            </a:r>
            <a:r>
              <a:rPr lang="fr-FR" sz="2800" b="0" i="0" dirty="0">
                <a:solidFill>
                  <a:srgbClr val="2D3748"/>
                </a:solidFill>
                <a:effectLst/>
                <a:latin typeface="Garamand"/>
              </a:rPr>
              <a:t> [i].</a:t>
            </a:r>
            <a:r>
              <a:rPr lang="fr-FR" sz="2800" b="0" i="0" dirty="0" err="1">
                <a:solidFill>
                  <a:srgbClr val="2D3748"/>
                </a:solidFill>
                <a:effectLst/>
                <a:latin typeface="Garamand"/>
              </a:rPr>
              <a:t>enfs</a:t>
            </a:r>
            <a:r>
              <a:rPr lang="fr-FR" sz="2800" b="0" i="0" dirty="0">
                <a:solidFill>
                  <a:srgbClr val="2D3748"/>
                </a:solidFill>
                <a:effectLst/>
                <a:latin typeface="Garamand"/>
              </a:rPr>
              <a:t>[j].Prénom</a:t>
            </a:r>
            <a:endParaRPr lang="fr-FR" sz="2800" b="0" i="0" dirty="0">
              <a:solidFill>
                <a:srgbClr val="2D3748"/>
              </a:solidFill>
              <a:effectLst/>
              <a:latin typeface="Garamand"/>
            </a:endParaRPr>
          </a:p>
          <a:p>
            <a:pPr algn="l"/>
            <a:r>
              <a:rPr lang="fr-FR" sz="2800" b="0" i="0" dirty="0">
                <a:solidFill>
                  <a:srgbClr val="2D3748"/>
                </a:solidFill>
                <a:effectLst/>
                <a:latin typeface="Garamand"/>
              </a:rPr>
              <a:t>Ecrire  “anniversaire  le “,  </a:t>
            </a:r>
            <a:r>
              <a:rPr lang="fr-FR" sz="2800" b="0" i="0" dirty="0" err="1">
                <a:solidFill>
                  <a:srgbClr val="2D3748"/>
                </a:solidFill>
                <a:effectLst/>
                <a:latin typeface="Garamand"/>
              </a:rPr>
              <a:t>Employes</a:t>
            </a:r>
            <a:r>
              <a:rPr lang="fr-FR" sz="2800" b="0" i="0" dirty="0">
                <a:solidFill>
                  <a:srgbClr val="2D3748"/>
                </a:solidFill>
                <a:effectLst/>
                <a:latin typeface="Garamand"/>
              </a:rPr>
              <a:t> [i].</a:t>
            </a:r>
            <a:r>
              <a:rPr lang="fr-FR" sz="2800" b="0" i="0" dirty="0" err="1">
                <a:solidFill>
                  <a:srgbClr val="2D3748"/>
                </a:solidFill>
                <a:effectLst/>
                <a:latin typeface="Garamand"/>
              </a:rPr>
              <a:t>enfs</a:t>
            </a:r>
            <a:r>
              <a:rPr lang="fr-FR" sz="2800" b="0" i="0" dirty="0">
                <a:solidFill>
                  <a:srgbClr val="2D3748"/>
                </a:solidFill>
                <a:effectLst/>
                <a:latin typeface="Garamand"/>
              </a:rPr>
              <a:t>[j].</a:t>
            </a:r>
            <a:r>
              <a:rPr lang="fr-FR" sz="2800" b="0" i="0" dirty="0" err="1">
                <a:solidFill>
                  <a:srgbClr val="2D3748"/>
                </a:solidFill>
                <a:effectLst/>
                <a:latin typeface="Garamand"/>
              </a:rPr>
              <a:t>dateNais.journaiss</a:t>
            </a:r>
            <a:r>
              <a:rPr lang="fr-FR" sz="2800" b="0" i="0" dirty="0">
                <a:solidFill>
                  <a:srgbClr val="2D3748"/>
                </a:solidFill>
                <a:effectLst/>
                <a:latin typeface="Garamand"/>
              </a:rPr>
              <a:t>,  </a:t>
            </a:r>
            <a:r>
              <a:rPr lang="fr-FR" sz="2800" b="0" i="0" dirty="0" err="1">
                <a:solidFill>
                  <a:srgbClr val="2D3748"/>
                </a:solidFill>
                <a:effectLst/>
                <a:latin typeface="Garamand"/>
              </a:rPr>
              <a:t>Employes</a:t>
            </a:r>
            <a:r>
              <a:rPr lang="fr-FR" sz="2800" b="0" i="0" dirty="0">
                <a:solidFill>
                  <a:srgbClr val="2D3748"/>
                </a:solidFill>
                <a:effectLst/>
                <a:latin typeface="Garamand"/>
              </a:rPr>
              <a:t> [i].</a:t>
            </a:r>
            <a:r>
              <a:rPr lang="fr-FR" sz="2800" b="0" i="0" dirty="0" err="1">
                <a:solidFill>
                  <a:srgbClr val="2D3748"/>
                </a:solidFill>
                <a:effectLst/>
                <a:latin typeface="Garamand"/>
              </a:rPr>
              <a:t>enfs</a:t>
            </a:r>
            <a:r>
              <a:rPr lang="fr-FR" sz="2800" b="0" i="0" dirty="0">
                <a:solidFill>
                  <a:srgbClr val="2D3748"/>
                </a:solidFill>
                <a:effectLst/>
                <a:latin typeface="Garamand"/>
              </a:rPr>
              <a:t>[j].</a:t>
            </a:r>
            <a:r>
              <a:rPr lang="fr-FR" sz="2800" b="0" i="0" dirty="0" err="1">
                <a:solidFill>
                  <a:srgbClr val="2D3748"/>
                </a:solidFill>
                <a:effectLst/>
                <a:latin typeface="Garamand"/>
              </a:rPr>
              <a:t>dateNAis.mois</a:t>
            </a:r>
            <a:endParaRPr lang="fr-FR" sz="2800" b="0" i="0" dirty="0">
              <a:solidFill>
                <a:srgbClr val="2D3748"/>
              </a:solidFill>
              <a:effectLst/>
              <a:latin typeface="Garamand"/>
            </a:endParaRPr>
          </a:p>
          <a:p>
            <a:pPr algn="l"/>
            <a:r>
              <a:rPr lang="fr-FR" sz="2800" b="0" i="0" dirty="0">
                <a:solidFill>
                  <a:srgbClr val="2D3748"/>
                </a:solidFill>
                <a:effectLst/>
                <a:latin typeface="Garamand"/>
              </a:rPr>
              <a:t>Fin Pour</a:t>
            </a:r>
            <a:endParaRPr lang="fr-FR" sz="2800" b="0" i="0" dirty="0">
              <a:solidFill>
                <a:srgbClr val="2D3748"/>
              </a:solidFill>
              <a:effectLst/>
              <a:latin typeface="Garamand"/>
            </a:endParaRPr>
          </a:p>
          <a:p>
            <a:pPr algn="l"/>
            <a:r>
              <a:rPr lang="fr-FR" sz="2800" b="0" i="0" dirty="0">
                <a:solidFill>
                  <a:srgbClr val="2D3748"/>
                </a:solidFill>
                <a:effectLst/>
                <a:latin typeface="Garamand"/>
              </a:rPr>
              <a:t>Sinon Ecrire  “l’employé  “,  </a:t>
            </a:r>
            <a:r>
              <a:rPr lang="fr-FR" sz="2800" b="0" i="0" dirty="0" err="1">
                <a:solidFill>
                  <a:srgbClr val="2D3748"/>
                </a:solidFill>
                <a:effectLst/>
                <a:latin typeface="Garamand"/>
              </a:rPr>
              <a:t>Employes</a:t>
            </a:r>
            <a:r>
              <a:rPr lang="fr-FR" sz="2800" b="0" i="0" dirty="0">
                <a:solidFill>
                  <a:srgbClr val="2D3748"/>
                </a:solidFill>
                <a:effectLst/>
                <a:latin typeface="Garamand"/>
              </a:rPr>
              <a:t> [i].Nom,  ” n’a  pas d’enfant” Fin Si</a:t>
            </a:r>
            <a:endParaRPr lang="fr-FR" sz="2800" b="0" i="0" dirty="0">
              <a:solidFill>
                <a:srgbClr val="2D3748"/>
              </a:solidFill>
              <a:effectLst/>
              <a:latin typeface="Garamand"/>
            </a:endParaRPr>
          </a:p>
          <a:p>
            <a:pPr algn="l"/>
            <a:endParaRPr lang="fr-FR" sz="2800" b="0" i="0" dirty="0">
              <a:solidFill>
                <a:srgbClr val="2D3748"/>
              </a:solidFill>
              <a:effectLst/>
              <a:latin typeface="Garamand"/>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98" name="Picture 137"/>
          <p:cNvPicPr/>
          <p:nvPr/>
        </p:nvPicPr>
        <p:blipFill>
          <a:blip r:embed="rId1"/>
          <a:stretch>
            <a:fillRect/>
          </a:stretch>
        </p:blipFill>
        <p:spPr>
          <a:xfrm>
            <a:off x="0" y="0"/>
            <a:ext cx="12191400" cy="6857280"/>
          </a:xfrm>
          <a:prstGeom prst="rect">
            <a:avLst/>
          </a:prstGeom>
          <a:ln>
            <a:noFill/>
          </a:ln>
        </p:spPr>
      </p:pic>
      <p:sp>
        <p:nvSpPr>
          <p:cNvPr id="19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Structures linéaires. Pile</a:t>
            </a:r>
            <a:endParaRPr lang="fr-FR" sz="4000" b="0" strike="noStrike" spc="-1">
              <a:latin typeface="Arial" panose="020B0604020202020204"/>
            </a:endParaRPr>
          </a:p>
        </p:txBody>
      </p:sp>
      <p:sp>
        <p:nvSpPr>
          <p:cNvPr id="200" name="CustomShape 3"/>
          <p:cNvSpPr/>
          <p:nvPr/>
        </p:nvSpPr>
        <p:spPr>
          <a:xfrm>
            <a:off x="769320" y="2554560"/>
            <a:ext cx="10522080" cy="3476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100000"/>
              </a:lnSpc>
              <a:spcBef>
                <a:spcPts val="1000"/>
              </a:spcBef>
              <a:buClr>
                <a:srgbClr val="9B0D40"/>
              </a:buClr>
              <a:buFont typeface="Arial" panose="020B0604020202020204"/>
              <a:buChar char="•"/>
            </a:pPr>
            <a:r>
              <a:rPr lang="fr-FR" sz="2400" b="1" strike="noStrike" spc="-1" dirty="0">
                <a:solidFill>
                  <a:srgbClr val="9B0D40"/>
                </a:solidFill>
                <a:latin typeface="Times New Roman" panose="02020603050405020304"/>
              </a:rPr>
              <a:t>Piles, Files, Listes</a:t>
            </a:r>
            <a:r>
              <a:rPr lang="fr-FR" sz="2400" b="0" strike="noStrike" spc="-1" dirty="0">
                <a:solidFill>
                  <a:srgbClr val="9B0D40"/>
                </a:solidFill>
                <a:latin typeface="Times New Roman" panose="02020603050405020304"/>
              </a:rPr>
              <a:t> </a:t>
            </a:r>
            <a:r>
              <a:rPr lang="fr-FR" sz="2400" b="0" strike="noStrike" spc="-1" dirty="0">
                <a:solidFill>
                  <a:srgbClr val="000000"/>
                </a:solidFill>
                <a:latin typeface="Times New Roman" panose="02020603050405020304"/>
              </a:rPr>
              <a:t>font partie des structures dynamiques linéaires. </a:t>
            </a:r>
            <a:endParaRPr lang="fr-FR" sz="2400" b="0" strike="noStrike" spc="-1" dirty="0">
              <a:latin typeface="Arial" panose="020B0604020202020204"/>
            </a:endParaRPr>
          </a:p>
          <a:p>
            <a:pPr marL="228600" indent="-227965" algn="just">
              <a:lnSpc>
                <a:spcPct val="100000"/>
              </a:lnSpc>
              <a:spcBef>
                <a:spcPts val="1000"/>
              </a:spcBef>
              <a:buClr>
                <a:srgbClr val="000000"/>
              </a:buClr>
              <a:buFont typeface="Arial" panose="020B0604020202020204"/>
              <a:buChar char="•"/>
            </a:pPr>
            <a:r>
              <a:rPr lang="fr-FR" sz="2400" b="0" strike="noStrike" spc="-1" dirty="0">
                <a:solidFill>
                  <a:srgbClr val="000000"/>
                </a:solidFill>
                <a:latin typeface="Times New Roman" panose="02020603050405020304"/>
              </a:rPr>
              <a:t>Les opérations sur un ensemble dynamique peuvent être regroupées en deux catégories : </a:t>
            </a:r>
            <a:endParaRPr lang="fr-FR" sz="2400" b="0" strike="noStrike" spc="-1" dirty="0">
              <a:latin typeface="Arial" panose="020B0604020202020204"/>
            </a:endParaRPr>
          </a:p>
          <a:p>
            <a:pPr marL="685800" lvl="1" indent="-227965" algn="just">
              <a:lnSpc>
                <a:spcPct val="100000"/>
              </a:lnSpc>
              <a:spcBef>
                <a:spcPts val="500"/>
              </a:spcBef>
              <a:buClr>
                <a:srgbClr val="000000"/>
              </a:buClr>
              <a:buFont typeface="Arial" panose="020B0604020202020204"/>
              <a:buChar char="•"/>
            </a:pPr>
            <a:r>
              <a:rPr lang="fr-FR" sz="2400" b="0" strike="noStrike" spc="-1" dirty="0">
                <a:solidFill>
                  <a:srgbClr val="000000"/>
                </a:solidFill>
                <a:latin typeface="Times New Roman" panose="02020603050405020304"/>
              </a:rPr>
              <a:t>les requêtes (consultation);</a:t>
            </a:r>
            <a:endParaRPr lang="fr-FR" sz="2400" b="0" strike="noStrike" spc="-1" dirty="0">
              <a:latin typeface="Arial" panose="020B0604020202020204"/>
            </a:endParaRPr>
          </a:p>
          <a:p>
            <a:pPr marL="685800" lvl="1" indent="-227965" algn="just">
              <a:lnSpc>
                <a:spcPct val="100000"/>
              </a:lnSpc>
              <a:spcBef>
                <a:spcPts val="500"/>
              </a:spcBef>
              <a:buClr>
                <a:srgbClr val="000000"/>
              </a:buClr>
              <a:buFont typeface="Arial" panose="020B0604020202020204"/>
              <a:buChar char="•"/>
            </a:pPr>
            <a:r>
              <a:rPr lang="fr-FR" sz="2400" b="0" strike="noStrike" spc="-1" dirty="0">
                <a:solidFill>
                  <a:srgbClr val="000000"/>
                </a:solidFill>
                <a:latin typeface="Times New Roman" panose="02020603050405020304"/>
              </a:rPr>
              <a:t>les opérations de modification.</a:t>
            </a:r>
            <a:endParaRPr lang="fr-FR" sz="2400" b="0" strike="noStrike" spc="-1" dirty="0">
              <a:latin typeface="Arial" panose="020B0604020202020204"/>
            </a:endParaRPr>
          </a:p>
          <a:p>
            <a:pPr marL="685800" indent="-227965" algn="just">
              <a:lnSpc>
                <a:spcPct val="100000"/>
              </a:lnSpc>
              <a:spcBef>
                <a:spcPts val="500"/>
              </a:spcBef>
            </a:pPr>
            <a:r>
              <a:rPr lang="fr-FR" sz="2400" b="0" strike="noStrike" spc="-1" dirty="0">
                <a:solidFill>
                  <a:srgbClr val="000000"/>
                </a:solidFill>
                <a:latin typeface="Times New Roman" panose="02020603050405020304"/>
              </a:rPr>
              <a:t>Les opérations classiques </a:t>
            </a:r>
            <a:r>
              <a:rPr lang="fr-FR" sz="2400" b="0" strike="noStrike" spc="-1" dirty="0">
                <a:solidFill>
                  <a:srgbClr val="253A46"/>
                </a:solidFill>
                <a:latin typeface="Times New Roman" panose="02020603050405020304"/>
              </a:rPr>
              <a:t>: rechercher(</a:t>
            </a:r>
            <a:r>
              <a:rPr lang="fr-FR" sz="2400" b="0" strike="noStrike" spc="-1" dirty="0" err="1">
                <a:solidFill>
                  <a:srgbClr val="253A46"/>
                </a:solidFill>
                <a:latin typeface="Times New Roman" panose="02020603050405020304"/>
              </a:rPr>
              <a:t>S,clé</a:t>
            </a:r>
            <a:r>
              <a:rPr lang="fr-FR" sz="2400" b="0" strike="noStrike" spc="-1" dirty="0">
                <a:solidFill>
                  <a:srgbClr val="253A46"/>
                </a:solidFill>
                <a:latin typeface="Times New Roman" panose="02020603050405020304"/>
              </a:rPr>
              <a:t>), Insertion(</a:t>
            </a:r>
            <a:r>
              <a:rPr lang="fr-FR" sz="2400" b="0" strike="noStrike" spc="-1" dirty="0" err="1">
                <a:solidFill>
                  <a:srgbClr val="253A46"/>
                </a:solidFill>
                <a:latin typeface="Times New Roman" panose="02020603050405020304"/>
              </a:rPr>
              <a:t>S,elt</a:t>
            </a:r>
            <a:r>
              <a:rPr lang="fr-FR" sz="2400" b="0" strike="noStrike" spc="-1" dirty="0">
                <a:solidFill>
                  <a:srgbClr val="253A46"/>
                </a:solidFill>
                <a:latin typeface="Times New Roman" panose="02020603050405020304"/>
              </a:rPr>
              <a:t>), </a:t>
            </a:r>
            <a:r>
              <a:rPr lang="fr-FR" sz="2400" b="0" strike="noStrike" spc="-1" dirty="0" err="1">
                <a:solidFill>
                  <a:srgbClr val="253A46"/>
                </a:solidFill>
                <a:latin typeface="Times New Roman" panose="02020603050405020304"/>
              </a:rPr>
              <a:t>Supression</a:t>
            </a:r>
            <a:r>
              <a:rPr lang="fr-FR" sz="2400" b="0" strike="noStrike" spc="-1" dirty="0">
                <a:solidFill>
                  <a:srgbClr val="253A46"/>
                </a:solidFill>
                <a:latin typeface="Times New Roman" panose="02020603050405020304"/>
              </a:rPr>
              <a:t>(</a:t>
            </a:r>
            <a:r>
              <a:rPr lang="fr-FR" sz="2400" b="0" strike="noStrike" spc="-1" dirty="0" err="1">
                <a:solidFill>
                  <a:srgbClr val="253A46"/>
                </a:solidFill>
                <a:latin typeface="Times New Roman" panose="02020603050405020304"/>
              </a:rPr>
              <a:t>S,elt</a:t>
            </a:r>
            <a:r>
              <a:rPr lang="fr-FR" sz="2400" b="0" strike="noStrike" spc="-1" dirty="0">
                <a:solidFill>
                  <a:srgbClr val="253A46"/>
                </a:solidFill>
                <a:latin typeface="Times New Roman" panose="02020603050405020304"/>
              </a:rPr>
              <a:t>), Min(S),Max(S), Successeur(</a:t>
            </a:r>
            <a:r>
              <a:rPr lang="fr-FR" sz="2400" b="0" strike="noStrike" spc="-1" dirty="0" err="1">
                <a:solidFill>
                  <a:srgbClr val="253A46"/>
                </a:solidFill>
                <a:latin typeface="Times New Roman" panose="02020603050405020304"/>
              </a:rPr>
              <a:t>S,elt</a:t>
            </a:r>
            <a:r>
              <a:rPr lang="fr-FR" sz="2400" b="0" strike="noStrike" spc="-1" dirty="0">
                <a:solidFill>
                  <a:srgbClr val="253A46"/>
                </a:solidFill>
                <a:latin typeface="Times New Roman" panose="02020603050405020304"/>
              </a:rPr>
              <a:t>), Prédécesseur(</a:t>
            </a:r>
            <a:r>
              <a:rPr lang="fr-FR" sz="2400" b="0" strike="noStrike" spc="-1" dirty="0" err="1">
                <a:solidFill>
                  <a:srgbClr val="253A46"/>
                </a:solidFill>
                <a:latin typeface="Times New Roman" panose="02020603050405020304"/>
              </a:rPr>
              <a:t>S,elt</a:t>
            </a:r>
            <a:r>
              <a:rPr lang="fr-FR" sz="2400" b="0" strike="noStrike" spc="-1" dirty="0">
                <a:solidFill>
                  <a:srgbClr val="253A46"/>
                </a:solidFill>
                <a:latin typeface="Times New Roman" panose="02020603050405020304"/>
              </a:rPr>
              <a:t>), etc</a:t>
            </a:r>
            <a:r>
              <a:rPr lang="fr-FR" sz="2400" b="0" strike="noStrike" spc="-1" dirty="0">
                <a:solidFill>
                  <a:srgbClr val="000000"/>
                </a:solidFill>
                <a:latin typeface="Times New Roman" panose="02020603050405020304"/>
              </a:rPr>
              <a:t>. </a:t>
            </a:r>
            <a:endParaRPr lang="fr-FR" sz="24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1" name="CustomShape 1"/>
          <p:cNvSpPr/>
          <p:nvPr/>
        </p:nvSpPr>
        <p:spPr>
          <a:xfrm>
            <a:off x="475560" y="0"/>
            <a:ext cx="10909440" cy="6857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02" name="Picture 13"/>
          <p:cNvPicPr/>
          <p:nvPr/>
        </p:nvPicPr>
        <p:blipFill>
          <a:blip r:embed="rId1"/>
          <a:stretch>
            <a:fillRect/>
          </a:stretch>
        </p:blipFill>
        <p:spPr>
          <a:xfrm>
            <a:off x="0" y="0"/>
            <a:ext cx="12191400" cy="6857280"/>
          </a:xfrm>
          <a:prstGeom prst="rect">
            <a:avLst/>
          </a:prstGeom>
          <a:ln>
            <a:noFill/>
          </a:ln>
        </p:spPr>
      </p:pic>
      <p:sp>
        <p:nvSpPr>
          <p:cNvPr id="203" name="CustomShape 2"/>
          <p:cNvSpPr/>
          <p:nvPr/>
        </p:nvSpPr>
        <p:spPr>
          <a:xfrm>
            <a:off x="3045240" y="2043720"/>
            <a:ext cx="6104520" cy="203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a:lnSpc>
                <a:spcPct val="90000"/>
              </a:lnSpc>
            </a:pPr>
            <a:r>
              <a:rPr lang="fr-FR" sz="8800" b="1" strike="noStrike" spc="-1">
                <a:solidFill>
                  <a:srgbClr val="FFFFFF"/>
                </a:solidFill>
                <a:latin typeface="Times New Roman" panose="02020603050405020304"/>
              </a:rPr>
              <a:t>Les piles</a:t>
            </a:r>
            <a:endParaRPr lang="fr-FR" sz="8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05" name="Picture 10"/>
          <p:cNvPicPr/>
          <p:nvPr/>
        </p:nvPicPr>
        <p:blipFill>
          <a:blip r:embed="rId1"/>
          <a:stretch>
            <a:fillRect/>
          </a:stretch>
        </p:blipFill>
        <p:spPr>
          <a:xfrm>
            <a:off x="0" y="0"/>
            <a:ext cx="12191400" cy="6857280"/>
          </a:xfrm>
          <a:prstGeom prst="rect">
            <a:avLst/>
          </a:prstGeom>
          <a:ln>
            <a:noFill/>
          </a:ln>
        </p:spPr>
      </p:pic>
      <p:sp>
        <p:nvSpPr>
          <p:cNvPr id="206"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1" strike="noStrike" spc="-1">
                <a:solidFill>
                  <a:srgbClr val="FFFFFF"/>
                </a:solidFill>
                <a:latin typeface="Times New Roman" panose="02020603050405020304"/>
              </a:rPr>
              <a:t>Piles</a:t>
            </a:r>
            <a:endParaRPr lang="fr-FR" sz="4000" b="0" strike="noStrike" spc="-1">
              <a:latin typeface="Arial" panose="020B0604020202020204"/>
            </a:endParaRPr>
          </a:p>
        </p:txBody>
      </p:sp>
      <p:sp>
        <p:nvSpPr>
          <p:cNvPr id="207" name="CustomShape 3"/>
          <p:cNvSpPr/>
          <p:nvPr/>
        </p:nvSpPr>
        <p:spPr>
          <a:xfrm>
            <a:off x="808560" y="2583720"/>
            <a:ext cx="10203840" cy="3763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10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Une pile contient des objets insérés et retirés selon le principe du dernier arrivé, premier sorti </a:t>
            </a:r>
            <a:r>
              <a:rPr lang="fr-FR" sz="2400" b="0" strike="noStrike" spc="-1">
                <a:solidFill>
                  <a:srgbClr val="9B0D40"/>
                </a:solidFill>
                <a:latin typeface="Times New Roman" panose="02020603050405020304"/>
              </a:rPr>
              <a:t>(last-in-first-out LIFO)</a:t>
            </a:r>
            <a:endParaRPr lang="fr-FR" sz="2400" b="0" strike="noStrike" spc="-1">
              <a:latin typeface="Arial" panose="020B0604020202020204"/>
            </a:endParaRPr>
          </a:p>
          <a:p>
            <a:pPr marL="228600" indent="-227965">
              <a:lnSpc>
                <a:spcPct val="10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Les objets peuvent être insérés à tout moment, mais seulement le </a:t>
            </a:r>
            <a:r>
              <a:rPr lang="fr-FR" sz="2400" b="0" strike="noStrike" spc="-1">
                <a:solidFill>
                  <a:srgbClr val="9B0D40"/>
                </a:solidFill>
                <a:latin typeface="Times New Roman" panose="02020603050405020304"/>
              </a:rPr>
              <a:t>dernier (le plus récemment inséré) </a:t>
            </a:r>
            <a:r>
              <a:rPr lang="fr-FR" sz="2400" b="0" strike="noStrike" spc="-1">
                <a:solidFill>
                  <a:srgbClr val="000000"/>
                </a:solidFill>
                <a:latin typeface="Times New Roman" panose="02020603050405020304"/>
              </a:rPr>
              <a:t>peut être retiré</a:t>
            </a:r>
            <a:endParaRPr lang="fr-FR" sz="2400" b="0" strike="noStrike" spc="-1">
              <a:latin typeface="Arial" panose="020B0604020202020204"/>
            </a:endParaRPr>
          </a:p>
          <a:p>
            <a:pPr marL="228600" indent="-227965">
              <a:lnSpc>
                <a:spcPct val="10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Insérer un objet dans la pile correspond à l’empiler  </a:t>
            </a:r>
            <a:r>
              <a:rPr lang="fr-FR" sz="2400" b="0" strike="noStrike" spc="-1">
                <a:solidFill>
                  <a:srgbClr val="9B0D40"/>
                </a:solidFill>
                <a:latin typeface="Times New Roman" panose="02020603050405020304"/>
              </a:rPr>
              <a:t>(pushing). </a:t>
            </a:r>
            <a:endParaRPr lang="fr-FR" sz="2400" b="0" strike="noStrike" spc="-1">
              <a:latin typeface="Arial" panose="020B0604020202020204"/>
            </a:endParaRPr>
          </a:p>
          <a:p>
            <a:pPr marL="228600" indent="-227965">
              <a:lnSpc>
                <a:spcPct val="100000"/>
              </a:lnSpc>
              <a:spcBef>
                <a:spcPts val="1000"/>
              </a:spcBef>
            </a:pPr>
            <a:r>
              <a:rPr lang="fr-FR" sz="2400" b="0" strike="noStrike" spc="-1">
                <a:solidFill>
                  <a:srgbClr val="000000"/>
                </a:solidFill>
                <a:latin typeface="Times New Roman" panose="02020603050405020304"/>
              </a:rPr>
              <a:t>  Dépiler la pile </a:t>
            </a:r>
            <a:r>
              <a:rPr lang="fr-FR" sz="2400" b="0" strike="noStrike" spc="-1">
                <a:solidFill>
                  <a:srgbClr val="9B0D40"/>
                </a:solidFill>
                <a:latin typeface="Times New Roman" panose="02020603050405020304"/>
              </a:rPr>
              <a:t>(popping) </a:t>
            </a:r>
            <a:r>
              <a:rPr lang="fr-FR" sz="2400" b="0" strike="noStrike" spc="-1">
                <a:solidFill>
                  <a:srgbClr val="000000"/>
                </a:solidFill>
                <a:latin typeface="Times New Roman" panose="02020603050405020304"/>
              </a:rPr>
              <a:t>correspond au retrait d’un objet .</a:t>
            </a:r>
            <a:endParaRPr lang="fr-FR" sz="2400" b="0" strike="noStrike" spc="-1">
              <a:latin typeface="Arial" panose="020B0604020202020204"/>
            </a:endParaRPr>
          </a:p>
          <a:p>
            <a:pPr marL="228600" indent="-227965">
              <a:lnSpc>
                <a:spcPct val="10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Analogie: distributeur de bonbons PEZ</a:t>
            </a:r>
            <a:r>
              <a:rPr lang="fr-FR" sz="2400" b="0" strike="noStrike" spc="-1" baseline="30000">
                <a:solidFill>
                  <a:srgbClr val="000000"/>
                </a:solidFill>
                <a:latin typeface="Times New Roman" panose="02020603050405020304"/>
              </a:rPr>
              <a:t>®</a:t>
            </a:r>
            <a:endParaRPr lang="fr-FR" sz="2400" b="0" strike="noStrike" spc="-1">
              <a:latin typeface="Arial" panose="020B0604020202020204"/>
            </a:endParaRPr>
          </a:p>
        </p:txBody>
      </p:sp>
      <p:pic>
        <p:nvPicPr>
          <p:cNvPr id="208" name="Picture 40"/>
          <p:cNvPicPr/>
          <p:nvPr/>
        </p:nvPicPr>
        <p:blipFill>
          <a:blip r:embed="rId2"/>
          <a:stretch>
            <a:fillRect/>
          </a:stretch>
        </p:blipFill>
        <p:spPr>
          <a:xfrm>
            <a:off x="9681120" y="4361040"/>
            <a:ext cx="961200" cy="1951920"/>
          </a:xfrm>
          <a:prstGeom prst="rect">
            <a:avLst/>
          </a:prstGeom>
          <a:ln>
            <a:no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05" name="Picture 10"/>
          <p:cNvPicPr/>
          <p:nvPr/>
        </p:nvPicPr>
        <p:blipFill>
          <a:blip r:embed="rId1"/>
          <a:stretch>
            <a:fillRect/>
          </a:stretch>
        </p:blipFill>
        <p:spPr>
          <a:xfrm>
            <a:off x="0" y="0"/>
            <a:ext cx="12191400" cy="6857280"/>
          </a:xfrm>
          <a:prstGeom prst="rect">
            <a:avLst/>
          </a:prstGeom>
          <a:ln>
            <a:noFill/>
          </a:ln>
        </p:spPr>
      </p:pic>
      <p:sp>
        <p:nvSpPr>
          <p:cNvPr id="206"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1" strike="noStrike" spc="-1">
                <a:solidFill>
                  <a:srgbClr val="FFFFFF"/>
                </a:solidFill>
                <a:latin typeface="Times New Roman" panose="02020603050405020304"/>
              </a:rPr>
              <a:t>Piles</a:t>
            </a:r>
            <a:endParaRPr lang="fr-FR" sz="4000" b="0" strike="noStrike" spc="-1">
              <a:latin typeface="Arial" panose="020B0604020202020204"/>
            </a:endParaRPr>
          </a:p>
        </p:txBody>
      </p:sp>
      <p:sp>
        <p:nvSpPr>
          <p:cNvPr id="207" name="CustomShape 3"/>
          <p:cNvSpPr/>
          <p:nvPr/>
        </p:nvSpPr>
        <p:spPr>
          <a:xfrm>
            <a:off x="808355" y="2583815"/>
            <a:ext cx="10203815" cy="42557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635" indent="0">
              <a:lnSpc>
                <a:spcPct val="100000"/>
              </a:lnSpc>
              <a:spcBef>
                <a:spcPts val="1000"/>
              </a:spcBef>
              <a:buClr>
                <a:srgbClr val="000000"/>
              </a:buClr>
              <a:buFont typeface="Arial" panose="020B0604020202020204"/>
              <a:buNone/>
            </a:pPr>
            <a:r>
              <a:rPr lang="en-US" altLang="fr-FR" sz="2300" b="1" strike="noStrike" spc="-1">
                <a:solidFill>
                  <a:schemeClr val="accent1"/>
                </a:solidFill>
                <a:latin typeface="Times New Roman" panose="02020603050405020304" pitchFamily="18" charset="0"/>
                <a:cs typeface="Times New Roman" panose="02020603050405020304" pitchFamily="18" charset="0"/>
              </a:rPr>
              <a:t>Pourquoi une Pile ?</a:t>
            </a:r>
            <a:endParaRPr lang="en-US" altLang="fr-FR" sz="2300" b="1" strike="noStrike" spc="-1">
              <a:solidFill>
                <a:schemeClr val="accent1"/>
              </a:solidFill>
              <a:latin typeface="Times New Roman" panose="02020603050405020304" pitchFamily="18" charset="0"/>
              <a:cs typeface="Times New Roman" panose="02020603050405020304" pitchFamily="18" charset="0"/>
            </a:endParaRPr>
          </a:p>
          <a:p>
            <a:pPr marL="228600" indent="-227965">
              <a:lnSpc>
                <a:spcPct val="100000"/>
              </a:lnSpc>
              <a:spcBef>
                <a:spcPts val="1000"/>
              </a:spcBef>
              <a:buClr>
                <a:srgbClr val="000000"/>
              </a:buClr>
              <a:buFont typeface="Arial" panose="020B0604020202020204"/>
              <a:buChar char="•"/>
            </a:pPr>
            <a:r>
              <a:rPr lang="en-US" altLang="fr-FR" sz="2300" b="0" strike="noStrike" spc="-1">
                <a:latin typeface="Times New Roman" panose="02020603050405020304" pitchFamily="18" charset="0"/>
                <a:cs typeface="Times New Roman" panose="02020603050405020304" pitchFamily="18" charset="0"/>
              </a:rPr>
              <a:t>"Imaginez un distributeur de bonbons PEZ</a:t>
            </a:r>
            <a:r>
              <a:rPr lang="en-US" altLang="en-US" sz="2300" b="0" strike="noStrike" spc="-1">
                <a:latin typeface="Times New Roman" panose="02020603050405020304" pitchFamily="18" charset="0"/>
                <a:cs typeface="Times New Roman" panose="02020603050405020304" pitchFamily="18" charset="0"/>
              </a:rPr>
              <a:t>®</a:t>
            </a:r>
            <a:r>
              <a:rPr lang="en-US" altLang="fr-FR" sz="2300" b="0" strike="noStrike" spc="-1">
                <a:latin typeface="Times New Roman" panose="02020603050405020304" pitchFamily="18" charset="0"/>
                <a:cs typeface="Times New Roman" panose="02020603050405020304" pitchFamily="18" charset="0"/>
              </a:rPr>
              <a:t>. Vous pouvez y ins</a:t>
            </a:r>
            <a:r>
              <a:rPr lang="en-US" altLang="en-US" sz="2300" b="0" strike="noStrike" spc="-1">
                <a:latin typeface="Times New Roman" panose="02020603050405020304" pitchFamily="18" charset="0"/>
                <a:cs typeface="Times New Roman" panose="02020603050405020304" pitchFamily="18" charset="0"/>
              </a:rPr>
              <a:t>é</a:t>
            </a:r>
            <a:r>
              <a:rPr lang="en-US" altLang="fr-FR" sz="2300" b="0" strike="noStrike" spc="-1">
                <a:latin typeface="Times New Roman" panose="02020603050405020304" pitchFamily="18" charset="0"/>
                <a:cs typeface="Times New Roman" panose="02020603050405020304" pitchFamily="18" charset="0"/>
              </a:rPr>
              <a:t>rer de nouveaux bonbons un par un, mais lorsque vous voulez en prendre un, vous devez retirer celui qui est en haut. Impossible d’acc</a:t>
            </a:r>
            <a:r>
              <a:rPr lang="en-US" altLang="en-US" sz="2300" b="0" strike="noStrike" spc="-1">
                <a:latin typeface="Times New Roman" panose="02020603050405020304" pitchFamily="18" charset="0"/>
                <a:cs typeface="Times New Roman" panose="02020603050405020304" pitchFamily="18" charset="0"/>
              </a:rPr>
              <a:t>é</a:t>
            </a:r>
            <a:r>
              <a:rPr lang="en-US" altLang="fr-FR" sz="2300" b="0" strike="noStrike" spc="-1">
                <a:latin typeface="Times New Roman" panose="02020603050405020304" pitchFamily="18" charset="0"/>
                <a:cs typeface="Times New Roman" panose="02020603050405020304" pitchFamily="18" charset="0"/>
              </a:rPr>
              <a:t>der directement à un bonbon du milieu sans d’abord enlever ceux du dessus. Ce principe est exactement celui d’une pile (stack) en informatique."</a:t>
            </a:r>
            <a:endParaRPr lang="en-US" altLang="fr-FR" sz="2300" b="0" strike="noStrike" spc="-1">
              <a:latin typeface="Times New Roman" panose="02020603050405020304" pitchFamily="18" charset="0"/>
              <a:cs typeface="Times New Roman" panose="02020603050405020304" pitchFamily="18" charset="0"/>
            </a:endParaRPr>
          </a:p>
          <a:p>
            <a:pPr marL="228600" indent="-227965">
              <a:lnSpc>
                <a:spcPct val="100000"/>
              </a:lnSpc>
              <a:spcBef>
                <a:spcPts val="1000"/>
              </a:spcBef>
              <a:buClr>
                <a:srgbClr val="000000"/>
              </a:buClr>
              <a:buFont typeface="Arial" panose="020B0604020202020204"/>
              <a:buChar char="•"/>
            </a:pPr>
            <a:r>
              <a:rPr lang="en-US" altLang="fr-FR" sz="2300" b="0" strike="noStrike" spc="-1">
                <a:latin typeface="Times New Roman" panose="02020603050405020304" pitchFamily="18" charset="0"/>
                <a:cs typeface="Times New Roman" panose="02020603050405020304" pitchFamily="18" charset="0"/>
              </a:rPr>
              <a:t>Dans cette partie, nous allons voir :</a:t>
            </a:r>
            <a:endParaRPr lang="en-US" altLang="fr-FR" sz="2300" b="0" strike="noStrike" spc="-1">
              <a:latin typeface="Times New Roman" panose="02020603050405020304" pitchFamily="18" charset="0"/>
              <a:cs typeface="Times New Roman" panose="02020603050405020304" pitchFamily="18" charset="0"/>
            </a:endParaRPr>
          </a:p>
          <a:p>
            <a:pPr marL="228600" indent="-227965">
              <a:lnSpc>
                <a:spcPct val="100000"/>
              </a:lnSpc>
              <a:spcBef>
                <a:spcPts val="1000"/>
              </a:spcBef>
              <a:buClr>
                <a:srgbClr val="000000"/>
              </a:buClr>
              <a:buFont typeface="Arial" panose="020B0604020202020204"/>
              <a:buChar char="•"/>
            </a:pPr>
            <a:r>
              <a:rPr lang="en-US" altLang="en-US" sz="2300" b="0" strike="noStrike" spc="-1">
                <a:latin typeface="Times New Roman" panose="02020603050405020304" pitchFamily="18" charset="0"/>
                <a:cs typeface="Times New Roman" panose="02020603050405020304" pitchFamily="18" charset="0"/>
              </a:rPr>
              <a:t>✔</a:t>
            </a:r>
            <a:r>
              <a:rPr lang="en-US" altLang="fr-FR" sz="2300" b="0" strike="noStrike" spc="-1">
                <a:latin typeface="Times New Roman" panose="02020603050405020304" pitchFamily="18" charset="0"/>
                <a:cs typeface="Times New Roman" panose="02020603050405020304" pitchFamily="18" charset="0"/>
              </a:rPr>
              <a:t> Comment fonctionne une pile</a:t>
            </a:r>
            <a:endParaRPr lang="en-US" altLang="fr-FR" sz="2300" b="0" strike="noStrike" spc="-1">
              <a:latin typeface="Times New Roman" panose="02020603050405020304" pitchFamily="18" charset="0"/>
              <a:cs typeface="Times New Roman" panose="02020603050405020304" pitchFamily="18" charset="0"/>
            </a:endParaRPr>
          </a:p>
          <a:p>
            <a:pPr marL="228600" indent="-227965">
              <a:lnSpc>
                <a:spcPct val="100000"/>
              </a:lnSpc>
              <a:spcBef>
                <a:spcPts val="1000"/>
              </a:spcBef>
              <a:buClr>
                <a:srgbClr val="000000"/>
              </a:buClr>
              <a:buFont typeface="Arial" panose="020B0604020202020204"/>
              <a:buChar char="•"/>
            </a:pPr>
            <a:r>
              <a:rPr lang="en-US" altLang="en-US" sz="2300" b="0" strike="noStrike" spc="-1">
                <a:latin typeface="Times New Roman" panose="02020603050405020304" pitchFamily="18" charset="0"/>
                <a:cs typeface="Times New Roman" panose="02020603050405020304" pitchFamily="18" charset="0"/>
              </a:rPr>
              <a:t>✔</a:t>
            </a:r>
            <a:r>
              <a:rPr lang="en-US" altLang="fr-FR" sz="2300" b="0" strike="noStrike" spc="-1">
                <a:latin typeface="Times New Roman" panose="02020603050405020304" pitchFamily="18" charset="0"/>
                <a:cs typeface="Times New Roman" panose="02020603050405020304" pitchFamily="18" charset="0"/>
              </a:rPr>
              <a:t> Ses op</a:t>
            </a:r>
            <a:r>
              <a:rPr lang="en-US" altLang="en-US" sz="2300" b="0" strike="noStrike" spc="-1">
                <a:latin typeface="Times New Roman" panose="02020603050405020304" pitchFamily="18" charset="0"/>
                <a:cs typeface="Times New Roman" panose="02020603050405020304" pitchFamily="18" charset="0"/>
              </a:rPr>
              <a:t>é</a:t>
            </a:r>
            <a:r>
              <a:rPr lang="en-US" altLang="fr-FR" sz="2300" b="0" strike="noStrike" spc="-1">
                <a:latin typeface="Times New Roman" panose="02020603050405020304" pitchFamily="18" charset="0"/>
                <a:cs typeface="Times New Roman" panose="02020603050405020304" pitchFamily="18" charset="0"/>
              </a:rPr>
              <a:t>rations principales : empiler (push) et d</a:t>
            </a:r>
            <a:r>
              <a:rPr lang="en-US" altLang="en-US" sz="2300" b="0" strike="noStrike" spc="-1">
                <a:latin typeface="Times New Roman" panose="02020603050405020304" pitchFamily="18" charset="0"/>
                <a:cs typeface="Times New Roman" panose="02020603050405020304" pitchFamily="18" charset="0"/>
              </a:rPr>
              <a:t>é</a:t>
            </a:r>
            <a:r>
              <a:rPr lang="en-US" altLang="fr-FR" sz="2300" b="0" strike="noStrike" spc="-1">
                <a:latin typeface="Times New Roman" panose="02020603050405020304" pitchFamily="18" charset="0"/>
                <a:cs typeface="Times New Roman" panose="02020603050405020304" pitchFamily="18" charset="0"/>
              </a:rPr>
              <a:t>piler (pop)</a:t>
            </a:r>
            <a:endParaRPr lang="en-US" altLang="fr-FR" sz="2300" b="0" strike="noStrike" spc="-1">
              <a:latin typeface="Times New Roman" panose="02020603050405020304" pitchFamily="18" charset="0"/>
              <a:cs typeface="Times New Roman" panose="02020603050405020304" pitchFamily="18" charset="0"/>
            </a:endParaRPr>
          </a:p>
          <a:p>
            <a:pPr marL="228600" indent="-227965">
              <a:lnSpc>
                <a:spcPct val="100000"/>
              </a:lnSpc>
              <a:spcBef>
                <a:spcPts val="1000"/>
              </a:spcBef>
              <a:buClr>
                <a:srgbClr val="000000"/>
              </a:buClr>
              <a:buFont typeface="Arial" panose="020B0604020202020204"/>
              <a:buChar char="•"/>
            </a:pPr>
            <a:r>
              <a:rPr lang="en-US" altLang="en-US" sz="2300" b="0" strike="noStrike" spc="-1">
                <a:latin typeface="Times New Roman" panose="02020603050405020304" pitchFamily="18" charset="0"/>
                <a:cs typeface="Times New Roman" panose="02020603050405020304" pitchFamily="18" charset="0"/>
              </a:rPr>
              <a:t>✔</a:t>
            </a:r>
            <a:r>
              <a:rPr lang="en-US" altLang="fr-FR" sz="2300" b="0" strike="noStrike" spc="-1">
                <a:latin typeface="Times New Roman" panose="02020603050405020304" pitchFamily="18" charset="0"/>
                <a:cs typeface="Times New Roman" panose="02020603050405020304" pitchFamily="18" charset="0"/>
              </a:rPr>
              <a:t> Pourquoi et o</a:t>
            </a:r>
            <a:r>
              <a:rPr lang="en-US" altLang="en-US" sz="2300" b="0" strike="noStrike" spc="-1">
                <a:latin typeface="Times New Roman" panose="02020603050405020304" pitchFamily="18" charset="0"/>
                <a:cs typeface="Times New Roman" panose="02020603050405020304" pitchFamily="18" charset="0"/>
              </a:rPr>
              <a:t>ù</a:t>
            </a:r>
            <a:r>
              <a:rPr lang="en-US" altLang="fr-FR" sz="2300" b="0" strike="noStrike" spc="-1">
                <a:latin typeface="Times New Roman" panose="02020603050405020304" pitchFamily="18" charset="0"/>
                <a:cs typeface="Times New Roman" panose="02020603050405020304" pitchFamily="18" charset="0"/>
              </a:rPr>
              <a:t> elle est utilis</a:t>
            </a:r>
            <a:r>
              <a:rPr lang="en-US" altLang="en-US" sz="2300" b="0" strike="noStrike" spc="-1">
                <a:latin typeface="Times New Roman" panose="02020603050405020304" pitchFamily="18" charset="0"/>
                <a:cs typeface="Times New Roman" panose="02020603050405020304" pitchFamily="18" charset="0"/>
              </a:rPr>
              <a:t>é</a:t>
            </a:r>
            <a:r>
              <a:rPr lang="en-US" altLang="fr-FR" sz="2300" b="0" strike="noStrike" spc="-1">
                <a:latin typeface="Times New Roman" panose="02020603050405020304" pitchFamily="18" charset="0"/>
                <a:cs typeface="Times New Roman" panose="02020603050405020304" pitchFamily="18" charset="0"/>
              </a:rPr>
              <a:t>e en informatique</a:t>
            </a:r>
            <a:endParaRPr lang="en-US" altLang="fr-FR" sz="2300" b="0" strike="noStrike" spc="-1">
              <a:latin typeface="Times New Roman" panose="02020603050405020304" pitchFamily="18" charset="0"/>
              <a:cs typeface="Times New Roman" panose="02020603050405020304" pitchFamily="18" charset="0"/>
            </a:endParaRPr>
          </a:p>
        </p:txBody>
      </p:sp>
      <p:pic>
        <p:nvPicPr>
          <p:cNvPr id="208" name="Picture 40"/>
          <p:cNvPicPr/>
          <p:nvPr/>
        </p:nvPicPr>
        <p:blipFill>
          <a:blip r:embed="rId2"/>
          <a:stretch>
            <a:fillRect/>
          </a:stretch>
        </p:blipFill>
        <p:spPr>
          <a:xfrm>
            <a:off x="9912895" y="4724895"/>
            <a:ext cx="961200" cy="1951920"/>
          </a:xfrm>
          <a:prstGeom prst="rect">
            <a:avLst/>
          </a:prstGeom>
          <a:ln>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9"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10" name="Picture 137"/>
          <p:cNvPicPr/>
          <p:nvPr/>
        </p:nvPicPr>
        <p:blipFill>
          <a:blip r:embed="rId1"/>
          <a:stretch>
            <a:fillRect/>
          </a:stretch>
        </p:blipFill>
        <p:spPr>
          <a:xfrm>
            <a:off x="0" y="0"/>
            <a:ext cx="12191400" cy="6857280"/>
          </a:xfrm>
          <a:prstGeom prst="rect">
            <a:avLst/>
          </a:prstGeom>
          <a:ln>
            <a:noFill/>
          </a:ln>
        </p:spPr>
      </p:pic>
      <p:sp>
        <p:nvSpPr>
          <p:cNvPr id="211"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a:t>
            </a:r>
            <a:endParaRPr lang="fr-FR" sz="4000" b="0" strike="noStrike" spc="-1">
              <a:latin typeface="Arial" panose="020B0604020202020204"/>
            </a:endParaRPr>
          </a:p>
        </p:txBody>
      </p:sp>
      <p:sp>
        <p:nvSpPr>
          <p:cNvPr id="212" name="CustomShape 3"/>
          <p:cNvSpPr/>
          <p:nvPr/>
        </p:nvSpPr>
        <p:spPr>
          <a:xfrm>
            <a:off x="972360" y="2491560"/>
            <a:ext cx="10173960" cy="3807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9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Pile est un ensemble dynamique dans lequel l’élément supprimé est celui le plus récemment inséré : dernier entré-premier sorti LIFO  </a:t>
            </a:r>
            <a:endParaRPr lang="fr-FR" sz="24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Opérations :</a:t>
            </a:r>
            <a:endParaRPr lang="fr-FR" sz="2400" b="0" strike="noStrike" spc="-1">
              <a:latin typeface="Arial" panose="020B0604020202020204"/>
            </a:endParaRPr>
          </a:p>
          <a:p>
            <a:pPr marL="685800" lvl="1" indent="-227965">
              <a:lnSpc>
                <a:spcPct val="90000"/>
              </a:lnSpc>
              <a:spcBef>
                <a:spcPts val="500"/>
              </a:spcBef>
              <a:buClr>
                <a:srgbClr val="000000"/>
              </a:buClr>
              <a:buFont typeface="Arial" panose="020B0604020202020204"/>
              <a:buChar char="•"/>
            </a:pPr>
            <a:r>
              <a:rPr lang="fr-FR" sz="2000" b="0" strike="noStrike" spc="-1">
                <a:solidFill>
                  <a:srgbClr val="000000"/>
                </a:solidFill>
                <a:latin typeface="Times New Roman" panose="02020603050405020304"/>
              </a:rPr>
              <a:t> </a:t>
            </a:r>
            <a:r>
              <a:rPr lang="fr-FR" sz="2400" b="0" strike="noStrike" spc="-1">
                <a:solidFill>
                  <a:srgbClr val="000000"/>
                </a:solidFill>
                <a:latin typeface="Times New Roman" panose="02020603050405020304"/>
              </a:rPr>
              <a:t>Insérer = Empliler</a:t>
            </a:r>
            <a:endParaRPr lang="fr-FR" sz="2400" b="0" strike="noStrike" spc="-1">
              <a:latin typeface="Arial" panose="020B0604020202020204"/>
            </a:endParaRPr>
          </a:p>
          <a:p>
            <a:pPr marL="685800" lvl="1" indent="-227965">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 Supprimer = Dépiler</a:t>
            </a:r>
            <a:endParaRPr lang="fr-FR" sz="2400" b="0" strike="noStrike" spc="-1">
              <a:latin typeface="Arial" panose="020B0604020202020204"/>
            </a:endParaRPr>
          </a:p>
          <a:p>
            <a:pPr marL="685800" lvl="1" indent="-227965">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 Valeur= Recherche </a:t>
            </a:r>
            <a:endParaRPr lang="fr-FR" sz="24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(toujours l’élément pointé par le sommet)</a:t>
            </a:r>
            <a:endParaRPr lang="fr-FR" sz="24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Illustration graphique dans le cas d’implémentation  par un tableau</a:t>
            </a:r>
            <a:endParaRPr lang="fr-FR" sz="2400" b="0" strike="noStrike" spc="-1">
              <a:latin typeface="Arial" panose="020B0604020202020204"/>
            </a:endParaRPr>
          </a:p>
        </p:txBody>
      </p:sp>
      <p:pic>
        <p:nvPicPr>
          <p:cNvPr id="213" name="Image 1"/>
          <p:cNvPicPr/>
          <p:nvPr/>
        </p:nvPicPr>
        <p:blipFill>
          <a:blip r:embed="rId2"/>
          <a:stretch>
            <a:fillRect/>
          </a:stretch>
        </p:blipFill>
        <p:spPr>
          <a:xfrm>
            <a:off x="5519520" y="3484800"/>
            <a:ext cx="3980880" cy="1237680"/>
          </a:xfrm>
          <a:prstGeom prst="rect">
            <a:avLst/>
          </a:prstGeom>
          <a:ln>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9"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10" name="Picture 137"/>
          <p:cNvPicPr/>
          <p:nvPr/>
        </p:nvPicPr>
        <p:blipFill>
          <a:blip r:embed="rId1"/>
          <a:stretch>
            <a:fillRect/>
          </a:stretch>
        </p:blipFill>
        <p:spPr>
          <a:xfrm>
            <a:off x="0" y="0"/>
            <a:ext cx="12191400" cy="6857280"/>
          </a:xfrm>
          <a:prstGeom prst="rect">
            <a:avLst/>
          </a:prstGeom>
          <a:ln>
            <a:noFill/>
          </a:ln>
        </p:spPr>
      </p:pic>
      <p:sp>
        <p:nvSpPr>
          <p:cNvPr id="211"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a:t>
            </a:r>
            <a:endParaRPr lang="fr-FR" sz="4000" b="0" strike="noStrike" spc="-1">
              <a:latin typeface="Arial" panose="020B0604020202020204"/>
            </a:endParaRPr>
          </a:p>
        </p:txBody>
      </p:sp>
      <p:sp>
        <p:nvSpPr>
          <p:cNvPr id="212" name="CustomShape 3"/>
          <p:cNvSpPr/>
          <p:nvPr/>
        </p:nvSpPr>
        <p:spPr>
          <a:xfrm>
            <a:off x="972360" y="2491560"/>
            <a:ext cx="10173960" cy="3807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60000"/>
          </a:bodyPr>
          <a:lstStyle/>
          <a:p>
            <a:pPr marL="228600" indent="-227965">
              <a:lnSpc>
                <a:spcPct val="90000"/>
              </a:lnSpc>
              <a:spcBef>
                <a:spcPts val="1000"/>
              </a:spcBef>
              <a:buClr>
                <a:srgbClr val="000000"/>
              </a:buClr>
              <a:buFont typeface="Arial" panose="020B0604020202020204"/>
              <a:buChar char="•"/>
            </a:pPr>
            <a:endParaRPr lang="en-US" altLang="fr-FR" sz="2400" b="0" strike="noStrike" spc="-1">
              <a:solidFill>
                <a:srgbClr val="000000"/>
              </a:solidFill>
              <a:latin typeface="Times New Roman" panose="02020603050405020304"/>
            </a:endParaRPr>
          </a:p>
          <a:p>
            <a:pPr marL="635" indent="0" algn="just">
              <a:lnSpc>
                <a:spcPct val="90000"/>
              </a:lnSpc>
              <a:spcBef>
                <a:spcPts val="1000"/>
              </a:spcBef>
              <a:buClr>
                <a:srgbClr val="000000"/>
              </a:buClr>
              <a:buFont typeface="Arial" panose="020B0604020202020204"/>
              <a:buNone/>
            </a:pPr>
            <a:r>
              <a:rPr lang="en-US" altLang="fr-FR" sz="4570" b="1" strike="noStrike" spc="-1">
                <a:solidFill>
                  <a:srgbClr val="00B0F0"/>
                </a:solidFill>
                <a:latin typeface="Times New Roman" panose="02020603050405020304" pitchFamily="18" charset="0"/>
                <a:cs typeface="Times New Roman" panose="02020603050405020304" pitchFamily="18" charset="0"/>
              </a:rPr>
              <a:t>R</a:t>
            </a:r>
            <a:r>
              <a:rPr lang="en-US" altLang="en-US" sz="4570" b="1" strike="noStrike" spc="-1">
                <a:solidFill>
                  <a:srgbClr val="00B0F0"/>
                </a:solidFill>
                <a:latin typeface="Times New Roman" panose="02020603050405020304" pitchFamily="18" charset="0"/>
                <a:cs typeface="Times New Roman" panose="02020603050405020304" pitchFamily="18" charset="0"/>
              </a:rPr>
              <a:t>è</a:t>
            </a:r>
            <a:r>
              <a:rPr lang="en-US" altLang="fr-FR" sz="4570" b="1" strike="noStrike" spc="-1">
                <a:solidFill>
                  <a:srgbClr val="00B0F0"/>
                </a:solidFill>
                <a:latin typeface="Times New Roman" panose="02020603050405020304" pitchFamily="18" charset="0"/>
                <a:cs typeface="Times New Roman" panose="02020603050405020304" pitchFamily="18" charset="0"/>
              </a:rPr>
              <a:t>gles de la pile :</a:t>
            </a:r>
            <a:endParaRPr lang="en-US" altLang="fr-FR" sz="4570" b="1" strike="noStrike" spc="-1">
              <a:solidFill>
                <a:srgbClr val="00B0F0"/>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4570" b="0" strike="noStrike" spc="-1">
                <a:solidFill>
                  <a:srgbClr val="000000"/>
                </a:solidFill>
                <a:latin typeface="Times New Roman" panose="02020603050405020304" pitchFamily="18" charset="0"/>
                <a:cs typeface="Times New Roman" panose="02020603050405020304" pitchFamily="18" charset="0"/>
              </a:rPr>
              <a:t>Insertion (push) : On ajoute un </a:t>
            </a:r>
            <a:r>
              <a:rPr lang="en-US" altLang="en-US" sz="4570" b="0" strike="noStrike" spc="-1">
                <a:solidFill>
                  <a:srgbClr val="000000"/>
                </a:solidFill>
                <a:latin typeface="Times New Roman" panose="02020603050405020304" pitchFamily="18" charset="0"/>
                <a:cs typeface="Times New Roman" panose="02020603050405020304" pitchFamily="18" charset="0"/>
              </a:rPr>
              <a:t>é</a:t>
            </a:r>
            <a:r>
              <a:rPr lang="en-US" altLang="fr-FR" sz="4570" b="0" strike="noStrike" spc="-1">
                <a:solidFill>
                  <a:srgbClr val="000000"/>
                </a:solidFill>
                <a:latin typeface="Times New Roman" panose="02020603050405020304" pitchFamily="18" charset="0"/>
                <a:cs typeface="Times New Roman" panose="02020603050405020304" pitchFamily="18" charset="0"/>
              </a:rPr>
              <a:t>l</a:t>
            </a:r>
            <a:r>
              <a:rPr lang="en-US" altLang="en-US" sz="4570" b="0" strike="noStrike" spc="-1">
                <a:solidFill>
                  <a:srgbClr val="000000"/>
                </a:solidFill>
                <a:latin typeface="Times New Roman" panose="02020603050405020304" pitchFamily="18" charset="0"/>
                <a:cs typeface="Times New Roman" panose="02020603050405020304" pitchFamily="18" charset="0"/>
              </a:rPr>
              <a:t>é</a:t>
            </a:r>
            <a:r>
              <a:rPr lang="en-US" altLang="fr-FR" sz="4570" b="0" strike="noStrike" spc="-1">
                <a:solidFill>
                  <a:srgbClr val="000000"/>
                </a:solidFill>
                <a:latin typeface="Times New Roman" panose="02020603050405020304" pitchFamily="18" charset="0"/>
                <a:cs typeface="Times New Roman" panose="02020603050405020304" pitchFamily="18" charset="0"/>
              </a:rPr>
              <a:t>ment au sommet de la pile.</a:t>
            </a:r>
            <a:endParaRPr lang="en-US" altLang="fr-FR" sz="4570" b="0" strike="noStrike" spc="-1">
              <a:solidFill>
                <a:srgbClr val="000000"/>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4570" b="0" strike="noStrike" spc="-1">
                <a:solidFill>
                  <a:srgbClr val="000000"/>
                </a:solidFill>
                <a:latin typeface="Times New Roman" panose="02020603050405020304" pitchFamily="18" charset="0"/>
                <a:cs typeface="Times New Roman" panose="02020603050405020304" pitchFamily="18" charset="0"/>
              </a:rPr>
              <a:t>Suppression (pop) : On retire uniquement l’</a:t>
            </a:r>
            <a:r>
              <a:rPr lang="en-US" altLang="en-US" sz="4570" b="0" strike="noStrike" spc="-1">
                <a:solidFill>
                  <a:srgbClr val="000000"/>
                </a:solidFill>
                <a:latin typeface="Times New Roman" panose="02020603050405020304" pitchFamily="18" charset="0"/>
                <a:cs typeface="Times New Roman" panose="02020603050405020304" pitchFamily="18" charset="0"/>
              </a:rPr>
              <a:t>é</a:t>
            </a:r>
            <a:r>
              <a:rPr lang="en-US" altLang="fr-FR" sz="4570" b="0" strike="noStrike" spc="-1">
                <a:solidFill>
                  <a:srgbClr val="000000"/>
                </a:solidFill>
                <a:latin typeface="Times New Roman" panose="02020603050405020304" pitchFamily="18" charset="0"/>
                <a:cs typeface="Times New Roman" panose="02020603050405020304" pitchFamily="18" charset="0"/>
              </a:rPr>
              <a:t>l</a:t>
            </a:r>
            <a:r>
              <a:rPr lang="en-US" altLang="en-US" sz="4570" b="0" strike="noStrike" spc="-1">
                <a:solidFill>
                  <a:srgbClr val="000000"/>
                </a:solidFill>
                <a:latin typeface="Times New Roman" panose="02020603050405020304" pitchFamily="18" charset="0"/>
                <a:cs typeface="Times New Roman" panose="02020603050405020304" pitchFamily="18" charset="0"/>
              </a:rPr>
              <a:t>é</a:t>
            </a:r>
            <a:r>
              <a:rPr lang="en-US" altLang="fr-FR" sz="4570" b="0" strike="noStrike" spc="-1">
                <a:solidFill>
                  <a:srgbClr val="000000"/>
                </a:solidFill>
                <a:latin typeface="Times New Roman" panose="02020603050405020304" pitchFamily="18" charset="0"/>
                <a:cs typeface="Times New Roman" panose="02020603050405020304" pitchFamily="18" charset="0"/>
              </a:rPr>
              <a:t>ment en haut de la pile.</a:t>
            </a:r>
            <a:endParaRPr lang="en-US" altLang="fr-FR" sz="4570" b="0" strike="noStrike" spc="-1">
              <a:solidFill>
                <a:srgbClr val="000000"/>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4570" b="0" strike="noStrike" spc="-1">
                <a:solidFill>
                  <a:srgbClr val="000000"/>
                </a:solidFill>
                <a:latin typeface="Times New Roman" panose="02020603050405020304" pitchFamily="18" charset="0"/>
                <a:cs typeface="Times New Roman" panose="02020603050405020304" pitchFamily="18" charset="0"/>
              </a:rPr>
              <a:t>Consultation (top) : On regarde l’</a:t>
            </a:r>
            <a:r>
              <a:rPr lang="en-US" altLang="en-US" sz="4570" b="0" strike="noStrike" spc="-1">
                <a:solidFill>
                  <a:srgbClr val="000000"/>
                </a:solidFill>
                <a:latin typeface="Times New Roman" panose="02020603050405020304" pitchFamily="18" charset="0"/>
                <a:cs typeface="Times New Roman" panose="02020603050405020304" pitchFamily="18" charset="0"/>
              </a:rPr>
              <a:t>é</a:t>
            </a:r>
            <a:r>
              <a:rPr lang="en-US" altLang="fr-FR" sz="4570" b="0" strike="noStrike" spc="-1">
                <a:solidFill>
                  <a:srgbClr val="000000"/>
                </a:solidFill>
                <a:latin typeface="Times New Roman" panose="02020603050405020304" pitchFamily="18" charset="0"/>
                <a:cs typeface="Times New Roman" panose="02020603050405020304" pitchFamily="18" charset="0"/>
              </a:rPr>
              <a:t>l</a:t>
            </a:r>
            <a:r>
              <a:rPr lang="en-US" altLang="en-US" sz="4570" b="0" strike="noStrike" spc="-1">
                <a:solidFill>
                  <a:srgbClr val="000000"/>
                </a:solidFill>
                <a:latin typeface="Times New Roman" panose="02020603050405020304" pitchFamily="18" charset="0"/>
                <a:cs typeface="Times New Roman" panose="02020603050405020304" pitchFamily="18" charset="0"/>
              </a:rPr>
              <a:t>é</a:t>
            </a:r>
            <a:r>
              <a:rPr lang="en-US" altLang="fr-FR" sz="4570" b="0" strike="noStrike" spc="-1">
                <a:solidFill>
                  <a:srgbClr val="000000"/>
                </a:solidFill>
                <a:latin typeface="Times New Roman" panose="02020603050405020304" pitchFamily="18" charset="0"/>
                <a:cs typeface="Times New Roman" panose="02020603050405020304" pitchFamily="18" charset="0"/>
              </a:rPr>
              <a:t>ment en haut sans le retirer.</a:t>
            </a:r>
            <a:endParaRPr lang="en-US" altLang="fr-FR" sz="4570" b="0" strike="noStrike" spc="-1">
              <a:solidFill>
                <a:srgbClr val="000000"/>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endParaRPr lang="en-US" altLang="fr-FR" sz="4570" b="0" strike="noStrike" spc="-1">
              <a:solidFill>
                <a:srgbClr val="000000"/>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4570" b="0" strike="noStrike" spc="-1">
                <a:solidFill>
                  <a:srgbClr val="FF0000"/>
                </a:solidFill>
                <a:latin typeface="Times New Roman" panose="02020603050405020304" pitchFamily="18" charset="0"/>
                <a:cs typeface="Times New Roman" panose="02020603050405020304" pitchFamily="18" charset="0"/>
              </a:rPr>
              <a:t>Restriction principale :</a:t>
            </a:r>
            <a:r>
              <a:rPr lang="fr-FR" altLang="en-US" sz="4570" b="0" strike="noStrike" spc="-1">
                <a:solidFill>
                  <a:srgbClr val="FF0000"/>
                </a:solidFill>
                <a:latin typeface="Times New Roman" panose="02020603050405020304" pitchFamily="18" charset="0"/>
                <a:cs typeface="Times New Roman" panose="02020603050405020304" pitchFamily="18" charset="0"/>
              </a:rPr>
              <a:t> </a:t>
            </a:r>
            <a:r>
              <a:rPr lang="en-US" altLang="fr-FR" sz="4570" b="0" strike="noStrike" spc="-1">
                <a:solidFill>
                  <a:srgbClr val="000000"/>
                </a:solidFill>
                <a:latin typeface="Times New Roman" panose="02020603050405020304" pitchFamily="18" charset="0"/>
                <a:cs typeface="Times New Roman" panose="02020603050405020304" pitchFamily="18" charset="0"/>
              </a:rPr>
              <a:t>On ne peut pas acc</a:t>
            </a:r>
            <a:r>
              <a:rPr lang="en-US" altLang="en-US" sz="4570" b="0" strike="noStrike" spc="-1">
                <a:solidFill>
                  <a:srgbClr val="000000"/>
                </a:solidFill>
                <a:latin typeface="Times New Roman" panose="02020603050405020304" pitchFamily="18" charset="0"/>
                <a:cs typeface="Times New Roman" panose="02020603050405020304" pitchFamily="18" charset="0"/>
              </a:rPr>
              <a:t>é</a:t>
            </a:r>
            <a:r>
              <a:rPr lang="en-US" altLang="fr-FR" sz="4570" b="0" strike="noStrike" spc="-1">
                <a:solidFill>
                  <a:srgbClr val="000000"/>
                </a:solidFill>
                <a:latin typeface="Times New Roman" panose="02020603050405020304" pitchFamily="18" charset="0"/>
                <a:cs typeface="Times New Roman" panose="02020603050405020304" pitchFamily="18" charset="0"/>
              </a:rPr>
              <a:t>der aux </a:t>
            </a:r>
            <a:r>
              <a:rPr lang="en-US" altLang="en-US" sz="4570" b="0" strike="noStrike" spc="-1">
                <a:solidFill>
                  <a:srgbClr val="000000"/>
                </a:solidFill>
                <a:latin typeface="Times New Roman" panose="02020603050405020304" pitchFamily="18" charset="0"/>
                <a:cs typeface="Times New Roman" panose="02020603050405020304" pitchFamily="18" charset="0"/>
              </a:rPr>
              <a:t>é</a:t>
            </a:r>
            <a:r>
              <a:rPr lang="en-US" altLang="fr-FR" sz="4570" b="0" strike="noStrike" spc="-1">
                <a:solidFill>
                  <a:srgbClr val="000000"/>
                </a:solidFill>
                <a:latin typeface="Times New Roman" panose="02020603050405020304" pitchFamily="18" charset="0"/>
                <a:cs typeface="Times New Roman" panose="02020603050405020304" pitchFamily="18" charset="0"/>
              </a:rPr>
              <a:t>l</a:t>
            </a:r>
            <a:r>
              <a:rPr lang="en-US" altLang="en-US" sz="4570" b="0" strike="noStrike" spc="-1">
                <a:solidFill>
                  <a:srgbClr val="000000"/>
                </a:solidFill>
                <a:latin typeface="Times New Roman" panose="02020603050405020304" pitchFamily="18" charset="0"/>
                <a:cs typeface="Times New Roman" panose="02020603050405020304" pitchFamily="18" charset="0"/>
              </a:rPr>
              <a:t>é</a:t>
            </a:r>
            <a:r>
              <a:rPr lang="en-US" altLang="fr-FR" sz="4570" b="0" strike="noStrike" spc="-1">
                <a:solidFill>
                  <a:srgbClr val="000000"/>
                </a:solidFill>
                <a:latin typeface="Times New Roman" panose="02020603050405020304" pitchFamily="18" charset="0"/>
                <a:cs typeface="Times New Roman" panose="02020603050405020304" pitchFamily="18" charset="0"/>
              </a:rPr>
              <a:t>ments du milieu ou du bas directement </a:t>
            </a:r>
            <a:r>
              <a:rPr lang="fr-FR" altLang="en-US" sz="4570" b="0" strike="noStrike" spc="-1">
                <a:solidFill>
                  <a:srgbClr val="000000"/>
                </a:solidFill>
                <a:latin typeface="Times New Roman" panose="02020603050405020304" pitchFamily="18" charset="0"/>
                <a:cs typeface="Times New Roman" panose="02020603050405020304" pitchFamily="18" charset="0"/>
              </a:rPr>
              <a:t>;</a:t>
            </a:r>
            <a:r>
              <a:rPr lang="en-US" altLang="fr-FR" sz="4570" b="0" strike="noStrike" spc="-1">
                <a:solidFill>
                  <a:srgbClr val="000000"/>
                </a:solidFill>
                <a:latin typeface="Times New Roman" panose="02020603050405020304" pitchFamily="18" charset="0"/>
                <a:cs typeface="Times New Roman" panose="02020603050405020304" pitchFamily="18" charset="0"/>
              </a:rPr>
              <a:t> Seul le sommet de la pile est accessible.</a:t>
            </a:r>
            <a:endParaRPr lang="fr-FR" sz="4570" b="0" strike="noStrike" spc="-1">
              <a:latin typeface="Times New Roman" panose="02020603050405020304" pitchFamily="18" charset="0"/>
              <a:cs typeface="Times New Roman" panose="02020603050405020304" pitchFamily="18" charset="0"/>
            </a:endParaRPr>
          </a:p>
          <a:p>
            <a:pPr marL="685800" lvl="1" indent="-227965">
              <a:lnSpc>
                <a:spcPct val="90000"/>
              </a:lnSpc>
              <a:spcBef>
                <a:spcPts val="500"/>
              </a:spcBef>
              <a:buClr>
                <a:srgbClr val="000000"/>
              </a:buClr>
              <a:buFont typeface="Arial" panose="020B0604020202020204"/>
              <a:buChar char="•"/>
            </a:pPr>
            <a:endParaRPr lang="fr-FR" sz="4570" b="0" strike="noStrike" spc="-1">
              <a:latin typeface="Times New Roman" panose="02020603050405020304" pitchFamily="18" charset="0"/>
              <a:cs typeface="Times New Roman" panose="02020603050405020304" pitchFamily="18" charset="0"/>
            </a:endParaRPr>
          </a:p>
        </p:txBody>
      </p:sp>
      <p:pic>
        <p:nvPicPr>
          <p:cNvPr id="213" name="Image 1"/>
          <p:cNvPicPr/>
          <p:nvPr/>
        </p:nvPicPr>
        <p:blipFill>
          <a:blip r:embed="rId2"/>
          <a:stretch>
            <a:fillRect/>
          </a:stretch>
        </p:blipFill>
        <p:spPr>
          <a:xfrm>
            <a:off x="7536280" y="1988740"/>
            <a:ext cx="3980880" cy="1237680"/>
          </a:xfrm>
          <a:prstGeom prst="rect">
            <a:avLst/>
          </a:prstGeom>
          <a:ln>
            <a:noFill/>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9"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10" name="Picture 137"/>
          <p:cNvPicPr/>
          <p:nvPr/>
        </p:nvPicPr>
        <p:blipFill>
          <a:blip r:embed="rId1"/>
          <a:stretch>
            <a:fillRect/>
          </a:stretch>
        </p:blipFill>
        <p:spPr>
          <a:xfrm>
            <a:off x="0" y="0"/>
            <a:ext cx="12191400" cy="6857280"/>
          </a:xfrm>
          <a:prstGeom prst="rect">
            <a:avLst/>
          </a:prstGeom>
          <a:ln>
            <a:noFill/>
          </a:ln>
        </p:spPr>
      </p:pic>
      <p:sp>
        <p:nvSpPr>
          <p:cNvPr id="211"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a:t>
            </a:r>
            <a:endParaRPr lang="fr-FR" sz="4000" b="0" strike="noStrike" spc="-1">
              <a:latin typeface="Arial" panose="020B0604020202020204"/>
            </a:endParaRPr>
          </a:p>
        </p:txBody>
      </p:sp>
      <p:sp>
        <p:nvSpPr>
          <p:cNvPr id="212" name="CustomShape 3"/>
          <p:cNvSpPr/>
          <p:nvPr/>
        </p:nvSpPr>
        <p:spPr>
          <a:xfrm>
            <a:off x="972360" y="2491560"/>
            <a:ext cx="10173960" cy="3807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marL="228600" indent="-227965">
              <a:lnSpc>
                <a:spcPct val="90000"/>
              </a:lnSpc>
              <a:spcBef>
                <a:spcPts val="1000"/>
              </a:spcBef>
              <a:buClr>
                <a:srgbClr val="000000"/>
              </a:buClr>
              <a:buFont typeface="Arial" panose="020B0604020202020204"/>
              <a:buChar char="•"/>
            </a:pPr>
            <a:endParaRPr lang="en-US" altLang="fr-FR" sz="2400" b="0" strike="noStrike" spc="-1">
              <a:solidFill>
                <a:srgbClr val="000000"/>
              </a:solidFill>
              <a:latin typeface="Times New Roman" panose="02020603050405020304"/>
            </a:endParaRPr>
          </a:p>
          <a:p>
            <a:pPr marL="457835" lvl="1" indent="0" algn="just">
              <a:lnSpc>
                <a:spcPct val="90000"/>
              </a:lnSpc>
              <a:spcBef>
                <a:spcPts val="500"/>
              </a:spcBef>
              <a:buClr>
                <a:srgbClr val="000000"/>
              </a:buClr>
              <a:buFont typeface="Arial" panose="020B0604020202020204"/>
              <a:buNone/>
            </a:pPr>
            <a:r>
              <a:rPr lang="en-US" altLang="fr-FR" sz="9600" b="1" strike="noStrike" spc="-1">
                <a:solidFill>
                  <a:srgbClr val="00B0F0"/>
                </a:solidFill>
                <a:latin typeface="Times New Roman" panose="02020603050405020304" pitchFamily="18" charset="0"/>
                <a:cs typeface="Times New Roman" panose="02020603050405020304" pitchFamily="18" charset="0"/>
              </a:rPr>
              <a:t>Ins</a:t>
            </a:r>
            <a:r>
              <a:rPr lang="en-US" altLang="en-US" sz="9600" b="1" strike="noStrike" spc="-1">
                <a:solidFill>
                  <a:srgbClr val="00B0F0"/>
                </a:solidFill>
                <a:latin typeface="Times New Roman" panose="02020603050405020304" pitchFamily="18" charset="0"/>
                <a:cs typeface="Times New Roman" panose="02020603050405020304" pitchFamily="18" charset="0"/>
              </a:rPr>
              <a:t>é</a:t>
            </a:r>
            <a:r>
              <a:rPr lang="en-US" altLang="fr-FR" sz="9600" b="1" strike="noStrike" spc="-1">
                <a:solidFill>
                  <a:srgbClr val="00B0F0"/>
                </a:solidFill>
                <a:latin typeface="Times New Roman" panose="02020603050405020304" pitchFamily="18" charset="0"/>
                <a:cs typeface="Times New Roman" panose="02020603050405020304" pitchFamily="18" charset="0"/>
              </a:rPr>
              <a:t>rer un Objet : push() (Empiler)</a:t>
            </a:r>
            <a:endParaRPr lang="en-US" altLang="fr-FR" sz="9600" b="1" strike="noStrike" spc="-1">
              <a:solidFill>
                <a:srgbClr val="00B0F0"/>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latin typeface="Times New Roman" panose="02020603050405020304" pitchFamily="18" charset="0"/>
                <a:cs typeface="Times New Roman" panose="02020603050405020304" pitchFamily="18" charset="0"/>
              </a:rPr>
              <a:t>L’op</a:t>
            </a:r>
            <a:r>
              <a:rPr lang="en-US" altLang="en-US" sz="9600" b="0" strike="noStrike" spc="-1">
                <a:latin typeface="Times New Roman" panose="02020603050405020304" pitchFamily="18" charset="0"/>
                <a:cs typeface="Times New Roman" panose="02020603050405020304" pitchFamily="18" charset="0"/>
              </a:rPr>
              <a:t>é</a:t>
            </a:r>
            <a:r>
              <a:rPr lang="en-US" altLang="fr-FR" sz="9600" b="0" strike="noStrike" spc="-1">
                <a:latin typeface="Times New Roman" panose="02020603050405020304" pitchFamily="18" charset="0"/>
                <a:cs typeface="Times New Roman" panose="02020603050405020304" pitchFamily="18" charset="0"/>
              </a:rPr>
              <a:t>ration push consiste à ajouter un nouvel </a:t>
            </a:r>
            <a:r>
              <a:rPr lang="en-US" altLang="en-US" sz="9600" b="0" strike="noStrike" spc="-1">
                <a:latin typeface="Times New Roman" panose="02020603050405020304" pitchFamily="18" charset="0"/>
                <a:cs typeface="Times New Roman" panose="02020603050405020304" pitchFamily="18" charset="0"/>
              </a:rPr>
              <a:t>é</a:t>
            </a:r>
            <a:r>
              <a:rPr lang="en-US" altLang="fr-FR" sz="9600" b="0" strike="noStrike" spc="-1">
                <a:latin typeface="Times New Roman" panose="02020603050405020304" pitchFamily="18" charset="0"/>
                <a:cs typeface="Times New Roman" panose="02020603050405020304" pitchFamily="18" charset="0"/>
              </a:rPr>
              <a:t>l</a:t>
            </a:r>
            <a:r>
              <a:rPr lang="en-US" altLang="en-US" sz="9600" b="0" strike="noStrike" spc="-1">
                <a:latin typeface="Times New Roman" panose="02020603050405020304" pitchFamily="18" charset="0"/>
                <a:cs typeface="Times New Roman" panose="02020603050405020304" pitchFamily="18" charset="0"/>
              </a:rPr>
              <a:t>é</a:t>
            </a:r>
            <a:r>
              <a:rPr lang="en-US" altLang="fr-FR" sz="9600" b="0" strike="noStrike" spc="-1">
                <a:latin typeface="Times New Roman" panose="02020603050405020304" pitchFamily="18" charset="0"/>
                <a:cs typeface="Times New Roman" panose="02020603050405020304" pitchFamily="18" charset="0"/>
              </a:rPr>
              <a:t>ment en haut de la pile.</a:t>
            </a:r>
            <a:endParaRPr lang="en-US" altLang="fr-FR" sz="9600" b="0" strike="noStrike" spc="-1">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endParaRPr lang="en-US" altLang="fr-FR" sz="9600" b="0" strike="noStrike" spc="-1">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latin typeface="Times New Roman" panose="02020603050405020304" pitchFamily="18" charset="0"/>
                <a:cs typeface="Times New Roman" panose="02020603050405020304" pitchFamily="18" charset="0"/>
              </a:rPr>
              <a:t> Exemple : Ajouter des nombres dans une pile vide</a:t>
            </a:r>
            <a:endParaRPr lang="en-US" altLang="fr-FR" sz="9600" b="0" strike="noStrike" spc="-1">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en-US" sz="9600" b="0" strike="noStrike" spc="-1">
                <a:latin typeface="Times New Roman" panose="02020603050405020304" pitchFamily="18" charset="0"/>
                <a:cs typeface="Times New Roman" panose="02020603050405020304" pitchFamily="18" charset="0"/>
              </a:rPr>
              <a:t>️</a:t>
            </a:r>
            <a:r>
              <a:rPr lang="en-US" altLang="fr-FR" sz="9600" b="0" strike="noStrike" spc="-1">
                <a:latin typeface="Times New Roman" panose="02020603050405020304" pitchFamily="18" charset="0"/>
                <a:cs typeface="Times New Roman" panose="02020603050405020304" pitchFamily="18" charset="0"/>
              </a:rPr>
              <a:t> push(5) </a:t>
            </a:r>
            <a:r>
              <a:rPr lang="en-US" altLang="en-US" sz="9600" b="0" strike="noStrike" spc="-1">
                <a:latin typeface="Times New Roman" panose="02020603050405020304" pitchFamily="18" charset="0"/>
                <a:cs typeface="Times New Roman" panose="02020603050405020304" pitchFamily="18" charset="0"/>
              </a:rPr>
              <a:t>→</a:t>
            </a:r>
            <a:r>
              <a:rPr lang="en-US" altLang="fr-FR" sz="9600" b="0" strike="noStrike" spc="-1">
                <a:latin typeface="Times New Roman" panose="02020603050405020304" pitchFamily="18" charset="0"/>
                <a:cs typeface="Times New Roman" panose="02020603050405020304" pitchFamily="18" charset="0"/>
              </a:rPr>
              <a:t> Pile : [5]</a:t>
            </a:r>
            <a:endParaRPr lang="en-US" altLang="fr-FR" sz="9600" b="0" strike="noStrike" spc="-1">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en-US" sz="9600" b="0" strike="noStrike" spc="-1">
                <a:latin typeface="Times New Roman" panose="02020603050405020304" pitchFamily="18" charset="0"/>
                <a:cs typeface="Times New Roman" panose="02020603050405020304" pitchFamily="18" charset="0"/>
              </a:rPr>
              <a:t>️</a:t>
            </a:r>
            <a:r>
              <a:rPr lang="en-US" altLang="fr-FR" sz="9600" b="0" strike="noStrike" spc="-1">
                <a:latin typeface="Times New Roman" panose="02020603050405020304" pitchFamily="18" charset="0"/>
                <a:cs typeface="Times New Roman" panose="02020603050405020304" pitchFamily="18" charset="0"/>
              </a:rPr>
              <a:t> push(10) </a:t>
            </a:r>
            <a:r>
              <a:rPr lang="en-US" altLang="en-US" sz="9600" b="0" strike="noStrike" spc="-1">
                <a:latin typeface="Times New Roman" panose="02020603050405020304" pitchFamily="18" charset="0"/>
                <a:cs typeface="Times New Roman" panose="02020603050405020304" pitchFamily="18" charset="0"/>
              </a:rPr>
              <a:t>→</a:t>
            </a:r>
            <a:r>
              <a:rPr lang="en-US" altLang="fr-FR" sz="9600" b="0" strike="noStrike" spc="-1">
                <a:latin typeface="Times New Roman" panose="02020603050405020304" pitchFamily="18" charset="0"/>
                <a:cs typeface="Times New Roman" panose="02020603050405020304" pitchFamily="18" charset="0"/>
              </a:rPr>
              <a:t> Pile : [5, 10]</a:t>
            </a:r>
            <a:endParaRPr lang="en-US" altLang="fr-FR" sz="9600" b="0" strike="noStrike" spc="-1">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en-US" sz="9600" b="0" strike="noStrike" spc="-1">
                <a:latin typeface="Times New Roman" panose="02020603050405020304" pitchFamily="18" charset="0"/>
                <a:cs typeface="Times New Roman" panose="02020603050405020304" pitchFamily="18" charset="0"/>
              </a:rPr>
              <a:t>️</a:t>
            </a:r>
            <a:r>
              <a:rPr lang="en-US" altLang="fr-FR" sz="9600" b="0" strike="noStrike" spc="-1">
                <a:latin typeface="Times New Roman" panose="02020603050405020304" pitchFamily="18" charset="0"/>
                <a:cs typeface="Times New Roman" panose="02020603050405020304" pitchFamily="18" charset="0"/>
              </a:rPr>
              <a:t> push(15) </a:t>
            </a:r>
            <a:r>
              <a:rPr lang="en-US" altLang="en-US" sz="9600" b="0" strike="noStrike" spc="-1">
                <a:latin typeface="Times New Roman" panose="02020603050405020304" pitchFamily="18" charset="0"/>
                <a:cs typeface="Times New Roman" panose="02020603050405020304" pitchFamily="18" charset="0"/>
              </a:rPr>
              <a:t>→</a:t>
            </a:r>
            <a:r>
              <a:rPr lang="en-US" altLang="fr-FR" sz="9600" b="0" strike="noStrike" spc="-1">
                <a:latin typeface="Times New Roman" panose="02020603050405020304" pitchFamily="18" charset="0"/>
                <a:cs typeface="Times New Roman" panose="02020603050405020304" pitchFamily="18" charset="0"/>
              </a:rPr>
              <a:t> Pile : [5, 10, 15]</a:t>
            </a:r>
            <a:endParaRPr lang="en-US" altLang="fr-FR" sz="9600" b="0" strike="noStrike" spc="-1">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endParaRPr lang="en-US" altLang="fr-FR" sz="9600" b="0" strike="noStrike" spc="-1">
              <a:latin typeface="Times New Roman" panose="02020603050405020304" pitchFamily="18" charset="0"/>
              <a:cs typeface="Times New Roman" panose="02020603050405020304" pitchFamily="18" charset="0"/>
            </a:endParaRPr>
          </a:p>
          <a:p>
            <a:pPr marL="457835" lvl="1" indent="0" algn="just">
              <a:lnSpc>
                <a:spcPct val="90000"/>
              </a:lnSpc>
              <a:spcBef>
                <a:spcPts val="500"/>
              </a:spcBef>
              <a:buClr>
                <a:srgbClr val="000000"/>
              </a:buClr>
              <a:buFont typeface="Arial" panose="020B0604020202020204"/>
              <a:buNone/>
            </a:pPr>
            <a:r>
              <a:rPr lang="en-US" altLang="fr-FR" sz="9600" b="0" strike="noStrike" spc="-1">
                <a:gradFill>
                  <a:gsLst>
                    <a:gs pos="0">
                      <a:srgbClr val="FE4444"/>
                    </a:gs>
                    <a:gs pos="100000">
                      <a:srgbClr val="832B2B"/>
                    </a:gs>
                  </a:gsLst>
                  <a:lin scaled="0"/>
                </a:gradFill>
                <a:latin typeface="Times New Roman" panose="02020603050405020304" pitchFamily="18" charset="0"/>
                <a:cs typeface="Times New Roman" panose="02020603050405020304" pitchFamily="18" charset="0"/>
              </a:rPr>
              <a:t>Remarque :</a:t>
            </a:r>
            <a:r>
              <a:rPr lang="en-US" altLang="fr-FR" sz="9600" b="0" strike="noStrike" spc="-1">
                <a:solidFill>
                  <a:schemeClr val="tx1"/>
                </a:solidFill>
                <a:latin typeface="Times New Roman" panose="02020603050405020304" pitchFamily="18" charset="0"/>
                <a:cs typeface="Times New Roman" panose="02020603050405020304" pitchFamily="18" charset="0"/>
              </a:rPr>
              <a:t> Chaque nouvel </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l</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ment est empil</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 au-dessus des autres, il devient donc le dernier ajout</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 et le premier retir</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endParaRPr lang="en-US" altLang="en-US" sz="9600" b="0" strike="noStrike" spc="-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9"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10" name="Picture 137"/>
          <p:cNvPicPr/>
          <p:nvPr/>
        </p:nvPicPr>
        <p:blipFill>
          <a:blip r:embed="rId1"/>
          <a:stretch>
            <a:fillRect/>
          </a:stretch>
        </p:blipFill>
        <p:spPr>
          <a:xfrm>
            <a:off x="0" y="0"/>
            <a:ext cx="12191400" cy="6857280"/>
          </a:xfrm>
          <a:prstGeom prst="rect">
            <a:avLst/>
          </a:prstGeom>
          <a:ln>
            <a:noFill/>
          </a:ln>
        </p:spPr>
      </p:pic>
      <p:sp>
        <p:nvSpPr>
          <p:cNvPr id="211"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a:t>
            </a:r>
            <a:endParaRPr lang="fr-FR" sz="4000" b="0" strike="noStrike" spc="-1">
              <a:latin typeface="Arial" panose="020B0604020202020204"/>
            </a:endParaRPr>
          </a:p>
        </p:txBody>
      </p:sp>
      <p:sp>
        <p:nvSpPr>
          <p:cNvPr id="212" name="CustomShape 3"/>
          <p:cNvSpPr/>
          <p:nvPr/>
        </p:nvSpPr>
        <p:spPr>
          <a:xfrm>
            <a:off x="972185" y="2371090"/>
            <a:ext cx="10173970" cy="42849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marL="228600" indent="-227965">
              <a:lnSpc>
                <a:spcPct val="90000"/>
              </a:lnSpc>
              <a:spcBef>
                <a:spcPts val="1000"/>
              </a:spcBef>
              <a:buClr>
                <a:srgbClr val="000000"/>
              </a:buClr>
              <a:buFont typeface="Arial" panose="020B0604020202020204"/>
              <a:buChar char="•"/>
            </a:pPr>
            <a:endParaRPr lang="en-US" altLang="fr-FR" sz="2400" b="0" strike="noStrike" spc="-1">
              <a:solidFill>
                <a:srgbClr val="000000"/>
              </a:solidFill>
              <a:latin typeface="Times New Roman" panose="02020603050405020304"/>
            </a:endParaRPr>
          </a:p>
          <a:p>
            <a:pPr marL="457835" lvl="1" indent="0" algn="just">
              <a:lnSpc>
                <a:spcPct val="90000"/>
              </a:lnSpc>
              <a:spcBef>
                <a:spcPts val="500"/>
              </a:spcBef>
              <a:buClr>
                <a:srgbClr val="000000"/>
              </a:buClr>
              <a:buFont typeface="Arial" panose="020B0604020202020204"/>
              <a:buNone/>
            </a:pPr>
            <a:r>
              <a:rPr lang="en-US" altLang="fr-FR" sz="9600" b="1" strike="noStrike" spc="-1">
                <a:solidFill>
                  <a:srgbClr val="00B0F0"/>
                </a:solidFill>
                <a:latin typeface="Times New Roman" panose="02020603050405020304" pitchFamily="18" charset="0"/>
                <a:cs typeface="Times New Roman" panose="02020603050405020304" pitchFamily="18" charset="0"/>
              </a:rPr>
              <a:t>Retirer un Objet : pop() (D</a:t>
            </a:r>
            <a:r>
              <a:rPr lang="en-US" altLang="en-US" sz="9600" b="1" strike="noStrike" spc="-1">
                <a:solidFill>
                  <a:srgbClr val="00B0F0"/>
                </a:solidFill>
                <a:latin typeface="Times New Roman" panose="02020603050405020304" pitchFamily="18" charset="0"/>
                <a:cs typeface="Times New Roman" panose="02020603050405020304" pitchFamily="18" charset="0"/>
              </a:rPr>
              <a:t>é</a:t>
            </a:r>
            <a:r>
              <a:rPr lang="en-US" altLang="fr-FR" sz="9600" b="1" strike="noStrike" spc="-1">
                <a:solidFill>
                  <a:srgbClr val="00B0F0"/>
                </a:solidFill>
                <a:latin typeface="Times New Roman" panose="02020603050405020304" pitchFamily="18" charset="0"/>
                <a:cs typeface="Times New Roman" panose="02020603050405020304" pitchFamily="18" charset="0"/>
              </a:rPr>
              <a:t>piler)</a:t>
            </a:r>
            <a:endParaRPr lang="en-US" altLang="fr-FR" sz="9600" b="1" strike="noStrike" spc="-1">
              <a:solidFill>
                <a:srgbClr val="00B0F0"/>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L’op</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ration pop consiste à retirer l’</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l</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ment du sommet de la pile.</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457835" lvl="1" indent="0" algn="just">
              <a:lnSpc>
                <a:spcPct val="90000"/>
              </a:lnSpc>
              <a:spcBef>
                <a:spcPts val="500"/>
              </a:spcBef>
              <a:buClr>
                <a:srgbClr val="000000"/>
              </a:buClr>
              <a:buFont typeface="Arial" panose="020B0604020202020204"/>
              <a:buNone/>
            </a:pPr>
            <a:r>
              <a:rPr lang="en-US" altLang="fr-FR" sz="9600" b="0" strike="noStrike" spc="-1">
                <a:solidFill>
                  <a:schemeClr val="tx1"/>
                </a:solidFill>
                <a:latin typeface="Times New Roman" panose="02020603050405020304" pitchFamily="18" charset="0"/>
                <a:cs typeface="Times New Roman" panose="02020603050405020304" pitchFamily="18" charset="0"/>
              </a:rPr>
              <a:t>Exemple : Retirer des nombres d’une pile</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 pop() </a:t>
            </a:r>
            <a:r>
              <a:rPr lang="en-US" altLang="en-US" sz="9600" b="0" strike="noStrike" spc="-1">
                <a:solidFill>
                  <a:schemeClr val="tx1"/>
                </a:solidFill>
                <a:latin typeface="Times New Roman" panose="02020603050405020304" pitchFamily="18" charset="0"/>
                <a:cs typeface="Times New Roman" panose="02020603050405020304" pitchFamily="18" charset="0"/>
              </a:rPr>
              <a:t>→</a:t>
            </a:r>
            <a:r>
              <a:rPr lang="en-US" altLang="fr-FR" sz="9600" b="0" strike="noStrike" spc="-1">
                <a:solidFill>
                  <a:schemeClr val="tx1"/>
                </a:solidFill>
                <a:latin typeface="Times New Roman" panose="02020603050405020304" pitchFamily="18" charset="0"/>
                <a:cs typeface="Times New Roman" panose="02020603050405020304" pitchFamily="18" charset="0"/>
              </a:rPr>
              <a:t> Retire 15 </a:t>
            </a:r>
            <a:r>
              <a:rPr lang="en-US" altLang="en-US" sz="9600" b="0" strike="noStrike" spc="-1">
                <a:solidFill>
                  <a:schemeClr val="tx1"/>
                </a:solidFill>
                <a:latin typeface="Times New Roman" panose="02020603050405020304" pitchFamily="18" charset="0"/>
                <a:cs typeface="Times New Roman" panose="02020603050405020304" pitchFamily="18" charset="0"/>
              </a:rPr>
              <a:t>→</a:t>
            </a:r>
            <a:r>
              <a:rPr lang="en-US" altLang="fr-FR" sz="9600" b="0" strike="noStrike" spc="-1">
                <a:solidFill>
                  <a:schemeClr val="tx1"/>
                </a:solidFill>
                <a:latin typeface="Times New Roman" panose="02020603050405020304" pitchFamily="18" charset="0"/>
                <a:cs typeface="Times New Roman" panose="02020603050405020304" pitchFamily="18" charset="0"/>
              </a:rPr>
              <a:t> Pile : [5, 10]</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fr-FR" altLang="en-US" sz="9600" b="0" strike="noStrike" spc="-1">
                <a:solidFill>
                  <a:schemeClr val="tx1"/>
                </a:solidFill>
                <a:latin typeface="Times New Roman" panose="02020603050405020304" pitchFamily="18" charset="0"/>
                <a:cs typeface="Times New Roman" panose="02020603050405020304" pitchFamily="18" charset="0"/>
              </a:rPr>
              <a:t> </a:t>
            </a:r>
            <a:r>
              <a:rPr lang="en-US" altLang="fr-FR" sz="9600" b="0" strike="noStrike" spc="-1">
                <a:solidFill>
                  <a:schemeClr val="tx1"/>
                </a:solidFill>
                <a:latin typeface="Times New Roman" panose="02020603050405020304" pitchFamily="18" charset="0"/>
                <a:cs typeface="Times New Roman" panose="02020603050405020304" pitchFamily="18" charset="0"/>
              </a:rPr>
              <a:t>pop() </a:t>
            </a:r>
            <a:r>
              <a:rPr lang="en-US" altLang="en-US" sz="9600" b="0" strike="noStrike" spc="-1">
                <a:solidFill>
                  <a:schemeClr val="tx1"/>
                </a:solidFill>
                <a:latin typeface="Times New Roman" panose="02020603050405020304" pitchFamily="18" charset="0"/>
                <a:cs typeface="Times New Roman" panose="02020603050405020304" pitchFamily="18" charset="0"/>
              </a:rPr>
              <a:t>→</a:t>
            </a:r>
            <a:r>
              <a:rPr lang="en-US" altLang="fr-FR" sz="9600" b="0" strike="noStrike" spc="-1">
                <a:solidFill>
                  <a:schemeClr val="tx1"/>
                </a:solidFill>
                <a:latin typeface="Times New Roman" panose="02020603050405020304" pitchFamily="18" charset="0"/>
                <a:cs typeface="Times New Roman" panose="02020603050405020304" pitchFamily="18" charset="0"/>
              </a:rPr>
              <a:t> Retire 10 </a:t>
            </a:r>
            <a:r>
              <a:rPr lang="en-US" altLang="en-US" sz="9600" b="0" strike="noStrike" spc="-1">
                <a:solidFill>
                  <a:schemeClr val="tx1"/>
                </a:solidFill>
                <a:latin typeface="Times New Roman" panose="02020603050405020304" pitchFamily="18" charset="0"/>
                <a:cs typeface="Times New Roman" panose="02020603050405020304" pitchFamily="18" charset="0"/>
              </a:rPr>
              <a:t>→</a:t>
            </a:r>
            <a:r>
              <a:rPr lang="en-US" altLang="fr-FR" sz="9600" b="0" strike="noStrike" spc="-1">
                <a:solidFill>
                  <a:schemeClr val="tx1"/>
                </a:solidFill>
                <a:latin typeface="Times New Roman" panose="02020603050405020304" pitchFamily="18" charset="0"/>
                <a:cs typeface="Times New Roman" panose="02020603050405020304" pitchFamily="18" charset="0"/>
              </a:rPr>
              <a:t> Pile : [5]</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 pop() </a:t>
            </a:r>
            <a:r>
              <a:rPr lang="en-US" altLang="en-US" sz="9600" b="0" strike="noStrike" spc="-1">
                <a:solidFill>
                  <a:schemeClr val="tx1"/>
                </a:solidFill>
                <a:latin typeface="Times New Roman" panose="02020603050405020304" pitchFamily="18" charset="0"/>
                <a:cs typeface="Times New Roman" panose="02020603050405020304" pitchFamily="18" charset="0"/>
              </a:rPr>
              <a:t>→</a:t>
            </a:r>
            <a:r>
              <a:rPr lang="en-US" altLang="fr-FR" sz="9600" b="0" strike="noStrike" spc="-1">
                <a:solidFill>
                  <a:schemeClr val="tx1"/>
                </a:solidFill>
                <a:latin typeface="Times New Roman" panose="02020603050405020304" pitchFamily="18" charset="0"/>
                <a:cs typeface="Times New Roman" panose="02020603050405020304" pitchFamily="18" charset="0"/>
              </a:rPr>
              <a:t> Retire 5 </a:t>
            </a:r>
            <a:r>
              <a:rPr lang="en-US" altLang="en-US" sz="9600" b="0" strike="noStrike" spc="-1">
                <a:solidFill>
                  <a:schemeClr val="tx1"/>
                </a:solidFill>
                <a:latin typeface="Times New Roman" panose="02020603050405020304" pitchFamily="18" charset="0"/>
                <a:cs typeface="Times New Roman" panose="02020603050405020304" pitchFamily="18" charset="0"/>
              </a:rPr>
              <a:t>→</a:t>
            </a:r>
            <a:r>
              <a:rPr lang="en-US" altLang="fr-FR" sz="9600" b="0" strike="noStrike" spc="-1">
                <a:solidFill>
                  <a:schemeClr val="tx1"/>
                </a:solidFill>
                <a:latin typeface="Times New Roman" panose="02020603050405020304" pitchFamily="18" charset="0"/>
                <a:cs typeface="Times New Roman" panose="02020603050405020304" pitchFamily="18" charset="0"/>
              </a:rPr>
              <a:t> Pile vide : []</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457835" lvl="1" indent="0" algn="just">
              <a:lnSpc>
                <a:spcPct val="90000"/>
              </a:lnSpc>
              <a:spcBef>
                <a:spcPts val="500"/>
              </a:spcBef>
              <a:buClr>
                <a:srgbClr val="000000"/>
              </a:buClr>
              <a:buFont typeface="Arial" panose="020B0604020202020204"/>
              <a:buNone/>
            </a:pPr>
            <a:r>
              <a:rPr lang="en-US" altLang="fr-FR" sz="9600" b="0" strike="noStrike" spc="-1">
                <a:solidFill>
                  <a:srgbClr val="FF0000"/>
                </a:solidFill>
                <a:latin typeface="Times New Roman" panose="02020603050405020304" pitchFamily="18" charset="0"/>
                <a:cs typeface="Times New Roman" panose="02020603050405020304" pitchFamily="18" charset="0"/>
              </a:rPr>
              <a:t>Remarque</a:t>
            </a:r>
            <a:r>
              <a:rPr lang="fr-FR" altLang="en-US" sz="9600" b="0" strike="noStrike" spc="-1">
                <a:solidFill>
                  <a:srgbClr val="FF0000"/>
                </a:solidFill>
                <a:latin typeface="Times New Roman" panose="02020603050405020304" pitchFamily="18" charset="0"/>
                <a:cs typeface="Times New Roman" panose="02020603050405020304" pitchFamily="18" charset="0"/>
              </a:rPr>
              <a:t>s</a:t>
            </a:r>
            <a:r>
              <a:rPr lang="en-US" altLang="fr-FR" sz="9600" b="0" strike="noStrike" spc="-1">
                <a:solidFill>
                  <a:srgbClr val="FF0000"/>
                </a:solidFill>
                <a:latin typeface="Times New Roman" panose="02020603050405020304" pitchFamily="18" charset="0"/>
                <a:cs typeface="Times New Roman" panose="02020603050405020304" pitchFamily="18" charset="0"/>
              </a:rPr>
              <a:t> :</a:t>
            </a:r>
            <a:endParaRPr lang="en-US" altLang="fr-FR" sz="9600" b="0" strike="noStrike" spc="-1">
              <a:solidFill>
                <a:srgbClr val="FF0000"/>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Si la pile est vide, pop() n’est pas possible (cela provoque une erreur de d</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passement appel</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e underflow).</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On peut toujours consulter l’</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l</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ment en haut avec top() avant de le d</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piler.</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9"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10" name="Picture 137"/>
          <p:cNvPicPr/>
          <p:nvPr/>
        </p:nvPicPr>
        <p:blipFill>
          <a:blip r:embed="rId1"/>
          <a:stretch>
            <a:fillRect/>
          </a:stretch>
        </p:blipFill>
        <p:spPr>
          <a:xfrm>
            <a:off x="0" y="0"/>
            <a:ext cx="12191400" cy="6857280"/>
          </a:xfrm>
          <a:prstGeom prst="rect">
            <a:avLst/>
          </a:prstGeom>
          <a:ln>
            <a:noFill/>
          </a:ln>
        </p:spPr>
      </p:pic>
      <p:sp>
        <p:nvSpPr>
          <p:cNvPr id="211"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a:t>
            </a:r>
            <a:endParaRPr lang="fr-FR" sz="4000" b="0" strike="noStrike" spc="-1">
              <a:latin typeface="Arial" panose="020B0604020202020204"/>
            </a:endParaRPr>
          </a:p>
        </p:txBody>
      </p:sp>
      <p:sp>
        <p:nvSpPr>
          <p:cNvPr id="212" name="CustomShape 3"/>
          <p:cNvSpPr/>
          <p:nvPr/>
        </p:nvSpPr>
        <p:spPr>
          <a:xfrm>
            <a:off x="972185" y="2371090"/>
            <a:ext cx="10173970" cy="42849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marL="228600" indent="-227965">
              <a:lnSpc>
                <a:spcPct val="90000"/>
              </a:lnSpc>
              <a:spcBef>
                <a:spcPts val="1000"/>
              </a:spcBef>
              <a:buClr>
                <a:srgbClr val="000000"/>
              </a:buClr>
              <a:buFont typeface="Arial" panose="020B0604020202020204"/>
              <a:buChar char="•"/>
            </a:pPr>
            <a:endParaRPr lang="en-US" altLang="fr-FR" sz="2400" b="0" strike="noStrike" spc="-1">
              <a:solidFill>
                <a:srgbClr val="000000"/>
              </a:solidFill>
              <a:latin typeface="Times New Roman" panose="02020603050405020304"/>
            </a:endParaRPr>
          </a:p>
          <a:p>
            <a:pPr marL="457835" lvl="1" indent="0" algn="just">
              <a:lnSpc>
                <a:spcPct val="90000"/>
              </a:lnSpc>
              <a:spcBef>
                <a:spcPts val="500"/>
              </a:spcBef>
              <a:buClr>
                <a:srgbClr val="000000"/>
              </a:buClr>
              <a:buFont typeface="Arial" panose="020B0604020202020204"/>
              <a:buNone/>
            </a:pPr>
            <a:r>
              <a:rPr lang="en-US" altLang="fr-FR" sz="9600" b="1" strike="noStrike" spc="-1">
                <a:solidFill>
                  <a:srgbClr val="00B0F0"/>
                </a:solidFill>
                <a:latin typeface="Times New Roman" panose="02020603050405020304" pitchFamily="18" charset="0"/>
                <a:cs typeface="Times New Roman" panose="02020603050405020304" pitchFamily="18" charset="0"/>
              </a:rPr>
              <a:t>Exemples Concrets d’Utilisation des Piles en Informatique</a:t>
            </a:r>
            <a:endParaRPr lang="en-US" altLang="fr-FR" sz="9600" b="1" strike="noStrike" spc="-1">
              <a:solidFill>
                <a:srgbClr val="00B0F0"/>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Annuler une action (CTRL + Z)</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Quand vous </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crivez du texte et que vous annulez une modification (CTRL + Z), le programme revient en arri</a:t>
            </a:r>
            <a:r>
              <a:rPr lang="en-US" altLang="en-US" sz="9600" b="0" strike="noStrike" spc="-1">
                <a:solidFill>
                  <a:schemeClr val="tx1"/>
                </a:solidFill>
                <a:latin typeface="Times New Roman" panose="02020603050405020304" pitchFamily="18" charset="0"/>
                <a:cs typeface="Times New Roman" panose="02020603050405020304" pitchFamily="18" charset="0"/>
              </a:rPr>
              <a:t>è</a:t>
            </a:r>
            <a:r>
              <a:rPr lang="en-US" altLang="fr-FR" sz="9600" b="0" strike="noStrike" spc="-1">
                <a:solidFill>
                  <a:schemeClr val="tx1"/>
                </a:solidFill>
                <a:latin typeface="Times New Roman" panose="02020603050405020304" pitchFamily="18" charset="0"/>
                <a:cs typeface="Times New Roman" panose="02020603050405020304" pitchFamily="18" charset="0"/>
              </a:rPr>
              <a:t>re en suivant l’ordre inverse des actions faites.</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457835" lvl="1" indent="0" algn="just">
              <a:lnSpc>
                <a:spcPct val="90000"/>
              </a:lnSpc>
              <a:spcBef>
                <a:spcPts val="500"/>
              </a:spcBef>
              <a:buClr>
                <a:srgbClr val="000000"/>
              </a:buClr>
              <a:buFont typeface="Arial" panose="020B0604020202020204"/>
              <a:buNone/>
            </a:pPr>
            <a:r>
              <a:rPr lang="en-US" altLang="fr-FR" sz="9600" b="0" strike="noStrike" spc="-1">
                <a:solidFill>
                  <a:schemeClr val="tx1"/>
                </a:solidFill>
                <a:latin typeface="Times New Roman" panose="02020603050405020304" pitchFamily="18" charset="0"/>
                <a:cs typeface="Times New Roman" panose="02020603050405020304" pitchFamily="18" charset="0"/>
              </a:rPr>
              <a:t>Navigateur Web : Bouton Retour (Back)</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Chaque page que vous visitez est stock</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e dans une pile.</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Quand vous cliquez sur Retour, la page actuelle est d</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pil</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e et vous revenez à la pr</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c</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dente.</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 </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valuation d’expressions math</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matiques ((5 + (3 * 2)))</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a:p>
            <a:pPr marL="685800" lvl="1" indent="-227965" algn="just">
              <a:lnSpc>
                <a:spcPct val="90000"/>
              </a:lnSpc>
              <a:spcBef>
                <a:spcPts val="500"/>
              </a:spcBef>
              <a:buClr>
                <a:srgbClr val="000000"/>
              </a:buClr>
              <a:buFont typeface="Arial" panose="020B0604020202020204"/>
              <a:buChar char="•"/>
            </a:pPr>
            <a:r>
              <a:rPr lang="en-US" altLang="fr-FR" sz="9600" b="0" strike="noStrike" spc="-1">
                <a:solidFill>
                  <a:schemeClr val="tx1"/>
                </a:solidFill>
                <a:latin typeface="Times New Roman" panose="02020603050405020304" pitchFamily="18" charset="0"/>
                <a:cs typeface="Times New Roman" panose="02020603050405020304" pitchFamily="18" charset="0"/>
              </a:rPr>
              <a:t>Pour r</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soudre une expression avec des parenth</a:t>
            </a:r>
            <a:r>
              <a:rPr lang="en-US" altLang="en-US" sz="9600" b="0" strike="noStrike" spc="-1">
                <a:solidFill>
                  <a:schemeClr val="tx1"/>
                </a:solidFill>
                <a:latin typeface="Times New Roman" panose="02020603050405020304" pitchFamily="18" charset="0"/>
                <a:cs typeface="Times New Roman" panose="02020603050405020304" pitchFamily="18" charset="0"/>
              </a:rPr>
              <a:t>è</a:t>
            </a:r>
            <a:r>
              <a:rPr lang="en-US" altLang="fr-FR" sz="9600" b="0" strike="noStrike" spc="-1">
                <a:solidFill>
                  <a:schemeClr val="tx1"/>
                </a:solidFill>
                <a:latin typeface="Times New Roman" panose="02020603050405020304" pitchFamily="18" charset="0"/>
                <a:cs typeface="Times New Roman" panose="02020603050405020304" pitchFamily="18" charset="0"/>
              </a:rPr>
              <a:t>ses, l’ordinateur utilise une pile pour g</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rer les op</a:t>
            </a:r>
            <a:r>
              <a:rPr lang="en-US" altLang="en-US" sz="9600" b="0" strike="noStrike" spc="-1">
                <a:solidFill>
                  <a:schemeClr val="tx1"/>
                </a:solidFill>
                <a:latin typeface="Times New Roman" panose="02020603050405020304" pitchFamily="18" charset="0"/>
                <a:cs typeface="Times New Roman" panose="02020603050405020304" pitchFamily="18" charset="0"/>
              </a:rPr>
              <a:t>é</a:t>
            </a:r>
            <a:r>
              <a:rPr lang="en-US" altLang="fr-FR" sz="9600" b="0" strike="noStrike" spc="-1">
                <a:solidFill>
                  <a:schemeClr val="tx1"/>
                </a:solidFill>
                <a:latin typeface="Times New Roman" panose="02020603050405020304" pitchFamily="18" charset="0"/>
                <a:cs typeface="Times New Roman" panose="02020603050405020304" pitchFamily="18" charset="0"/>
              </a:rPr>
              <a:t>rations.</a:t>
            </a:r>
            <a:endParaRPr lang="en-US" altLang="fr-FR" sz="9600" b="0" strike="noStrike" spc="-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 name="CustomShape 1"/>
          <p:cNvSpPr/>
          <p:nvPr/>
        </p:nvSpPr>
        <p:spPr>
          <a:xfrm>
            <a:off x="0" y="0"/>
            <a:ext cx="608148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15" name="CustomShape 2"/>
          <p:cNvSpPr/>
          <p:nvPr/>
        </p:nvSpPr>
        <p:spPr>
          <a:xfrm>
            <a:off x="0" y="0"/>
            <a:ext cx="12191400" cy="6857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16" name="Picture 139"/>
          <p:cNvPicPr/>
          <p:nvPr/>
        </p:nvPicPr>
        <p:blipFill>
          <a:blip r:embed="rId1"/>
          <a:stretch>
            <a:fillRect/>
          </a:stretch>
        </p:blipFill>
        <p:spPr>
          <a:xfrm>
            <a:off x="0" y="0"/>
            <a:ext cx="12191400" cy="6857280"/>
          </a:xfrm>
          <a:prstGeom prst="rect">
            <a:avLst/>
          </a:prstGeom>
          <a:ln>
            <a:noFill/>
          </a:ln>
        </p:spPr>
      </p:pic>
      <p:sp>
        <p:nvSpPr>
          <p:cNvPr id="217" name="CustomShape 3"/>
          <p:cNvSpPr/>
          <p:nvPr/>
        </p:nvSpPr>
        <p:spPr>
          <a:xfrm>
            <a:off x="640080" y="2053800"/>
            <a:ext cx="3668400" cy="2759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90000"/>
              </a:lnSpc>
            </a:pPr>
            <a:r>
              <a:rPr lang="fr-FR" sz="4400" b="0" strike="noStrike" spc="-1">
                <a:solidFill>
                  <a:srgbClr val="FFFFFF"/>
                </a:solidFill>
                <a:latin typeface="Times New Roman" panose="02020603050405020304"/>
              </a:rPr>
              <a:t>TDA Pile</a:t>
            </a:r>
            <a:endParaRPr lang="fr-FR" sz="4400" b="0" strike="noStrike" spc="-1">
              <a:latin typeface="Arial" panose="020B0604020202020204"/>
            </a:endParaRPr>
          </a:p>
        </p:txBody>
      </p:sp>
      <p:sp>
        <p:nvSpPr>
          <p:cNvPr id="218" name="CustomShape 4"/>
          <p:cNvSpPr/>
          <p:nvPr/>
        </p:nvSpPr>
        <p:spPr>
          <a:xfrm>
            <a:off x="5167080" y="130680"/>
            <a:ext cx="6661440" cy="6530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1000"/>
          </a:bodyPr>
          <a:lstStyle/>
          <a:p>
            <a:pPr marL="228600" indent="-227965">
              <a:lnSpc>
                <a:spcPct val="90000"/>
              </a:lnSpc>
              <a:spcBef>
                <a:spcPts val="1000"/>
              </a:spcBef>
              <a:buClr>
                <a:srgbClr val="9B0D40"/>
              </a:buClr>
              <a:buFont typeface="Arial" panose="020B0604020202020204"/>
              <a:buChar char="•"/>
            </a:pPr>
            <a:r>
              <a:rPr lang="fr-FR" sz="1800" b="1" strike="noStrike" spc="-1">
                <a:solidFill>
                  <a:srgbClr val="9B0D40"/>
                </a:solidFill>
                <a:latin typeface="Times New Roman" panose="02020603050405020304"/>
              </a:rPr>
              <a:t>Type</a:t>
            </a:r>
            <a:r>
              <a:rPr lang="fr-FR" sz="1800" b="1" strike="noStrike" spc="-1">
                <a:solidFill>
                  <a:srgbClr val="000000"/>
                </a:solidFill>
                <a:latin typeface="Times New Roman" panose="02020603050405020304"/>
              </a:rPr>
              <a:t> </a:t>
            </a:r>
            <a:r>
              <a:rPr lang="fr-FR" sz="1800" b="0" strike="noStrike" spc="-1">
                <a:solidFill>
                  <a:srgbClr val="000000"/>
                </a:solidFill>
                <a:latin typeface="Times New Roman" panose="02020603050405020304"/>
              </a:rPr>
              <a:t>Pile</a:t>
            </a:r>
            <a:endParaRPr lang="fr-FR" sz="1800" b="0" strike="noStrike" spc="-1">
              <a:latin typeface="Arial" panose="020B0604020202020204"/>
            </a:endParaRPr>
          </a:p>
          <a:p>
            <a:pPr marL="228600" indent="-227965">
              <a:lnSpc>
                <a:spcPct val="90000"/>
              </a:lnSpc>
              <a:spcBef>
                <a:spcPts val="1000"/>
              </a:spcBef>
              <a:buClr>
                <a:srgbClr val="9B0D40"/>
              </a:buClr>
              <a:buFont typeface="Arial" panose="020B0604020202020204"/>
              <a:buChar char="•"/>
            </a:pPr>
            <a:r>
              <a:rPr lang="fr-FR" sz="1800" b="1" strike="noStrike" spc="-1">
                <a:solidFill>
                  <a:srgbClr val="9B0D40"/>
                </a:solidFill>
                <a:latin typeface="Times New Roman" panose="02020603050405020304"/>
              </a:rPr>
              <a:t>utilise</a:t>
            </a:r>
            <a:r>
              <a:rPr lang="fr-FR" sz="1800" b="0" strike="noStrike" spc="-1">
                <a:solidFill>
                  <a:srgbClr val="000000"/>
                </a:solidFill>
                <a:latin typeface="Times New Roman" panose="02020603050405020304"/>
              </a:rPr>
              <a:t> Booléen, Elément </a:t>
            </a:r>
            <a:endParaRPr lang="fr-FR" sz="1800" b="0" strike="noStrike" spc="-1">
              <a:latin typeface="Arial" panose="020B0604020202020204"/>
            </a:endParaRPr>
          </a:p>
          <a:p>
            <a:pPr marL="228600" indent="-227965">
              <a:lnSpc>
                <a:spcPct val="90000"/>
              </a:lnSpc>
              <a:spcBef>
                <a:spcPts val="1000"/>
              </a:spcBef>
              <a:buClr>
                <a:srgbClr val="9B0D40"/>
              </a:buClr>
              <a:buFont typeface="Arial" panose="020B0604020202020204"/>
              <a:buChar char="•"/>
            </a:pPr>
            <a:r>
              <a:rPr lang="fr-FR" sz="1800" b="1" strike="noStrike" spc="-1">
                <a:solidFill>
                  <a:srgbClr val="9B0D40"/>
                </a:solidFill>
                <a:latin typeface="Times New Roman" panose="02020603050405020304"/>
              </a:rPr>
              <a:t>Opérations</a:t>
            </a:r>
            <a:endParaRPr lang="fr-FR" sz="1800" b="0" strike="noStrike" spc="-1">
              <a:latin typeface="Arial" panose="020B0604020202020204"/>
            </a:endParaRPr>
          </a:p>
          <a:p>
            <a:pPr marL="685800" indent="-227965">
              <a:lnSpc>
                <a:spcPct val="90000"/>
              </a:lnSpc>
              <a:spcBef>
                <a:spcPts val="500"/>
              </a:spcBef>
            </a:pPr>
            <a:r>
              <a:rPr lang="fr-FR" sz="1800" b="0" strike="noStrike" spc="-1">
                <a:solidFill>
                  <a:srgbClr val="000000"/>
                </a:solidFill>
                <a:latin typeface="Times New Roman" panose="02020603050405020304"/>
              </a:rPr>
              <a:t>	Pile-vide 	: -&gt;Pile 		    {création d’une pile vide PV(P)}</a:t>
            </a:r>
            <a:endParaRPr lang="fr-FR" sz="1800" b="0" strike="noStrike" spc="-1">
              <a:latin typeface="Arial" panose="020B0604020202020204"/>
            </a:endParaRPr>
          </a:p>
          <a:p>
            <a:pPr marL="685800" indent="-227965">
              <a:lnSpc>
                <a:spcPct val="90000"/>
              </a:lnSpc>
              <a:spcBef>
                <a:spcPts val="500"/>
              </a:spcBef>
            </a:pPr>
            <a:r>
              <a:rPr lang="fr-FR" sz="1800" b="0" strike="noStrike" spc="-1">
                <a:solidFill>
                  <a:srgbClr val="000000"/>
                </a:solidFill>
                <a:latin typeface="Times New Roman" panose="02020603050405020304"/>
              </a:rPr>
              <a:t>	Empiler   	: Pile x Element -&gt;Pile {EP(P,a)}</a:t>
            </a:r>
            <a:endParaRPr lang="fr-FR" sz="1800" b="0" strike="noStrike" spc="-1">
              <a:latin typeface="Arial" panose="020B0604020202020204"/>
            </a:endParaRPr>
          </a:p>
          <a:p>
            <a:pPr marL="685800" indent="-227965">
              <a:lnSpc>
                <a:spcPct val="90000"/>
              </a:lnSpc>
              <a:spcBef>
                <a:spcPts val="500"/>
              </a:spcBef>
            </a:pPr>
            <a:r>
              <a:rPr lang="fr-FR" sz="1800" b="0" strike="noStrike" spc="-1">
                <a:solidFill>
                  <a:srgbClr val="000000"/>
                </a:solidFill>
                <a:latin typeface="Times New Roman" panose="02020603050405020304"/>
              </a:rPr>
              <a:t>      Dépiler    	: Pile -&gt;Pile                  {supprimer le dernier DP(P)}</a:t>
            </a:r>
            <a:endParaRPr lang="fr-FR" sz="1800" b="0" strike="noStrike" spc="-1">
              <a:latin typeface="Arial" panose="020B0604020202020204"/>
            </a:endParaRPr>
          </a:p>
          <a:p>
            <a:pPr marL="685800" indent="-227965">
              <a:lnSpc>
                <a:spcPct val="90000"/>
              </a:lnSpc>
              <a:spcBef>
                <a:spcPts val="500"/>
              </a:spcBef>
            </a:pPr>
            <a:r>
              <a:rPr lang="fr-FR" sz="1800" b="0" strike="noStrike" spc="-1">
                <a:solidFill>
                  <a:srgbClr val="000000"/>
                </a:solidFill>
                <a:latin typeface="Times New Roman" panose="02020603050405020304"/>
              </a:rPr>
              <a:t>      Valeur         : Pile-&gt;Elément            {renvoie l’élément au sommet sans modifier</a:t>
            </a:r>
            <a:endParaRPr lang="fr-FR" sz="1800" b="0" strike="noStrike" spc="-1">
              <a:latin typeface="Arial" panose="020B0604020202020204"/>
            </a:endParaRPr>
          </a:p>
          <a:p>
            <a:pPr marL="685800" indent="-227965">
              <a:lnSpc>
                <a:spcPct val="90000"/>
              </a:lnSpc>
              <a:spcBef>
                <a:spcPts val="500"/>
              </a:spcBef>
            </a:pPr>
            <a:r>
              <a:rPr lang="fr-FR" sz="1800" b="0" strike="noStrike" spc="-1">
                <a:solidFill>
                  <a:srgbClr val="000000"/>
                </a:solidFill>
                <a:latin typeface="Times New Roman" panose="02020603050405020304"/>
              </a:rPr>
              <a:t>                                                              la pile  VP(P)}</a:t>
            </a:r>
            <a:endParaRPr lang="fr-FR" sz="1800" b="0" strike="noStrike" spc="-1">
              <a:latin typeface="Arial" panose="020B0604020202020204"/>
            </a:endParaRPr>
          </a:p>
          <a:p>
            <a:pPr marL="685800" indent="-227965">
              <a:lnSpc>
                <a:spcPct val="90000"/>
              </a:lnSpc>
              <a:spcBef>
                <a:spcPts val="500"/>
              </a:spcBef>
            </a:pPr>
            <a:r>
              <a:rPr lang="fr-FR" sz="1800" b="0" strike="noStrike" spc="-1">
                <a:solidFill>
                  <a:srgbClr val="000000"/>
                </a:solidFill>
                <a:latin typeface="Times New Roman" panose="02020603050405020304"/>
              </a:rPr>
              <a:t>      Est-vide      : Pile-&gt;Booléen            {test si la pile est vide EV(P)}</a:t>
            </a:r>
            <a:endParaRPr lang="fr-FR" sz="1800" b="0" strike="noStrike" spc="-1">
              <a:latin typeface="Arial" panose="020B0604020202020204"/>
            </a:endParaRPr>
          </a:p>
          <a:p>
            <a:pPr marL="685800" indent="-227965">
              <a:lnSpc>
                <a:spcPct val="90000"/>
              </a:lnSpc>
              <a:spcBef>
                <a:spcPts val="500"/>
              </a:spcBef>
            </a:pPr>
            <a:endParaRPr lang="fr-FR" sz="1800" b="0" strike="noStrike" spc="-1">
              <a:latin typeface="Arial" panose="020B0604020202020204"/>
            </a:endParaRPr>
          </a:p>
          <a:p>
            <a:pPr marL="685800" indent="-227965">
              <a:lnSpc>
                <a:spcPct val="90000"/>
              </a:lnSpc>
              <a:spcBef>
                <a:spcPts val="500"/>
              </a:spcBef>
            </a:pPr>
            <a:r>
              <a:rPr lang="fr-FR" sz="1800" b="0" strike="noStrike" spc="-1">
                <a:solidFill>
                  <a:srgbClr val="000000"/>
                </a:solidFill>
                <a:latin typeface="Times New Roman" panose="02020603050405020304"/>
              </a:rPr>
              <a:t>Les opérations Dépiler et Valeur ne sont définies que si la pile n’est pas vide</a:t>
            </a:r>
            <a:endParaRPr lang="fr-FR" sz="1800" b="0" strike="noStrike" spc="-1">
              <a:latin typeface="Arial" panose="020B0604020202020204"/>
            </a:endParaRPr>
          </a:p>
          <a:p>
            <a:pPr marL="685800" indent="-227965">
              <a:lnSpc>
                <a:spcPct val="90000"/>
              </a:lnSpc>
              <a:spcBef>
                <a:spcPts val="500"/>
              </a:spcBef>
            </a:pPr>
            <a:r>
              <a:rPr lang="fr-FR" sz="1800" b="0" strike="noStrike" spc="-1">
                <a:solidFill>
                  <a:srgbClr val="000000"/>
                </a:solidFill>
                <a:latin typeface="Times New Roman" panose="02020603050405020304"/>
              </a:rPr>
              <a:t>Dépiler(P) est-défini-ssi est-vide(P)=faux</a:t>
            </a:r>
            <a:endParaRPr lang="fr-FR" sz="1800" b="0" strike="noStrike" spc="-1">
              <a:latin typeface="Arial" panose="020B0604020202020204"/>
            </a:endParaRPr>
          </a:p>
          <a:p>
            <a:pPr marL="685800" indent="-227965">
              <a:lnSpc>
                <a:spcPct val="90000"/>
              </a:lnSpc>
              <a:spcBef>
                <a:spcPts val="500"/>
              </a:spcBef>
            </a:pPr>
            <a:r>
              <a:rPr lang="fr-FR" sz="1800" b="0" strike="noStrike" spc="-1">
                <a:solidFill>
                  <a:srgbClr val="000000"/>
                </a:solidFill>
                <a:latin typeface="Times New Roman" panose="02020603050405020304"/>
              </a:rPr>
              <a:t>Valeur(P) est-défini-ssi est –vide(P)=faux</a:t>
            </a:r>
            <a:endParaRPr lang="fr-FR" sz="1800" b="0" strike="noStrike" spc="-1">
              <a:latin typeface="Arial" panose="020B0604020202020204"/>
            </a:endParaRPr>
          </a:p>
          <a:p>
            <a:pPr marL="685800" indent="-227965">
              <a:lnSpc>
                <a:spcPct val="90000"/>
              </a:lnSpc>
              <a:spcBef>
                <a:spcPts val="500"/>
              </a:spcBef>
            </a:pPr>
            <a:endParaRPr lang="fr-FR" sz="1800" b="0" strike="noStrike" spc="-1">
              <a:latin typeface="Arial" panose="020B0604020202020204"/>
            </a:endParaRPr>
          </a:p>
          <a:p>
            <a:pPr marL="228600" indent="-227965">
              <a:lnSpc>
                <a:spcPct val="90000"/>
              </a:lnSpc>
              <a:spcBef>
                <a:spcPts val="1000"/>
              </a:spcBef>
              <a:buClr>
                <a:srgbClr val="9B0D40"/>
              </a:buClr>
              <a:buFont typeface="Arial" panose="020B0604020202020204"/>
              <a:buChar char="•"/>
            </a:pPr>
            <a:r>
              <a:rPr lang="fr-FR" sz="1800" b="1" strike="noStrike" spc="-1">
                <a:solidFill>
                  <a:srgbClr val="9B0D40"/>
                </a:solidFill>
                <a:latin typeface="Times New Roman" panose="02020603050405020304"/>
              </a:rPr>
              <a:t>Axiomes</a:t>
            </a:r>
            <a:endParaRPr lang="fr-FR" sz="1800" b="0" strike="noStrike" spc="-1">
              <a:latin typeface="Arial" panose="020B0604020202020204"/>
            </a:endParaRPr>
          </a:p>
          <a:p>
            <a:pPr marL="228600" indent="-227965">
              <a:lnSpc>
                <a:spcPct val="90000"/>
              </a:lnSpc>
              <a:spcBef>
                <a:spcPts val="1000"/>
              </a:spcBef>
            </a:pPr>
            <a:r>
              <a:rPr lang="fr-FR" sz="1800" b="0" strike="noStrike" spc="-1">
                <a:solidFill>
                  <a:srgbClr val="000000"/>
                </a:solidFill>
                <a:latin typeface="Times New Roman" panose="02020603050405020304"/>
              </a:rPr>
              <a:t>	Dépiler(Empiler(P,e))=P</a:t>
            </a:r>
            <a:endParaRPr lang="fr-FR" sz="1800" b="0" strike="noStrike" spc="-1">
              <a:latin typeface="Arial" panose="020B0604020202020204"/>
            </a:endParaRPr>
          </a:p>
          <a:p>
            <a:pPr marL="228600" indent="-227965">
              <a:lnSpc>
                <a:spcPct val="90000"/>
              </a:lnSpc>
              <a:spcBef>
                <a:spcPts val="1000"/>
              </a:spcBef>
            </a:pPr>
            <a:r>
              <a:rPr lang="fr-FR" sz="1800" b="0" strike="noStrike" spc="-1">
                <a:solidFill>
                  <a:srgbClr val="000000"/>
                </a:solidFill>
                <a:latin typeface="Times New Roman" panose="02020603050405020304"/>
              </a:rPr>
              <a:t>	Valeur(empiler(P,e))=e</a:t>
            </a:r>
            <a:endParaRPr lang="fr-FR" sz="1800" b="0" strike="noStrike" spc="-1">
              <a:latin typeface="Arial" panose="020B0604020202020204"/>
            </a:endParaRPr>
          </a:p>
          <a:p>
            <a:pPr marL="228600" indent="-227965">
              <a:lnSpc>
                <a:spcPct val="90000"/>
              </a:lnSpc>
              <a:spcBef>
                <a:spcPts val="1000"/>
              </a:spcBef>
            </a:pPr>
            <a:r>
              <a:rPr lang="fr-FR" sz="1800" b="0" strike="noStrike" spc="-1">
                <a:solidFill>
                  <a:srgbClr val="000000"/>
                </a:solidFill>
                <a:latin typeface="Times New Roman" panose="02020603050405020304"/>
              </a:rPr>
              <a:t>	Est-vide(Pile-vide)=vrai</a:t>
            </a:r>
            <a:endParaRPr lang="fr-FR" sz="1800" b="0" strike="noStrike" spc="-1">
              <a:latin typeface="Arial" panose="020B0604020202020204"/>
            </a:endParaRPr>
          </a:p>
          <a:p>
            <a:pPr marL="228600" indent="-227965">
              <a:lnSpc>
                <a:spcPct val="90000"/>
              </a:lnSpc>
              <a:spcBef>
                <a:spcPts val="1000"/>
              </a:spcBef>
            </a:pPr>
            <a:r>
              <a:rPr lang="fr-FR" sz="1800" b="0" strike="noStrike" spc="-1">
                <a:solidFill>
                  <a:srgbClr val="000000"/>
                </a:solidFill>
                <a:latin typeface="Times New Roman" panose="02020603050405020304"/>
              </a:rPr>
              <a:t>	Est-vide(Empiler(P,e))=faux</a:t>
            </a:r>
            <a:endParaRPr lang="fr-FR" sz="1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 name="CustomShape 1"/>
          <p:cNvSpPr/>
          <p:nvPr/>
        </p:nvSpPr>
        <p:spPr>
          <a:xfrm>
            <a:off x="0" y="0"/>
            <a:ext cx="608148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15" name="CustomShape 2"/>
          <p:cNvSpPr/>
          <p:nvPr/>
        </p:nvSpPr>
        <p:spPr>
          <a:xfrm>
            <a:off x="0" y="0"/>
            <a:ext cx="12191400" cy="6857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16" name="Picture 139"/>
          <p:cNvPicPr/>
          <p:nvPr/>
        </p:nvPicPr>
        <p:blipFill>
          <a:blip r:embed="rId1"/>
          <a:stretch>
            <a:fillRect/>
          </a:stretch>
        </p:blipFill>
        <p:spPr>
          <a:xfrm>
            <a:off x="0" y="0"/>
            <a:ext cx="12191400" cy="6857280"/>
          </a:xfrm>
          <a:prstGeom prst="rect">
            <a:avLst/>
          </a:prstGeom>
          <a:ln>
            <a:noFill/>
          </a:ln>
        </p:spPr>
      </p:pic>
      <p:sp>
        <p:nvSpPr>
          <p:cNvPr id="217" name="CustomShape 3"/>
          <p:cNvSpPr/>
          <p:nvPr/>
        </p:nvSpPr>
        <p:spPr>
          <a:xfrm>
            <a:off x="640080" y="2053800"/>
            <a:ext cx="3668400" cy="2759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90000"/>
              </a:lnSpc>
            </a:pPr>
            <a:r>
              <a:rPr lang="fr-FR" sz="4400" b="0" strike="noStrike" spc="-1">
                <a:solidFill>
                  <a:srgbClr val="FFFFFF"/>
                </a:solidFill>
                <a:latin typeface="Times New Roman" panose="02020603050405020304"/>
              </a:rPr>
              <a:t>TDA Pile</a:t>
            </a:r>
            <a:endParaRPr lang="fr-FR" sz="4400" b="0" strike="noStrike" spc="-1">
              <a:latin typeface="Arial" panose="020B0604020202020204"/>
            </a:endParaRPr>
          </a:p>
        </p:txBody>
      </p:sp>
      <p:sp>
        <p:nvSpPr>
          <p:cNvPr id="218" name="CustomShape 4"/>
          <p:cNvSpPr/>
          <p:nvPr/>
        </p:nvSpPr>
        <p:spPr>
          <a:xfrm>
            <a:off x="5167080" y="130680"/>
            <a:ext cx="6661440" cy="6530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marL="635" indent="0" algn="just">
              <a:lnSpc>
                <a:spcPct val="90000"/>
              </a:lnSpc>
              <a:spcBef>
                <a:spcPts val="1000"/>
              </a:spcBef>
              <a:buClr>
                <a:srgbClr val="9B0D40"/>
              </a:buClr>
              <a:buFont typeface="Arial" panose="020B0604020202020204"/>
              <a:buNone/>
            </a:pPr>
            <a:r>
              <a:rPr lang="en-US" altLang="fr-FR" sz="2400" b="0" strike="noStrike" spc="-1">
                <a:latin typeface="Times New Roman" panose="02020603050405020304" pitchFamily="18" charset="0"/>
                <a:cs typeface="Times New Roman" panose="02020603050405020304" pitchFamily="18" charset="0"/>
              </a:rPr>
              <a:t>Qu'est-ce qu'un TDA (Type de Donn</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es Abstrait) ?</a:t>
            </a:r>
            <a:endParaRPr lang="en-US" altLang="fr-FR" sz="24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400" b="0" strike="noStrike" spc="-1">
                <a:latin typeface="Times New Roman" panose="02020603050405020304" pitchFamily="18" charset="0"/>
                <a:cs typeface="Times New Roman" panose="02020603050405020304" pitchFamily="18" charset="0"/>
              </a:rPr>
              <a:t>D</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finition :</a:t>
            </a:r>
            <a:r>
              <a:rPr lang="fr-FR" altLang="en-US" sz="2400" b="0" strike="noStrike" spc="-1">
                <a:latin typeface="Times New Roman" panose="02020603050405020304" pitchFamily="18" charset="0"/>
                <a:cs typeface="Times New Roman" panose="02020603050405020304" pitchFamily="18" charset="0"/>
              </a:rPr>
              <a:t> </a:t>
            </a:r>
            <a:r>
              <a:rPr lang="en-US" altLang="fr-FR" sz="2400" b="0" strike="noStrike" spc="-1">
                <a:latin typeface="Times New Roman" panose="02020603050405020304" pitchFamily="18" charset="0"/>
                <a:cs typeface="Times New Roman" panose="02020603050405020304" pitchFamily="18" charset="0"/>
              </a:rPr>
              <a:t>Un Type de Donn</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es Abstrait (TDA) est une mod</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lisation math</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matique d'une structure de donn</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es qui d</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finit les op</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rations r</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alisables sur celle-ci sans pr</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ciser son impl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mentation concr</a:t>
            </a:r>
            <a:r>
              <a:rPr lang="en-US" altLang="en-US" sz="2400" b="0" strike="noStrike" spc="-1">
                <a:latin typeface="Times New Roman" panose="02020603050405020304" pitchFamily="18" charset="0"/>
                <a:cs typeface="Times New Roman" panose="02020603050405020304" pitchFamily="18" charset="0"/>
              </a:rPr>
              <a:t>è</a:t>
            </a:r>
            <a:r>
              <a:rPr lang="en-US" altLang="fr-FR" sz="2400" b="0" strike="noStrike" spc="-1">
                <a:latin typeface="Times New Roman" panose="02020603050405020304" pitchFamily="18" charset="0"/>
                <a:cs typeface="Times New Roman" panose="02020603050405020304" pitchFamily="18" charset="0"/>
              </a:rPr>
              <a:t>te en m</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moire.</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9B0D40"/>
              </a:buClr>
              <a:buFont typeface="Arial" panose="020B0604020202020204"/>
              <a:buChar char="•"/>
            </a:pPr>
            <a:r>
              <a:rPr lang="en-US" altLang="fr-FR" sz="2400" b="0" strike="noStrike" spc="-1">
                <a:latin typeface="Times New Roman" panose="02020603050405020304" pitchFamily="18" charset="0"/>
                <a:cs typeface="Times New Roman" panose="02020603050405020304" pitchFamily="18" charset="0"/>
              </a:rPr>
              <a:t>En d'autres termes, un TDA d</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crit ce que la structure fait, mais pas comment elle est impl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e en programmation.</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9B0D40"/>
              </a:buClr>
              <a:buFont typeface="Arial" panose="020B0604020202020204"/>
              <a:buChar char="•"/>
            </a:pPr>
            <a:endParaRPr lang="en-US" altLang="fr-FR" sz="2400" b="0"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 name="CustomShape 1"/>
          <p:cNvSpPr/>
          <p:nvPr/>
        </p:nvSpPr>
        <p:spPr>
          <a:xfrm>
            <a:off x="0" y="0"/>
            <a:ext cx="608148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15" name="CustomShape 2"/>
          <p:cNvSpPr/>
          <p:nvPr/>
        </p:nvSpPr>
        <p:spPr>
          <a:xfrm>
            <a:off x="0" y="0"/>
            <a:ext cx="12191400" cy="6857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16" name="Picture 139"/>
          <p:cNvPicPr/>
          <p:nvPr/>
        </p:nvPicPr>
        <p:blipFill>
          <a:blip r:embed="rId1"/>
          <a:stretch>
            <a:fillRect/>
          </a:stretch>
        </p:blipFill>
        <p:spPr>
          <a:xfrm>
            <a:off x="0" y="0"/>
            <a:ext cx="12192000" cy="6857365"/>
          </a:xfrm>
          <a:prstGeom prst="rect">
            <a:avLst/>
          </a:prstGeom>
          <a:ln>
            <a:noFill/>
          </a:ln>
        </p:spPr>
      </p:pic>
      <p:sp>
        <p:nvSpPr>
          <p:cNvPr id="217" name="CustomShape 3"/>
          <p:cNvSpPr/>
          <p:nvPr/>
        </p:nvSpPr>
        <p:spPr>
          <a:xfrm>
            <a:off x="640080" y="2053800"/>
            <a:ext cx="3668400" cy="2759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90000"/>
              </a:lnSpc>
            </a:pPr>
            <a:r>
              <a:rPr lang="fr-FR" sz="4400" b="0" strike="noStrike" spc="-1">
                <a:solidFill>
                  <a:srgbClr val="FFFFFF"/>
                </a:solidFill>
                <a:latin typeface="Times New Roman" panose="02020603050405020304"/>
              </a:rPr>
              <a:t>TDA Pile</a:t>
            </a:r>
            <a:endParaRPr lang="fr-FR" sz="4400" b="0" strike="noStrike" spc="-1">
              <a:latin typeface="Arial" panose="020B0604020202020204"/>
            </a:endParaRPr>
          </a:p>
        </p:txBody>
      </p:sp>
      <p:sp>
        <p:nvSpPr>
          <p:cNvPr id="218" name="CustomShape 4"/>
          <p:cNvSpPr/>
          <p:nvPr/>
        </p:nvSpPr>
        <p:spPr>
          <a:xfrm>
            <a:off x="5125720" y="130810"/>
            <a:ext cx="6702425" cy="65309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635" indent="0" algn="just">
              <a:lnSpc>
                <a:spcPct val="90000"/>
              </a:lnSpc>
              <a:spcBef>
                <a:spcPts val="1000"/>
              </a:spcBef>
              <a:buClr>
                <a:srgbClr val="9B0D40"/>
              </a:buClr>
              <a:buFont typeface="Arial" panose="020B0604020202020204"/>
              <a:buNone/>
            </a:pPr>
            <a:r>
              <a:rPr lang="en-US" altLang="fr-FR" sz="2800" b="1" strike="noStrike" spc="-1">
                <a:solidFill>
                  <a:srgbClr val="00B0F0"/>
                </a:solidFill>
                <a:latin typeface="Times New Roman" panose="02020603050405020304" pitchFamily="18" charset="0"/>
                <a:cs typeface="Times New Roman" panose="02020603050405020304" pitchFamily="18" charset="0"/>
              </a:rPr>
              <a:t>Exemple de TDA : La Pile</a:t>
            </a:r>
            <a:endParaRPr lang="en-US" altLang="fr-FR" sz="2800" b="1" strike="noStrike" spc="-1">
              <a:solidFill>
                <a:srgbClr val="00B0F0"/>
              </a:solidFill>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b="0" strike="noStrike" spc="-1">
                <a:latin typeface="Times New Roman" panose="02020603050405020304" pitchFamily="18" charset="0"/>
                <a:cs typeface="Times New Roman" panose="02020603050405020304" pitchFamily="18" charset="0"/>
              </a:rPr>
              <a:t>Un TDA Pile d</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finit un ensemble d’op</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rations possibles sur une pile sans dire comment elle est impl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ment</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e en m</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moire.</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b="0" strike="noStrike" spc="-1">
                <a:latin typeface="Times New Roman" panose="02020603050405020304" pitchFamily="18" charset="0"/>
                <a:cs typeface="Times New Roman" panose="02020603050405020304" pitchFamily="18" charset="0"/>
              </a:rPr>
              <a:t>Un TDA Pile supporte les op</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rations suivantes :</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b="0" strike="noStrike" spc="-1">
                <a:latin typeface="Times New Roman" panose="02020603050405020304" pitchFamily="18" charset="0"/>
                <a:cs typeface="Times New Roman" panose="02020603050405020304" pitchFamily="18" charset="0"/>
              </a:rPr>
              <a:t>Pile-vide() </a:t>
            </a:r>
            <a:r>
              <a:rPr lang="en-US" altLang="en-US" sz="2800" b="0" strike="noStrike" spc="-1">
                <a:latin typeface="Times New Roman" panose="02020603050405020304" pitchFamily="18" charset="0"/>
                <a:cs typeface="Times New Roman" panose="02020603050405020304" pitchFamily="18" charset="0"/>
              </a:rPr>
              <a:t>→</a:t>
            </a:r>
            <a:r>
              <a:rPr lang="en-US" altLang="fr-FR" sz="2800" b="0" strike="noStrike" spc="-1">
                <a:latin typeface="Times New Roman" panose="02020603050405020304" pitchFamily="18" charset="0"/>
                <a:cs typeface="Times New Roman" panose="02020603050405020304" pitchFamily="18" charset="0"/>
              </a:rPr>
              <a:t> Cr</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e une pile vide.</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b="0" strike="noStrike" spc="-1">
                <a:latin typeface="Times New Roman" panose="02020603050405020304" pitchFamily="18" charset="0"/>
                <a:cs typeface="Times New Roman" panose="02020603050405020304" pitchFamily="18" charset="0"/>
              </a:rPr>
              <a:t>Empiler(P, e) </a:t>
            </a:r>
            <a:r>
              <a:rPr lang="en-US" altLang="en-US" sz="2800" b="0" strike="noStrike" spc="-1">
                <a:latin typeface="Times New Roman" panose="02020603050405020304" pitchFamily="18" charset="0"/>
                <a:cs typeface="Times New Roman" panose="02020603050405020304" pitchFamily="18" charset="0"/>
              </a:rPr>
              <a:t>→</a:t>
            </a:r>
            <a:r>
              <a:rPr lang="en-US" altLang="fr-FR" sz="2800" b="0" strike="noStrike" spc="-1">
                <a:latin typeface="Times New Roman" panose="02020603050405020304" pitchFamily="18" charset="0"/>
                <a:cs typeface="Times New Roman" panose="02020603050405020304" pitchFamily="18" charset="0"/>
              </a:rPr>
              <a:t> Ajoute 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ment e au sommet.</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b="0" strike="noStrike" spc="-1">
                <a:latin typeface="Times New Roman" panose="02020603050405020304" pitchFamily="18" charset="0"/>
                <a:cs typeface="Times New Roman" panose="02020603050405020304" pitchFamily="18" charset="0"/>
              </a:rPr>
              <a:t>D</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piler(P) </a:t>
            </a:r>
            <a:r>
              <a:rPr lang="en-US" altLang="en-US" sz="2800" b="0" strike="noStrike" spc="-1">
                <a:latin typeface="Times New Roman" panose="02020603050405020304" pitchFamily="18" charset="0"/>
                <a:cs typeface="Times New Roman" panose="02020603050405020304" pitchFamily="18" charset="0"/>
              </a:rPr>
              <a:t>→</a:t>
            </a:r>
            <a:r>
              <a:rPr lang="en-US" altLang="fr-FR" sz="2800" b="0" strike="noStrike" spc="-1">
                <a:latin typeface="Times New Roman" panose="02020603050405020304" pitchFamily="18" charset="0"/>
                <a:cs typeface="Times New Roman" panose="02020603050405020304" pitchFamily="18" charset="0"/>
              </a:rPr>
              <a:t> Supprime 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ment au sommet.</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b="0" strike="noStrike" spc="-1">
                <a:latin typeface="Times New Roman" panose="02020603050405020304" pitchFamily="18" charset="0"/>
                <a:cs typeface="Times New Roman" panose="02020603050405020304" pitchFamily="18" charset="0"/>
              </a:rPr>
              <a:t>Valeur(P) </a:t>
            </a:r>
            <a:r>
              <a:rPr lang="en-US" altLang="en-US" sz="2800" b="0" strike="noStrike" spc="-1">
                <a:latin typeface="Times New Roman" panose="02020603050405020304" pitchFamily="18" charset="0"/>
                <a:cs typeface="Times New Roman" panose="02020603050405020304" pitchFamily="18" charset="0"/>
              </a:rPr>
              <a:t>→</a:t>
            </a:r>
            <a:r>
              <a:rPr lang="en-US" altLang="fr-FR" sz="2800" b="0" strike="noStrike" spc="-1">
                <a:latin typeface="Times New Roman" panose="02020603050405020304" pitchFamily="18" charset="0"/>
                <a:cs typeface="Times New Roman" panose="02020603050405020304" pitchFamily="18" charset="0"/>
              </a:rPr>
              <a:t> Retourne 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ment au sommet sans le supprimer.</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b="0" strike="noStrike" spc="-1">
                <a:latin typeface="Times New Roman" panose="02020603050405020304" pitchFamily="18" charset="0"/>
                <a:cs typeface="Times New Roman" panose="02020603050405020304" pitchFamily="18" charset="0"/>
              </a:rPr>
              <a:t>Est-vide(P) </a:t>
            </a:r>
            <a:r>
              <a:rPr lang="en-US" altLang="en-US" sz="2800" b="0" strike="noStrike" spc="-1">
                <a:latin typeface="Times New Roman" panose="02020603050405020304" pitchFamily="18" charset="0"/>
                <a:cs typeface="Times New Roman" panose="02020603050405020304" pitchFamily="18" charset="0"/>
              </a:rPr>
              <a:t>→</a:t>
            </a:r>
            <a:r>
              <a:rPr lang="en-US" altLang="fr-FR" sz="2800" b="0" strike="noStrike" spc="-1">
                <a:latin typeface="Times New Roman" panose="02020603050405020304" pitchFamily="18" charset="0"/>
                <a:cs typeface="Times New Roman" panose="02020603050405020304" pitchFamily="18" charset="0"/>
              </a:rPr>
              <a:t> Renvoie vrai si la pile est vide.</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endParaRPr lang="en-US" altLang="fr-FR" sz="2800" b="0"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 name="CustomShape 1"/>
          <p:cNvSpPr/>
          <p:nvPr/>
        </p:nvSpPr>
        <p:spPr>
          <a:xfrm>
            <a:off x="0" y="0"/>
            <a:ext cx="608148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15" name="CustomShape 2"/>
          <p:cNvSpPr/>
          <p:nvPr/>
        </p:nvSpPr>
        <p:spPr>
          <a:xfrm>
            <a:off x="0" y="0"/>
            <a:ext cx="12191400" cy="6857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16" name="Picture 139"/>
          <p:cNvPicPr/>
          <p:nvPr/>
        </p:nvPicPr>
        <p:blipFill>
          <a:blip r:embed="rId1"/>
          <a:stretch>
            <a:fillRect/>
          </a:stretch>
        </p:blipFill>
        <p:spPr>
          <a:xfrm>
            <a:off x="0" y="0"/>
            <a:ext cx="12192000" cy="6857365"/>
          </a:xfrm>
          <a:prstGeom prst="rect">
            <a:avLst/>
          </a:prstGeom>
          <a:ln>
            <a:noFill/>
          </a:ln>
        </p:spPr>
      </p:pic>
      <p:sp>
        <p:nvSpPr>
          <p:cNvPr id="217" name="CustomShape 3"/>
          <p:cNvSpPr/>
          <p:nvPr/>
        </p:nvSpPr>
        <p:spPr>
          <a:xfrm>
            <a:off x="640080" y="2053800"/>
            <a:ext cx="3668400" cy="2759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90000"/>
              </a:lnSpc>
            </a:pPr>
            <a:r>
              <a:rPr lang="fr-FR" sz="4400" b="0" strike="noStrike" spc="-1">
                <a:solidFill>
                  <a:srgbClr val="FFFFFF"/>
                </a:solidFill>
                <a:latin typeface="Times New Roman" panose="02020603050405020304"/>
              </a:rPr>
              <a:t>TDA Pile</a:t>
            </a:r>
            <a:endParaRPr lang="fr-FR" sz="4400" b="0" strike="noStrike" spc="-1">
              <a:latin typeface="Arial" panose="020B0604020202020204"/>
            </a:endParaRPr>
          </a:p>
        </p:txBody>
      </p:sp>
      <p:sp>
        <p:nvSpPr>
          <p:cNvPr id="218" name="CustomShape 4"/>
          <p:cNvSpPr/>
          <p:nvPr/>
        </p:nvSpPr>
        <p:spPr>
          <a:xfrm>
            <a:off x="5125720" y="130810"/>
            <a:ext cx="6702425" cy="65309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635" indent="0" algn="just">
              <a:lnSpc>
                <a:spcPct val="90000"/>
              </a:lnSpc>
              <a:spcBef>
                <a:spcPts val="1000"/>
              </a:spcBef>
              <a:buClr>
                <a:srgbClr val="9B0D40"/>
              </a:buClr>
              <a:buFont typeface="Arial" panose="020B0604020202020204"/>
              <a:buNone/>
            </a:pPr>
            <a:r>
              <a:rPr lang="en-US" altLang="fr-FR" sz="2800" b="1" spc="-1">
                <a:solidFill>
                  <a:srgbClr val="00B0F0"/>
                </a:solidFill>
                <a:latin typeface="Times New Roman" panose="02020603050405020304" pitchFamily="18" charset="0"/>
                <a:cs typeface="Times New Roman" panose="02020603050405020304" pitchFamily="18" charset="0"/>
                <a:sym typeface="+mn-ea"/>
              </a:rPr>
              <a:t>TDA Pile : Axiomes fondamentaux</a:t>
            </a:r>
            <a:endParaRPr lang="en-US" altLang="fr-FR" sz="2800" b="1" strike="noStrike" spc="-1">
              <a:solidFill>
                <a:srgbClr val="00B0F0"/>
              </a:solidFill>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spc="-1">
                <a:latin typeface="Times New Roman" panose="02020603050405020304" pitchFamily="18" charset="0"/>
                <a:cs typeface="Times New Roman" panose="02020603050405020304" pitchFamily="18" charset="0"/>
                <a:sym typeface="+mn-ea"/>
              </a:rPr>
              <a:t>D</a:t>
            </a:r>
            <a:r>
              <a:rPr lang="en-US" altLang="en-US" sz="2800" spc="-1">
                <a:latin typeface="Times New Roman" panose="02020603050405020304" pitchFamily="18" charset="0"/>
                <a:cs typeface="Times New Roman" panose="02020603050405020304" pitchFamily="18" charset="0"/>
                <a:sym typeface="+mn-ea"/>
              </a:rPr>
              <a:t>é</a:t>
            </a:r>
            <a:r>
              <a:rPr lang="en-US" altLang="fr-FR" sz="2800" spc="-1">
                <a:latin typeface="Times New Roman" panose="02020603050405020304" pitchFamily="18" charset="0"/>
                <a:cs typeface="Times New Roman" panose="02020603050405020304" pitchFamily="18" charset="0"/>
                <a:sym typeface="+mn-ea"/>
              </a:rPr>
              <a:t>piler(Empiler(P, e)) = P </a:t>
            </a:r>
            <a:r>
              <a:rPr lang="en-US" altLang="en-US" sz="2800" spc="-1">
                <a:latin typeface="Times New Roman" panose="02020603050405020304" pitchFamily="18" charset="0"/>
                <a:cs typeface="Times New Roman" panose="02020603050405020304" pitchFamily="18" charset="0"/>
                <a:sym typeface="+mn-ea"/>
              </a:rPr>
              <a:t>→</a:t>
            </a:r>
            <a:r>
              <a:rPr lang="en-US" altLang="fr-FR" sz="2800" spc="-1">
                <a:latin typeface="Times New Roman" panose="02020603050405020304" pitchFamily="18" charset="0"/>
                <a:cs typeface="Times New Roman" panose="02020603050405020304" pitchFamily="18" charset="0"/>
                <a:sym typeface="+mn-ea"/>
              </a:rPr>
              <a:t> Si on empile puis on d</a:t>
            </a:r>
            <a:r>
              <a:rPr lang="en-US" altLang="en-US" sz="2800" spc="-1">
                <a:latin typeface="Times New Roman" panose="02020603050405020304" pitchFamily="18" charset="0"/>
                <a:cs typeface="Times New Roman" panose="02020603050405020304" pitchFamily="18" charset="0"/>
                <a:sym typeface="+mn-ea"/>
              </a:rPr>
              <a:t>é</a:t>
            </a:r>
            <a:r>
              <a:rPr lang="en-US" altLang="fr-FR" sz="2800" spc="-1">
                <a:latin typeface="Times New Roman" panose="02020603050405020304" pitchFamily="18" charset="0"/>
                <a:cs typeface="Times New Roman" panose="02020603050405020304" pitchFamily="18" charset="0"/>
                <a:sym typeface="+mn-ea"/>
              </a:rPr>
              <a:t>pile, on retrouve la pile initiale.</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spc="-1">
                <a:latin typeface="Times New Roman" panose="02020603050405020304" pitchFamily="18" charset="0"/>
                <a:cs typeface="Times New Roman" panose="02020603050405020304" pitchFamily="18" charset="0"/>
                <a:sym typeface="+mn-ea"/>
              </a:rPr>
              <a:t> Valeur(Empiler(P, e)) = e </a:t>
            </a:r>
            <a:r>
              <a:rPr lang="en-US" altLang="en-US" sz="2800" spc="-1">
                <a:latin typeface="Times New Roman" panose="02020603050405020304" pitchFamily="18" charset="0"/>
                <a:cs typeface="Times New Roman" panose="02020603050405020304" pitchFamily="18" charset="0"/>
                <a:sym typeface="+mn-ea"/>
              </a:rPr>
              <a:t>→</a:t>
            </a:r>
            <a:r>
              <a:rPr lang="en-US" altLang="fr-FR" sz="2800" spc="-1">
                <a:latin typeface="Times New Roman" panose="02020603050405020304" pitchFamily="18" charset="0"/>
                <a:cs typeface="Times New Roman" panose="02020603050405020304" pitchFamily="18" charset="0"/>
                <a:sym typeface="+mn-ea"/>
              </a:rPr>
              <a:t> L’</a:t>
            </a:r>
            <a:r>
              <a:rPr lang="en-US" altLang="en-US" sz="2800" spc="-1">
                <a:latin typeface="Times New Roman" panose="02020603050405020304" pitchFamily="18" charset="0"/>
                <a:cs typeface="Times New Roman" panose="02020603050405020304" pitchFamily="18" charset="0"/>
                <a:sym typeface="+mn-ea"/>
              </a:rPr>
              <a:t>é</a:t>
            </a:r>
            <a:r>
              <a:rPr lang="en-US" altLang="fr-FR" sz="2800" spc="-1">
                <a:latin typeface="Times New Roman" panose="02020603050405020304" pitchFamily="18" charset="0"/>
                <a:cs typeface="Times New Roman" panose="02020603050405020304" pitchFamily="18" charset="0"/>
                <a:sym typeface="+mn-ea"/>
              </a:rPr>
              <a:t>l</a:t>
            </a:r>
            <a:r>
              <a:rPr lang="en-US" altLang="en-US" sz="2800" spc="-1">
                <a:latin typeface="Times New Roman" panose="02020603050405020304" pitchFamily="18" charset="0"/>
                <a:cs typeface="Times New Roman" panose="02020603050405020304" pitchFamily="18" charset="0"/>
                <a:sym typeface="+mn-ea"/>
              </a:rPr>
              <a:t>é</a:t>
            </a:r>
            <a:r>
              <a:rPr lang="en-US" altLang="fr-FR" sz="2800" spc="-1">
                <a:latin typeface="Times New Roman" panose="02020603050405020304" pitchFamily="18" charset="0"/>
                <a:cs typeface="Times New Roman" panose="02020603050405020304" pitchFamily="18" charset="0"/>
                <a:sym typeface="+mn-ea"/>
              </a:rPr>
              <a:t>ment au sommet apr</a:t>
            </a:r>
            <a:r>
              <a:rPr lang="en-US" altLang="en-US" sz="2800" spc="-1">
                <a:latin typeface="Times New Roman" panose="02020603050405020304" pitchFamily="18" charset="0"/>
                <a:cs typeface="Times New Roman" panose="02020603050405020304" pitchFamily="18" charset="0"/>
                <a:sym typeface="+mn-ea"/>
              </a:rPr>
              <a:t>è</a:t>
            </a:r>
            <a:r>
              <a:rPr lang="en-US" altLang="fr-FR" sz="2800" spc="-1">
                <a:latin typeface="Times New Roman" panose="02020603050405020304" pitchFamily="18" charset="0"/>
                <a:cs typeface="Times New Roman" panose="02020603050405020304" pitchFamily="18" charset="0"/>
                <a:sym typeface="+mn-ea"/>
              </a:rPr>
              <a:t>s un empilement est celui qu’on vient d’ajouter.</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spc="-1">
                <a:latin typeface="Times New Roman" panose="02020603050405020304" pitchFamily="18" charset="0"/>
                <a:cs typeface="Times New Roman" panose="02020603050405020304" pitchFamily="18" charset="0"/>
                <a:sym typeface="+mn-ea"/>
              </a:rPr>
              <a:t>Est-vide(Pile-vide) = vrai </a:t>
            </a:r>
            <a:r>
              <a:rPr lang="en-US" altLang="en-US" sz="2800" spc="-1">
                <a:latin typeface="Times New Roman" panose="02020603050405020304" pitchFamily="18" charset="0"/>
                <a:cs typeface="Times New Roman" panose="02020603050405020304" pitchFamily="18" charset="0"/>
                <a:sym typeface="+mn-ea"/>
              </a:rPr>
              <a:t>→</a:t>
            </a:r>
            <a:r>
              <a:rPr lang="en-US" altLang="fr-FR" sz="2800" spc="-1">
                <a:latin typeface="Times New Roman" panose="02020603050405020304" pitchFamily="18" charset="0"/>
                <a:cs typeface="Times New Roman" panose="02020603050405020304" pitchFamily="18" charset="0"/>
                <a:sym typeface="+mn-ea"/>
              </a:rPr>
              <a:t> Une pile vide est bien vide.</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r>
              <a:rPr lang="en-US" altLang="fr-FR" sz="2800" spc="-1">
                <a:latin typeface="Times New Roman" panose="02020603050405020304" pitchFamily="18" charset="0"/>
                <a:cs typeface="Times New Roman" panose="02020603050405020304" pitchFamily="18" charset="0"/>
                <a:sym typeface="+mn-ea"/>
              </a:rPr>
              <a:t>Est-vide(Empiler(P, e)) = faux </a:t>
            </a:r>
            <a:r>
              <a:rPr lang="en-US" altLang="en-US" sz="2800" spc="-1">
                <a:latin typeface="Times New Roman" panose="02020603050405020304" pitchFamily="18" charset="0"/>
                <a:cs typeface="Times New Roman" panose="02020603050405020304" pitchFamily="18" charset="0"/>
                <a:sym typeface="+mn-ea"/>
              </a:rPr>
              <a:t>→</a:t>
            </a:r>
            <a:r>
              <a:rPr lang="en-US" altLang="fr-FR" sz="2800" spc="-1">
                <a:latin typeface="Times New Roman" panose="02020603050405020304" pitchFamily="18" charset="0"/>
                <a:cs typeface="Times New Roman" panose="02020603050405020304" pitchFamily="18" charset="0"/>
                <a:sym typeface="+mn-ea"/>
              </a:rPr>
              <a:t> Une pile contenant au moins un </a:t>
            </a:r>
            <a:r>
              <a:rPr lang="en-US" altLang="en-US" sz="2800" spc="-1">
                <a:latin typeface="Times New Roman" panose="02020603050405020304" pitchFamily="18" charset="0"/>
                <a:cs typeface="Times New Roman" panose="02020603050405020304" pitchFamily="18" charset="0"/>
                <a:sym typeface="+mn-ea"/>
              </a:rPr>
              <a:t>é</a:t>
            </a:r>
            <a:r>
              <a:rPr lang="en-US" altLang="fr-FR" sz="2800" spc="-1">
                <a:latin typeface="Times New Roman" panose="02020603050405020304" pitchFamily="18" charset="0"/>
                <a:cs typeface="Times New Roman" panose="02020603050405020304" pitchFamily="18" charset="0"/>
                <a:sym typeface="+mn-ea"/>
              </a:rPr>
              <a:t>l</a:t>
            </a:r>
            <a:r>
              <a:rPr lang="en-US" altLang="en-US" sz="2800" spc="-1">
                <a:latin typeface="Times New Roman" panose="02020603050405020304" pitchFamily="18" charset="0"/>
                <a:cs typeface="Times New Roman" panose="02020603050405020304" pitchFamily="18" charset="0"/>
                <a:sym typeface="+mn-ea"/>
              </a:rPr>
              <a:t>é</a:t>
            </a:r>
            <a:r>
              <a:rPr lang="en-US" altLang="fr-FR" sz="2800" spc="-1">
                <a:latin typeface="Times New Roman" panose="02020603050405020304" pitchFamily="18" charset="0"/>
                <a:cs typeface="Times New Roman" panose="02020603050405020304" pitchFamily="18" charset="0"/>
                <a:sym typeface="+mn-ea"/>
              </a:rPr>
              <a:t>ment n’est pas vide.</a:t>
            </a:r>
            <a:endParaRPr lang="en-US" altLang="fr-FR" sz="2800" b="0" strike="noStrike" spc="-1">
              <a:latin typeface="Times New Roman" panose="02020603050405020304" pitchFamily="18" charset="0"/>
              <a:cs typeface="Times New Roman" panose="02020603050405020304" pitchFamily="18" charset="0"/>
            </a:endParaRPr>
          </a:p>
          <a:p>
            <a:pPr marL="635" indent="0" algn="just">
              <a:lnSpc>
                <a:spcPct val="90000"/>
              </a:lnSpc>
              <a:spcBef>
                <a:spcPts val="1000"/>
              </a:spcBef>
              <a:buClr>
                <a:srgbClr val="9B0D40"/>
              </a:buClr>
              <a:buFont typeface="Arial" panose="020B0604020202020204"/>
              <a:buNone/>
            </a:pPr>
            <a:endParaRPr lang="en-US" altLang="fr-FR" sz="2800" b="0"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9"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0" name="Picture 73"/>
          <p:cNvPicPr/>
          <p:nvPr/>
        </p:nvPicPr>
        <p:blipFill>
          <a:blip r:embed="rId1"/>
          <a:stretch>
            <a:fillRect/>
          </a:stretch>
        </p:blipFill>
        <p:spPr>
          <a:xfrm>
            <a:off x="0" y="0"/>
            <a:ext cx="12191400" cy="6857280"/>
          </a:xfrm>
          <a:prstGeom prst="rect">
            <a:avLst/>
          </a:prstGeom>
          <a:ln>
            <a:noFill/>
          </a:ln>
        </p:spPr>
      </p:pic>
      <p:sp>
        <p:nvSpPr>
          <p:cNvPr id="221"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Evaluation d’une expression</a:t>
            </a:r>
            <a:endParaRPr lang="fr-FR" sz="4000" b="0" strike="noStrike" spc="-1">
              <a:latin typeface="Arial" panose="020B0604020202020204"/>
            </a:endParaRPr>
          </a:p>
        </p:txBody>
      </p:sp>
      <p:sp>
        <p:nvSpPr>
          <p:cNvPr id="222" name="CustomShape 3"/>
          <p:cNvSpPr/>
          <p:nvPr/>
        </p:nvSpPr>
        <p:spPr>
          <a:xfrm>
            <a:off x="1179360" y="3093120"/>
            <a:ext cx="9832680" cy="26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A l’aide des opérations et des axiomes du TDA Pile évaluer l’expression suivante :</a:t>
            </a:r>
            <a:endParaRPr lang="fr-FR" sz="2000" b="0" strike="noStrike" spc="-1">
              <a:latin typeface="Arial" panose="020B0604020202020204"/>
            </a:endParaRPr>
          </a:p>
          <a:p>
            <a:pPr>
              <a:lnSpc>
                <a:spcPct val="90000"/>
              </a:lnSpc>
              <a:spcBef>
                <a:spcPts val="1000"/>
              </a:spcBef>
            </a:pPr>
            <a:endParaRPr lang="fr-FR" sz="20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EV(DP(DP(EP(EP(PV,a)),b)))?</a:t>
            </a:r>
            <a:endParaRPr lang="fr-FR" sz="2000" b="0" strike="noStrike" spc="-1">
              <a:latin typeface="Arial" panose="020B0604020202020204"/>
            </a:endParaRPr>
          </a:p>
          <a:p>
            <a:pPr>
              <a:lnSpc>
                <a:spcPct val="90000"/>
              </a:lnSpc>
              <a:spcBef>
                <a:spcPts val="1000"/>
              </a:spcBef>
            </a:pPr>
            <a:endParaRPr lang="fr-FR" sz="2000" b="0" strike="noStrike" spc="-1">
              <a:latin typeface="Arial" panose="020B0604020202020204"/>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9"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0" name="Picture 73"/>
          <p:cNvPicPr/>
          <p:nvPr/>
        </p:nvPicPr>
        <p:blipFill>
          <a:blip r:embed="rId1"/>
          <a:stretch>
            <a:fillRect/>
          </a:stretch>
        </p:blipFill>
        <p:spPr>
          <a:xfrm>
            <a:off x="0" y="0"/>
            <a:ext cx="12191400" cy="6857280"/>
          </a:xfrm>
          <a:prstGeom prst="rect">
            <a:avLst/>
          </a:prstGeom>
          <a:ln>
            <a:noFill/>
          </a:ln>
        </p:spPr>
      </p:pic>
      <p:sp>
        <p:nvSpPr>
          <p:cNvPr id="221"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Evaluation d’une expression</a:t>
            </a:r>
            <a:endParaRPr lang="fr-FR" sz="4000" b="0" strike="noStrike" spc="-1">
              <a:latin typeface="Arial" panose="020B0604020202020204"/>
            </a:endParaRPr>
          </a:p>
        </p:txBody>
      </p:sp>
      <p:sp>
        <p:nvSpPr>
          <p:cNvPr id="222" name="CustomShape 3"/>
          <p:cNvSpPr/>
          <p:nvPr/>
        </p:nvSpPr>
        <p:spPr>
          <a:xfrm>
            <a:off x="1127760" y="2637155"/>
            <a:ext cx="9832975" cy="406082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a:lnSpc>
                <a:spcPct val="90000"/>
              </a:lnSpc>
              <a:spcBef>
                <a:spcPts val="1000"/>
              </a:spcBef>
            </a:pPr>
            <a:r>
              <a:rPr lang="en-US" altLang="fr-FR" sz="8000" b="0" strike="noStrike" spc="-1">
                <a:latin typeface="Times New Roman" panose="02020603050405020304" pitchFamily="18" charset="0"/>
                <a:cs typeface="Times New Roman" panose="02020603050405020304" pitchFamily="18" charset="0"/>
              </a:rPr>
              <a:t>Nous allons l'</a:t>
            </a:r>
            <a:r>
              <a:rPr lang="en-US" altLang="en-US" sz="8000" b="0" strike="noStrike" spc="-1">
                <a:latin typeface="Times New Roman" panose="02020603050405020304" pitchFamily="18" charset="0"/>
                <a:cs typeface="Times New Roman" panose="02020603050405020304" pitchFamily="18" charset="0"/>
              </a:rPr>
              <a:t>é</a:t>
            </a:r>
            <a:r>
              <a:rPr lang="en-US" altLang="fr-FR" sz="8000" b="0" strike="noStrike" spc="-1">
                <a:latin typeface="Times New Roman" panose="02020603050405020304" pitchFamily="18" charset="0"/>
                <a:cs typeface="Times New Roman" panose="02020603050405020304" pitchFamily="18" charset="0"/>
              </a:rPr>
              <a:t>valuer en partant de l'int</a:t>
            </a:r>
            <a:r>
              <a:rPr lang="en-US" altLang="en-US" sz="8000" b="0" strike="noStrike" spc="-1">
                <a:latin typeface="Times New Roman" panose="02020603050405020304" pitchFamily="18" charset="0"/>
                <a:cs typeface="Times New Roman" panose="02020603050405020304" pitchFamily="18" charset="0"/>
              </a:rPr>
              <a:t>é</a:t>
            </a:r>
            <a:r>
              <a:rPr lang="en-US" altLang="fr-FR" sz="8000" b="0" strike="noStrike" spc="-1">
                <a:latin typeface="Times New Roman" panose="02020603050405020304" pitchFamily="18" charset="0"/>
                <a:cs typeface="Times New Roman" panose="02020603050405020304" pitchFamily="18" charset="0"/>
              </a:rPr>
              <a:t>rieur vers l'ext</a:t>
            </a:r>
            <a:r>
              <a:rPr lang="en-US" altLang="en-US" sz="8000" b="0" strike="noStrike" spc="-1">
                <a:latin typeface="Times New Roman" panose="02020603050405020304" pitchFamily="18" charset="0"/>
                <a:cs typeface="Times New Roman" panose="02020603050405020304" pitchFamily="18" charset="0"/>
              </a:rPr>
              <a:t>é</a:t>
            </a:r>
            <a:r>
              <a:rPr lang="en-US" altLang="fr-FR" sz="8000" b="0" strike="noStrike" spc="-1">
                <a:latin typeface="Times New Roman" panose="02020603050405020304" pitchFamily="18" charset="0"/>
                <a:cs typeface="Times New Roman" panose="02020603050405020304" pitchFamily="18" charset="0"/>
              </a:rPr>
              <a:t>rieur.</a:t>
            </a:r>
            <a:endParaRPr lang="en-US" altLang="fr-FR" sz="8000" b="0"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en-US" altLang="fr-FR" sz="8000" b="0" strike="noStrike" spc="-1">
                <a:latin typeface="Times New Roman" panose="02020603050405020304" pitchFamily="18" charset="0"/>
                <a:cs typeface="Times New Roman" panose="02020603050405020304" pitchFamily="18" charset="0"/>
              </a:rPr>
              <a:t>P = PV()   // P est vide</a:t>
            </a:r>
            <a:endParaRPr lang="en-US" altLang="fr-FR" sz="8000" b="0"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en-US" altLang="fr-FR" sz="8000" b="0" strike="noStrike" spc="-1">
                <a:latin typeface="Times New Roman" panose="02020603050405020304" pitchFamily="18" charset="0"/>
                <a:cs typeface="Times New Roman" panose="02020603050405020304" pitchFamily="18" charset="0"/>
              </a:rPr>
              <a:t>P = EP(PV, a)   // P contient maintenant [a]</a:t>
            </a:r>
            <a:endParaRPr lang="en-US" altLang="fr-FR" sz="8000" b="0"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en-US" altLang="fr-FR" sz="8000" b="0" strike="noStrike" spc="-1">
                <a:latin typeface="Times New Roman" panose="02020603050405020304" pitchFamily="18" charset="0"/>
                <a:cs typeface="Times New Roman" panose="02020603050405020304" pitchFamily="18" charset="0"/>
              </a:rPr>
              <a:t>Sommet </a:t>
            </a:r>
            <a:r>
              <a:rPr lang="en-US" altLang="en-US" sz="8000" b="0" strike="noStrike" spc="-1">
                <a:latin typeface="Times New Roman" panose="02020603050405020304" pitchFamily="18" charset="0"/>
                <a:cs typeface="Times New Roman" panose="02020603050405020304" pitchFamily="18" charset="0"/>
              </a:rPr>
              <a:t>→</a:t>
            </a:r>
            <a:r>
              <a:rPr lang="en-US" altLang="fr-FR" sz="8000" b="0" strike="noStrike" spc="-1">
                <a:latin typeface="Times New Roman" panose="02020603050405020304" pitchFamily="18" charset="0"/>
                <a:cs typeface="Times New Roman" panose="02020603050405020304" pitchFamily="18" charset="0"/>
              </a:rPr>
              <a:t> [a]</a:t>
            </a:r>
            <a:endParaRPr lang="en-US" altLang="fr-FR" sz="8000" b="0"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en-US" altLang="fr-FR" sz="8000" b="0" strike="noStrike" spc="-1">
                <a:latin typeface="Times New Roman" panose="02020603050405020304" pitchFamily="18" charset="0"/>
                <a:cs typeface="Times New Roman" panose="02020603050405020304" pitchFamily="18" charset="0"/>
              </a:rPr>
              <a:t>P = EP(EP(PV, a), b)   // P contient maintenant [a, b]</a:t>
            </a:r>
            <a:endParaRPr lang="en-US" altLang="fr-FR" sz="8000" b="0"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en-US" altLang="fr-FR" sz="8000" b="0" strike="noStrike" spc="-1">
                <a:latin typeface="Times New Roman" panose="02020603050405020304" pitchFamily="18" charset="0"/>
                <a:cs typeface="Times New Roman" panose="02020603050405020304" pitchFamily="18" charset="0"/>
              </a:rPr>
              <a:t>Sommet </a:t>
            </a:r>
            <a:r>
              <a:rPr lang="en-US" altLang="en-US" sz="8000" b="0" strike="noStrike" spc="-1">
                <a:latin typeface="Times New Roman" panose="02020603050405020304" pitchFamily="18" charset="0"/>
                <a:cs typeface="Times New Roman" panose="02020603050405020304" pitchFamily="18" charset="0"/>
              </a:rPr>
              <a:t>→</a:t>
            </a:r>
            <a:r>
              <a:rPr lang="en-US" altLang="fr-FR" sz="8000" b="0" strike="noStrike" spc="-1">
                <a:latin typeface="Times New Roman" panose="02020603050405020304" pitchFamily="18" charset="0"/>
                <a:cs typeface="Times New Roman" panose="02020603050405020304" pitchFamily="18" charset="0"/>
              </a:rPr>
              <a:t> [b]</a:t>
            </a:r>
            <a:endParaRPr lang="en-US" altLang="fr-FR" sz="8000" b="0"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en-US" altLang="fr-FR" sz="8000" b="0" strike="noStrike" spc="-1">
                <a:latin typeface="Times New Roman" panose="02020603050405020304" pitchFamily="18" charset="0"/>
                <a:cs typeface="Times New Roman" panose="02020603050405020304" pitchFamily="18" charset="0"/>
              </a:rPr>
              <a:t>           [a]</a:t>
            </a:r>
            <a:endParaRPr lang="en-US" altLang="fr-FR" sz="8000" b="0"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en-US" altLang="fr-FR" sz="8000" b="0" strike="noStrike" spc="-1">
                <a:latin typeface="Times New Roman" panose="02020603050405020304" pitchFamily="18" charset="0"/>
                <a:cs typeface="Times New Roman" panose="02020603050405020304" pitchFamily="18" charset="0"/>
              </a:rPr>
              <a:t>P = DP(EP(EP(PV, a), b))   // On supprime b</a:t>
            </a:r>
            <a:endParaRPr lang="en-US" altLang="fr-FR" sz="8000" b="0"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en-US" altLang="fr-FR" sz="8000" b="0" strike="noStrike" spc="-1">
                <a:latin typeface="Times New Roman" panose="02020603050405020304" pitchFamily="18" charset="0"/>
                <a:cs typeface="Times New Roman" panose="02020603050405020304" pitchFamily="18" charset="0"/>
              </a:rPr>
              <a:t>P = DP(DP(EP(EP(PV, a), b)))   // On supprime a</a:t>
            </a:r>
            <a:endParaRPr lang="en-US" altLang="fr-FR" sz="8000" b="0"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en-US" altLang="fr-FR" sz="8000" b="1" strike="noStrike" spc="-1">
                <a:gradFill>
                  <a:gsLst>
                    <a:gs pos="0">
                      <a:srgbClr val="14CD68"/>
                    </a:gs>
                    <a:gs pos="100000">
                      <a:srgbClr val="0B6E38"/>
                    </a:gs>
                  </a:gsLst>
                  <a:lin scaled="0"/>
                </a:gradFill>
                <a:latin typeface="Times New Roman" panose="02020603050405020304" pitchFamily="18" charset="0"/>
                <a:cs typeface="Times New Roman" panose="02020603050405020304" pitchFamily="18" charset="0"/>
              </a:rPr>
              <a:t>EV(P) = VRAI  // Car P est vide</a:t>
            </a:r>
            <a:endParaRPr lang="en-US" altLang="fr-FR" sz="8000" b="1" strike="noStrike" spc="-1">
              <a:gradFill>
                <a:gsLst>
                  <a:gs pos="0">
                    <a:srgbClr val="14CD68"/>
                  </a:gs>
                  <a:gs pos="100000">
                    <a:srgbClr val="0B6E38"/>
                  </a:gs>
                </a:gsLst>
                <a:lin scaled="0"/>
              </a:gradFill>
              <a:latin typeface="Times New Roman" panose="02020603050405020304" pitchFamily="18" charset="0"/>
              <a:cs typeface="Times New Roman" panose="02020603050405020304" pitchFamily="18" charset="0"/>
            </a:endParaRPr>
          </a:p>
          <a:p>
            <a:pPr>
              <a:lnSpc>
                <a:spcPct val="90000"/>
              </a:lnSpc>
              <a:spcBef>
                <a:spcPts val="1000"/>
              </a:spcBef>
            </a:pPr>
            <a:endParaRPr lang="en-US" altLang="fr-FR" sz="2000" b="0" strike="noStrike" spc="-1">
              <a:latin typeface="Arial" panose="020B0604020202020204"/>
            </a:endParaRPr>
          </a:p>
          <a:p>
            <a:pPr>
              <a:lnSpc>
                <a:spcPct val="90000"/>
              </a:lnSpc>
              <a:spcBef>
                <a:spcPts val="1000"/>
              </a:spcBef>
            </a:pPr>
            <a:endParaRPr lang="en-US" altLang="fr-FR" sz="2000" b="0" strike="noStrike" spc="-1">
              <a:latin typeface="Arial" panose="020B0604020202020204"/>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4" name="Picture 73"/>
          <p:cNvPicPr/>
          <p:nvPr/>
        </p:nvPicPr>
        <p:blipFill>
          <a:blip r:embed="rId1"/>
          <a:stretch>
            <a:fillRect/>
          </a:stretch>
        </p:blipFill>
        <p:spPr>
          <a:xfrm>
            <a:off x="0" y="28104"/>
            <a:ext cx="12191400" cy="6857280"/>
          </a:xfrm>
          <a:prstGeom prst="rect">
            <a:avLst/>
          </a:prstGeom>
          <a:ln>
            <a:noFill/>
          </a:ln>
        </p:spPr>
      </p:pic>
      <p:sp>
        <p:nvSpPr>
          <p:cNvPr id="22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Implémentation à l’aide d’un tableau(1)</a:t>
            </a:r>
            <a:endParaRPr lang="fr-FR" sz="4000" b="0" strike="noStrike" spc="-1">
              <a:latin typeface="Arial" panose="020B0604020202020204"/>
            </a:endParaRPr>
          </a:p>
        </p:txBody>
      </p:sp>
      <p:sp>
        <p:nvSpPr>
          <p:cNvPr id="226" name="CustomShape 3"/>
          <p:cNvSpPr/>
          <p:nvPr/>
        </p:nvSpPr>
        <p:spPr>
          <a:xfrm>
            <a:off x="941040" y="2517840"/>
            <a:ext cx="10402200" cy="4014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6500" lnSpcReduction="20000"/>
          </a:bodyPr>
          <a:lstStyle/>
          <a:p>
            <a:pPr marL="228600" indent="-227965">
              <a:lnSpc>
                <a:spcPct val="90000"/>
              </a:lnSpc>
              <a:spcBef>
                <a:spcPts val="1000"/>
              </a:spcBef>
              <a:buClr>
                <a:srgbClr val="000000"/>
              </a:buClr>
              <a:buFont typeface="Arial" panose="020B0604020202020204"/>
              <a:buChar char="•"/>
            </a:pPr>
            <a:r>
              <a:rPr lang="fr-FR" sz="1800" b="0" strike="noStrike" spc="-1" dirty="0">
                <a:solidFill>
                  <a:srgbClr val="000000"/>
                </a:solidFill>
                <a:latin typeface="Times New Roman" panose="02020603050405020304"/>
              </a:rPr>
              <a:t>Type Pile = enregistrement</a:t>
            </a:r>
            <a:endParaRPr lang="fr-FR" sz="1800" b="0" strike="noStrike" spc="-1" dirty="0">
              <a:latin typeface="Arial" panose="020B0604020202020204"/>
            </a:endParaRPr>
          </a:p>
          <a:p>
            <a:pPr>
              <a:lnSpc>
                <a:spcPct val="90000"/>
              </a:lnSpc>
              <a:spcBef>
                <a:spcPts val="1000"/>
              </a:spcBef>
            </a:pPr>
            <a:r>
              <a:rPr lang="fr-FR" sz="1800" b="0" strike="noStrike" spc="-1" dirty="0">
                <a:solidFill>
                  <a:srgbClr val="000000"/>
                </a:solidFill>
                <a:latin typeface="Times New Roman" panose="02020603050405020304"/>
              </a:rPr>
              <a:t>                       sommet : entier;</a:t>
            </a:r>
            <a:endParaRPr lang="fr-FR" sz="1800" b="0" strike="noStrike" spc="-1" dirty="0">
              <a:latin typeface="Arial" panose="020B0604020202020204"/>
            </a:endParaRPr>
          </a:p>
          <a:p>
            <a:pPr>
              <a:lnSpc>
                <a:spcPct val="90000"/>
              </a:lnSpc>
              <a:spcBef>
                <a:spcPts val="1000"/>
              </a:spcBef>
            </a:pPr>
            <a:r>
              <a:rPr lang="fr-FR" sz="1800" b="0" strike="noStrike" spc="-1" dirty="0">
                <a:solidFill>
                  <a:srgbClr val="000000"/>
                </a:solidFill>
                <a:latin typeface="Times New Roman" panose="02020603050405020304"/>
              </a:rPr>
              <a:t>                       </a:t>
            </a:r>
            <a:r>
              <a:rPr lang="fr-FR" sz="1800" b="0" strike="noStrike" spc="-1" dirty="0" err="1">
                <a:solidFill>
                  <a:srgbClr val="000000"/>
                </a:solidFill>
                <a:latin typeface="Times New Roman" panose="02020603050405020304"/>
              </a:rPr>
              <a:t>elts</a:t>
            </a:r>
            <a:r>
              <a:rPr lang="fr-FR" sz="1800" b="0" strike="noStrike" spc="-1" dirty="0">
                <a:solidFill>
                  <a:srgbClr val="000000"/>
                </a:solidFill>
                <a:latin typeface="Times New Roman" panose="02020603050405020304"/>
              </a:rPr>
              <a:t> : </a:t>
            </a:r>
            <a:r>
              <a:rPr lang="fr-FR" sz="1800" b="0" strike="noStrike" spc="-1" dirty="0" err="1">
                <a:solidFill>
                  <a:srgbClr val="000000"/>
                </a:solidFill>
                <a:latin typeface="Times New Roman" panose="02020603050405020304"/>
              </a:rPr>
              <a:t>tabelau</a:t>
            </a:r>
            <a:r>
              <a:rPr lang="fr-FR" sz="1800" b="0" strike="noStrike" spc="-1" dirty="0">
                <a:solidFill>
                  <a:srgbClr val="000000"/>
                </a:solidFill>
                <a:latin typeface="Times New Roman" panose="02020603050405020304"/>
              </a:rPr>
              <a:t> [1..lmax] d’</a:t>
            </a:r>
            <a:r>
              <a:rPr lang="fr-FR" sz="1800" b="0" strike="noStrike" spc="-1" dirty="0" err="1">
                <a:solidFill>
                  <a:srgbClr val="000000"/>
                </a:solidFill>
                <a:latin typeface="Times New Roman" panose="02020603050405020304"/>
              </a:rPr>
              <a:t>Element</a:t>
            </a:r>
            <a:endParaRPr lang="fr-FR" sz="1800" b="0" strike="noStrike" spc="-1" dirty="0">
              <a:latin typeface="Arial" panose="020B0604020202020204"/>
            </a:endParaRPr>
          </a:p>
          <a:p>
            <a:pPr>
              <a:lnSpc>
                <a:spcPct val="90000"/>
              </a:lnSpc>
              <a:spcBef>
                <a:spcPts val="1000"/>
              </a:spcBef>
            </a:pPr>
            <a:r>
              <a:rPr lang="fr-FR" sz="1800" b="0" strike="noStrike" spc="-1" dirty="0">
                <a:solidFill>
                  <a:srgbClr val="000000"/>
                </a:solidFill>
                <a:latin typeface="Times New Roman" panose="02020603050405020304"/>
              </a:rPr>
              <a:t>                   </a:t>
            </a:r>
            <a:r>
              <a:rPr lang="fr-FR" sz="1800" b="0" strike="noStrike" spc="-1" dirty="0" err="1">
                <a:solidFill>
                  <a:srgbClr val="000000"/>
                </a:solidFill>
                <a:latin typeface="Times New Roman" panose="02020603050405020304"/>
              </a:rPr>
              <a:t>FinEnregistrement</a:t>
            </a:r>
            <a:r>
              <a:rPr lang="fr-FR" sz="1800" b="0" strike="noStrike" spc="-1" dirty="0">
                <a:solidFill>
                  <a:srgbClr val="000000"/>
                </a:solidFill>
                <a:latin typeface="Times New Roman" panose="02020603050405020304"/>
              </a:rPr>
              <a:t> </a:t>
            </a:r>
            <a:endParaRPr lang="fr-FR" sz="1800" b="0" strike="noStrike" spc="-1" dirty="0">
              <a:latin typeface="Arial" panose="020B0604020202020204"/>
            </a:endParaRPr>
          </a:p>
          <a:p>
            <a:pPr marL="228600" lvl="0" indent="-227965">
              <a:lnSpc>
                <a:spcPct val="90000"/>
              </a:lnSpc>
              <a:spcBef>
                <a:spcPts val="1000"/>
              </a:spcBef>
              <a:buClr>
                <a:srgbClr val="000000"/>
              </a:buClr>
              <a:buFont typeface="Arial" panose="020B0604020202020204"/>
              <a:buChar char="•"/>
            </a:pPr>
            <a:r>
              <a:rPr lang="en-US" u="sng" spc="-1" dirty="0">
                <a:solidFill>
                  <a:srgbClr val="000000"/>
                </a:solidFill>
                <a:latin typeface="+mj-lt"/>
              </a:rPr>
              <a:t>Initialiser</a:t>
            </a:r>
            <a:r>
              <a:rPr lang="en-US" spc="-1" dirty="0">
                <a:solidFill>
                  <a:srgbClr val="000000"/>
                </a:solidFill>
                <a:latin typeface="Times New Roman" panose="02020603050405020304"/>
              </a:rPr>
              <a:t> :</a:t>
            </a:r>
            <a:endParaRPr lang="fr-FR" spc="-1" dirty="0">
              <a:solidFill>
                <a:srgbClr val="000000"/>
              </a:solidFill>
              <a:latin typeface="Times New Roman" panose="02020603050405020304"/>
            </a:endParaRPr>
          </a:p>
          <a:p>
            <a:pPr marL="635">
              <a:lnSpc>
                <a:spcPct val="90000"/>
              </a:lnSpc>
              <a:spcBef>
                <a:spcPts val="1000"/>
              </a:spcBef>
              <a:buClr>
                <a:srgbClr val="000000"/>
              </a:buClr>
            </a:pPr>
            <a:r>
              <a:rPr lang="en-US" spc="-1" dirty="0">
                <a:solidFill>
                  <a:srgbClr val="000000"/>
                </a:solidFill>
                <a:latin typeface="Times New Roman" panose="02020603050405020304"/>
              </a:rPr>
              <a:t>Procedure </a:t>
            </a:r>
            <a:r>
              <a:rPr lang="en-US" spc="-1" dirty="0" err="1">
                <a:solidFill>
                  <a:srgbClr val="000000"/>
                </a:solidFill>
                <a:latin typeface="Times New Roman" panose="02020603050405020304"/>
              </a:rPr>
              <a:t>Init_Pile</a:t>
            </a:r>
            <a:r>
              <a:rPr lang="fr-FR" spc="-1" dirty="0">
                <a:solidFill>
                  <a:srgbClr val="000000"/>
                </a:solidFill>
                <a:latin typeface="Times New Roman" panose="02020603050405020304"/>
              </a:rPr>
              <a:t> </a:t>
            </a:r>
            <a:r>
              <a:rPr lang="fr-FR" sz="1800" b="0" strike="noStrike" spc="-1" dirty="0">
                <a:solidFill>
                  <a:srgbClr val="000000"/>
                </a:solidFill>
                <a:latin typeface="Times New Roman" panose="02020603050405020304"/>
              </a:rPr>
              <a:t>(réf P: Pile)</a:t>
            </a:r>
            <a:endParaRPr lang="fr-FR" sz="1800" b="0" strike="noStrike" spc="-1" dirty="0">
              <a:latin typeface="Arial" panose="020B0604020202020204"/>
            </a:endParaRPr>
          </a:p>
          <a:p>
            <a:pPr marL="635">
              <a:lnSpc>
                <a:spcPct val="90000"/>
              </a:lnSpc>
              <a:spcBef>
                <a:spcPts val="1000"/>
              </a:spcBef>
              <a:buClr>
                <a:srgbClr val="000000"/>
              </a:buClr>
            </a:pPr>
            <a:r>
              <a:rPr lang="fr-FR" sz="1800" b="0" strike="noStrike" spc="-1" dirty="0">
                <a:solidFill>
                  <a:srgbClr val="000000"/>
                </a:solidFill>
                <a:latin typeface="Times New Roman" panose="02020603050405020304"/>
              </a:rPr>
              <a:t>Début</a:t>
            </a:r>
            <a:endParaRPr lang="fr-FR" sz="1800" b="0" strike="noStrike" spc="-1" dirty="0">
              <a:latin typeface="Arial" panose="020B0604020202020204"/>
            </a:endParaRPr>
          </a:p>
          <a:p>
            <a:pPr marL="685800" indent="-227965">
              <a:lnSpc>
                <a:spcPct val="90000"/>
              </a:lnSpc>
              <a:spcBef>
                <a:spcPts val="500"/>
              </a:spcBef>
            </a:pPr>
            <a:r>
              <a:rPr lang="fr-FR" sz="1800" b="0" strike="noStrike" spc="-1" dirty="0">
                <a:solidFill>
                  <a:srgbClr val="000000"/>
                </a:solidFill>
                <a:latin typeface="Times New Roman" panose="02020603050405020304"/>
              </a:rPr>
              <a:t> </a:t>
            </a:r>
            <a:r>
              <a:rPr lang="fr-FR" sz="1800" b="0" strike="noStrike" spc="-1" dirty="0" err="1">
                <a:solidFill>
                  <a:srgbClr val="000000"/>
                </a:solidFill>
                <a:latin typeface="Times New Roman" panose="02020603050405020304"/>
              </a:rPr>
              <a:t>P.sommet</a:t>
            </a:r>
            <a:r>
              <a:rPr lang="fr-FR" sz="1800" b="0" strike="noStrike" spc="-1" dirty="0">
                <a:solidFill>
                  <a:srgbClr val="000000"/>
                </a:solidFill>
                <a:latin typeface="Times New Roman" panose="02020603050405020304"/>
              </a:rPr>
              <a:t>:=0;</a:t>
            </a:r>
            <a:endParaRPr lang="fr-FR" sz="1800" b="0" strike="noStrike" spc="-1" dirty="0">
              <a:latin typeface="Arial" panose="020B0604020202020204"/>
            </a:endParaRPr>
          </a:p>
          <a:p>
            <a:pPr marL="228600" indent="-227965">
              <a:lnSpc>
                <a:spcPct val="90000"/>
              </a:lnSpc>
              <a:spcBef>
                <a:spcPts val="1000"/>
              </a:spcBef>
            </a:pPr>
            <a:r>
              <a:rPr lang="fr-FR" sz="1800" b="0" strike="noStrike" spc="-1" dirty="0">
                <a:solidFill>
                  <a:srgbClr val="000000"/>
                </a:solidFill>
                <a:latin typeface="Times New Roman" panose="02020603050405020304"/>
              </a:rPr>
              <a:t>Fin </a:t>
            </a:r>
            <a:r>
              <a:rPr lang="en-US" spc="-1" dirty="0" err="1">
                <a:solidFill>
                  <a:srgbClr val="000000"/>
                </a:solidFill>
                <a:latin typeface="Times New Roman" panose="02020603050405020304"/>
              </a:rPr>
              <a:t>Init_Pile</a:t>
            </a:r>
            <a:r>
              <a:rPr lang="fr-FR" sz="1800" b="0" strike="noStrike" spc="-1" dirty="0">
                <a:solidFill>
                  <a:srgbClr val="000000"/>
                </a:solidFill>
                <a:latin typeface="Times New Roman" panose="02020603050405020304"/>
              </a:rPr>
              <a:t>;</a:t>
            </a:r>
            <a:endParaRPr lang="fr-FR" sz="1800" b="0" strike="noStrike" spc="-1" dirty="0">
              <a:latin typeface="Arial" panose="020B0604020202020204"/>
            </a:endParaRPr>
          </a:p>
          <a:p>
            <a:pPr marL="228600" indent="-227965">
              <a:lnSpc>
                <a:spcPct val="90000"/>
              </a:lnSpc>
              <a:spcBef>
                <a:spcPts val="1000"/>
              </a:spcBef>
            </a:pPr>
            <a:r>
              <a:rPr lang="fr-FR" sz="1800" b="0" strike="noStrike" spc="-1" dirty="0">
                <a:solidFill>
                  <a:srgbClr val="000000"/>
                </a:solidFill>
                <a:latin typeface="Times New Roman" panose="02020603050405020304"/>
              </a:rPr>
              <a:t>     Procédure Empiler(réf P: Pile, val X : Elément);</a:t>
            </a:r>
            <a:endParaRPr lang="fr-FR" sz="1800" b="0" strike="noStrike" spc="-1" dirty="0">
              <a:latin typeface="Arial" panose="020B0604020202020204"/>
            </a:endParaRPr>
          </a:p>
          <a:p>
            <a:pPr marL="228600" indent="-227965">
              <a:lnSpc>
                <a:spcPct val="90000"/>
              </a:lnSpc>
              <a:spcBef>
                <a:spcPts val="1000"/>
              </a:spcBef>
            </a:pPr>
            <a:r>
              <a:rPr lang="fr-FR" sz="1800" b="0" strike="noStrike" spc="-1" dirty="0">
                <a:solidFill>
                  <a:srgbClr val="000000"/>
                </a:solidFill>
                <a:latin typeface="Times New Roman" panose="02020603050405020304"/>
              </a:rPr>
              <a:t>     Procédure Dépiler(réf P: Pile);</a:t>
            </a:r>
            <a:endParaRPr lang="fr-FR" sz="1800" b="0" strike="noStrike" spc="-1" dirty="0">
              <a:latin typeface="Arial" panose="020B0604020202020204"/>
            </a:endParaRPr>
          </a:p>
          <a:p>
            <a:pPr marL="228600" indent="-227965">
              <a:lnSpc>
                <a:spcPct val="90000"/>
              </a:lnSpc>
              <a:spcBef>
                <a:spcPts val="1000"/>
              </a:spcBef>
            </a:pPr>
            <a:r>
              <a:rPr lang="fr-FR" sz="1800" b="0" strike="noStrike" spc="-1" dirty="0">
                <a:solidFill>
                  <a:srgbClr val="000000"/>
                </a:solidFill>
                <a:latin typeface="Times New Roman" panose="02020603050405020304"/>
              </a:rPr>
              <a:t>     Fonction Valeur(val P: Pile) : Elément;</a:t>
            </a:r>
            <a:endParaRPr lang="fr-FR" sz="1800" b="0" strike="noStrike" spc="-1" dirty="0">
              <a:latin typeface="Arial" panose="020B0604020202020204"/>
            </a:endParaRPr>
          </a:p>
          <a:p>
            <a:pPr marL="228600" indent="-227965">
              <a:lnSpc>
                <a:spcPct val="90000"/>
              </a:lnSpc>
              <a:spcBef>
                <a:spcPts val="1000"/>
              </a:spcBef>
            </a:pPr>
            <a:r>
              <a:rPr lang="fr-FR" sz="1800" b="0" strike="noStrike" spc="-1" dirty="0">
                <a:solidFill>
                  <a:srgbClr val="000000"/>
                </a:solidFill>
                <a:latin typeface="Times New Roman" panose="02020603050405020304"/>
              </a:rPr>
              <a:t>     Fonction Est-vide(val P: Pile) : Booléen;        </a:t>
            </a:r>
            <a:endParaRPr lang="fr-FR" sz="18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Implémentation à l’aide d’un tableau(2)</a:t>
            </a:r>
            <a:endParaRPr lang="fr-FR" sz="4000" b="0" strike="noStrike" spc="-1">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535" indent="-342900">
              <a:lnSpc>
                <a:spcPct val="90000"/>
              </a:lnSpc>
              <a:spcBef>
                <a:spcPts val="1000"/>
              </a:spcBef>
              <a:buFont typeface="Arial" panose="020B0604020202020204" pitchFamily="34" charset="0"/>
              <a:buChar char="•"/>
            </a:pPr>
            <a:r>
              <a:rPr lang="en-US" sz="2000" b="0" u="sng" strike="noStrike" spc="-1" dirty="0">
                <a:solidFill>
                  <a:srgbClr val="000000"/>
                </a:solidFill>
                <a:latin typeface="+mj-lt"/>
              </a:rPr>
              <a:t>Empiler</a:t>
            </a:r>
            <a:r>
              <a:rPr lang="en-US" sz="2000" b="0" strike="noStrike" spc="-1" dirty="0">
                <a:solidFill>
                  <a:srgbClr val="000000"/>
                </a:solidFill>
                <a:latin typeface="Times New Roman" panose="02020603050405020304"/>
              </a:rPr>
              <a:t> :  </a:t>
            </a:r>
            <a:endParaRPr lang="fr-FR" sz="2000" b="0" strike="noStrike" spc="-1" dirty="0">
              <a:solidFill>
                <a:srgbClr val="000000"/>
              </a:solidFill>
              <a:latin typeface="Times New Roman" panose="02020603050405020304"/>
            </a:endParaRPr>
          </a:p>
          <a:p>
            <a:pPr marL="228600" indent="-227965">
              <a:lnSpc>
                <a:spcPct val="90000"/>
              </a:lnSpc>
              <a:spcBef>
                <a:spcPts val="1000"/>
              </a:spcBef>
            </a:pPr>
            <a:r>
              <a:rPr lang="fr-FR" sz="2000" b="0" strike="noStrike" spc="-1" dirty="0">
                <a:solidFill>
                  <a:srgbClr val="000000"/>
                </a:solidFill>
                <a:latin typeface="Times New Roman" panose="02020603050405020304"/>
              </a:rPr>
              <a:t>Procédure Empiler(réf P: Pile, val X : Elément)</a:t>
            </a:r>
            <a:endParaRPr lang="fr-FR" sz="2000" b="0" strike="noStrike" spc="-1" dirty="0">
              <a:latin typeface="Arial" panose="020B0604020202020204"/>
            </a:endParaRPr>
          </a:p>
          <a:p>
            <a:pPr marL="228600" indent="-227965">
              <a:lnSpc>
                <a:spcPct val="90000"/>
              </a:lnSpc>
              <a:spcBef>
                <a:spcPts val="1000"/>
              </a:spcBef>
            </a:pPr>
            <a:r>
              <a:rPr lang="fr-FR" sz="2000" b="0" strike="noStrike" spc="-1" dirty="0">
                <a:solidFill>
                  <a:srgbClr val="000000"/>
                </a:solidFill>
                <a:latin typeface="Times New Roman" panose="02020603050405020304"/>
              </a:rPr>
              <a:t>Début</a:t>
            </a:r>
            <a:endParaRPr lang="fr-FR" sz="2000" b="0" strike="noStrike" spc="-1" dirty="0">
              <a:latin typeface="Arial" panose="020B0604020202020204"/>
            </a:endParaRPr>
          </a:p>
          <a:p>
            <a:pPr marL="685800" indent="-227965">
              <a:lnSpc>
                <a:spcPct val="90000"/>
              </a:lnSpc>
              <a:spcBef>
                <a:spcPts val="500"/>
              </a:spcBef>
            </a:pPr>
            <a:r>
              <a:rPr lang="fr-FR" sz="2000" b="0" strike="noStrike" spc="-1" dirty="0">
                <a:solidFill>
                  <a:srgbClr val="000000"/>
                </a:solidFill>
                <a:latin typeface="Times New Roman" panose="02020603050405020304"/>
              </a:rPr>
              <a:t>Si </a:t>
            </a:r>
            <a:r>
              <a:rPr lang="fr-FR" sz="2000" b="0" strike="noStrike" spc="-1" dirty="0" err="1">
                <a:solidFill>
                  <a:srgbClr val="000000"/>
                </a:solidFill>
                <a:latin typeface="Times New Roman" panose="02020603050405020304"/>
              </a:rPr>
              <a:t>P.sommet</a:t>
            </a:r>
            <a:r>
              <a:rPr lang="fr-FR" sz="2000" b="0" strike="noStrike" spc="-1" dirty="0">
                <a:solidFill>
                  <a:srgbClr val="000000"/>
                </a:solidFill>
                <a:latin typeface="Times New Roman" panose="02020603050405020304"/>
              </a:rPr>
              <a:t>=</a:t>
            </a:r>
            <a:r>
              <a:rPr lang="fr-FR" sz="2000" b="0" strike="noStrike" spc="-1" dirty="0" err="1">
                <a:solidFill>
                  <a:srgbClr val="000000"/>
                </a:solidFill>
                <a:latin typeface="Times New Roman" panose="02020603050405020304"/>
              </a:rPr>
              <a:t>lmax</a:t>
            </a:r>
            <a:endParaRPr lang="fr-FR" sz="2000" b="0" strike="noStrike" spc="-1" dirty="0">
              <a:latin typeface="Arial" panose="020B0604020202020204"/>
            </a:endParaRPr>
          </a:p>
          <a:p>
            <a:pPr marL="1143000" indent="-227965">
              <a:lnSpc>
                <a:spcPct val="90000"/>
              </a:lnSpc>
              <a:spcBef>
                <a:spcPts val="500"/>
              </a:spcBef>
            </a:pPr>
            <a:r>
              <a:rPr lang="fr-FR" sz="2000" b="0" strike="noStrike" spc="-1" dirty="0">
                <a:solidFill>
                  <a:srgbClr val="000000"/>
                </a:solidFill>
                <a:latin typeface="Times New Roman" panose="02020603050405020304"/>
              </a:rPr>
              <a:t>Alors Erreur « débordement »</a:t>
            </a:r>
            <a:endParaRPr lang="fr-FR" sz="2000" b="0" strike="noStrike" spc="-1" dirty="0">
              <a:latin typeface="Arial" panose="020B0604020202020204"/>
            </a:endParaRPr>
          </a:p>
          <a:p>
            <a:pPr marL="1143000" indent="-227965">
              <a:lnSpc>
                <a:spcPct val="90000"/>
              </a:lnSpc>
              <a:spcBef>
                <a:spcPts val="500"/>
              </a:spcBef>
            </a:pPr>
            <a:r>
              <a:rPr lang="fr-FR" sz="2000" b="0" strike="noStrike" spc="-1" dirty="0">
                <a:solidFill>
                  <a:srgbClr val="000000"/>
                </a:solidFill>
                <a:latin typeface="Times New Roman" panose="02020603050405020304"/>
              </a:rPr>
              <a:t>Sinon</a:t>
            </a:r>
            <a:endParaRPr lang="fr-FR" sz="2000" b="0" strike="noStrike" spc="-1" dirty="0">
              <a:latin typeface="Arial" panose="020B0604020202020204"/>
            </a:endParaRPr>
          </a:p>
          <a:p>
            <a:pPr marL="1143000" indent="-227965">
              <a:lnSpc>
                <a:spcPct val="90000"/>
              </a:lnSpc>
              <a:spcBef>
                <a:spcPts val="500"/>
              </a:spcBef>
            </a:pPr>
            <a:r>
              <a:rPr lang="fr-FR" sz="2000" b="0" strike="noStrike" spc="-1" dirty="0" err="1">
                <a:solidFill>
                  <a:srgbClr val="000000"/>
                </a:solidFill>
                <a:latin typeface="Times New Roman" panose="02020603050405020304"/>
              </a:rPr>
              <a:t>P.sommet</a:t>
            </a:r>
            <a:r>
              <a:rPr lang="fr-FR" sz="2000" b="0" strike="noStrike" spc="-1" dirty="0">
                <a:solidFill>
                  <a:srgbClr val="000000"/>
                </a:solidFill>
                <a:latin typeface="Times New Roman" panose="02020603050405020304"/>
              </a:rPr>
              <a:t>:=P.sommet+1;</a:t>
            </a:r>
            <a:endParaRPr lang="fr-FR" sz="2000" b="0" strike="noStrike" spc="-1" dirty="0">
              <a:latin typeface="Arial" panose="020B0604020202020204"/>
            </a:endParaRPr>
          </a:p>
          <a:p>
            <a:pPr marL="1143000" indent="-227965">
              <a:lnSpc>
                <a:spcPct val="90000"/>
              </a:lnSpc>
              <a:spcBef>
                <a:spcPts val="500"/>
              </a:spcBef>
            </a:pPr>
            <a:r>
              <a:rPr lang="fr-FR" sz="2000" b="0" strike="noStrike" spc="-1" dirty="0" err="1">
                <a:solidFill>
                  <a:srgbClr val="000000"/>
                </a:solidFill>
                <a:latin typeface="Times New Roman" panose="02020603050405020304"/>
              </a:rPr>
              <a:t>P.elts</a:t>
            </a:r>
            <a:r>
              <a:rPr lang="fr-FR" sz="2000" b="0" strike="noStrike" spc="-1" dirty="0">
                <a:solidFill>
                  <a:srgbClr val="000000"/>
                </a:solidFill>
                <a:latin typeface="Times New Roman" panose="02020603050405020304"/>
              </a:rPr>
              <a:t>[</a:t>
            </a:r>
            <a:r>
              <a:rPr lang="fr-FR" sz="2000" b="0" strike="noStrike" spc="-1" dirty="0" err="1">
                <a:solidFill>
                  <a:srgbClr val="000000"/>
                </a:solidFill>
                <a:latin typeface="Times New Roman" panose="02020603050405020304"/>
              </a:rPr>
              <a:t>P.sommet</a:t>
            </a:r>
            <a:r>
              <a:rPr lang="fr-FR" sz="2000" b="0" strike="noStrike" spc="-1" dirty="0">
                <a:solidFill>
                  <a:srgbClr val="000000"/>
                </a:solidFill>
                <a:latin typeface="Times New Roman" panose="02020603050405020304"/>
              </a:rPr>
              <a:t>]:=X;</a:t>
            </a:r>
            <a:endParaRPr lang="fr-FR" sz="2000" b="0" strike="noStrike" spc="-1" dirty="0">
              <a:latin typeface="Arial" panose="020B0604020202020204"/>
            </a:endParaRPr>
          </a:p>
          <a:p>
            <a:pPr marL="685800" indent="-227965">
              <a:lnSpc>
                <a:spcPct val="90000"/>
              </a:lnSpc>
              <a:spcBef>
                <a:spcPts val="500"/>
              </a:spcBef>
            </a:pPr>
            <a:r>
              <a:rPr lang="fr-FR" sz="2000" b="0" strike="noStrike" spc="-1" dirty="0" err="1">
                <a:solidFill>
                  <a:srgbClr val="000000"/>
                </a:solidFill>
                <a:latin typeface="Times New Roman" panose="02020603050405020304"/>
              </a:rPr>
              <a:t>FinSiFinEmpiler</a:t>
            </a:r>
            <a:endParaRPr lang="fr-FR" sz="2000" b="0" strike="noStrike" spc="-1" dirty="0">
              <a:latin typeface="Arial" panose="020B0604020202020204"/>
            </a:endParaRPr>
          </a:p>
          <a:p>
            <a:pPr marL="228600" indent="-227965">
              <a:lnSpc>
                <a:spcPct val="90000"/>
              </a:lnSpc>
              <a:spcBef>
                <a:spcPts val="1000"/>
              </a:spcBef>
            </a:pPr>
            <a:r>
              <a:rPr lang="fr-FR" sz="2000" b="1" strike="noStrike" spc="-1" dirty="0">
                <a:solidFill>
                  <a:srgbClr val="FF0000"/>
                </a:solidFill>
                <a:latin typeface="Times New Roman" panose="02020603050405020304"/>
              </a:rPr>
              <a:t>Remarque : </a:t>
            </a:r>
            <a:r>
              <a:rPr lang="fr-FR" sz="2000" b="0" strike="noStrike" spc="-1" dirty="0">
                <a:solidFill>
                  <a:srgbClr val="000000"/>
                </a:solidFill>
                <a:latin typeface="Times New Roman" panose="02020603050405020304"/>
              </a:rPr>
              <a:t>chacune des opérations (Empiler, Dépiler) consomme le temps en O(1)</a:t>
            </a:r>
            <a:endParaRPr lang="fr-FR" sz="2000" b="0" strike="noStrike" spc="-1" dirty="0">
              <a:solidFill>
                <a:srgbClr val="000000"/>
              </a:solidFill>
              <a:latin typeface="Times New Roman" panose="02020603050405020304"/>
            </a:endParaRPr>
          </a:p>
          <a:p>
            <a:pPr marL="228600" indent="-227965">
              <a:lnSpc>
                <a:spcPct val="90000"/>
              </a:lnSpc>
              <a:spcBef>
                <a:spcPts val="1000"/>
              </a:spcBef>
            </a:pPr>
            <a:endParaRPr lang="fr-FR" sz="2000" b="0" strike="noStrike" spc="-1" dirty="0">
              <a:latin typeface="Arial" panose="020B0604020202020204"/>
            </a:endParaRPr>
          </a:p>
          <a:p>
            <a:pPr marL="228600" indent="-227965" algn="just">
              <a:lnSpc>
                <a:spcPct val="110000"/>
              </a:lnSpc>
              <a:spcBef>
                <a:spcPts val="1000"/>
              </a:spcBef>
            </a:pPr>
            <a:endParaRPr lang="fr-FR" sz="20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744220" y="4445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Implémentation à l’aide d’un tableau(2)</a:t>
            </a:r>
            <a:endParaRPr lang="fr-FR" sz="4000" b="0" strike="noStrike" spc="-1">
              <a:latin typeface="Arial" panose="020B0604020202020204"/>
            </a:endParaRPr>
          </a:p>
        </p:txBody>
      </p:sp>
      <p:sp>
        <p:nvSpPr>
          <p:cNvPr id="230" name="CustomShape 3"/>
          <p:cNvSpPr/>
          <p:nvPr/>
        </p:nvSpPr>
        <p:spPr>
          <a:xfrm>
            <a:off x="767715" y="2565400"/>
            <a:ext cx="10733405" cy="41973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635" indent="0" algn="just">
              <a:lnSpc>
                <a:spcPct val="90000"/>
              </a:lnSpc>
              <a:spcBef>
                <a:spcPts val="1000"/>
              </a:spcBef>
              <a:buFont typeface="Arial" panose="020B0604020202020204" pitchFamily="34" charset="0"/>
              <a:buNone/>
            </a:pPr>
            <a:r>
              <a:rPr lang="en-US" altLang="fr-FR" sz="2400" b="0" strike="noStrike" spc="-1" dirty="0">
                <a:solidFill>
                  <a:schemeClr val="tx1"/>
                </a:solidFill>
                <a:latin typeface="Times New Roman" panose="02020603050405020304" pitchFamily="18" charset="0"/>
                <a:cs typeface="Times New Roman" panose="02020603050405020304" pitchFamily="18" charset="0"/>
              </a:rPr>
              <a:t>O(1) est une notation de complexit</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 qui signifie que le temps d'ex</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cution de l'op</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ration ne d</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pend pas de la taille des donn</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es.</a:t>
            </a:r>
            <a:endParaRPr lang="en-US" altLang="fr-FR" sz="2400" b="0" strike="noStrike" spc="-1" dirty="0">
              <a:solidFill>
                <a:schemeClr val="tx1"/>
              </a:solidFill>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400" b="0" strike="noStrike" spc="-1" dirty="0">
                <a:solidFill>
                  <a:schemeClr val="tx1"/>
                </a:solidFill>
                <a:latin typeface="Times New Roman" panose="02020603050405020304" pitchFamily="18" charset="0"/>
                <a:cs typeface="Times New Roman" panose="02020603050405020304" pitchFamily="18" charset="0"/>
              </a:rPr>
              <a:t>Autrement dit, que la pile contienne 10 </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l</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ments ou 1 million d’</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l</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ments, le temps pour empiler (push) ou d</a:t>
            </a:r>
            <a:r>
              <a:rPr lang="en-US" altLang="en-US" sz="2400" b="0" strike="noStrike" spc="-1" dirty="0">
                <a:solidFill>
                  <a:schemeClr val="tx1"/>
                </a:solidFill>
                <a:latin typeface="Times New Roman" panose="02020603050405020304" pitchFamily="18" charset="0"/>
                <a:cs typeface="Times New Roman" panose="02020603050405020304" pitchFamily="18" charset="0"/>
              </a:rPr>
              <a:t>é</a:t>
            </a:r>
            <a:r>
              <a:rPr lang="en-US" altLang="fr-FR" sz="2400" b="0" strike="noStrike" spc="-1" dirty="0">
                <a:solidFill>
                  <a:schemeClr val="tx1"/>
                </a:solidFill>
                <a:latin typeface="Times New Roman" panose="02020603050405020304" pitchFamily="18" charset="0"/>
                <a:cs typeface="Times New Roman" panose="02020603050405020304" pitchFamily="18" charset="0"/>
              </a:rPr>
              <a:t>piler (pop) est toujours constant.</a:t>
            </a:r>
            <a:endParaRPr lang="en-US" altLang="fr-FR" sz="2400" b="0" strike="noStrike" spc="-1" dirty="0">
              <a:solidFill>
                <a:schemeClr val="tx1"/>
              </a:solidFill>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400" b="0" strike="noStrike" spc="-1" dirty="0">
                <a:solidFill>
                  <a:srgbClr val="00B0F0"/>
                </a:solidFill>
                <a:latin typeface="Times New Roman" panose="02020603050405020304" pitchFamily="18" charset="0"/>
                <a:cs typeface="Times New Roman" panose="02020603050405020304" pitchFamily="18" charset="0"/>
              </a:rPr>
              <a:t>Pourquoi O(1) ?</a:t>
            </a:r>
            <a:endParaRPr lang="en-US" altLang="fr-FR" sz="2400" b="0" strike="noStrike" spc="-1" dirty="0">
              <a:solidFill>
                <a:srgbClr val="00B0F0"/>
              </a:solidFill>
              <a:latin typeface="Times New Roman" panose="02020603050405020304" pitchFamily="18" charset="0"/>
              <a:cs typeface="Times New Roman" panose="02020603050405020304" pitchFamily="18" charset="0"/>
            </a:endParaRPr>
          </a:p>
          <a:p>
            <a:pPr marL="343535" indent="-342900" algn="just">
              <a:lnSpc>
                <a:spcPct val="90000"/>
              </a:lnSpc>
              <a:spcBef>
                <a:spcPts val="1000"/>
              </a:spcBef>
              <a:buFont typeface="Arial" panose="020B0604020202020204" pitchFamily="34" charset="0"/>
              <a:buChar char="•"/>
            </a:pPr>
            <a:r>
              <a:rPr lang="en-US" altLang="fr-FR" sz="2400" b="0" strike="noStrike" spc="-1" dirty="0">
                <a:latin typeface="Times New Roman" panose="02020603050405020304" pitchFamily="18" charset="0"/>
                <a:cs typeface="Times New Roman" panose="02020603050405020304" pitchFamily="18" charset="0"/>
              </a:rPr>
              <a:t> On ajoute toujours l'</a:t>
            </a:r>
            <a:r>
              <a:rPr lang="en-US" altLang="en-US" sz="2400" b="0" strike="noStrike" spc="-1" dirty="0">
                <a:latin typeface="Times New Roman" panose="02020603050405020304" pitchFamily="18" charset="0"/>
                <a:cs typeface="Times New Roman" panose="02020603050405020304" pitchFamily="18" charset="0"/>
              </a:rPr>
              <a:t>é</a:t>
            </a:r>
            <a:r>
              <a:rPr lang="en-US" altLang="fr-FR" sz="2400" b="0" strike="noStrike" spc="-1" dirty="0">
                <a:latin typeface="Times New Roman" panose="02020603050405020304" pitchFamily="18" charset="0"/>
                <a:cs typeface="Times New Roman" panose="02020603050405020304" pitchFamily="18" charset="0"/>
              </a:rPr>
              <a:t>l</a:t>
            </a:r>
            <a:r>
              <a:rPr lang="en-US" altLang="en-US" sz="2400" b="0" strike="noStrike" spc="-1" dirty="0">
                <a:latin typeface="Times New Roman" panose="02020603050405020304" pitchFamily="18" charset="0"/>
                <a:cs typeface="Times New Roman" panose="02020603050405020304" pitchFamily="18" charset="0"/>
              </a:rPr>
              <a:t>é</a:t>
            </a:r>
            <a:r>
              <a:rPr lang="en-US" altLang="fr-FR" sz="2400" b="0" strike="noStrike" spc="-1" dirty="0">
                <a:latin typeface="Times New Roman" panose="02020603050405020304" pitchFamily="18" charset="0"/>
                <a:cs typeface="Times New Roman" panose="02020603050405020304" pitchFamily="18" charset="0"/>
              </a:rPr>
              <a:t>ment à l’index sommet, sans parcourir la pile.</a:t>
            </a:r>
            <a:endParaRPr lang="en-US" altLang="fr-FR" sz="2400" b="0" strike="noStrike" spc="-1" dirty="0">
              <a:latin typeface="Times New Roman" panose="02020603050405020304" pitchFamily="18" charset="0"/>
              <a:cs typeface="Times New Roman" panose="02020603050405020304" pitchFamily="18" charset="0"/>
            </a:endParaRPr>
          </a:p>
          <a:p>
            <a:pPr marL="343535" indent="-342900" algn="just">
              <a:lnSpc>
                <a:spcPct val="90000"/>
              </a:lnSpc>
              <a:spcBef>
                <a:spcPts val="1000"/>
              </a:spcBef>
              <a:buFont typeface="Arial" panose="020B0604020202020204" pitchFamily="34" charset="0"/>
              <a:buChar char="•"/>
            </a:pPr>
            <a:r>
              <a:rPr lang="en-US" altLang="fr-FR" sz="2400" b="0" strike="noStrike" spc="-1" dirty="0">
                <a:latin typeface="Times New Roman" panose="02020603050405020304" pitchFamily="18" charset="0"/>
                <a:cs typeface="Times New Roman" panose="02020603050405020304" pitchFamily="18" charset="0"/>
              </a:rPr>
              <a:t> Il n'y a pas de boucle ni de recherche.</a:t>
            </a:r>
            <a:endParaRPr lang="en-US" altLang="fr-FR" sz="2400" b="0" strike="noStrike" spc="-1" dirty="0">
              <a:latin typeface="Times New Roman" panose="02020603050405020304" pitchFamily="18" charset="0"/>
              <a:cs typeface="Times New Roman" panose="02020603050405020304" pitchFamily="18" charset="0"/>
            </a:endParaRPr>
          </a:p>
          <a:p>
            <a:pPr marL="343535" indent="-342900" algn="just">
              <a:lnSpc>
                <a:spcPct val="90000"/>
              </a:lnSpc>
              <a:spcBef>
                <a:spcPts val="1000"/>
              </a:spcBef>
              <a:buFont typeface="Arial" panose="020B0604020202020204" pitchFamily="34" charset="0"/>
              <a:buChar char="•"/>
            </a:pPr>
            <a:r>
              <a:rPr lang="en-US" altLang="fr-FR" sz="2400" b="0" strike="noStrike" spc="-1" dirty="0">
                <a:latin typeface="Times New Roman" panose="02020603050405020304" pitchFamily="18" charset="0"/>
                <a:cs typeface="Times New Roman" panose="02020603050405020304" pitchFamily="18" charset="0"/>
              </a:rPr>
              <a:t>Op</a:t>
            </a:r>
            <a:r>
              <a:rPr lang="en-US" altLang="en-US" sz="2400" b="0" strike="noStrike" spc="-1" dirty="0">
                <a:latin typeface="Times New Roman" panose="02020603050405020304" pitchFamily="18" charset="0"/>
                <a:cs typeface="Times New Roman" panose="02020603050405020304" pitchFamily="18" charset="0"/>
              </a:rPr>
              <a:t>é</a:t>
            </a:r>
            <a:r>
              <a:rPr lang="en-US" altLang="fr-FR" sz="2400" b="0" strike="noStrike" spc="-1" dirty="0">
                <a:latin typeface="Times New Roman" panose="02020603050405020304" pitchFamily="18" charset="0"/>
                <a:cs typeface="Times New Roman" panose="02020603050405020304" pitchFamily="18" charset="0"/>
              </a:rPr>
              <a:t>rations effectu</a:t>
            </a:r>
            <a:r>
              <a:rPr lang="en-US" altLang="en-US" sz="2400" b="0" strike="noStrike" spc="-1" dirty="0">
                <a:latin typeface="Times New Roman" panose="02020603050405020304" pitchFamily="18" charset="0"/>
                <a:cs typeface="Times New Roman" panose="02020603050405020304" pitchFamily="18" charset="0"/>
              </a:rPr>
              <a:t>é</a:t>
            </a:r>
            <a:r>
              <a:rPr lang="en-US" altLang="fr-FR" sz="2400" b="0" strike="noStrike" spc="-1" dirty="0">
                <a:latin typeface="Times New Roman" panose="02020603050405020304" pitchFamily="18" charset="0"/>
                <a:cs typeface="Times New Roman" panose="02020603050405020304" pitchFamily="18" charset="0"/>
              </a:rPr>
              <a:t>es en temps constant :</a:t>
            </a:r>
            <a:endParaRPr lang="en-US" altLang="fr-FR" sz="2400" b="0" strike="noStrike" spc="-1" dirty="0">
              <a:latin typeface="Times New Roman" panose="02020603050405020304" pitchFamily="18" charset="0"/>
              <a:cs typeface="Times New Roman" panose="02020603050405020304" pitchFamily="18" charset="0"/>
            </a:endParaRPr>
          </a:p>
          <a:p>
            <a:pPr marL="343535" indent="-342900" algn="just">
              <a:lnSpc>
                <a:spcPct val="90000"/>
              </a:lnSpc>
              <a:spcBef>
                <a:spcPts val="1000"/>
              </a:spcBef>
              <a:buFont typeface="Arial" panose="020B0604020202020204" pitchFamily="34" charset="0"/>
              <a:buChar char="•"/>
            </a:pPr>
            <a:r>
              <a:rPr lang="en-US" altLang="fr-FR" sz="2400" b="0" strike="noStrike" spc="-1" dirty="0">
                <a:latin typeface="Times New Roman" panose="02020603050405020304" pitchFamily="18" charset="0"/>
                <a:cs typeface="Times New Roman" panose="02020603050405020304" pitchFamily="18" charset="0"/>
              </a:rPr>
              <a:t>V</a:t>
            </a:r>
            <a:r>
              <a:rPr lang="en-US" altLang="en-US" sz="2400" b="0" strike="noStrike" spc="-1" dirty="0">
                <a:latin typeface="Times New Roman" panose="02020603050405020304" pitchFamily="18" charset="0"/>
                <a:cs typeface="Times New Roman" panose="02020603050405020304" pitchFamily="18" charset="0"/>
              </a:rPr>
              <a:t>é</a:t>
            </a:r>
            <a:r>
              <a:rPr lang="en-US" altLang="fr-FR" sz="2400" b="0" strike="noStrike" spc="-1" dirty="0">
                <a:latin typeface="Times New Roman" panose="02020603050405020304" pitchFamily="18" charset="0"/>
                <a:cs typeface="Times New Roman" panose="02020603050405020304" pitchFamily="18" charset="0"/>
              </a:rPr>
              <a:t>rification (if)</a:t>
            </a:r>
            <a:r>
              <a:rPr lang="fr-FR" altLang="en-US" sz="2400" b="0" strike="noStrike" spc="-1" dirty="0">
                <a:latin typeface="Times New Roman" panose="02020603050405020304" pitchFamily="18" charset="0"/>
                <a:cs typeface="Times New Roman" panose="02020603050405020304" pitchFamily="18" charset="0"/>
              </a:rPr>
              <a:t> ;</a:t>
            </a:r>
            <a:r>
              <a:rPr lang="en-US" altLang="fr-FR" sz="2400" b="0" strike="noStrike" spc="-1" dirty="0">
                <a:latin typeface="Times New Roman" panose="02020603050405020304" pitchFamily="18" charset="0"/>
                <a:cs typeface="Times New Roman" panose="02020603050405020304" pitchFamily="18" charset="0"/>
              </a:rPr>
              <a:t>Affectation (P-&gt;elts[P-&gt;sommet] = X;)</a:t>
            </a:r>
            <a:r>
              <a:rPr lang="fr-FR" altLang="en-US" sz="2400" b="0" strike="noStrike" spc="-1" dirty="0">
                <a:latin typeface="Times New Roman" panose="02020603050405020304" pitchFamily="18" charset="0"/>
                <a:cs typeface="Times New Roman" panose="02020603050405020304" pitchFamily="18" charset="0"/>
              </a:rPr>
              <a:t>; </a:t>
            </a:r>
            <a:r>
              <a:rPr lang="en-US" altLang="fr-FR" sz="2400" b="0" strike="noStrike" spc="-1" dirty="0">
                <a:latin typeface="Times New Roman" panose="02020603050405020304" pitchFamily="18" charset="0"/>
                <a:cs typeface="Times New Roman" panose="02020603050405020304" pitchFamily="18" charset="0"/>
              </a:rPr>
              <a:t>Incr</a:t>
            </a:r>
            <a:r>
              <a:rPr lang="en-US" altLang="en-US" sz="2400" b="0" strike="noStrike" spc="-1" dirty="0">
                <a:latin typeface="Times New Roman" panose="02020603050405020304" pitchFamily="18" charset="0"/>
                <a:cs typeface="Times New Roman" panose="02020603050405020304" pitchFamily="18" charset="0"/>
              </a:rPr>
              <a:t>é</a:t>
            </a:r>
            <a:r>
              <a:rPr lang="en-US" altLang="fr-FR" sz="2400" b="0" strike="noStrike" spc="-1" dirty="0">
                <a:latin typeface="Times New Roman" panose="02020603050405020304" pitchFamily="18" charset="0"/>
                <a:cs typeface="Times New Roman" panose="02020603050405020304" pitchFamily="18" charset="0"/>
              </a:rPr>
              <a:t>mentation (P-&gt;sommet++)</a:t>
            </a:r>
            <a:r>
              <a:rPr lang="fr-FR" altLang="en-US" sz="2400" b="0" strike="noStrike" spc="-1" dirty="0">
                <a:latin typeface="Times New Roman" panose="02020603050405020304" pitchFamily="18" charset="0"/>
                <a:cs typeface="Times New Roman" panose="02020603050405020304" pitchFamily="18" charset="0"/>
              </a:rPr>
              <a:t> .Donc </a:t>
            </a:r>
            <a:r>
              <a:rPr lang="en-US" altLang="fr-FR" sz="2400" b="0" strike="noStrike" spc="-1" dirty="0">
                <a:latin typeface="Times New Roman" panose="02020603050405020304" pitchFamily="18" charset="0"/>
                <a:cs typeface="Times New Roman" panose="02020603050405020304" pitchFamily="18" charset="0"/>
              </a:rPr>
              <a:t>Toutes ces </a:t>
            </a:r>
            <a:r>
              <a:rPr lang="en-US" altLang="en-US" sz="2400" b="0" strike="noStrike" spc="-1" dirty="0">
                <a:latin typeface="Times New Roman" panose="02020603050405020304" pitchFamily="18" charset="0"/>
                <a:cs typeface="Times New Roman" panose="02020603050405020304" pitchFamily="18" charset="0"/>
              </a:rPr>
              <a:t>é</a:t>
            </a:r>
            <a:r>
              <a:rPr lang="en-US" altLang="fr-FR" sz="2400" b="0" strike="noStrike" spc="-1" dirty="0">
                <a:latin typeface="Times New Roman" panose="02020603050405020304" pitchFamily="18" charset="0"/>
                <a:cs typeface="Times New Roman" panose="02020603050405020304" pitchFamily="18" charset="0"/>
              </a:rPr>
              <a:t>tapes prennent un temps fixe, donc O(1).</a:t>
            </a:r>
            <a:endParaRPr lang="en-US" altLang="fr-FR" sz="2400" b="0" strike="noStrike" spc="-1" dirty="0">
              <a:latin typeface="Times New Roman" panose="02020603050405020304" pitchFamily="18" charset="0"/>
              <a:cs typeface="Times New Roman" panose="02020603050405020304" pitchFamily="18" charset="0"/>
            </a:endParaRPr>
          </a:p>
          <a:p>
            <a:pPr marL="343535" indent="-342900" algn="just">
              <a:lnSpc>
                <a:spcPct val="90000"/>
              </a:lnSpc>
              <a:spcBef>
                <a:spcPts val="1000"/>
              </a:spcBef>
              <a:buFont typeface="Arial" panose="020B0604020202020204" pitchFamily="34" charset="0"/>
              <a:buChar char="•"/>
            </a:pPr>
            <a:endParaRPr lang="en-US" altLang="fr-FR" sz="2400" b="0"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744220" y="-38608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Implémentation à l’aide d’un tableau(2)</a:t>
            </a:r>
            <a:endParaRPr lang="fr-FR" sz="4000" b="0" strike="noStrike" spc="-1">
              <a:latin typeface="Arial" panose="020B0604020202020204"/>
            </a:endParaRPr>
          </a:p>
        </p:txBody>
      </p:sp>
      <p:sp>
        <p:nvSpPr>
          <p:cNvPr id="230" name="CustomShape 3"/>
          <p:cNvSpPr/>
          <p:nvPr/>
        </p:nvSpPr>
        <p:spPr>
          <a:xfrm>
            <a:off x="713740" y="2132965"/>
            <a:ext cx="10733405" cy="41973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#include &lt;stdio.h&gt;</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#include &lt;stdlib.h&gt;</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#define LMAX 100 // Taille maximale de la pile</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typedef int Element;</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typedef struct {</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int sommet;</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Element elts[LMAX];</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Pile;</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solidFill>
                  <a:schemeClr val="accent1"/>
                </a:solidFill>
                <a:latin typeface="Times New Roman" panose="02020603050405020304" pitchFamily="18" charset="0"/>
                <a:cs typeface="Times New Roman" panose="02020603050405020304" pitchFamily="18" charset="0"/>
              </a:rPr>
              <a:t>// Initialiser la pile</a:t>
            </a:r>
            <a:endParaRPr lang="en-US" altLang="fr-FR" sz="2000" b="1" strike="noStrike" spc="-1" dirty="0">
              <a:solidFill>
                <a:schemeClr val="accent1"/>
              </a:solidFill>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void Init_Pile(Pile *P) {</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P-&gt;sommet = -1;</a:t>
            </a:r>
            <a:r>
              <a:rPr lang="fr-FR" altLang="en-US" sz="2000" b="1" strike="noStrike" spc="-1" dirty="0">
                <a:latin typeface="Times New Roman" panose="02020603050405020304" pitchFamily="18" charset="0"/>
                <a:cs typeface="Times New Roman" panose="02020603050405020304" pitchFamily="18" charset="0"/>
              </a:rPr>
              <a:t> </a:t>
            </a:r>
            <a:r>
              <a:rPr lang="en-US" altLang="fr-FR" sz="2000" b="1" strike="noStrike" spc="-1" dirty="0">
                <a:latin typeface="Times New Roman" panose="02020603050405020304" pitchFamily="18" charset="0"/>
                <a:cs typeface="Times New Roman" panose="02020603050405020304" pitchFamily="18" charset="0"/>
              </a:rPr>
              <a:t>}</a:t>
            </a:r>
            <a:endParaRPr lang="en-US" altLang="fr-FR" sz="20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744220" y="4445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Implémentation à l’aide d’un tableau(2)</a:t>
            </a:r>
            <a:endParaRPr lang="fr-FR" sz="4000" b="0" strike="noStrike" spc="-1">
              <a:latin typeface="Arial" panose="020B0604020202020204"/>
            </a:endParaRPr>
          </a:p>
        </p:txBody>
      </p:sp>
      <p:sp>
        <p:nvSpPr>
          <p:cNvPr id="230" name="CustomShape 3"/>
          <p:cNvSpPr/>
          <p:nvPr/>
        </p:nvSpPr>
        <p:spPr>
          <a:xfrm>
            <a:off x="407670" y="2151380"/>
            <a:ext cx="10733405" cy="41973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635" indent="0" algn="just">
              <a:lnSpc>
                <a:spcPct val="90000"/>
              </a:lnSpc>
              <a:spcBef>
                <a:spcPts val="1000"/>
              </a:spcBef>
              <a:buFont typeface="Arial" panose="020B0604020202020204" pitchFamily="34" charset="0"/>
              <a:buNone/>
            </a:pP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solidFill>
                  <a:schemeClr val="accent1"/>
                </a:solidFill>
                <a:latin typeface="Times New Roman" panose="02020603050405020304" pitchFamily="18" charset="0"/>
                <a:cs typeface="Times New Roman" panose="02020603050405020304" pitchFamily="18" charset="0"/>
              </a:rPr>
              <a:t>// Empiler un </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l</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ment dans la pile</a:t>
            </a:r>
            <a:endParaRPr lang="en-US" altLang="fr-FR" sz="2000" b="1" strike="noStrike" spc="-1" dirty="0">
              <a:solidFill>
                <a:schemeClr val="accent1"/>
              </a:solidFill>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void Empiler(Pile *P, Element X) {</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if (P-&gt;sommet == LMAX - 1) {</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printf("Erreur : D</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bordement, la pile est pleine.\n");</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 else {</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P-&gt;sommet++;</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P-&gt;elts[P-&gt;sommet] = X;</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    }</a:t>
            </a:r>
            <a:endParaRPr lang="en-US" altLang="fr-FR" sz="2000" b="1" strike="noStrike" spc="-1" dirty="0">
              <a:latin typeface="Times New Roman" panose="02020603050405020304" pitchFamily="18" charset="0"/>
              <a:cs typeface="Times New Roman" panose="02020603050405020304" pitchFamily="18" charset="0"/>
            </a:endParaRPr>
          </a:p>
          <a:p>
            <a:pPr marL="635" indent="0" algn="just">
              <a:lnSpc>
                <a:spcPct val="90000"/>
              </a:lnSpc>
              <a:spcBef>
                <a:spcPts val="1000"/>
              </a:spcBef>
              <a:buFont typeface="Arial" panose="020B0604020202020204" pitchFamily="34" charset="0"/>
              <a:buNone/>
            </a:pPr>
            <a:r>
              <a:rPr lang="en-US" altLang="fr-FR" sz="2000" b="1" strike="noStrike" spc="-1" dirty="0">
                <a:latin typeface="Times New Roman" panose="02020603050405020304" pitchFamily="18" charset="0"/>
                <a:cs typeface="Times New Roman" panose="02020603050405020304" pitchFamily="18" charset="0"/>
              </a:rPr>
              <a:t>}</a:t>
            </a:r>
            <a:endParaRPr lang="en-US" altLang="fr-FR" sz="20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4000"/>
          </a:bodyPr>
          <a:lstStyle/>
          <a:p>
            <a:pPr marL="228600" indent="-227965">
              <a:lnSpc>
                <a:spcPct val="90000"/>
              </a:lnSpc>
              <a:spcBef>
                <a:spcPts val="1000"/>
              </a:spcBef>
            </a:pPr>
            <a:r>
              <a:rPr lang="en-US" sz="2000" b="0" u="sng" strike="noStrike" spc="-1" dirty="0" err="1">
                <a:solidFill>
                  <a:schemeClr val="accent1"/>
                </a:solidFill>
                <a:latin typeface="+mj-lt"/>
              </a:rPr>
              <a:t>Depiler</a:t>
            </a:r>
            <a:r>
              <a:rPr lang="en-US" sz="2000" b="0" u="sng" strike="noStrike" spc="-1" dirty="0">
                <a:solidFill>
                  <a:schemeClr val="accent1"/>
                </a:solidFill>
                <a:latin typeface="Times New Roman" panose="02020603050405020304"/>
              </a:rPr>
              <a:t> :</a:t>
            </a:r>
            <a:r>
              <a:rPr lang="en-US" sz="2000" b="0" u="sng" strike="noStrike" spc="-1" dirty="0">
                <a:solidFill>
                  <a:srgbClr val="000000"/>
                </a:solidFill>
                <a:latin typeface="Times New Roman" panose="02020603050405020304"/>
              </a:rPr>
              <a:t> </a:t>
            </a:r>
            <a:endParaRPr lang="fr-FR" sz="2000" b="0" u="sng" strike="noStrike" spc="-1" dirty="0">
              <a:solidFill>
                <a:srgbClr val="000000"/>
              </a:solidFill>
              <a:latin typeface="Times New Roman" panose="02020603050405020304"/>
            </a:endParaRPr>
          </a:p>
          <a:p>
            <a:pPr marL="228600" indent="-227965">
              <a:lnSpc>
                <a:spcPct val="90000"/>
              </a:lnSpc>
              <a:spcBef>
                <a:spcPts val="1000"/>
              </a:spcBef>
            </a:pPr>
            <a:r>
              <a:rPr lang="fr-FR" sz="2000" b="0" strike="noStrike" spc="-1" dirty="0">
                <a:solidFill>
                  <a:srgbClr val="000000"/>
                </a:solidFill>
                <a:latin typeface="Times New Roman" panose="02020603050405020304"/>
              </a:rPr>
              <a:t>Procédure </a:t>
            </a:r>
            <a:r>
              <a:rPr lang="fr-FR" sz="2000" b="0" strike="noStrike" spc="-1" dirty="0" err="1">
                <a:solidFill>
                  <a:srgbClr val="000000"/>
                </a:solidFill>
                <a:latin typeface="Times New Roman" panose="02020603050405020304"/>
              </a:rPr>
              <a:t>Depiler</a:t>
            </a:r>
            <a:r>
              <a:rPr lang="fr-FR" sz="2000" b="0" strike="noStrike" spc="-1" dirty="0">
                <a:solidFill>
                  <a:srgbClr val="000000"/>
                </a:solidFill>
                <a:latin typeface="Times New Roman" panose="02020603050405020304"/>
              </a:rPr>
              <a:t>(réf P: Pile, val X : Elément)</a:t>
            </a:r>
            <a:endParaRPr lang="fr-FR" sz="2000" b="0" strike="noStrike" spc="-1" dirty="0">
              <a:latin typeface="Arial" panose="020B0604020202020204"/>
            </a:endParaRPr>
          </a:p>
          <a:p>
            <a:pPr marL="228600" indent="-227965">
              <a:lnSpc>
                <a:spcPct val="90000"/>
              </a:lnSpc>
              <a:spcBef>
                <a:spcPts val="1000"/>
              </a:spcBef>
            </a:pPr>
            <a:r>
              <a:rPr lang="fr-FR" sz="2000" b="0" strike="noStrike" spc="-1" dirty="0">
                <a:solidFill>
                  <a:srgbClr val="000000"/>
                </a:solidFill>
                <a:latin typeface="Times New Roman" panose="02020603050405020304"/>
              </a:rPr>
              <a:t>Début</a:t>
            </a:r>
            <a:endParaRPr lang="fr-FR" sz="2000" b="0" strike="noStrike" spc="-1" dirty="0">
              <a:latin typeface="Arial" panose="020B0604020202020204"/>
            </a:endParaRPr>
          </a:p>
          <a:p>
            <a:pPr marL="685800" indent="-227965">
              <a:lnSpc>
                <a:spcPct val="90000"/>
              </a:lnSpc>
              <a:spcBef>
                <a:spcPts val="500"/>
              </a:spcBef>
            </a:pPr>
            <a:r>
              <a:rPr lang="fr-FR" sz="2000" b="0" strike="noStrike" spc="-1" dirty="0">
                <a:solidFill>
                  <a:srgbClr val="000000"/>
                </a:solidFill>
                <a:latin typeface="Times New Roman" panose="02020603050405020304"/>
              </a:rPr>
              <a:t>Si </a:t>
            </a:r>
            <a:r>
              <a:rPr lang="fr-FR" sz="2000" b="0" strike="noStrike" spc="-1" dirty="0" err="1">
                <a:solidFill>
                  <a:srgbClr val="000000"/>
                </a:solidFill>
                <a:latin typeface="Times New Roman" panose="02020603050405020304"/>
              </a:rPr>
              <a:t>P.sommet</a:t>
            </a:r>
            <a:r>
              <a:rPr lang="fr-FR" sz="2000" b="0" strike="noStrike" spc="-1" dirty="0">
                <a:solidFill>
                  <a:srgbClr val="000000"/>
                </a:solidFill>
                <a:latin typeface="Times New Roman" panose="02020603050405020304"/>
              </a:rPr>
              <a:t>=</a:t>
            </a:r>
            <a:r>
              <a:rPr lang="fr-FR" sz="2000" spc="-1" dirty="0">
                <a:solidFill>
                  <a:srgbClr val="000000"/>
                </a:solidFill>
                <a:latin typeface="Times New Roman" panose="02020603050405020304"/>
              </a:rPr>
              <a:t>0</a:t>
            </a:r>
            <a:endParaRPr lang="fr-FR" sz="2000" spc="-1" dirty="0">
              <a:solidFill>
                <a:srgbClr val="000000"/>
              </a:solidFill>
              <a:latin typeface="Times New Roman" panose="02020603050405020304"/>
            </a:endParaRPr>
          </a:p>
          <a:p>
            <a:pPr marL="685800" indent="-227965">
              <a:lnSpc>
                <a:spcPct val="90000"/>
              </a:lnSpc>
              <a:spcBef>
                <a:spcPts val="500"/>
              </a:spcBef>
            </a:pPr>
            <a:r>
              <a:rPr lang="fr-FR" sz="2000" b="0" strike="noStrike" spc="-1" dirty="0">
                <a:solidFill>
                  <a:srgbClr val="000000"/>
                </a:solidFill>
                <a:latin typeface="Times New Roman" panose="02020603050405020304"/>
              </a:rPr>
              <a:t>Alors Erreur « débordement pile vide»</a:t>
            </a:r>
            <a:endParaRPr lang="fr-FR" sz="2000" b="0" strike="noStrike" spc="-1" dirty="0">
              <a:latin typeface="Arial" panose="020B0604020202020204"/>
            </a:endParaRPr>
          </a:p>
          <a:p>
            <a:pPr marL="1143000" indent="-227965">
              <a:lnSpc>
                <a:spcPct val="90000"/>
              </a:lnSpc>
              <a:spcBef>
                <a:spcPts val="500"/>
              </a:spcBef>
            </a:pPr>
            <a:r>
              <a:rPr lang="fr-FR" sz="2000" b="0" strike="noStrike" spc="-1" dirty="0">
                <a:solidFill>
                  <a:srgbClr val="000000"/>
                </a:solidFill>
                <a:latin typeface="Times New Roman" panose="02020603050405020304"/>
              </a:rPr>
              <a:t>Sinon</a:t>
            </a:r>
            <a:endParaRPr lang="fr-FR" sz="2000" b="0" strike="noStrike" spc="-1" dirty="0">
              <a:latin typeface="Arial" panose="020B0604020202020204"/>
            </a:endParaRPr>
          </a:p>
          <a:p>
            <a:pPr marL="1143000" indent="-227965">
              <a:lnSpc>
                <a:spcPct val="90000"/>
              </a:lnSpc>
              <a:spcBef>
                <a:spcPts val="500"/>
              </a:spcBef>
            </a:pPr>
            <a:r>
              <a:rPr lang="fr-FR" sz="2000" b="0" strike="noStrike" spc="-1" dirty="0" err="1">
                <a:solidFill>
                  <a:srgbClr val="000000"/>
                </a:solidFill>
                <a:latin typeface="Times New Roman" panose="02020603050405020304"/>
              </a:rPr>
              <a:t>P.sommet</a:t>
            </a:r>
            <a:r>
              <a:rPr lang="fr-FR" sz="2000" b="0" strike="noStrike" spc="-1" dirty="0">
                <a:solidFill>
                  <a:srgbClr val="000000"/>
                </a:solidFill>
                <a:latin typeface="Times New Roman" panose="02020603050405020304"/>
              </a:rPr>
              <a:t>:=P.sommet-1;</a:t>
            </a:r>
            <a:endParaRPr lang="fr-FR" sz="2000" b="0" strike="noStrike" spc="-1" dirty="0">
              <a:latin typeface="Arial" panose="020B0604020202020204"/>
            </a:endParaRPr>
          </a:p>
          <a:p>
            <a:pPr marL="685800" indent="-227965">
              <a:lnSpc>
                <a:spcPct val="90000"/>
              </a:lnSpc>
              <a:spcBef>
                <a:spcPts val="500"/>
              </a:spcBef>
            </a:pPr>
            <a:r>
              <a:rPr lang="fr-FR" sz="2000" b="0" strike="noStrike" spc="-1" dirty="0" err="1">
                <a:solidFill>
                  <a:srgbClr val="000000"/>
                </a:solidFill>
                <a:latin typeface="Times New Roman" panose="02020603050405020304"/>
              </a:rPr>
              <a:t>FinSi</a:t>
            </a:r>
            <a:endParaRPr lang="fr-FR" sz="2000" b="0" strike="noStrike" spc="-1" dirty="0">
              <a:solidFill>
                <a:srgbClr val="000000"/>
              </a:solidFill>
              <a:latin typeface="Times New Roman" panose="02020603050405020304"/>
            </a:endParaRPr>
          </a:p>
          <a:p>
            <a:pPr marL="685800" indent="-227965">
              <a:lnSpc>
                <a:spcPct val="90000"/>
              </a:lnSpc>
              <a:spcBef>
                <a:spcPts val="500"/>
              </a:spcBef>
            </a:pPr>
            <a:r>
              <a:rPr lang="fr-FR" sz="2000" b="0" strike="noStrike" spc="-1" dirty="0" err="1">
                <a:solidFill>
                  <a:srgbClr val="000000"/>
                </a:solidFill>
                <a:latin typeface="Times New Roman" panose="02020603050405020304"/>
              </a:rPr>
              <a:t>FinDepiler</a:t>
            </a:r>
            <a:endParaRPr lang="fr-FR" sz="2000" b="0" strike="noStrike" spc="-1" dirty="0">
              <a:latin typeface="Arial" panose="020B0604020202020204"/>
            </a:endParaRPr>
          </a:p>
          <a:p>
            <a:pPr marL="228600" indent="-227965">
              <a:lnSpc>
                <a:spcPct val="90000"/>
              </a:lnSpc>
              <a:spcBef>
                <a:spcPts val="1000"/>
              </a:spcBef>
            </a:pPr>
            <a:endParaRPr lang="fr-FR" sz="20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90000"/>
              </a:lnSpc>
              <a:spcBef>
                <a:spcPts val="1000"/>
              </a:spcBef>
            </a:pPr>
            <a:r>
              <a:rPr lang="en-US" altLang="fr-FR" sz="2000" b="1" strike="noStrike" spc="-1" dirty="0">
                <a:solidFill>
                  <a:schemeClr val="accent1"/>
                </a:solidFill>
                <a:latin typeface="Times New Roman" panose="02020603050405020304" pitchFamily="18" charset="0"/>
                <a:cs typeface="Times New Roman" panose="02020603050405020304" pitchFamily="18" charset="0"/>
              </a:rPr>
              <a:t>// D</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piler un </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l</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ment de la pile</a:t>
            </a:r>
            <a:endParaRPr lang="en-US" altLang="fr-FR" sz="2000" b="1" strike="noStrike" spc="-1" dirty="0">
              <a:solidFill>
                <a:schemeClr val="accent1"/>
              </a:solidFill>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dirty="0">
                <a:latin typeface="Times New Roman" panose="02020603050405020304" pitchFamily="18" charset="0"/>
                <a:cs typeface="Times New Roman" panose="02020603050405020304" pitchFamily="18" charset="0"/>
              </a:rPr>
              <a:t>void Depiler(Pile *P) {</a:t>
            </a:r>
            <a:endParaRPr lang="en-US" altLang="fr-FR" sz="2000" b="1" strike="noStrike" spc="-1" dirty="0">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dirty="0">
                <a:latin typeface="Times New Roman" panose="02020603050405020304" pitchFamily="18" charset="0"/>
                <a:cs typeface="Times New Roman" panose="02020603050405020304" pitchFamily="18" charset="0"/>
              </a:rPr>
              <a:t>    if (EstVide(*P)) {</a:t>
            </a:r>
            <a:endParaRPr lang="en-US" altLang="fr-FR" sz="2000" b="1" strike="noStrike" spc="-1" dirty="0">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dirty="0">
                <a:latin typeface="Times New Roman" panose="02020603050405020304" pitchFamily="18" charset="0"/>
                <a:cs typeface="Times New Roman" panose="02020603050405020304" pitchFamily="18" charset="0"/>
              </a:rPr>
              <a:t>        printf("Erreur : Pile vide, impossible de d</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piler.\n");</a:t>
            </a:r>
            <a:endParaRPr lang="en-US" altLang="fr-FR" sz="2000" b="1" strike="noStrike" spc="-1" dirty="0">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dirty="0">
                <a:latin typeface="Times New Roman" panose="02020603050405020304" pitchFamily="18" charset="0"/>
                <a:cs typeface="Times New Roman" panose="02020603050405020304" pitchFamily="18" charset="0"/>
              </a:rPr>
              <a:t>    } else {</a:t>
            </a:r>
            <a:endParaRPr lang="en-US" altLang="fr-FR" sz="2000" b="1" strike="noStrike" spc="-1" dirty="0">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dirty="0">
                <a:latin typeface="Times New Roman" panose="02020603050405020304" pitchFamily="18" charset="0"/>
                <a:cs typeface="Times New Roman" panose="02020603050405020304" pitchFamily="18" charset="0"/>
              </a:rPr>
              <a:t>        P-&gt;sommet--;</a:t>
            </a:r>
            <a:endParaRPr lang="en-US" altLang="fr-FR" sz="2000" b="1" strike="noStrike" spc="-1" dirty="0">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dirty="0">
                <a:latin typeface="Times New Roman" panose="02020603050405020304" pitchFamily="18" charset="0"/>
                <a:cs typeface="Times New Roman" panose="02020603050405020304" pitchFamily="18" charset="0"/>
              </a:rPr>
              <a:t>    }</a:t>
            </a:r>
            <a:endParaRPr lang="en-US" altLang="fr-FR" sz="2000" b="1" strike="noStrike" spc="-1" dirty="0">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dirty="0">
                <a:latin typeface="Times New Roman" panose="02020603050405020304" pitchFamily="18" charset="0"/>
                <a:cs typeface="Times New Roman" panose="02020603050405020304" pitchFamily="18" charset="0"/>
              </a:rPr>
              <a:t>}</a:t>
            </a:r>
            <a:endParaRPr lang="en-US" altLang="fr-FR" sz="20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27384"/>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4000"/>
          </a:bodyPr>
          <a:lstStyle/>
          <a:p>
            <a:pPr lvl="0"/>
            <a:r>
              <a:rPr lang="en-US" sz="2000" u="sng" dirty="0" err="1"/>
              <a:t>EstVide</a:t>
            </a:r>
            <a:r>
              <a:rPr lang="en-US" sz="2000" dirty="0"/>
              <a:t> : </a:t>
            </a:r>
            <a:endParaRPr lang="fr-FR" sz="2000" dirty="0"/>
          </a:p>
          <a:p>
            <a:pPr indent="-227965">
              <a:lnSpc>
                <a:spcPct val="90000"/>
              </a:lnSpc>
              <a:spcBef>
                <a:spcPts val="500"/>
              </a:spcBef>
            </a:pPr>
            <a:r>
              <a:rPr lang="en-US" sz="2000" spc="-1" dirty="0">
                <a:solidFill>
                  <a:srgbClr val="000000"/>
                </a:solidFill>
                <a:latin typeface="Times New Roman" panose="02020603050405020304"/>
              </a:rPr>
              <a:t>Fonction </a:t>
            </a:r>
            <a:r>
              <a:rPr lang="en-US" sz="2000" spc="-1" dirty="0" err="1">
                <a:solidFill>
                  <a:srgbClr val="000000"/>
                </a:solidFill>
                <a:latin typeface="Times New Roman" panose="02020603050405020304"/>
              </a:rPr>
              <a:t>pile_vide</a:t>
            </a:r>
            <a:r>
              <a:rPr lang="en-US" sz="2000" spc="-1" dirty="0">
                <a:solidFill>
                  <a:srgbClr val="000000"/>
                </a:solidFill>
                <a:latin typeface="Times New Roman" panose="02020603050405020304"/>
              </a:rPr>
              <a:t> (P : Pile) : </a:t>
            </a:r>
            <a:r>
              <a:rPr lang="en-US" sz="2000" spc="-1" dirty="0" err="1">
                <a:solidFill>
                  <a:srgbClr val="000000"/>
                </a:solidFill>
                <a:latin typeface="Times New Roman" panose="02020603050405020304"/>
              </a:rPr>
              <a:t>Booleen</a:t>
            </a:r>
            <a:r>
              <a:rPr lang="en-US" sz="2000" spc="-1" dirty="0">
                <a:solidFill>
                  <a:srgbClr val="000000"/>
                </a:solidFill>
                <a:latin typeface="Times New Roman" panose="02020603050405020304"/>
              </a:rPr>
              <a:t> </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err="1">
                <a:solidFill>
                  <a:srgbClr val="000000"/>
                </a:solidFill>
                <a:latin typeface="Times New Roman" panose="02020603050405020304"/>
              </a:rPr>
              <a:t>Debut</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a:solidFill>
                  <a:srgbClr val="000000"/>
                </a:solidFill>
                <a:latin typeface="Times New Roman" panose="02020603050405020304"/>
              </a:rPr>
              <a:t> 	Si P. Sommet = 0 Alors</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err="1">
                <a:solidFill>
                  <a:srgbClr val="000000"/>
                </a:solidFill>
                <a:latin typeface="Times New Roman" panose="02020603050405020304"/>
              </a:rPr>
              <a:t>pile_vide</a:t>
            </a:r>
            <a:r>
              <a:rPr lang="en-US" sz="2000" spc="-1" dirty="0">
                <a:solidFill>
                  <a:srgbClr val="000000"/>
                </a:solidFill>
                <a:latin typeface="Times New Roman" panose="02020603050405020304"/>
              </a:rPr>
              <a:t> ← vrais ;</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a:solidFill>
                  <a:srgbClr val="000000"/>
                </a:solidFill>
                <a:latin typeface="Times New Roman" panose="02020603050405020304"/>
              </a:rPr>
              <a:t> Sinon</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err="1">
                <a:solidFill>
                  <a:srgbClr val="000000"/>
                </a:solidFill>
                <a:latin typeface="Times New Roman" panose="02020603050405020304"/>
              </a:rPr>
              <a:t>pile_vide</a:t>
            </a:r>
            <a:r>
              <a:rPr lang="en-US" sz="2000" spc="-1" dirty="0">
                <a:solidFill>
                  <a:srgbClr val="000000"/>
                </a:solidFill>
                <a:latin typeface="Times New Roman" panose="02020603050405020304"/>
              </a:rPr>
              <a:t> ← faux ;</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a:solidFill>
                  <a:srgbClr val="000000"/>
                </a:solidFill>
                <a:latin typeface="Times New Roman" panose="02020603050405020304"/>
              </a:rPr>
              <a:t> 	</a:t>
            </a:r>
            <a:r>
              <a:rPr lang="en-US" sz="2000" spc="-1" dirty="0" err="1">
                <a:solidFill>
                  <a:srgbClr val="000000"/>
                </a:solidFill>
                <a:latin typeface="Times New Roman" panose="02020603050405020304"/>
              </a:rPr>
              <a:t>FinSi</a:t>
            </a:r>
            <a:r>
              <a:rPr lang="en-US" sz="2000" spc="-1" dirty="0">
                <a:solidFill>
                  <a:srgbClr val="000000"/>
                </a:solidFill>
                <a:latin typeface="Times New Roman" panose="02020603050405020304"/>
              </a:rPr>
              <a:t> ;</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a:solidFill>
                  <a:srgbClr val="000000"/>
                </a:solidFill>
                <a:latin typeface="Times New Roman" panose="02020603050405020304"/>
              </a:rPr>
              <a:t>Fin </a:t>
            </a:r>
            <a:endParaRPr lang="fr-FR" sz="2000" spc="-1" dirty="0">
              <a:solidFill>
                <a:srgbClr val="000000"/>
              </a:solidFill>
              <a:latin typeface="Times New Roman" panose="02020603050405020304"/>
            </a:endParaRPr>
          </a:p>
          <a:p>
            <a:pPr marL="685800" indent="-227965">
              <a:lnSpc>
                <a:spcPct val="90000"/>
              </a:lnSpc>
              <a:spcBef>
                <a:spcPts val="500"/>
              </a:spcBef>
            </a:pPr>
            <a:endParaRPr lang="fr-FR" sz="2000" b="0" strike="noStrike" spc="-1" dirty="0">
              <a:latin typeface="Arial" panose="020B0604020202020204"/>
            </a:endParaRPr>
          </a:p>
          <a:p>
            <a:pPr marL="228600" indent="-227965">
              <a:lnSpc>
                <a:spcPct val="90000"/>
              </a:lnSpc>
              <a:spcBef>
                <a:spcPts val="1000"/>
              </a:spcBef>
            </a:pPr>
            <a:endParaRPr lang="fr-FR" sz="20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27384"/>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lvl="0"/>
            <a:r>
              <a:rPr lang="en-US" altLang="fr-FR" sz="2000" b="1" strike="noStrike" spc="-1" dirty="0">
                <a:solidFill>
                  <a:schemeClr val="accent1"/>
                </a:solidFill>
                <a:latin typeface="Times New Roman" panose="02020603050405020304" pitchFamily="18" charset="0"/>
                <a:cs typeface="Times New Roman" panose="02020603050405020304" pitchFamily="18" charset="0"/>
              </a:rPr>
              <a:t>// V</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rifier si la pile est vide</a:t>
            </a:r>
            <a:endParaRPr lang="en-US" altLang="fr-FR" sz="2000" b="1" strike="noStrike" spc="-1" dirty="0">
              <a:solidFill>
                <a:schemeClr val="accent1"/>
              </a:solidFill>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int pile_vide(Pile P)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if (P.sommet == 0)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return 1; // Vrai</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 else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return 0; // Faux</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a:t>
            </a:r>
            <a:endParaRPr lang="en-US" altLang="fr-FR" sz="20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4000"/>
          </a:bodyPr>
          <a:lstStyle/>
          <a:p>
            <a:pPr lvl="0"/>
            <a:r>
              <a:rPr lang="en-US" sz="2000" u="sng" dirty="0" err="1"/>
              <a:t>EstPleine</a:t>
            </a:r>
            <a:r>
              <a:rPr lang="en-US" sz="2000" u="sng" dirty="0"/>
              <a:t> :</a:t>
            </a:r>
            <a:endParaRPr lang="fr-FR" sz="2000" u="sng" dirty="0"/>
          </a:p>
          <a:p>
            <a:pPr indent="-227965">
              <a:lnSpc>
                <a:spcPct val="90000"/>
              </a:lnSpc>
              <a:spcBef>
                <a:spcPts val="500"/>
              </a:spcBef>
            </a:pPr>
            <a:r>
              <a:rPr lang="en-US" sz="2000" spc="-1" dirty="0">
                <a:solidFill>
                  <a:srgbClr val="000000"/>
                </a:solidFill>
                <a:latin typeface="Times New Roman" panose="02020603050405020304"/>
              </a:rPr>
              <a:t>Fonction </a:t>
            </a:r>
            <a:r>
              <a:rPr lang="en-US" sz="2000" spc="-1" dirty="0" err="1">
                <a:solidFill>
                  <a:srgbClr val="000000"/>
                </a:solidFill>
                <a:latin typeface="Times New Roman" panose="02020603050405020304"/>
              </a:rPr>
              <a:t>pile_pleine</a:t>
            </a:r>
            <a:r>
              <a:rPr lang="en-US" sz="2000" spc="-1" dirty="0">
                <a:solidFill>
                  <a:srgbClr val="000000"/>
                </a:solidFill>
                <a:latin typeface="Times New Roman" panose="02020603050405020304"/>
              </a:rPr>
              <a:t> (P : Pile) : </a:t>
            </a:r>
            <a:r>
              <a:rPr lang="en-US" sz="2000" spc="-1" dirty="0" err="1">
                <a:solidFill>
                  <a:srgbClr val="000000"/>
                </a:solidFill>
                <a:latin typeface="Times New Roman" panose="02020603050405020304"/>
              </a:rPr>
              <a:t>Booleen</a:t>
            </a:r>
            <a:r>
              <a:rPr lang="en-US" sz="2000" spc="-1" dirty="0">
                <a:solidFill>
                  <a:srgbClr val="000000"/>
                </a:solidFill>
                <a:latin typeface="Times New Roman" panose="02020603050405020304"/>
              </a:rPr>
              <a:t> </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err="1">
                <a:solidFill>
                  <a:srgbClr val="000000"/>
                </a:solidFill>
                <a:latin typeface="Times New Roman" panose="02020603050405020304"/>
              </a:rPr>
              <a:t>Debut</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a:solidFill>
                  <a:srgbClr val="000000"/>
                </a:solidFill>
                <a:latin typeface="Times New Roman" panose="02020603050405020304"/>
              </a:rPr>
              <a:t> 	Si P. Sommet = </a:t>
            </a:r>
            <a:r>
              <a:rPr lang="fr-FR" sz="2000" spc="-1" dirty="0" err="1">
                <a:solidFill>
                  <a:srgbClr val="000000"/>
                </a:solidFill>
                <a:latin typeface="Times New Roman" panose="02020603050405020304"/>
              </a:rPr>
              <a:t>lmax</a:t>
            </a:r>
            <a:r>
              <a:rPr lang="fr-FR" sz="2000" spc="-1" dirty="0">
                <a:solidFill>
                  <a:srgbClr val="000000"/>
                </a:solidFill>
                <a:latin typeface="Times New Roman" panose="02020603050405020304"/>
              </a:rPr>
              <a:t> </a:t>
            </a:r>
            <a:r>
              <a:rPr lang="en-US" sz="2000" spc="-1" dirty="0">
                <a:solidFill>
                  <a:srgbClr val="000000"/>
                </a:solidFill>
                <a:latin typeface="Times New Roman" panose="02020603050405020304"/>
              </a:rPr>
              <a:t>Alors</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err="1">
                <a:solidFill>
                  <a:srgbClr val="000000"/>
                </a:solidFill>
                <a:latin typeface="Times New Roman" panose="02020603050405020304"/>
              </a:rPr>
              <a:t>pile_pleine</a:t>
            </a:r>
            <a:r>
              <a:rPr lang="en-US" sz="2000" spc="-1" dirty="0">
                <a:solidFill>
                  <a:srgbClr val="000000"/>
                </a:solidFill>
                <a:latin typeface="Times New Roman" panose="02020603050405020304"/>
              </a:rPr>
              <a:t> ← vrais ;</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a:solidFill>
                  <a:srgbClr val="000000"/>
                </a:solidFill>
                <a:latin typeface="Times New Roman" panose="02020603050405020304"/>
              </a:rPr>
              <a:t> 	Sinon</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err="1">
                <a:solidFill>
                  <a:srgbClr val="000000"/>
                </a:solidFill>
                <a:latin typeface="Times New Roman" panose="02020603050405020304"/>
              </a:rPr>
              <a:t>pile_pleine</a:t>
            </a:r>
            <a:r>
              <a:rPr lang="en-US" sz="2000" spc="-1" dirty="0">
                <a:solidFill>
                  <a:srgbClr val="000000"/>
                </a:solidFill>
                <a:latin typeface="Times New Roman" panose="02020603050405020304"/>
              </a:rPr>
              <a:t> ← faux ;</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a:solidFill>
                  <a:srgbClr val="000000"/>
                </a:solidFill>
                <a:latin typeface="Times New Roman" panose="02020603050405020304"/>
              </a:rPr>
              <a:t> 	</a:t>
            </a:r>
            <a:r>
              <a:rPr lang="en-US" sz="2000" spc="-1" dirty="0" err="1">
                <a:solidFill>
                  <a:srgbClr val="000000"/>
                </a:solidFill>
                <a:latin typeface="Times New Roman" panose="02020603050405020304"/>
              </a:rPr>
              <a:t>FinSi</a:t>
            </a:r>
            <a:r>
              <a:rPr lang="en-US" sz="2000" spc="-1" dirty="0">
                <a:solidFill>
                  <a:srgbClr val="000000"/>
                </a:solidFill>
                <a:latin typeface="Times New Roman" panose="02020603050405020304"/>
              </a:rPr>
              <a:t> </a:t>
            </a:r>
            <a:endParaRPr lang="fr-FR" sz="2000" spc="-1" dirty="0">
              <a:solidFill>
                <a:srgbClr val="000000"/>
              </a:solidFill>
              <a:latin typeface="Times New Roman" panose="02020603050405020304"/>
            </a:endParaRPr>
          </a:p>
          <a:p>
            <a:pPr indent="-227965">
              <a:lnSpc>
                <a:spcPct val="90000"/>
              </a:lnSpc>
              <a:spcBef>
                <a:spcPts val="500"/>
              </a:spcBef>
            </a:pPr>
            <a:r>
              <a:rPr lang="en-US" sz="2000" spc="-1" dirty="0">
                <a:solidFill>
                  <a:srgbClr val="000000"/>
                </a:solidFill>
                <a:latin typeface="Times New Roman" panose="02020603050405020304"/>
              </a:rPr>
              <a:t>Fin </a:t>
            </a:r>
            <a:endParaRPr lang="fr-FR" sz="2000" spc="-1" dirty="0">
              <a:solidFill>
                <a:srgbClr val="000000"/>
              </a:solidFill>
              <a:latin typeface="Times New Roman" panose="02020603050405020304"/>
            </a:endParaRPr>
          </a:p>
          <a:p>
            <a:pPr marL="685800" indent="-227965">
              <a:lnSpc>
                <a:spcPct val="90000"/>
              </a:lnSpc>
              <a:spcBef>
                <a:spcPts val="500"/>
              </a:spcBef>
            </a:pPr>
            <a:endParaRPr lang="fr-FR" sz="2000" b="0" strike="noStrike" spc="-1" dirty="0">
              <a:latin typeface="Arial" panose="020B0604020202020204"/>
            </a:endParaRPr>
          </a:p>
          <a:p>
            <a:pPr marL="228600" indent="-227965">
              <a:lnSpc>
                <a:spcPct val="90000"/>
              </a:lnSpc>
              <a:spcBef>
                <a:spcPts val="1000"/>
              </a:spcBef>
            </a:pPr>
            <a:endParaRPr lang="fr-FR" sz="20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lvl="0"/>
            <a:r>
              <a:rPr lang="en-US" altLang="fr-FR" sz="2000" b="1" strike="noStrike" spc="-1" dirty="0">
                <a:latin typeface="Times New Roman" panose="02020603050405020304" pitchFamily="18" charset="0"/>
                <a:cs typeface="Times New Roman" panose="02020603050405020304" pitchFamily="18" charset="0"/>
              </a:rPr>
              <a:t>int pile_pleine(Pile P)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if (P.sommet == LMAX - 1)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return 1; // Vrai</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 else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return 0; // Faux</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a:t>
            </a:r>
            <a:endParaRPr lang="en-US" altLang="fr-FR" sz="2000" b="1" strike="noStrike" spc="-1" dirty="0">
              <a:latin typeface="Times New Roman" panose="02020603050405020304" pitchFamily="18" charset="0"/>
              <a:cs typeface="Times New Roman" panose="02020603050405020304" pitchFamily="18" charset="0"/>
            </a:endParaRPr>
          </a:p>
          <a:p>
            <a:pPr marL="228600" indent="-227965">
              <a:lnSpc>
                <a:spcPct val="90000"/>
              </a:lnSpc>
              <a:spcBef>
                <a:spcPts val="1000"/>
              </a:spcBef>
            </a:pPr>
            <a:endParaRPr lang="fr-FR" sz="20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lvl="0"/>
            <a:r>
              <a:rPr lang="en-US" sz="2000" u="sng" dirty="0"/>
              <a:t>Valeur :</a:t>
            </a:r>
            <a:endParaRPr lang="fr-FR" sz="2000" u="sng" dirty="0"/>
          </a:p>
          <a:p>
            <a:r>
              <a:rPr lang="en-US" sz="2000" spc="-1" dirty="0">
                <a:solidFill>
                  <a:srgbClr val="000000"/>
                </a:solidFill>
                <a:latin typeface="Times New Roman" panose="02020603050405020304"/>
              </a:rPr>
              <a:t>Fonction </a:t>
            </a:r>
            <a:r>
              <a:rPr lang="fr-FR" sz="2000" spc="-1" dirty="0">
                <a:solidFill>
                  <a:srgbClr val="000000"/>
                </a:solidFill>
                <a:latin typeface="Times New Roman" panose="02020603050405020304"/>
              </a:rPr>
              <a:t>Valeur(P : Pile) : </a:t>
            </a:r>
            <a:r>
              <a:rPr lang="fr-FR" sz="2000" spc="-1" dirty="0" err="1">
                <a:solidFill>
                  <a:srgbClr val="000000"/>
                </a:solidFill>
                <a:latin typeface="Times New Roman" panose="02020603050405020304"/>
              </a:rPr>
              <a:t>Element</a:t>
            </a:r>
            <a:r>
              <a:rPr lang="fr-FR" sz="2000" spc="-1" dirty="0">
                <a:solidFill>
                  <a:srgbClr val="000000"/>
                </a:solidFill>
                <a:latin typeface="Times New Roman" panose="02020603050405020304"/>
              </a:rPr>
              <a:t> </a:t>
            </a:r>
            <a:endParaRPr lang="fr-FR" sz="2000" spc="-1" dirty="0">
              <a:solidFill>
                <a:srgbClr val="000000"/>
              </a:solidFill>
              <a:latin typeface="Times New Roman" panose="02020603050405020304"/>
            </a:endParaRPr>
          </a:p>
          <a:p>
            <a:r>
              <a:rPr lang="fr-FR" sz="2000" spc="-1" dirty="0">
                <a:solidFill>
                  <a:srgbClr val="000000"/>
                </a:solidFill>
                <a:latin typeface="Times New Roman" panose="02020603050405020304"/>
              </a:rPr>
              <a:t>	Début</a:t>
            </a:r>
            <a:endParaRPr lang="fr-FR" sz="2000" spc="-1" dirty="0">
              <a:solidFill>
                <a:srgbClr val="000000"/>
              </a:solidFill>
              <a:latin typeface="Times New Roman" panose="02020603050405020304"/>
            </a:endParaRPr>
          </a:p>
          <a:p>
            <a:r>
              <a:rPr lang="fr-FR" sz="2000" spc="-1" dirty="0">
                <a:solidFill>
                  <a:srgbClr val="000000"/>
                </a:solidFill>
                <a:latin typeface="Times New Roman" panose="02020603050405020304"/>
              </a:rPr>
              <a:t>		Si </a:t>
            </a:r>
            <a:r>
              <a:rPr lang="en-US" sz="2000" spc="-1" dirty="0" err="1">
                <a:solidFill>
                  <a:srgbClr val="000000"/>
                </a:solidFill>
                <a:latin typeface="Times New Roman" panose="02020603050405020304"/>
              </a:rPr>
              <a:t>Pile_vide</a:t>
            </a:r>
            <a:r>
              <a:rPr lang="en-US" sz="2000" spc="-1" dirty="0">
                <a:solidFill>
                  <a:srgbClr val="000000"/>
                </a:solidFill>
                <a:latin typeface="Times New Roman" panose="02020603050405020304"/>
              </a:rPr>
              <a:t>(P) Alors</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Ecrire (‘’impossible la pile est vide’’)</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Sinon</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a:t>
            </a:r>
            <a:r>
              <a:rPr lang="fr-FR" sz="2000" spc="-1" dirty="0">
                <a:solidFill>
                  <a:srgbClr val="000000"/>
                </a:solidFill>
                <a:latin typeface="Times New Roman" panose="02020603050405020304"/>
              </a:rPr>
              <a:t>Valeur </a:t>
            </a:r>
            <a:r>
              <a:rPr lang="en-US" sz="2000" spc="-1" dirty="0">
                <a:solidFill>
                  <a:srgbClr val="000000"/>
                </a:solidFill>
                <a:latin typeface="Times New Roman" panose="02020603050405020304"/>
              </a:rPr>
              <a:t>← P. </a:t>
            </a:r>
            <a:r>
              <a:rPr lang="fr-FR" sz="2000" spc="-1" dirty="0" err="1">
                <a:solidFill>
                  <a:srgbClr val="000000"/>
                </a:solidFill>
                <a:latin typeface="Times New Roman" panose="02020603050405020304"/>
              </a:rPr>
              <a:t>elts</a:t>
            </a:r>
            <a:r>
              <a:rPr lang="fr-FR" sz="2000" spc="-1" dirty="0">
                <a:solidFill>
                  <a:srgbClr val="000000"/>
                </a:solidFill>
                <a:latin typeface="Times New Roman" panose="02020603050405020304"/>
              </a:rPr>
              <a:t>[P. sommet] ;</a:t>
            </a:r>
            <a:endParaRPr lang="fr-FR" sz="2000" spc="-1" dirty="0">
              <a:solidFill>
                <a:srgbClr val="000000"/>
              </a:solidFill>
              <a:latin typeface="Times New Roman" panose="02020603050405020304"/>
            </a:endParaRPr>
          </a:p>
          <a:p>
            <a:r>
              <a:rPr lang="fr-FR" sz="2000" spc="-1" dirty="0">
                <a:solidFill>
                  <a:srgbClr val="000000"/>
                </a:solidFill>
                <a:latin typeface="Times New Roman" panose="02020603050405020304"/>
              </a:rPr>
              <a:t>		</a:t>
            </a:r>
            <a:r>
              <a:rPr lang="fr-FR" sz="2000" spc="-1" dirty="0" err="1">
                <a:solidFill>
                  <a:srgbClr val="000000"/>
                </a:solidFill>
                <a:latin typeface="Times New Roman" panose="02020603050405020304"/>
              </a:rPr>
              <a:t>FinSi</a:t>
            </a:r>
            <a:endParaRPr lang="fr-FR" sz="2000" spc="-1" dirty="0">
              <a:solidFill>
                <a:srgbClr val="000000"/>
              </a:solidFill>
              <a:latin typeface="Times New Roman" panose="02020603050405020304"/>
            </a:endParaRPr>
          </a:p>
          <a:p>
            <a:r>
              <a:rPr lang="fr-FR" sz="2000" spc="-1" dirty="0">
                <a:solidFill>
                  <a:srgbClr val="000000"/>
                </a:solidFill>
                <a:latin typeface="Times New Roman" panose="02020603050405020304"/>
              </a:rPr>
              <a:t>	Fin Valeur ;</a:t>
            </a:r>
            <a:endParaRPr lang="fr-FR" sz="2000" spc="-1" dirty="0">
              <a:solidFill>
                <a:srgbClr val="000000"/>
              </a:solidFill>
              <a:latin typeface="Times New Roman" panose="02020603050405020304"/>
            </a:endParaRPr>
          </a:p>
          <a:p>
            <a:pPr marL="685800" indent="-227965">
              <a:lnSpc>
                <a:spcPct val="90000"/>
              </a:lnSpc>
              <a:spcBef>
                <a:spcPts val="500"/>
              </a:spcBef>
            </a:pPr>
            <a:endParaRPr lang="fr-FR" sz="2000" b="0" strike="noStrike" spc="-1" dirty="0">
              <a:latin typeface="Arial" panose="020B0604020202020204"/>
            </a:endParaRPr>
          </a:p>
          <a:p>
            <a:pPr marL="228600" indent="-227965">
              <a:lnSpc>
                <a:spcPct val="90000"/>
              </a:lnSpc>
              <a:spcBef>
                <a:spcPts val="1000"/>
              </a:spcBef>
            </a:pPr>
            <a:endParaRPr lang="fr-FR" sz="20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lvl="0"/>
            <a:r>
              <a:rPr lang="en-US" altLang="fr-FR" sz="2000" b="1" strike="noStrike" spc="-1" dirty="0">
                <a:solidFill>
                  <a:schemeClr val="accent1"/>
                </a:solidFill>
                <a:latin typeface="Times New Roman" panose="02020603050405020304" pitchFamily="18" charset="0"/>
                <a:cs typeface="Times New Roman" panose="02020603050405020304" pitchFamily="18" charset="0"/>
              </a:rPr>
              <a:t>// R</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cup</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rer la valeur au sommet de la pile</a:t>
            </a:r>
            <a:endParaRPr lang="en-US" altLang="fr-FR" sz="2000" b="1" strike="noStrike" spc="-1" dirty="0">
              <a:solidFill>
                <a:schemeClr val="accent1"/>
              </a:solidFill>
              <a:latin typeface="Times New Roman" panose="02020603050405020304" pitchFamily="18" charset="0"/>
              <a:cs typeface="Times New Roman" panose="02020603050405020304" pitchFamily="18" charset="0"/>
            </a:endParaRPr>
          </a:p>
          <a:p>
            <a:pPr lvl="0"/>
            <a:endParaRPr lang="en-US" altLang="fr-FR" sz="2000" b="1" strike="noStrike" spc="-1" dirty="0">
              <a:solidFill>
                <a:schemeClr val="accent1"/>
              </a:solidFill>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Element Valeur(Pile P)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if (pile_vide(P))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printf("Impossible, la pile est vide.\n");</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return -1; // Valeur sp</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ciale indiquant une erreur</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 else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return P.elts[P.sommet];</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    }</a:t>
            </a:r>
            <a:endParaRPr lang="en-US" altLang="fr-FR" sz="2000" b="1" strike="noStrike" spc="-1" dirty="0">
              <a:latin typeface="Times New Roman" panose="02020603050405020304" pitchFamily="18" charset="0"/>
              <a:cs typeface="Times New Roman" panose="02020603050405020304" pitchFamily="18" charset="0"/>
            </a:endParaRPr>
          </a:p>
          <a:p>
            <a:pPr lvl="0"/>
            <a:r>
              <a:rPr lang="en-US" altLang="fr-FR" sz="2000" b="1" strike="noStrike" spc="-1" dirty="0">
                <a:latin typeface="Times New Roman" panose="02020603050405020304" pitchFamily="18" charset="0"/>
                <a:cs typeface="Times New Roman" panose="02020603050405020304" pitchFamily="18" charset="0"/>
              </a:rPr>
              <a:t>}</a:t>
            </a:r>
            <a:endParaRPr lang="en-US" altLang="fr-FR" sz="2000" b="1" strike="noStrike" spc="-1" dirty="0">
              <a:latin typeface="Times New Roman" panose="02020603050405020304" pitchFamily="18" charset="0"/>
              <a:cs typeface="Times New Roman" panose="02020603050405020304" pitchFamily="18" charset="0"/>
            </a:endParaRPr>
          </a:p>
          <a:p>
            <a:pPr marL="228600" indent="-227965">
              <a:lnSpc>
                <a:spcPct val="90000"/>
              </a:lnSpc>
              <a:spcBef>
                <a:spcPts val="1000"/>
              </a:spcBef>
            </a:pPr>
            <a:endParaRPr lang="fr-FR" sz="20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685800" indent="-227965" algn="just">
              <a:lnSpc>
                <a:spcPct val="90000"/>
              </a:lnSpc>
              <a:spcBef>
                <a:spcPts val="500"/>
              </a:spcBef>
            </a:pPr>
            <a:r>
              <a:rPr lang="fr-FR" sz="2800" b="1" spc="-1" dirty="0">
                <a:solidFill>
                  <a:srgbClr val="FF0000"/>
                </a:solidFill>
                <a:latin typeface="Times New Roman" panose="02020603050405020304" pitchFamily="18" charset="0"/>
                <a:cs typeface="Times New Roman" panose="02020603050405020304" pitchFamily="18" charset="0"/>
                <a:sym typeface="+mn-ea"/>
              </a:rPr>
              <a:t>Problème: </a:t>
            </a:r>
            <a:r>
              <a:rPr lang="fr-FR" sz="2800" spc="-1" dirty="0">
                <a:solidFill>
                  <a:srgbClr val="000000"/>
                </a:solidFill>
                <a:latin typeface="Times New Roman" panose="02020603050405020304" pitchFamily="18" charset="0"/>
                <a:cs typeface="Times New Roman" panose="02020603050405020304" pitchFamily="18" charset="0"/>
                <a:sym typeface="+mn-ea"/>
              </a:rPr>
              <a:t>Expliquer comment implémenter deux piles dans un tableau A[1..n] de telle manière qu’aucune ne déborde à moins que le nombre total d’éléments des deux piles vaille n. Les opérations Empiler et Dépiler devront s’exécuter dans un temps en O(1)</a:t>
            </a:r>
            <a:endParaRPr lang="fr-FR" sz="2800" b="0"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endParaRPr lang="fr-FR" sz="2000" b="0" strike="noStrike" spc="-1" dirty="0">
              <a:latin typeface="Arial" panose="020B0604020202020204"/>
            </a:endParaRPr>
          </a:p>
          <a:p>
            <a:pPr marL="228600" indent="-227965">
              <a:lnSpc>
                <a:spcPct val="90000"/>
              </a:lnSpc>
              <a:spcBef>
                <a:spcPts val="1000"/>
              </a:spcBef>
            </a:pPr>
            <a:endParaRPr lang="fr-FR" sz="2000" b="0" strike="noStrike" spc="-1" dirty="0">
              <a:latin typeface="Arial" panose="020B0604020202020204"/>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20000"/>
          </a:bodyPr>
          <a:lstStyle/>
          <a:p>
            <a:pPr marL="685800" indent="-227965" algn="just">
              <a:lnSpc>
                <a:spcPct val="90000"/>
              </a:lnSpc>
              <a:spcBef>
                <a:spcPts val="500"/>
              </a:spcBef>
            </a:pPr>
            <a:r>
              <a:rPr lang="en-US" altLang="fr-FR" sz="2000" b="1" strike="noStrike" spc="-1" dirty="0">
                <a:solidFill>
                  <a:schemeClr val="accent1"/>
                </a:solidFill>
                <a:latin typeface="Times New Roman" panose="02020603050405020304" pitchFamily="18" charset="0"/>
                <a:cs typeface="Times New Roman" panose="02020603050405020304" pitchFamily="18" charset="0"/>
              </a:rPr>
              <a:t>Id</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e principale :</a:t>
            </a:r>
            <a:endParaRPr lang="en-US" altLang="fr-FR" sz="2000" b="1" strike="noStrike" spc="-1" dirty="0">
              <a:solidFill>
                <a:schemeClr val="accent1"/>
              </a:solidFill>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sz="2000" strike="noStrike" spc="-1" dirty="0">
                <a:latin typeface="Times New Roman" panose="02020603050405020304" pitchFamily="18" charset="0"/>
                <a:cs typeface="Times New Roman" panose="02020603050405020304" pitchFamily="18" charset="0"/>
              </a:rPr>
              <a:t>Nous utilisons un seul tableau A[1..n] pour stocker deux piles, en les remplissant depuis les extr</a:t>
            </a:r>
            <a:r>
              <a:rPr lang="en-US" altLang="en-US" sz="2000" strike="noStrike" spc="-1" dirty="0">
                <a:latin typeface="Times New Roman" panose="02020603050405020304" pitchFamily="18" charset="0"/>
                <a:cs typeface="Times New Roman" panose="02020603050405020304" pitchFamily="18" charset="0"/>
              </a:rPr>
              <a:t>é</a:t>
            </a:r>
            <a:r>
              <a:rPr lang="en-US" altLang="fr-FR" sz="2000" strike="noStrike" spc="-1" dirty="0">
                <a:latin typeface="Times New Roman" panose="02020603050405020304" pitchFamily="18" charset="0"/>
                <a:cs typeface="Times New Roman" panose="02020603050405020304" pitchFamily="18" charset="0"/>
              </a:rPr>
              <a:t>mit</a:t>
            </a:r>
            <a:r>
              <a:rPr lang="en-US" altLang="en-US" sz="2000" strike="noStrike" spc="-1" dirty="0">
                <a:latin typeface="Times New Roman" panose="02020603050405020304" pitchFamily="18" charset="0"/>
                <a:cs typeface="Times New Roman" panose="02020603050405020304" pitchFamily="18" charset="0"/>
              </a:rPr>
              <a:t>é</a:t>
            </a:r>
            <a:r>
              <a:rPr lang="en-US" altLang="fr-FR" sz="2000" strike="noStrike" spc="-1" dirty="0">
                <a:latin typeface="Times New Roman" panose="02020603050405020304" pitchFamily="18" charset="0"/>
                <a:cs typeface="Times New Roman" panose="02020603050405020304" pitchFamily="18" charset="0"/>
              </a:rPr>
              <a:t>s oppos</a:t>
            </a:r>
            <a:r>
              <a:rPr lang="en-US" altLang="en-US" sz="2000" strike="noStrike" spc="-1" dirty="0">
                <a:latin typeface="Times New Roman" panose="02020603050405020304" pitchFamily="18" charset="0"/>
                <a:cs typeface="Times New Roman" panose="02020603050405020304" pitchFamily="18" charset="0"/>
              </a:rPr>
              <a:t>é</a:t>
            </a:r>
            <a:r>
              <a:rPr lang="en-US" altLang="fr-FR" sz="2000" strike="noStrike" spc="-1" dirty="0">
                <a:latin typeface="Times New Roman" panose="02020603050405020304" pitchFamily="18" charset="0"/>
                <a:cs typeface="Times New Roman" panose="02020603050405020304" pitchFamily="18" charset="0"/>
              </a:rPr>
              <a:t>es :</a:t>
            </a: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sz="2000" strike="noStrike" spc="-1" dirty="0">
                <a:latin typeface="Times New Roman" panose="02020603050405020304" pitchFamily="18" charset="0"/>
                <a:cs typeface="Times New Roman" panose="02020603050405020304" pitchFamily="18" charset="0"/>
              </a:rPr>
              <a:t>Pile 1 : Commence à l’index 0 et cro</a:t>
            </a:r>
            <a:r>
              <a:rPr lang="en-US" altLang="en-US" sz="2000" strike="noStrike" spc="-1" dirty="0">
                <a:latin typeface="Times New Roman" panose="02020603050405020304" pitchFamily="18" charset="0"/>
                <a:cs typeface="Times New Roman" panose="02020603050405020304" pitchFamily="18" charset="0"/>
              </a:rPr>
              <a:t>î</a:t>
            </a:r>
            <a:r>
              <a:rPr lang="en-US" altLang="fr-FR" sz="2000" strike="noStrike" spc="-1" dirty="0">
                <a:latin typeface="Times New Roman" panose="02020603050405020304" pitchFamily="18" charset="0"/>
                <a:cs typeface="Times New Roman" panose="02020603050405020304" pitchFamily="18" charset="0"/>
              </a:rPr>
              <a:t>t vers la droite (indices croissants).</a:t>
            </a: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sz="2000" strike="noStrike" spc="-1" dirty="0">
                <a:latin typeface="Times New Roman" panose="02020603050405020304" pitchFamily="18" charset="0"/>
                <a:cs typeface="Times New Roman" panose="02020603050405020304" pitchFamily="18" charset="0"/>
              </a:rPr>
              <a:t>Pile 2 : Commence à l’index n-1 et cro</a:t>
            </a:r>
            <a:r>
              <a:rPr lang="en-US" altLang="en-US" sz="2000" strike="noStrike" spc="-1" dirty="0">
                <a:latin typeface="Times New Roman" panose="02020603050405020304" pitchFamily="18" charset="0"/>
                <a:cs typeface="Times New Roman" panose="02020603050405020304" pitchFamily="18" charset="0"/>
              </a:rPr>
              <a:t>î</a:t>
            </a:r>
            <a:r>
              <a:rPr lang="en-US" altLang="fr-FR" sz="2000" strike="noStrike" spc="-1" dirty="0">
                <a:latin typeface="Times New Roman" panose="02020603050405020304" pitchFamily="18" charset="0"/>
                <a:cs typeface="Times New Roman" panose="02020603050405020304" pitchFamily="18" charset="0"/>
              </a:rPr>
              <a:t>t vers la gauche (indices d</a:t>
            </a:r>
            <a:r>
              <a:rPr lang="en-US" altLang="en-US" sz="2000" strike="noStrike" spc="-1" dirty="0">
                <a:latin typeface="Times New Roman" panose="02020603050405020304" pitchFamily="18" charset="0"/>
                <a:cs typeface="Times New Roman" panose="02020603050405020304" pitchFamily="18" charset="0"/>
              </a:rPr>
              <a:t>é</a:t>
            </a:r>
            <a:r>
              <a:rPr lang="en-US" altLang="fr-FR" sz="2000" strike="noStrike" spc="-1" dirty="0">
                <a:latin typeface="Times New Roman" panose="02020603050405020304" pitchFamily="18" charset="0"/>
                <a:cs typeface="Times New Roman" panose="02020603050405020304" pitchFamily="18" charset="0"/>
              </a:rPr>
              <a:t>croissants).</a:t>
            </a: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sz="2000" strike="noStrike" spc="-1" dirty="0">
                <a:latin typeface="Times New Roman" panose="02020603050405020304" pitchFamily="18" charset="0"/>
                <a:cs typeface="Times New Roman" panose="02020603050405020304" pitchFamily="18" charset="0"/>
              </a:rPr>
              <a:t>Ainsi, tant que l'espace libre existe entre les deux piles, aucune d'elles ne d</a:t>
            </a:r>
            <a:r>
              <a:rPr lang="en-US" altLang="en-US" sz="2000" strike="noStrike" spc="-1" dirty="0">
                <a:latin typeface="Times New Roman" panose="02020603050405020304" pitchFamily="18" charset="0"/>
                <a:cs typeface="Times New Roman" panose="02020603050405020304" pitchFamily="18" charset="0"/>
              </a:rPr>
              <a:t>é</a:t>
            </a:r>
            <a:r>
              <a:rPr lang="en-US" altLang="fr-FR" sz="2000" strike="noStrike" spc="-1" dirty="0">
                <a:latin typeface="Times New Roman" panose="02020603050405020304" pitchFamily="18" charset="0"/>
                <a:cs typeface="Times New Roman" panose="02020603050405020304" pitchFamily="18" charset="0"/>
              </a:rPr>
              <a:t>borde.</a:t>
            </a: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sz="2000" b="1" strike="noStrike" spc="-1" dirty="0">
                <a:solidFill>
                  <a:schemeClr val="accent1"/>
                </a:solidFill>
                <a:latin typeface="Times New Roman" panose="02020603050405020304" pitchFamily="18" charset="0"/>
                <a:cs typeface="Times New Roman" panose="02020603050405020304" pitchFamily="18" charset="0"/>
              </a:rPr>
              <a:t>D</a:t>
            </a:r>
            <a:r>
              <a:rPr lang="en-US" altLang="en-US" sz="2000" b="1" strike="noStrike" spc="-1" dirty="0">
                <a:solidFill>
                  <a:schemeClr val="accent1"/>
                </a:solidFill>
                <a:latin typeface="Times New Roman" panose="02020603050405020304" pitchFamily="18" charset="0"/>
                <a:cs typeface="Times New Roman" panose="02020603050405020304" pitchFamily="18" charset="0"/>
              </a:rPr>
              <a:t>é</a:t>
            </a:r>
            <a:r>
              <a:rPr lang="en-US" altLang="fr-FR" sz="2000" b="1" strike="noStrike" spc="-1" dirty="0">
                <a:solidFill>
                  <a:schemeClr val="accent1"/>
                </a:solidFill>
                <a:latin typeface="Times New Roman" panose="02020603050405020304" pitchFamily="18" charset="0"/>
                <a:cs typeface="Times New Roman" panose="02020603050405020304" pitchFamily="18" charset="0"/>
              </a:rPr>
              <a:t>finition de la structure en C</a:t>
            </a:r>
            <a:endParaRPr lang="en-US" altLang="fr-FR" sz="2000" b="1" strike="noStrike" spc="-1" dirty="0">
              <a:solidFill>
                <a:schemeClr val="accent1"/>
              </a:solidFill>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sz="2000" strike="noStrike" spc="-1" dirty="0">
                <a:latin typeface="Times New Roman" panose="02020603050405020304" pitchFamily="18" charset="0"/>
                <a:cs typeface="Times New Roman" panose="02020603050405020304" pitchFamily="18" charset="0"/>
              </a:rPr>
              <a:t>Nous d</a:t>
            </a:r>
            <a:r>
              <a:rPr lang="en-US" altLang="en-US" sz="2000" strike="noStrike" spc="-1" dirty="0">
                <a:latin typeface="Times New Roman" panose="02020603050405020304" pitchFamily="18" charset="0"/>
                <a:cs typeface="Times New Roman" panose="02020603050405020304" pitchFamily="18" charset="0"/>
              </a:rPr>
              <a:t>é</a:t>
            </a:r>
            <a:r>
              <a:rPr lang="en-US" altLang="fr-FR" sz="2000" strike="noStrike" spc="-1" dirty="0">
                <a:latin typeface="Times New Roman" panose="02020603050405020304" pitchFamily="18" charset="0"/>
                <a:cs typeface="Times New Roman" panose="02020603050405020304" pitchFamily="18" charset="0"/>
              </a:rPr>
              <a:t>finissons une structure contenant :</a:t>
            </a: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sz="2000" strike="noStrike" spc="-1" dirty="0">
                <a:latin typeface="Times New Roman" panose="02020603050405020304" pitchFamily="18" charset="0"/>
                <a:cs typeface="Times New Roman" panose="02020603050405020304" pitchFamily="18" charset="0"/>
              </a:rPr>
              <a:t>Un tableau A[n] pour stocker les </a:t>
            </a:r>
            <a:r>
              <a:rPr lang="en-US" altLang="en-US" sz="2000" strike="noStrike" spc="-1" dirty="0">
                <a:latin typeface="Times New Roman" panose="02020603050405020304" pitchFamily="18" charset="0"/>
                <a:cs typeface="Times New Roman" panose="02020603050405020304" pitchFamily="18" charset="0"/>
              </a:rPr>
              <a:t>é</a:t>
            </a:r>
            <a:r>
              <a:rPr lang="en-US" altLang="fr-FR" sz="2000" strike="noStrike" spc="-1" dirty="0">
                <a:latin typeface="Times New Roman" panose="02020603050405020304" pitchFamily="18" charset="0"/>
                <a:cs typeface="Times New Roman" panose="02020603050405020304" pitchFamily="18" charset="0"/>
              </a:rPr>
              <a:t>l</a:t>
            </a:r>
            <a:r>
              <a:rPr lang="en-US" altLang="en-US" sz="2000" strike="noStrike" spc="-1" dirty="0">
                <a:latin typeface="Times New Roman" panose="02020603050405020304" pitchFamily="18" charset="0"/>
                <a:cs typeface="Times New Roman" panose="02020603050405020304" pitchFamily="18" charset="0"/>
              </a:rPr>
              <a:t>é</a:t>
            </a:r>
            <a:r>
              <a:rPr lang="en-US" altLang="fr-FR" sz="2000" strike="noStrike" spc="-1" dirty="0">
                <a:latin typeface="Times New Roman" panose="02020603050405020304" pitchFamily="18" charset="0"/>
                <a:cs typeface="Times New Roman" panose="02020603050405020304" pitchFamily="18" charset="0"/>
              </a:rPr>
              <a:t>ments.</a:t>
            </a:r>
            <a:endParaRPr lang="en-US" altLang="fr-FR" sz="2000"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sz="2000" strike="noStrike" spc="-1" dirty="0">
                <a:latin typeface="Times New Roman" panose="02020603050405020304" pitchFamily="18" charset="0"/>
                <a:cs typeface="Times New Roman" panose="02020603050405020304" pitchFamily="18" charset="0"/>
              </a:rPr>
              <a:t>Deux indices top1 et top2 pour suivre les sommets des deux piles.</a:t>
            </a:r>
            <a:endParaRPr lang="en-US" altLang="fr-FR" sz="2000" strike="noStrike" spc="-1" dirty="0">
              <a:latin typeface="Times New Roman" panose="02020603050405020304" pitchFamily="18" charset="0"/>
              <a:cs typeface="Times New Roman" panose="02020603050405020304" pitchFamily="18" charset="0"/>
            </a:endParaRPr>
          </a:p>
          <a:p>
            <a:pPr marL="228600" indent="-227965">
              <a:lnSpc>
                <a:spcPct val="90000"/>
              </a:lnSpc>
              <a:spcBef>
                <a:spcPts val="1000"/>
              </a:spcBef>
            </a:pPr>
            <a:endParaRPr lang="fr-FR" sz="2000" strike="noStrike" spc="-1" dirty="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dirty="0">
                <a:solidFill>
                  <a:srgbClr val="FFFFFF"/>
                </a:solidFill>
                <a:latin typeface="Times New Roman" panose="02020603050405020304"/>
              </a:rPr>
              <a:t>Pile. Implémentation à l’aide d’un tableau(3)</a:t>
            </a:r>
            <a:endParaRPr lang="fr-FR" sz="4000" b="0" strike="noStrike" spc="-1" dirty="0">
              <a:latin typeface="Arial" panose="020B0604020202020204"/>
            </a:endParaRPr>
          </a:p>
        </p:txBody>
      </p:sp>
      <p:sp>
        <p:nvSpPr>
          <p:cNvPr id="230" name="CustomShape 3"/>
          <p:cNvSpPr/>
          <p:nvPr/>
        </p:nvSpPr>
        <p:spPr>
          <a:xfrm>
            <a:off x="623400" y="21514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#include &lt;stdio.h&gt;</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#include &lt;stdlib.h&gt;</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#define N 100 // Taille du tableau</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typedef int Element;</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fr-FR" altLang="en-US" b="1" strike="noStrike" spc="-1" dirty="0">
                <a:latin typeface="Times New Roman" panose="02020603050405020304" pitchFamily="18" charset="0"/>
                <a:cs typeface="Times New Roman" panose="02020603050405020304" pitchFamily="18" charset="0"/>
              </a:rPr>
              <a:t>//</a:t>
            </a:r>
            <a:r>
              <a:rPr lang="en-US" altLang="fr-FR" b="1" strike="noStrike" spc="-1" dirty="0">
                <a:latin typeface="Times New Roman" panose="02020603050405020304" pitchFamily="18" charset="0"/>
                <a:cs typeface="Times New Roman" panose="02020603050405020304" pitchFamily="18" charset="0"/>
              </a:rPr>
              <a:t>typedef est utilis</a:t>
            </a:r>
            <a:r>
              <a:rPr lang="en-US" altLang="en-US" b="1" strike="noStrike" spc="-1" dirty="0">
                <a:latin typeface="Times New Roman" panose="02020603050405020304" pitchFamily="18" charset="0"/>
                <a:cs typeface="Times New Roman" panose="02020603050405020304" pitchFamily="18" charset="0"/>
              </a:rPr>
              <a:t>é</a:t>
            </a:r>
            <a:r>
              <a:rPr lang="en-US" altLang="fr-FR" b="1" strike="noStrike" spc="-1" dirty="0">
                <a:latin typeface="Times New Roman" panose="02020603050405020304" pitchFamily="18" charset="0"/>
                <a:cs typeface="Times New Roman" panose="02020603050405020304" pitchFamily="18" charset="0"/>
              </a:rPr>
              <a:t> pour simplifier et rendre le code plus flexible. Gr</a:t>
            </a:r>
            <a:r>
              <a:rPr lang="en-US" altLang="en-US" b="1" strike="noStrike" spc="-1" dirty="0">
                <a:latin typeface="Times New Roman" panose="02020603050405020304" pitchFamily="18" charset="0"/>
                <a:cs typeface="Times New Roman" panose="02020603050405020304" pitchFamily="18" charset="0"/>
              </a:rPr>
              <a:t>â</a:t>
            </a:r>
            <a:r>
              <a:rPr lang="en-US" altLang="fr-FR" b="1" strike="noStrike" spc="-1" dirty="0">
                <a:latin typeface="Times New Roman" panose="02020603050405020304" pitchFamily="18" charset="0"/>
                <a:cs typeface="Times New Roman" panose="02020603050405020304" pitchFamily="18" charset="0"/>
              </a:rPr>
              <a:t>ce à cette d</a:t>
            </a:r>
            <a:r>
              <a:rPr lang="en-US" altLang="en-US" b="1" strike="noStrike" spc="-1" dirty="0">
                <a:latin typeface="Times New Roman" panose="02020603050405020304" pitchFamily="18" charset="0"/>
                <a:cs typeface="Times New Roman" panose="02020603050405020304" pitchFamily="18" charset="0"/>
              </a:rPr>
              <a:t>é</a:t>
            </a:r>
            <a:r>
              <a:rPr lang="en-US" altLang="fr-FR" b="1" strike="noStrike" spc="-1" dirty="0">
                <a:latin typeface="Times New Roman" panose="02020603050405020304" pitchFamily="18" charset="0"/>
                <a:cs typeface="Times New Roman" panose="02020603050405020304" pitchFamily="18" charset="0"/>
              </a:rPr>
              <a:t>finition, nous </a:t>
            </a:r>
            <a:r>
              <a:rPr lang="fr-FR" altLang="en-US" b="1" strike="noStrike" spc="-1" dirty="0">
                <a:latin typeface="Times New Roman" panose="02020603050405020304" pitchFamily="18" charset="0"/>
                <a:cs typeface="Times New Roman" panose="02020603050405020304" pitchFamily="18" charset="0"/>
              </a:rPr>
              <a:t>//</a:t>
            </a:r>
            <a:r>
              <a:rPr lang="en-US" altLang="fr-FR" b="1" strike="noStrike" spc="-1" dirty="0">
                <a:latin typeface="Times New Roman" panose="02020603050405020304" pitchFamily="18" charset="0"/>
                <a:cs typeface="Times New Roman" panose="02020603050405020304" pitchFamily="18" charset="0"/>
              </a:rPr>
              <a:t>pouvons facilement changer le type des </a:t>
            </a:r>
            <a:r>
              <a:rPr lang="en-US" altLang="en-US" b="1" strike="noStrike" spc="-1" dirty="0">
                <a:latin typeface="Times New Roman" panose="02020603050405020304" pitchFamily="18" charset="0"/>
                <a:cs typeface="Times New Roman" panose="02020603050405020304" pitchFamily="18" charset="0"/>
              </a:rPr>
              <a:t>é</a:t>
            </a:r>
            <a:r>
              <a:rPr lang="en-US" altLang="fr-FR" b="1" strike="noStrike" spc="-1" dirty="0">
                <a:latin typeface="Times New Roman" panose="02020603050405020304" pitchFamily="18" charset="0"/>
                <a:cs typeface="Times New Roman" panose="02020603050405020304" pitchFamily="18" charset="0"/>
              </a:rPr>
              <a:t>l</a:t>
            </a:r>
            <a:r>
              <a:rPr lang="en-US" altLang="en-US" b="1" strike="noStrike" spc="-1" dirty="0">
                <a:latin typeface="Times New Roman" panose="02020603050405020304" pitchFamily="18" charset="0"/>
                <a:cs typeface="Times New Roman" panose="02020603050405020304" pitchFamily="18" charset="0"/>
              </a:rPr>
              <a:t>é</a:t>
            </a:r>
            <a:r>
              <a:rPr lang="en-US" altLang="fr-FR" b="1" strike="noStrike" spc="-1" dirty="0">
                <a:latin typeface="Times New Roman" panose="02020603050405020304" pitchFamily="18" charset="0"/>
                <a:cs typeface="Times New Roman" panose="02020603050405020304" pitchFamily="18" charset="0"/>
              </a:rPr>
              <a:t>ments stock</a:t>
            </a:r>
            <a:r>
              <a:rPr lang="en-US" altLang="en-US" b="1" strike="noStrike" spc="-1" dirty="0">
                <a:latin typeface="Times New Roman" panose="02020603050405020304" pitchFamily="18" charset="0"/>
                <a:cs typeface="Times New Roman" panose="02020603050405020304" pitchFamily="18" charset="0"/>
              </a:rPr>
              <a:t>é</a:t>
            </a:r>
            <a:r>
              <a:rPr lang="en-US" altLang="fr-FR" b="1" strike="noStrike" spc="-1" dirty="0">
                <a:latin typeface="Times New Roman" panose="02020603050405020304" pitchFamily="18" charset="0"/>
                <a:cs typeface="Times New Roman" panose="02020603050405020304" pitchFamily="18" charset="0"/>
              </a:rPr>
              <a:t>s dans la pile sans devoir modifier tout le </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typedef struct {</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Element A[N]; // Tableau partag</a:t>
            </a:r>
            <a:r>
              <a:rPr lang="en-US" altLang="en-US" b="1" strike="noStrike" spc="-1" dirty="0">
                <a:latin typeface="Times New Roman" panose="02020603050405020304" pitchFamily="18" charset="0"/>
                <a:cs typeface="Times New Roman" panose="02020603050405020304" pitchFamily="18" charset="0"/>
              </a:rPr>
              <a:t>é</a:t>
            </a:r>
            <a:endParaRPr lang="en-US" altLang="en-US"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int top1;     // Sommet de la pile 1</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int top2;     // Sommet de la pile 2</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DoublePile;</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Initialiser les deux piles</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void Init_Piles(DoublePile *P) {</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P-&gt;top1 = -1;     // Pile 1 commence à l'index -1</a:t>
            </a:r>
            <a:endParaRPr lang="en-US" altLang="fr-FR" b="1" strike="noStrike" spc="-1" dirty="0">
              <a:latin typeface="Times New Roman" panose="02020603050405020304" pitchFamily="18" charset="0"/>
              <a:cs typeface="Times New Roman" panose="02020603050405020304" pitchFamily="18" charset="0"/>
            </a:endParaRPr>
          </a:p>
          <a:p>
            <a:pPr marL="685800" indent="-227965" algn="just">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P-&gt;top2 = N;      // Pile 2 commence à l'index N (hors limites)</a:t>
            </a:r>
            <a:r>
              <a:rPr lang="fr-FR" altLang="en-US" b="1" strike="noStrike" spc="-1" dirty="0">
                <a:latin typeface="Times New Roman" panose="02020603050405020304" pitchFamily="18" charset="0"/>
                <a:cs typeface="Times New Roman" panose="02020603050405020304" pitchFamily="18" charset="0"/>
              </a:rPr>
              <a:t> </a:t>
            </a:r>
            <a:r>
              <a:rPr lang="en-US" altLang="fr-FR" b="1" strike="noStrike" spc="-1" dirty="0">
                <a:latin typeface="Times New Roman" panose="02020603050405020304" pitchFamily="18" charset="0"/>
                <a:cs typeface="Times New Roman" panose="02020603050405020304" pitchFamily="18" charset="0"/>
              </a:rPr>
              <a:t>}</a:t>
            </a:r>
            <a:endParaRPr lang="en-US" altLang="fr-FR" b="1" strike="noStrike" spc="-1" dirty="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1"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32" name="Picture 73"/>
          <p:cNvPicPr/>
          <p:nvPr/>
        </p:nvPicPr>
        <p:blipFill>
          <a:blip r:embed="rId1"/>
          <a:stretch>
            <a:fillRect/>
          </a:stretch>
        </p:blipFill>
        <p:spPr>
          <a:xfrm>
            <a:off x="0" y="0"/>
            <a:ext cx="12191400" cy="6857280"/>
          </a:xfrm>
          <a:prstGeom prst="rect">
            <a:avLst/>
          </a:prstGeom>
          <a:ln>
            <a:noFill/>
          </a:ln>
        </p:spPr>
      </p:pic>
      <p:sp>
        <p:nvSpPr>
          <p:cNvPr id="233"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sp>
        <p:nvSpPr>
          <p:cNvPr id="234"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90000"/>
              </a:lnSpc>
              <a:spcBef>
                <a:spcPts val="1000"/>
              </a:spcBef>
            </a:pPr>
            <a:r>
              <a:rPr lang="fr-FR" sz="2000" b="0" strike="noStrike" spc="-1">
                <a:solidFill>
                  <a:srgbClr val="000000"/>
                </a:solidFill>
                <a:latin typeface="Times New Roman" panose="02020603050405020304"/>
              </a:rPr>
              <a:t>Une pile dynamique est une liste à laquelle on attache un pointeur sommet.  C’est un enregistrement </a:t>
            </a:r>
            <a:endParaRPr lang="fr-FR" sz="2000" b="0" strike="noStrike" spc="-1">
              <a:latin typeface="Arial" panose="020B0604020202020204"/>
            </a:endParaRPr>
          </a:p>
          <a:p>
            <a:pPr marL="228600" indent="-227965" algn="just">
              <a:lnSpc>
                <a:spcPct val="90000"/>
              </a:lnSpc>
              <a:spcBef>
                <a:spcPts val="1000"/>
              </a:spcBef>
            </a:pPr>
            <a:r>
              <a:rPr lang="fr-FR" sz="2000" b="0" strike="noStrike" spc="-1">
                <a:solidFill>
                  <a:srgbClr val="000000"/>
                </a:solidFill>
                <a:latin typeface="Times New Roman" panose="02020603050405020304"/>
              </a:rPr>
              <a:t>à une seule case : pointeur qui pointe la dernière valeur traitée dans la liste (sommet). </a:t>
            </a:r>
            <a:endParaRPr lang="fr-FR" sz="2000" b="0" strike="noStrike" spc="-1">
              <a:latin typeface="Arial" panose="020B0604020202020204"/>
            </a:endParaRPr>
          </a:p>
          <a:p>
            <a:pPr marL="228600" indent="-227965" algn="just">
              <a:lnSpc>
                <a:spcPct val="90000"/>
              </a:lnSpc>
              <a:spcBef>
                <a:spcPts val="1000"/>
              </a:spcBef>
            </a:pPr>
            <a:endParaRPr lang="fr-FR" sz="2000" b="0" strike="noStrike" spc="-1">
              <a:latin typeface="Arial" panose="020B0604020202020204"/>
            </a:endParaRPr>
          </a:p>
          <a:p>
            <a:pPr marL="228600" indent="-227965" algn="just">
              <a:lnSpc>
                <a:spcPct val="90000"/>
              </a:lnSpc>
              <a:spcBef>
                <a:spcPts val="1000"/>
              </a:spcBef>
            </a:pPr>
            <a:r>
              <a:rPr lang="fr-FR" sz="2000" b="0" strike="noStrike" spc="-1">
                <a:solidFill>
                  <a:srgbClr val="000000"/>
                </a:solidFill>
                <a:latin typeface="Times New Roman" panose="02020603050405020304"/>
              </a:rPr>
              <a:t>De même que pour les piles statiques nous présentons la déclaration et les sous algorithmes de bases </a:t>
            </a:r>
            <a:endParaRPr lang="fr-FR" sz="2000" b="0" strike="noStrike" spc="-1">
              <a:latin typeface="Arial" panose="020B0604020202020204"/>
            </a:endParaRPr>
          </a:p>
          <a:p>
            <a:pPr marL="228600" indent="-227965" algn="just">
              <a:lnSpc>
                <a:spcPct val="90000"/>
              </a:lnSpc>
              <a:spcBef>
                <a:spcPts val="1000"/>
              </a:spcBef>
            </a:pPr>
            <a:r>
              <a:rPr lang="fr-FR" sz="2000" b="0" strike="noStrike" spc="-1">
                <a:solidFill>
                  <a:srgbClr val="000000"/>
                </a:solidFill>
                <a:latin typeface="Times New Roman" panose="02020603050405020304"/>
              </a:rPr>
              <a:t>détaillés pour le type statique. Et dans un souci d’uniformisation nous utilisons les mêmes noms </a:t>
            </a:r>
            <a:endParaRPr lang="fr-FR" sz="2000" b="0" strike="noStrike" spc="-1">
              <a:latin typeface="Arial" panose="020B0604020202020204"/>
            </a:endParaRPr>
          </a:p>
          <a:p>
            <a:pPr marL="228600" indent="-227965" algn="just">
              <a:lnSpc>
                <a:spcPct val="90000"/>
              </a:lnSpc>
              <a:spcBef>
                <a:spcPts val="1000"/>
              </a:spcBef>
            </a:pPr>
            <a:r>
              <a:rPr lang="fr-FR" sz="2000" b="0" strike="noStrike" spc="-1">
                <a:solidFill>
                  <a:srgbClr val="000000"/>
                </a:solidFill>
                <a:latin typeface="Times New Roman" panose="02020603050405020304"/>
              </a:rPr>
              <a:t>mais en ajoutant un D (pour rappeler Dynamique) à la fin de chaque nom pour faire la différence.</a:t>
            </a:r>
            <a:endParaRPr lang="fr-FR" sz="2000" b="0" strike="noStrike" spc="-1">
              <a:latin typeface="Arial" panose="020B0604020202020204"/>
            </a:endParaRPr>
          </a:p>
          <a:p>
            <a:pPr marL="228600" indent="-227965" algn="just">
              <a:lnSpc>
                <a:spcPct val="90000"/>
              </a:lnSpc>
              <a:spcBef>
                <a:spcPts val="1000"/>
              </a:spcBef>
            </a:pPr>
            <a:endParaRPr lang="fr-FR" sz="2000" b="0" strike="noStrike" spc="-1">
              <a:latin typeface="Arial" panose="020B0604020202020204"/>
            </a:endParaRPr>
          </a:p>
          <a:p>
            <a:pPr marL="228600" indent="-227965" algn="just">
              <a:lnSpc>
                <a:spcPct val="90000"/>
              </a:lnSpc>
              <a:spcBef>
                <a:spcPts val="1000"/>
              </a:spcBef>
            </a:pPr>
            <a:r>
              <a:rPr lang="fr-FR" sz="2000" b="0" strike="noStrike" spc="-1">
                <a:solidFill>
                  <a:srgbClr val="000000"/>
                </a:solidFill>
                <a:latin typeface="Times New Roman" panose="02020603050405020304"/>
              </a:rPr>
              <a:t>Note : Il n’y a pas de pile pleine pour les piles dynamique. La seule possibilité de ne pas pouvoir </a:t>
            </a:r>
            <a:endParaRPr lang="fr-FR" sz="2000" b="0" strike="noStrike" spc="-1">
              <a:latin typeface="Arial" panose="020B0604020202020204"/>
            </a:endParaRPr>
          </a:p>
          <a:p>
            <a:pPr marL="228600" indent="-227965" algn="just">
              <a:lnSpc>
                <a:spcPct val="90000"/>
              </a:lnSpc>
              <a:spcBef>
                <a:spcPts val="1000"/>
              </a:spcBef>
            </a:pPr>
            <a:r>
              <a:rPr lang="fr-FR" sz="2000" b="0" strike="noStrike" spc="-1">
                <a:solidFill>
                  <a:srgbClr val="000000"/>
                </a:solidFill>
                <a:latin typeface="Times New Roman" panose="02020603050405020304"/>
              </a:rPr>
              <a:t>ajouter un élément c’est d’avoir une mémoire pleine, cas que l’on ne prend pas en considération ici.</a:t>
            </a:r>
            <a:endParaRPr lang="fr-FR" sz="2000" b="0" strike="noStrike" spc="-1">
              <a:latin typeface="Arial" panose="020B0604020202020204"/>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1"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32" name="Picture 73"/>
          <p:cNvPicPr/>
          <p:nvPr/>
        </p:nvPicPr>
        <p:blipFill>
          <a:blip r:embed="rId1"/>
          <a:stretch>
            <a:fillRect/>
          </a:stretch>
        </p:blipFill>
        <p:spPr>
          <a:xfrm>
            <a:off x="0" y="0"/>
            <a:ext cx="12191400" cy="6857280"/>
          </a:xfrm>
          <a:prstGeom prst="rect">
            <a:avLst/>
          </a:prstGeom>
          <a:ln>
            <a:noFill/>
          </a:ln>
        </p:spPr>
      </p:pic>
      <p:sp>
        <p:nvSpPr>
          <p:cNvPr id="233"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sp>
        <p:nvSpPr>
          <p:cNvPr id="234"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90000"/>
              </a:lnSpc>
              <a:spcBef>
                <a:spcPts val="1000"/>
              </a:spcBef>
            </a:pPr>
            <a:r>
              <a:rPr lang="en-US" altLang="fr-FR" sz="2400" b="1" strike="noStrike" spc="-1">
                <a:solidFill>
                  <a:schemeClr val="accent1"/>
                </a:solidFill>
                <a:latin typeface="Times New Roman" panose="02020603050405020304" pitchFamily="18" charset="0"/>
                <a:cs typeface="Times New Roman" panose="02020603050405020304" pitchFamily="18" charset="0"/>
              </a:rPr>
              <a:t>Avantages des Piles Dynamiques</a:t>
            </a:r>
            <a:endParaRPr lang="en-US" altLang="fr-FR" sz="24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2400" b="1" strike="noStrike" spc="-1">
                <a:latin typeface="Times New Roman" panose="02020603050405020304" pitchFamily="18" charset="0"/>
                <a:cs typeface="Times New Roman" panose="02020603050405020304" pitchFamily="18" charset="0"/>
              </a:rPr>
              <a:t>Taille non limit</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e :</a:t>
            </a:r>
            <a:r>
              <a:rPr lang="en-US" altLang="fr-FR" sz="2400" b="0" strike="noStrike" spc="-1">
                <a:latin typeface="Times New Roman" panose="02020603050405020304" pitchFamily="18" charset="0"/>
                <a:cs typeface="Times New Roman" panose="02020603050405020304" pitchFamily="18" charset="0"/>
              </a:rPr>
              <a:t> La pile peut grandir dynamiquement sans restriction (sauf en cas de m</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moire insuffisante).</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2400" b="1" strike="noStrike" spc="-1">
                <a:latin typeface="Times New Roman" panose="02020603050405020304" pitchFamily="18" charset="0"/>
                <a:cs typeface="Times New Roman" panose="02020603050405020304" pitchFamily="18" charset="0"/>
              </a:rPr>
              <a:t>Utilisation efficace de la m</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moire :</a:t>
            </a:r>
            <a:r>
              <a:rPr lang="en-US" altLang="fr-FR" sz="2400" b="0" strike="noStrike" spc="-1">
                <a:latin typeface="Times New Roman" panose="02020603050405020304" pitchFamily="18" charset="0"/>
                <a:cs typeface="Times New Roman" panose="02020603050405020304" pitchFamily="18" charset="0"/>
              </a:rPr>
              <a:t> Contrairement aux piles statiques, il n’y a pas de place gaspill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e puisque la m</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moire est allou</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e au fur et à mesure des ajouts.</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2400" b="0" strike="noStrike" spc="-1">
                <a:latin typeface="Times New Roman" panose="02020603050405020304" pitchFamily="18" charset="0"/>
                <a:cs typeface="Times New Roman" panose="02020603050405020304" pitchFamily="18" charset="0"/>
              </a:rPr>
              <a:t> </a:t>
            </a:r>
            <a:r>
              <a:rPr lang="en-US" altLang="fr-FR" sz="2400" b="1" strike="noStrike" spc="-1">
                <a:latin typeface="Times New Roman" panose="02020603050405020304" pitchFamily="18" charset="0"/>
                <a:cs typeface="Times New Roman" panose="02020603050405020304" pitchFamily="18" charset="0"/>
              </a:rPr>
              <a:t>Flexibilit</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 :</a:t>
            </a:r>
            <a:r>
              <a:rPr lang="en-US" altLang="fr-FR" sz="2400" b="0" strike="noStrike" spc="-1">
                <a:latin typeface="Times New Roman" panose="02020603050405020304" pitchFamily="18" charset="0"/>
                <a:cs typeface="Times New Roman" panose="02020603050405020304" pitchFamily="18" charset="0"/>
              </a:rPr>
              <a:t> L'impl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mentation avec des pointeurs permet d’ajouter ou de supprimer des </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ments en O(1) sans r</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allocation de m</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moire</a:t>
            </a:r>
            <a:endParaRPr lang="en-US" altLang="fr-FR" sz="2400" b="0"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36" name="Picture 73"/>
          <p:cNvPicPr/>
          <p:nvPr/>
        </p:nvPicPr>
        <p:blipFill>
          <a:blip r:embed="rId1"/>
          <a:stretch>
            <a:fillRect/>
          </a:stretch>
        </p:blipFill>
        <p:spPr>
          <a:xfrm>
            <a:off x="0" y="0"/>
            <a:ext cx="12191400" cy="6857280"/>
          </a:xfrm>
          <a:prstGeom prst="rect">
            <a:avLst/>
          </a:prstGeom>
          <a:ln>
            <a:noFill/>
          </a:ln>
        </p:spPr>
      </p:pic>
      <p:sp>
        <p:nvSpPr>
          <p:cNvPr id="237"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sp>
        <p:nvSpPr>
          <p:cNvPr id="238" name="CustomShape 3"/>
          <p:cNvSpPr/>
          <p:nvPr/>
        </p:nvSpPr>
        <p:spPr>
          <a:xfrm>
            <a:off x="849960" y="2557800"/>
            <a:ext cx="1086912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6500" lnSpcReduction="10000"/>
          </a:bodyPr>
          <a:lstStyle/>
          <a:p>
            <a:pPr marL="228600" indent="-227965" algn="just">
              <a:lnSpc>
                <a:spcPct val="90000"/>
              </a:lnSpc>
              <a:spcBef>
                <a:spcPts val="1000"/>
              </a:spcBef>
            </a:pPr>
            <a:endParaRPr lang="fr-FR" sz="1800" b="0" strike="noStrike" spc="-1">
              <a:latin typeface="Arial" panose="020B0604020202020204"/>
            </a:endParaRPr>
          </a:p>
          <a:p>
            <a:pPr marL="228600" indent="-227965" algn="just">
              <a:lnSpc>
                <a:spcPct val="90000"/>
              </a:lnSpc>
              <a:spcBef>
                <a:spcPts val="1000"/>
              </a:spcBef>
            </a:pPr>
            <a:endParaRPr lang="fr-FR" sz="1800" b="0" strike="noStrike" spc="-1">
              <a:latin typeface="Arial" panose="020B0604020202020204"/>
            </a:endParaRPr>
          </a:p>
          <a:p>
            <a:pPr marL="228600" indent="-227965" algn="just">
              <a:lnSpc>
                <a:spcPct val="90000"/>
              </a:lnSpc>
              <a:spcBef>
                <a:spcPts val="1000"/>
              </a:spcBef>
            </a:pPr>
            <a:endParaRPr lang="fr-FR" sz="1800" b="0" strike="noStrike" spc="-1">
              <a:latin typeface="Arial" panose="020B0604020202020204"/>
            </a:endParaRPr>
          </a:p>
          <a:p>
            <a:pPr marL="228600" indent="-227965" algn="just">
              <a:lnSpc>
                <a:spcPct val="90000"/>
              </a:lnSpc>
              <a:spcBef>
                <a:spcPts val="1000"/>
              </a:spcBef>
            </a:pPr>
            <a:endParaRPr lang="fr-FR" sz="1800" b="0" strike="noStrike" spc="-1">
              <a:latin typeface="Arial" panose="020B0604020202020204"/>
            </a:endParaRPr>
          </a:p>
          <a:p>
            <a:pPr marL="228600" indent="-227965" algn="just">
              <a:lnSpc>
                <a:spcPct val="90000"/>
              </a:lnSpc>
              <a:spcBef>
                <a:spcPts val="1000"/>
              </a:spcBef>
            </a:pPr>
            <a:endParaRPr lang="fr-FR" sz="1800" b="0" strike="noStrike" spc="-1">
              <a:latin typeface="Arial" panose="020B0604020202020204"/>
            </a:endParaRPr>
          </a:p>
          <a:p>
            <a:pPr marL="228600" indent="-227965" algn="just">
              <a:lnSpc>
                <a:spcPct val="90000"/>
              </a:lnSpc>
              <a:spcBef>
                <a:spcPts val="1000"/>
              </a:spcBef>
            </a:pPr>
            <a:endParaRPr lang="fr-FR" sz="1800" b="0" strike="noStrike" spc="-1">
              <a:latin typeface="Arial" panose="020B0604020202020204"/>
            </a:endParaRPr>
          </a:p>
          <a:p>
            <a:pPr marL="228600" indent="-227965" algn="just">
              <a:lnSpc>
                <a:spcPct val="90000"/>
              </a:lnSpc>
              <a:spcBef>
                <a:spcPts val="1000"/>
              </a:spcBef>
            </a:pPr>
            <a:endParaRPr lang="fr-FR" sz="1800" b="0" strike="noStrike" spc="-1">
              <a:latin typeface="Arial" panose="020B0604020202020204"/>
            </a:endParaRPr>
          </a:p>
          <a:p>
            <a:pPr marL="228600" indent="-227965" algn="just">
              <a:lnSpc>
                <a:spcPct val="90000"/>
              </a:lnSpc>
              <a:spcBef>
                <a:spcPts val="1000"/>
              </a:spcBef>
            </a:pPr>
            <a:endParaRPr lang="fr-FR" sz="1800" b="0" strike="noStrike" spc="-1">
              <a:latin typeface="Arial" panose="020B0604020202020204"/>
            </a:endParaRPr>
          </a:p>
          <a:p>
            <a:pPr marL="228600" indent="-227965" algn="just">
              <a:lnSpc>
                <a:spcPct val="90000"/>
              </a:lnSpc>
              <a:spcBef>
                <a:spcPts val="1000"/>
              </a:spcBef>
            </a:pPr>
            <a:r>
              <a:rPr lang="fr-FR" sz="2000" b="1" i="1" strike="noStrike" spc="-1">
                <a:solidFill>
                  <a:srgbClr val="000000"/>
                </a:solidFill>
                <a:latin typeface="Times New Roman" panose="02020603050405020304"/>
              </a:rPr>
              <a:t>Note </a:t>
            </a:r>
            <a:r>
              <a:rPr lang="fr-FR" sz="2000" b="0" strike="noStrike" spc="-1">
                <a:solidFill>
                  <a:srgbClr val="000000"/>
                </a:solidFill>
                <a:latin typeface="Times New Roman" panose="02020603050405020304"/>
              </a:rPr>
              <a:t>: Les données enregistrées dans la pile peuvent être des entiers, des réels, des caractères, des </a:t>
            </a:r>
            <a:endParaRPr lang="fr-FR" sz="2000" b="0" strike="noStrike" spc="-1">
              <a:latin typeface="Arial" panose="020B0604020202020204"/>
            </a:endParaRPr>
          </a:p>
          <a:p>
            <a:pPr marL="228600" indent="-227965" algn="just">
              <a:lnSpc>
                <a:spcPct val="90000"/>
              </a:lnSpc>
              <a:spcBef>
                <a:spcPts val="1000"/>
              </a:spcBef>
            </a:pPr>
            <a:r>
              <a:rPr lang="fr-FR" sz="2000" b="0" strike="noStrike" spc="-1">
                <a:solidFill>
                  <a:srgbClr val="000000"/>
                </a:solidFill>
                <a:latin typeface="Times New Roman" panose="02020603050405020304"/>
              </a:rPr>
              <a:t>chaînes de caractères, des booléens, des tableaux, des pointeurs de listes ou encore des piles ou </a:t>
            </a:r>
            <a:endParaRPr lang="fr-FR" sz="2000" b="0" strike="noStrike" spc="-1">
              <a:latin typeface="Arial" panose="020B0604020202020204"/>
            </a:endParaRPr>
          </a:p>
          <a:p>
            <a:pPr marL="228600" indent="-227965" algn="just">
              <a:lnSpc>
                <a:spcPct val="90000"/>
              </a:lnSpc>
              <a:spcBef>
                <a:spcPts val="1000"/>
              </a:spcBef>
            </a:pPr>
            <a:r>
              <a:rPr lang="fr-FR" sz="2000" b="0" strike="noStrike" spc="-1">
                <a:solidFill>
                  <a:srgbClr val="000000"/>
                </a:solidFill>
                <a:latin typeface="Times New Roman" panose="02020603050405020304"/>
              </a:rPr>
              <a:t>files.</a:t>
            </a:r>
            <a:endParaRPr lang="fr-FR" sz="2000" b="0" strike="noStrike" spc="-1">
              <a:latin typeface="Arial" panose="020B0604020202020204"/>
            </a:endParaRPr>
          </a:p>
        </p:txBody>
      </p:sp>
      <p:pic>
        <p:nvPicPr>
          <p:cNvPr id="239" name="Image 1"/>
          <p:cNvPicPr/>
          <p:nvPr/>
        </p:nvPicPr>
        <p:blipFill>
          <a:blip r:embed="rId2"/>
          <a:stretch>
            <a:fillRect/>
          </a:stretch>
        </p:blipFill>
        <p:spPr>
          <a:xfrm>
            <a:off x="1042200" y="2710080"/>
            <a:ext cx="9969840" cy="2492280"/>
          </a:xfrm>
          <a:prstGeom prst="rect">
            <a:avLst/>
          </a:prstGeom>
          <a:ln>
            <a:noFill/>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36" name="Picture 73"/>
          <p:cNvPicPr/>
          <p:nvPr/>
        </p:nvPicPr>
        <p:blipFill>
          <a:blip r:embed="rId1"/>
          <a:stretch>
            <a:fillRect/>
          </a:stretch>
        </p:blipFill>
        <p:spPr>
          <a:xfrm>
            <a:off x="0" y="0"/>
            <a:ext cx="12191400" cy="6857280"/>
          </a:xfrm>
          <a:prstGeom prst="rect">
            <a:avLst/>
          </a:prstGeom>
          <a:ln>
            <a:noFill/>
          </a:ln>
        </p:spPr>
      </p:pic>
      <p:sp>
        <p:nvSpPr>
          <p:cNvPr id="237"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sp>
        <p:nvSpPr>
          <p:cNvPr id="238" name="CustomShape 3"/>
          <p:cNvSpPr/>
          <p:nvPr/>
        </p:nvSpPr>
        <p:spPr>
          <a:xfrm>
            <a:off x="849960" y="2557800"/>
            <a:ext cx="1086912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marL="228600" indent="-227965" algn="just">
              <a:lnSpc>
                <a:spcPct val="90000"/>
              </a:lnSpc>
              <a:spcBef>
                <a:spcPts val="1000"/>
              </a:spcBef>
            </a:pPr>
            <a:r>
              <a:rPr lang="fr-FR" altLang="en-US" sz="8000" b="1" strike="noStrike" spc="-1">
                <a:latin typeface="Times New Roman" panose="02020603050405020304" pitchFamily="18" charset="0"/>
                <a:cs typeface="Times New Roman" panose="02020603050405020304" pitchFamily="18" charset="0"/>
              </a:rPr>
              <a:t>#</a:t>
            </a:r>
            <a:r>
              <a:rPr lang="en-US" altLang="fr-FR" sz="8000" b="1" strike="noStrike" spc="-1">
                <a:latin typeface="Times New Roman" panose="02020603050405020304" pitchFamily="18" charset="0"/>
                <a:cs typeface="Times New Roman" panose="02020603050405020304" pitchFamily="18" charset="0"/>
              </a:rPr>
              <a:t>include &lt;stdio.h&gt;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#include &lt;stdlib.h&gt;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solidFill>
                  <a:schemeClr val="accent1"/>
                </a:solidFill>
                <a:latin typeface="Times New Roman" panose="02020603050405020304" pitchFamily="18" charset="0"/>
                <a:cs typeface="Times New Roman" panose="02020603050405020304" pitchFamily="18" charset="0"/>
              </a:rPr>
              <a:t>// D</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finition de la structure pour un </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l</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ment de la pile</a:t>
            </a:r>
            <a:endParaRPr lang="en-US" altLang="fr-FR" sz="80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typedef struct Elem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int info;            // Valeur de l'</a:t>
            </a:r>
            <a:r>
              <a:rPr lang="en-US" altLang="en-US" sz="8000" b="1" strike="noStrike" spc="-1">
                <a:latin typeface="Times New Roman" panose="02020603050405020304" pitchFamily="18" charset="0"/>
                <a:cs typeface="Times New Roman" panose="02020603050405020304" pitchFamily="18" charset="0"/>
              </a:rPr>
              <a:t>é</a:t>
            </a:r>
            <a:r>
              <a:rPr lang="en-US" altLang="fr-FR" sz="8000" b="1" strike="noStrike" spc="-1">
                <a:latin typeface="Times New Roman" panose="02020603050405020304" pitchFamily="18" charset="0"/>
                <a:cs typeface="Times New Roman" panose="02020603050405020304" pitchFamily="18" charset="0"/>
              </a:rPr>
              <a:t>l</a:t>
            </a:r>
            <a:r>
              <a:rPr lang="en-US" altLang="en-US" sz="8000" b="1" strike="noStrike" spc="-1">
                <a:latin typeface="Times New Roman" panose="02020603050405020304" pitchFamily="18" charset="0"/>
                <a:cs typeface="Times New Roman" panose="02020603050405020304" pitchFamily="18" charset="0"/>
              </a:rPr>
              <a:t>é</a:t>
            </a:r>
            <a:r>
              <a:rPr lang="en-US" altLang="fr-FR" sz="8000" b="1" strike="noStrike" spc="-1">
                <a:latin typeface="Times New Roman" panose="02020603050405020304" pitchFamily="18" charset="0"/>
                <a:cs typeface="Times New Roman" panose="02020603050405020304" pitchFamily="18" charset="0"/>
              </a:rPr>
              <a:t>ment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struct Elem *suiv;   // Pointeur vers l'</a:t>
            </a:r>
            <a:r>
              <a:rPr lang="en-US" altLang="en-US" sz="8000" b="1" strike="noStrike" spc="-1">
                <a:latin typeface="Times New Roman" panose="02020603050405020304" pitchFamily="18" charset="0"/>
                <a:cs typeface="Times New Roman" panose="02020603050405020304" pitchFamily="18" charset="0"/>
              </a:rPr>
              <a:t>é</a:t>
            </a:r>
            <a:r>
              <a:rPr lang="en-US" altLang="fr-FR" sz="8000" b="1" strike="noStrike" spc="-1">
                <a:latin typeface="Times New Roman" panose="02020603050405020304" pitchFamily="18" charset="0"/>
                <a:cs typeface="Times New Roman" panose="02020603050405020304" pitchFamily="18" charset="0"/>
              </a:rPr>
              <a:t>l</a:t>
            </a:r>
            <a:r>
              <a:rPr lang="en-US" altLang="en-US" sz="8000" b="1" strike="noStrike" spc="-1">
                <a:latin typeface="Times New Roman" panose="02020603050405020304" pitchFamily="18" charset="0"/>
                <a:cs typeface="Times New Roman" panose="02020603050405020304" pitchFamily="18" charset="0"/>
              </a:rPr>
              <a:t>é</a:t>
            </a:r>
            <a:r>
              <a:rPr lang="en-US" altLang="fr-FR" sz="8000" b="1" strike="noStrike" spc="-1">
                <a:latin typeface="Times New Roman" panose="02020603050405020304" pitchFamily="18" charset="0"/>
                <a:cs typeface="Times New Roman" panose="02020603050405020304" pitchFamily="18" charset="0"/>
              </a:rPr>
              <a:t>ment suivant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Elem;</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solidFill>
                  <a:schemeClr val="accent1"/>
                </a:solidFill>
                <a:latin typeface="Times New Roman" panose="02020603050405020304" pitchFamily="18" charset="0"/>
                <a:cs typeface="Times New Roman" panose="02020603050405020304" pitchFamily="18" charset="0"/>
              </a:rPr>
              <a:t>// D</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finition de la pile dynamique</a:t>
            </a:r>
            <a:endParaRPr lang="en-US" altLang="fr-FR" sz="80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typedef struct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Elem *sommet;  // Pointeur vers le sommet de la pile</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PileD;</a:t>
            </a:r>
            <a:endParaRPr lang="en-US" altLang="fr-FR" sz="80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36" name="Picture 73"/>
          <p:cNvPicPr/>
          <p:nvPr/>
        </p:nvPicPr>
        <p:blipFill>
          <a:blip r:embed="rId1"/>
          <a:stretch>
            <a:fillRect/>
          </a:stretch>
        </p:blipFill>
        <p:spPr>
          <a:xfrm>
            <a:off x="0" y="0"/>
            <a:ext cx="12191400" cy="6857280"/>
          </a:xfrm>
          <a:prstGeom prst="rect">
            <a:avLst/>
          </a:prstGeom>
          <a:ln>
            <a:noFill/>
          </a:ln>
        </p:spPr>
      </p:pic>
      <p:sp>
        <p:nvSpPr>
          <p:cNvPr id="237"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sp>
        <p:nvSpPr>
          <p:cNvPr id="238" name="CustomShape 3"/>
          <p:cNvSpPr/>
          <p:nvPr/>
        </p:nvSpPr>
        <p:spPr>
          <a:xfrm>
            <a:off x="849960" y="2557800"/>
            <a:ext cx="1086912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marL="228600" indent="-227965" algn="just">
              <a:lnSpc>
                <a:spcPct val="90000"/>
              </a:lnSpc>
              <a:spcBef>
                <a:spcPts val="1000"/>
              </a:spcBef>
            </a:pPr>
            <a:r>
              <a:rPr lang="en-US" altLang="fr-FR" sz="8000" b="1" strike="noStrike" spc="-1">
                <a:solidFill>
                  <a:schemeClr val="accent1"/>
                </a:solidFill>
                <a:latin typeface="Times New Roman" panose="02020603050405020304" pitchFamily="18" charset="0"/>
                <a:cs typeface="Times New Roman" panose="02020603050405020304" pitchFamily="18" charset="0"/>
              </a:rPr>
              <a:t>// **Initialisation de la pile**</a:t>
            </a:r>
            <a:endParaRPr lang="en-US" altLang="fr-FR" sz="80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void Init_PileD(PileD *P)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P-&gt;sommet = NULL;}</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solidFill>
                  <a:schemeClr val="accent1"/>
                </a:solidFill>
                <a:latin typeface="Times New Roman" panose="02020603050405020304" pitchFamily="18" charset="0"/>
                <a:cs typeface="Times New Roman" panose="02020603050405020304" pitchFamily="18" charset="0"/>
              </a:rPr>
              <a:t>// **V</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rifier si la pile est vide**</a:t>
            </a:r>
            <a:endParaRPr lang="en-US" altLang="fr-FR" sz="80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int PileD_Vide(PileD P)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return (P.sommet == NULL);}</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solidFill>
                  <a:schemeClr val="accent1"/>
                </a:solidFill>
                <a:latin typeface="Times New Roman" panose="02020603050405020304" pitchFamily="18" charset="0"/>
                <a:cs typeface="Times New Roman" panose="02020603050405020304" pitchFamily="18" charset="0"/>
              </a:rPr>
              <a:t>R</a:t>
            </a:r>
            <a:r>
              <a:rPr lang="en-US" altLang="en-US" sz="8000" b="1" strike="noStrike" spc="-1">
                <a:solidFill>
                  <a:schemeClr val="accent1"/>
                </a:solidFill>
                <a:latin typeface="Times New Roman" panose="02020603050405020304" pitchFamily="18" charset="0"/>
                <a:cs typeface="Times New Roman" panose="02020603050405020304" pitchFamily="18" charset="0"/>
              </a:rPr>
              <a:t>è</a:t>
            </a:r>
            <a:r>
              <a:rPr lang="en-US" altLang="fr-FR" sz="8000" b="1" strike="noStrike" spc="-1">
                <a:solidFill>
                  <a:schemeClr val="accent1"/>
                </a:solidFill>
                <a:latin typeface="Times New Roman" panose="02020603050405020304" pitchFamily="18" charset="0"/>
                <a:cs typeface="Times New Roman" panose="02020603050405020304" pitchFamily="18" charset="0"/>
              </a:rPr>
              <a:t>gle g</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n</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rale</a:t>
            </a:r>
            <a:endParaRPr lang="en-US" altLang="fr-FR" sz="80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On passe un pointeur (PileD *P) quand on veut modifier l'objet (ex : Init_PileD).</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On passe une copie (PileD P) quand on veut juste lire l'objet sans le modifier (ex : PileD_Vide).</a:t>
            </a:r>
            <a:endParaRPr lang="en-US" altLang="fr-FR" sz="80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36" name="Picture 73"/>
          <p:cNvPicPr/>
          <p:nvPr/>
        </p:nvPicPr>
        <p:blipFill>
          <a:blip r:embed="rId1"/>
          <a:stretch>
            <a:fillRect/>
          </a:stretch>
        </p:blipFill>
        <p:spPr>
          <a:xfrm>
            <a:off x="0" y="0"/>
            <a:ext cx="12191400" cy="6857280"/>
          </a:xfrm>
          <a:prstGeom prst="rect">
            <a:avLst/>
          </a:prstGeom>
          <a:ln>
            <a:noFill/>
          </a:ln>
        </p:spPr>
      </p:pic>
      <p:sp>
        <p:nvSpPr>
          <p:cNvPr id="237"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sp>
        <p:nvSpPr>
          <p:cNvPr id="238" name="CustomShape 3"/>
          <p:cNvSpPr/>
          <p:nvPr/>
        </p:nvSpPr>
        <p:spPr>
          <a:xfrm>
            <a:off x="849960" y="2557800"/>
            <a:ext cx="1086912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marL="228600" indent="-227965" algn="just">
              <a:lnSpc>
                <a:spcPct val="90000"/>
              </a:lnSpc>
              <a:spcBef>
                <a:spcPts val="1000"/>
              </a:spcBef>
            </a:pPr>
            <a:r>
              <a:rPr lang="en-US" altLang="fr-FR" sz="8000" b="1" strike="noStrike" spc="-1">
                <a:solidFill>
                  <a:schemeClr val="accent1"/>
                </a:solidFill>
                <a:latin typeface="Times New Roman" panose="02020603050405020304" pitchFamily="18" charset="0"/>
                <a:cs typeface="Times New Roman" panose="02020603050405020304" pitchFamily="18" charset="0"/>
              </a:rPr>
              <a:t>// **Empiler un </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l</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ment dans la pile**</a:t>
            </a:r>
            <a:endParaRPr lang="en-US" altLang="fr-FR" sz="80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void EmpilerD(PileD *P, int valeur)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Elem *nouveau = (Elem *)malloc(sizeof(Elem)); // Allouer un nouveau n</a:t>
            </a:r>
            <a:r>
              <a:rPr lang="en-US" altLang="en-US" sz="8000" b="1" strike="noStrike" spc="-1">
                <a:latin typeface="Times New Roman" panose="02020603050405020304" pitchFamily="18" charset="0"/>
                <a:cs typeface="Times New Roman" panose="02020603050405020304" pitchFamily="18" charset="0"/>
              </a:rPr>
              <a:t>œ</a:t>
            </a:r>
            <a:r>
              <a:rPr lang="en-US" altLang="fr-FR" sz="8000" b="1" strike="noStrike" spc="-1">
                <a:latin typeface="Times New Roman" panose="02020603050405020304" pitchFamily="18" charset="0"/>
                <a:cs typeface="Times New Roman" panose="02020603050405020304" pitchFamily="18" charset="0"/>
              </a:rPr>
              <a:t>ud</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if (nouveau == NULL)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printf("Erreur d'allocation m</a:t>
            </a:r>
            <a:r>
              <a:rPr lang="en-US" altLang="en-US" sz="8000" b="1" strike="noStrike" spc="-1">
                <a:latin typeface="Times New Roman" panose="02020603050405020304" pitchFamily="18" charset="0"/>
                <a:cs typeface="Times New Roman" panose="02020603050405020304" pitchFamily="18" charset="0"/>
              </a:rPr>
              <a:t>é</a:t>
            </a:r>
            <a:r>
              <a:rPr lang="en-US" altLang="fr-FR" sz="8000" b="1" strike="noStrike" spc="-1">
                <a:latin typeface="Times New Roman" panose="02020603050405020304" pitchFamily="18" charset="0"/>
                <a:cs typeface="Times New Roman" panose="02020603050405020304" pitchFamily="18" charset="0"/>
              </a:rPr>
              <a:t>moire !\n");</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return;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nouveau-&gt;info = valeur;   // Assigner la valeur</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nouveau-&gt;suiv = P-&gt;sommet; // Pointer vers l'ancien sommet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P-&gt;sommet = nouveau;       // Mettre à jour le sommet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endParaRPr lang="en-US" altLang="fr-FR" sz="80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36" name="Picture 73"/>
          <p:cNvPicPr/>
          <p:nvPr/>
        </p:nvPicPr>
        <p:blipFill>
          <a:blip r:embed="rId1"/>
          <a:stretch>
            <a:fillRect/>
          </a:stretch>
        </p:blipFill>
        <p:spPr>
          <a:xfrm>
            <a:off x="0" y="0"/>
            <a:ext cx="12191400" cy="6857280"/>
          </a:xfrm>
          <a:prstGeom prst="rect">
            <a:avLst/>
          </a:prstGeom>
          <a:ln>
            <a:noFill/>
          </a:ln>
        </p:spPr>
      </p:pic>
      <p:sp>
        <p:nvSpPr>
          <p:cNvPr id="237"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sp>
        <p:nvSpPr>
          <p:cNvPr id="238" name="CustomShape 3"/>
          <p:cNvSpPr/>
          <p:nvPr/>
        </p:nvSpPr>
        <p:spPr>
          <a:xfrm>
            <a:off x="849960" y="2557800"/>
            <a:ext cx="1086912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marL="228600" indent="-227965" algn="just">
              <a:lnSpc>
                <a:spcPct val="90000"/>
              </a:lnSpc>
              <a:spcBef>
                <a:spcPts val="1000"/>
              </a:spcBef>
            </a:pPr>
            <a:r>
              <a:rPr lang="en-US" altLang="fr-FR" sz="8000" b="1" strike="noStrike" spc="-1">
                <a:solidFill>
                  <a:schemeClr val="accent1"/>
                </a:solidFill>
                <a:latin typeface="Times New Roman" panose="02020603050405020304" pitchFamily="18" charset="0"/>
                <a:cs typeface="Times New Roman" panose="02020603050405020304" pitchFamily="18" charset="0"/>
              </a:rPr>
              <a:t>/ **D</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piler un </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l</a:t>
            </a:r>
            <a:r>
              <a:rPr lang="en-US" altLang="en-US" sz="8000" b="1" strike="noStrike" spc="-1">
                <a:solidFill>
                  <a:schemeClr val="accent1"/>
                </a:solidFill>
                <a:latin typeface="Times New Roman" panose="02020603050405020304" pitchFamily="18" charset="0"/>
                <a:cs typeface="Times New Roman" panose="02020603050405020304" pitchFamily="18" charset="0"/>
              </a:rPr>
              <a:t>é</a:t>
            </a:r>
            <a:r>
              <a:rPr lang="en-US" altLang="fr-FR" sz="8000" b="1" strike="noStrike" spc="-1">
                <a:solidFill>
                  <a:schemeClr val="accent1"/>
                </a:solidFill>
                <a:latin typeface="Times New Roman" panose="02020603050405020304" pitchFamily="18" charset="0"/>
                <a:cs typeface="Times New Roman" panose="02020603050405020304" pitchFamily="18" charset="0"/>
              </a:rPr>
              <a:t>ment de la pile**</a:t>
            </a:r>
            <a:endParaRPr lang="en-US" altLang="fr-FR" sz="80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void DepilerD(PileD *P)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if (PileD_Vide(*P))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printf("Erreur : Pile vide !\n");</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return;</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Elem *temp = P-&gt;sommet;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P-&gt;sommet = P-&gt;sommet-&gt;suiv; // D</a:t>
            </a:r>
            <a:r>
              <a:rPr lang="en-US" altLang="en-US" sz="8000" b="1" strike="noStrike" spc="-1">
                <a:latin typeface="Times New Roman" panose="02020603050405020304" pitchFamily="18" charset="0"/>
                <a:cs typeface="Times New Roman" panose="02020603050405020304" pitchFamily="18" charset="0"/>
              </a:rPr>
              <a:t>é</a:t>
            </a:r>
            <a:r>
              <a:rPr lang="en-US" altLang="fr-FR" sz="8000" b="1" strike="noStrike" spc="-1">
                <a:latin typeface="Times New Roman" panose="02020603050405020304" pitchFamily="18" charset="0"/>
                <a:cs typeface="Times New Roman" panose="02020603050405020304" pitchFamily="18" charset="0"/>
              </a:rPr>
              <a:t>placer le sommet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free(temp); // Lib</a:t>
            </a:r>
            <a:r>
              <a:rPr lang="en-US" altLang="en-US" sz="8000" b="1" strike="noStrike" spc="-1">
                <a:latin typeface="Times New Roman" panose="02020603050405020304" pitchFamily="18" charset="0"/>
                <a:cs typeface="Times New Roman" panose="02020603050405020304" pitchFamily="18" charset="0"/>
              </a:rPr>
              <a:t>é</a:t>
            </a:r>
            <a:r>
              <a:rPr lang="en-US" altLang="fr-FR" sz="8000" b="1" strike="noStrike" spc="-1">
                <a:latin typeface="Times New Roman" panose="02020603050405020304" pitchFamily="18" charset="0"/>
                <a:cs typeface="Times New Roman" panose="02020603050405020304" pitchFamily="18" charset="0"/>
              </a:rPr>
              <a:t>rer la m</a:t>
            </a:r>
            <a:r>
              <a:rPr lang="en-US" altLang="en-US" sz="8000" b="1" strike="noStrike" spc="-1">
                <a:latin typeface="Times New Roman" panose="02020603050405020304" pitchFamily="18" charset="0"/>
                <a:cs typeface="Times New Roman" panose="02020603050405020304" pitchFamily="18" charset="0"/>
              </a:rPr>
              <a:t>é</a:t>
            </a:r>
            <a:r>
              <a:rPr lang="en-US" altLang="fr-FR" sz="8000" b="1" strike="noStrike" spc="-1">
                <a:latin typeface="Times New Roman" panose="02020603050405020304" pitchFamily="18" charset="0"/>
                <a:cs typeface="Times New Roman" panose="02020603050405020304" pitchFamily="18" charset="0"/>
              </a:rPr>
              <a:t>moire de l'ancien sommet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a:t>
            </a:r>
            <a:endParaRPr lang="en-US" altLang="fr-FR" sz="80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36" name="Picture 73"/>
          <p:cNvPicPr/>
          <p:nvPr/>
        </p:nvPicPr>
        <p:blipFill>
          <a:blip r:embed="rId1"/>
          <a:stretch>
            <a:fillRect/>
          </a:stretch>
        </p:blipFill>
        <p:spPr>
          <a:xfrm>
            <a:off x="0" y="0"/>
            <a:ext cx="12191400" cy="6857280"/>
          </a:xfrm>
          <a:prstGeom prst="rect">
            <a:avLst/>
          </a:prstGeom>
          <a:ln>
            <a:noFill/>
          </a:ln>
        </p:spPr>
      </p:pic>
      <p:sp>
        <p:nvSpPr>
          <p:cNvPr id="237"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sp>
        <p:nvSpPr>
          <p:cNvPr id="238" name="CustomShape 3"/>
          <p:cNvSpPr/>
          <p:nvPr/>
        </p:nvSpPr>
        <p:spPr>
          <a:xfrm>
            <a:off x="849960" y="2557800"/>
            <a:ext cx="1086912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30000"/>
          </a:bodyPr>
          <a:lstStyle/>
          <a:p>
            <a:pPr marL="228600" indent="-227965" algn="just">
              <a:lnSpc>
                <a:spcPct val="90000"/>
              </a:lnSpc>
              <a:spcBef>
                <a:spcPts val="1000"/>
              </a:spcBef>
            </a:pPr>
            <a:r>
              <a:rPr lang="en-US" altLang="fr-FR" sz="8000" b="1" strike="noStrike" spc="-1">
                <a:solidFill>
                  <a:schemeClr val="accent1"/>
                </a:solidFill>
                <a:latin typeface="Times New Roman" panose="02020603050405020304" pitchFamily="18" charset="0"/>
                <a:cs typeface="Times New Roman" panose="02020603050405020304" pitchFamily="18" charset="0"/>
              </a:rPr>
              <a:t>// **Retourner la valeur du sommet de la pile**</a:t>
            </a:r>
            <a:endParaRPr lang="en-US" altLang="fr-FR" sz="80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int ValeurD(PileD P)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if (PileD_Vide(P))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printf("Erreur : Pile vide !\n");</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return -1;</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return P.sommet-&gt;info;</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a:t>
            </a:r>
            <a:endParaRPr lang="en-US" altLang="fr-FR" sz="80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36" name="Picture 73"/>
          <p:cNvPicPr/>
          <p:nvPr/>
        </p:nvPicPr>
        <p:blipFill>
          <a:blip r:embed="rId1"/>
          <a:stretch>
            <a:fillRect/>
          </a:stretch>
        </p:blipFill>
        <p:spPr>
          <a:xfrm>
            <a:off x="0" y="0"/>
            <a:ext cx="12191400" cy="6857280"/>
          </a:xfrm>
          <a:prstGeom prst="rect">
            <a:avLst/>
          </a:prstGeom>
          <a:ln>
            <a:noFill/>
          </a:ln>
        </p:spPr>
      </p:pic>
      <p:sp>
        <p:nvSpPr>
          <p:cNvPr id="237"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sp>
        <p:nvSpPr>
          <p:cNvPr id="238" name="CustomShape 3"/>
          <p:cNvSpPr/>
          <p:nvPr/>
        </p:nvSpPr>
        <p:spPr>
          <a:xfrm>
            <a:off x="849960" y="2205375"/>
            <a:ext cx="1086912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a:bodyPr>
          <a:lstStyle/>
          <a:p>
            <a:pPr marL="228600" indent="-227965" algn="just">
              <a:lnSpc>
                <a:spcPct val="90000"/>
              </a:lnSpc>
              <a:spcBef>
                <a:spcPts val="1000"/>
              </a:spcBef>
            </a:pPr>
            <a:r>
              <a:rPr lang="en-US" altLang="fr-FR" sz="8000" b="1" strike="noStrike" spc="-1">
                <a:solidFill>
                  <a:schemeClr val="accent1"/>
                </a:solidFill>
                <a:latin typeface="Times New Roman" panose="02020603050405020304" pitchFamily="18" charset="0"/>
                <a:cs typeface="Times New Roman" panose="02020603050405020304" pitchFamily="18" charset="0"/>
              </a:rPr>
              <a:t>// **Afficher la pile**</a:t>
            </a:r>
            <a:endParaRPr lang="en-US" altLang="fr-FR" sz="8000" b="1" strike="noStrike" spc="-1">
              <a:solidFill>
                <a:schemeClr val="accent1"/>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void Afficher_PileD(PileD P)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if (PileD_Vide(P))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printf("Pile vide.\n");</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return;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printf("Contenu de la pile :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Elem *temp = P.sommet;</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while (temp != NULL) {</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printf("%d ", temp-&gt;info);</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temp = temp-&gt;suiv;</a:t>
            </a:r>
            <a:endParaRPr lang="en-US" altLang="fr-FR" sz="80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pPr>
            <a:r>
              <a:rPr lang="en-US" altLang="fr-FR" sz="8000" b="1" strike="noStrike" spc="-1">
                <a:latin typeface="Times New Roman" panose="02020603050405020304" pitchFamily="18" charset="0"/>
                <a:cs typeface="Times New Roman" panose="02020603050405020304" pitchFamily="18" charset="0"/>
              </a:rPr>
              <a:t>    }printf("\n");}</a:t>
            </a:r>
            <a:endParaRPr lang="en-US" altLang="fr-FR" sz="80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0"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41" name="Picture 73"/>
          <p:cNvPicPr/>
          <p:nvPr/>
        </p:nvPicPr>
        <p:blipFill>
          <a:blip r:embed="rId1"/>
          <a:stretch>
            <a:fillRect/>
          </a:stretch>
        </p:blipFill>
        <p:spPr>
          <a:xfrm>
            <a:off x="0" y="0"/>
            <a:ext cx="12191400" cy="6857280"/>
          </a:xfrm>
          <a:prstGeom prst="rect">
            <a:avLst/>
          </a:prstGeom>
          <a:ln>
            <a:noFill/>
          </a:ln>
        </p:spPr>
      </p:pic>
      <p:sp>
        <p:nvSpPr>
          <p:cNvPr id="242"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pic>
        <p:nvPicPr>
          <p:cNvPr id="243" name="Image 4"/>
          <p:cNvPicPr/>
          <p:nvPr/>
        </p:nvPicPr>
        <p:blipFill>
          <a:blip r:embed="rId2"/>
          <a:stretch>
            <a:fillRect/>
          </a:stretch>
        </p:blipFill>
        <p:spPr>
          <a:xfrm>
            <a:off x="5490360" y="4438080"/>
            <a:ext cx="5521680" cy="1279440"/>
          </a:xfrm>
          <a:prstGeom prst="rect">
            <a:avLst/>
          </a:prstGeom>
          <a:ln>
            <a:noFill/>
          </a:ln>
        </p:spPr>
      </p:pic>
      <p:pic>
        <p:nvPicPr>
          <p:cNvPr id="244" name="Image 5"/>
          <p:cNvPicPr/>
          <p:nvPr/>
        </p:nvPicPr>
        <p:blipFill>
          <a:blip r:embed="rId3"/>
          <a:stretch>
            <a:fillRect/>
          </a:stretch>
        </p:blipFill>
        <p:spPr>
          <a:xfrm>
            <a:off x="1485000" y="6198480"/>
            <a:ext cx="7658280" cy="532800"/>
          </a:xfrm>
          <a:prstGeom prst="rect">
            <a:avLst/>
          </a:prstGeom>
          <a:ln>
            <a:noFill/>
          </a:ln>
        </p:spPr>
      </p:pic>
      <p:pic>
        <p:nvPicPr>
          <p:cNvPr id="245" name="Image 6"/>
          <p:cNvPicPr/>
          <p:nvPr/>
        </p:nvPicPr>
        <p:blipFill>
          <a:blip r:embed="rId4"/>
          <a:stretch>
            <a:fillRect/>
          </a:stretch>
        </p:blipFill>
        <p:spPr>
          <a:xfrm>
            <a:off x="793080" y="2754000"/>
            <a:ext cx="4340520" cy="3339720"/>
          </a:xfrm>
          <a:prstGeom prst="rect">
            <a:avLst/>
          </a:prstGeom>
          <a:ln>
            <a:noFill/>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47" name="Picture 73"/>
          <p:cNvPicPr/>
          <p:nvPr/>
        </p:nvPicPr>
        <p:blipFill>
          <a:blip r:embed="rId1"/>
          <a:stretch>
            <a:fillRect/>
          </a:stretch>
        </p:blipFill>
        <p:spPr>
          <a:xfrm>
            <a:off x="0" y="0"/>
            <a:ext cx="12191400" cy="6857280"/>
          </a:xfrm>
          <a:prstGeom prst="rect">
            <a:avLst/>
          </a:prstGeom>
          <a:ln>
            <a:noFill/>
          </a:ln>
        </p:spPr>
      </p:pic>
      <p:sp>
        <p:nvSpPr>
          <p:cNvPr id="24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Pile Dynamique</a:t>
            </a:r>
            <a:endParaRPr lang="fr-FR" sz="4000" b="0" strike="noStrike" spc="-1">
              <a:latin typeface="Arial" panose="020B0604020202020204"/>
            </a:endParaRPr>
          </a:p>
        </p:txBody>
      </p:sp>
      <p:pic>
        <p:nvPicPr>
          <p:cNvPr id="249" name="Image 2"/>
          <p:cNvPicPr/>
          <p:nvPr/>
        </p:nvPicPr>
        <p:blipFill>
          <a:blip r:embed="rId2"/>
          <a:stretch>
            <a:fillRect/>
          </a:stretch>
        </p:blipFill>
        <p:spPr>
          <a:xfrm>
            <a:off x="88560" y="2754000"/>
            <a:ext cx="5775480" cy="2203560"/>
          </a:xfrm>
          <a:prstGeom prst="rect">
            <a:avLst/>
          </a:prstGeom>
          <a:ln>
            <a:noFill/>
          </a:ln>
        </p:spPr>
      </p:pic>
      <p:pic>
        <p:nvPicPr>
          <p:cNvPr id="250" name="Image 3"/>
          <p:cNvPicPr/>
          <p:nvPr/>
        </p:nvPicPr>
        <p:blipFill>
          <a:blip r:embed="rId3"/>
          <a:stretch>
            <a:fillRect/>
          </a:stretch>
        </p:blipFill>
        <p:spPr>
          <a:xfrm>
            <a:off x="5864760" y="2586600"/>
            <a:ext cx="6325920" cy="3581640"/>
          </a:xfrm>
          <a:prstGeom prst="rect">
            <a:avLst/>
          </a:prstGeom>
          <a:ln>
            <a:noFill/>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1" name="CustomShape 1"/>
          <p:cNvSpPr/>
          <p:nvPr/>
        </p:nvSpPr>
        <p:spPr>
          <a:xfrm>
            <a:off x="475560" y="0"/>
            <a:ext cx="10909440" cy="6857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52" name="Picture 13"/>
          <p:cNvPicPr/>
          <p:nvPr/>
        </p:nvPicPr>
        <p:blipFill>
          <a:blip r:embed="rId1"/>
          <a:stretch>
            <a:fillRect/>
          </a:stretch>
        </p:blipFill>
        <p:spPr>
          <a:xfrm>
            <a:off x="0" y="0"/>
            <a:ext cx="12191400" cy="6857280"/>
          </a:xfrm>
          <a:prstGeom prst="rect">
            <a:avLst/>
          </a:prstGeom>
          <a:ln>
            <a:noFill/>
          </a:ln>
        </p:spPr>
      </p:pic>
      <p:sp>
        <p:nvSpPr>
          <p:cNvPr id="253" name="CustomShape 2"/>
          <p:cNvSpPr/>
          <p:nvPr/>
        </p:nvSpPr>
        <p:spPr>
          <a:xfrm>
            <a:off x="3045240" y="2043720"/>
            <a:ext cx="6104520" cy="203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a:lnSpc>
                <a:spcPct val="90000"/>
              </a:lnSpc>
            </a:pPr>
            <a:r>
              <a:rPr lang="fr-FR" sz="8800" b="1" strike="noStrike" spc="-1">
                <a:solidFill>
                  <a:srgbClr val="FFFFFF"/>
                </a:solidFill>
                <a:latin typeface="Times New Roman" panose="02020603050405020304"/>
              </a:rPr>
              <a:t>Les fichiers</a:t>
            </a:r>
            <a:endParaRPr lang="fr-FR" sz="8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4"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55" name="Picture 73"/>
          <p:cNvPicPr/>
          <p:nvPr/>
        </p:nvPicPr>
        <p:blipFill>
          <a:blip r:embed="rId1"/>
          <a:stretch>
            <a:fillRect/>
          </a:stretch>
        </p:blipFill>
        <p:spPr>
          <a:xfrm>
            <a:off x="0" y="0"/>
            <a:ext cx="12191400" cy="6857280"/>
          </a:xfrm>
          <a:prstGeom prst="rect">
            <a:avLst/>
          </a:prstGeom>
          <a:ln>
            <a:noFill/>
          </a:ln>
        </p:spPr>
      </p:pic>
      <p:sp>
        <p:nvSpPr>
          <p:cNvPr id="256"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Les fichiers</a:t>
            </a:r>
            <a:endParaRPr lang="fr-FR" sz="4000" b="0" strike="noStrike" spc="-1">
              <a:latin typeface="Arial" panose="020B0604020202020204"/>
            </a:endParaRPr>
          </a:p>
        </p:txBody>
      </p:sp>
      <p:sp>
        <p:nvSpPr>
          <p:cNvPr id="257" name="CustomShape 3"/>
          <p:cNvSpPr/>
          <p:nvPr/>
        </p:nvSpPr>
        <p:spPr>
          <a:xfrm>
            <a:off x="841680" y="2754000"/>
            <a:ext cx="10551240" cy="367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90000"/>
              </a:lnSpc>
              <a:spcBef>
                <a:spcPts val="1000"/>
              </a:spcBef>
              <a:buClr>
                <a:srgbClr val="3D590D"/>
              </a:buClr>
              <a:buFont typeface="Wingdings" panose="05000000000000000000" pitchFamily="2" charset="2"/>
              <a:buChar char=""/>
            </a:pPr>
            <a:r>
              <a:rPr lang="fr-FR" sz="2400" b="1" strike="noStrike" spc="-1">
                <a:solidFill>
                  <a:srgbClr val="3D590D"/>
                </a:solidFill>
                <a:latin typeface="Times New Roman" panose="02020603050405020304"/>
              </a:rPr>
              <a:t>Motivation</a:t>
            </a:r>
            <a:endParaRPr lang="fr-FR" sz="2400" b="0" strike="noStrike" spc="-1">
              <a:latin typeface="Arial" panose="020B0604020202020204"/>
            </a:endParaRPr>
          </a:p>
          <a:p>
            <a:pPr marL="228600" indent="-227965" algn="just">
              <a:lnSpc>
                <a:spcPct val="90000"/>
              </a:lnSpc>
              <a:spcBef>
                <a:spcPts val="1000"/>
              </a:spcBef>
            </a:pPr>
            <a:r>
              <a:rPr lang="fr-FR" sz="2400" b="0" strike="noStrike" spc="-1">
                <a:solidFill>
                  <a:srgbClr val="000000"/>
                </a:solidFill>
                <a:latin typeface="Times New Roman" panose="02020603050405020304"/>
              </a:rPr>
              <a:t>	Toutes les structures de données que nous avons vues ont un point commun:</a:t>
            </a:r>
            <a:endParaRPr lang="fr-FR" sz="2400" b="0" strike="noStrike" spc="-1">
              <a:latin typeface="Arial" panose="020B0604020202020204"/>
            </a:endParaRPr>
          </a:p>
          <a:p>
            <a:pPr marL="685800" lvl="1" indent="-227965" algn="just">
              <a:lnSpc>
                <a:spcPct val="90000"/>
              </a:lnSpc>
              <a:spcBef>
                <a:spcPts val="500"/>
              </a:spcBef>
              <a:buClr>
                <a:srgbClr val="9B0D40"/>
              </a:buClr>
              <a:buFont typeface="Arial" panose="020B0604020202020204"/>
              <a:buChar char="•"/>
            </a:pPr>
            <a:r>
              <a:rPr lang="fr-FR" sz="2400" b="1" strike="noStrike" spc="-1">
                <a:solidFill>
                  <a:srgbClr val="9B0D40"/>
                </a:solidFill>
                <a:latin typeface="Times New Roman" panose="02020603050405020304"/>
              </a:rPr>
              <a:t>Résident dans la mémoire principale</a:t>
            </a:r>
            <a:r>
              <a:rPr lang="fr-FR" sz="2400" b="0" strike="noStrike" spc="-1">
                <a:solidFill>
                  <a:srgbClr val="9B0D40"/>
                </a:solidFill>
                <a:latin typeface="Times New Roman" panose="02020603050405020304"/>
              </a:rPr>
              <a:t> </a:t>
            </a:r>
            <a:r>
              <a:rPr lang="fr-FR" sz="2400" b="0" strike="noStrike" spc="-1">
                <a:solidFill>
                  <a:srgbClr val="000000"/>
                </a:solidFill>
                <a:latin typeface="Times New Roman" panose="02020603050405020304"/>
              </a:rPr>
              <a:t>de l'ordinateur. (existence limitée à la durée d’exécution du programme)</a:t>
            </a:r>
            <a:endParaRPr lang="fr-FR" sz="2400" b="0" strike="noStrike" spc="-1">
              <a:latin typeface="Arial" panose="020B0604020202020204"/>
            </a:endParaRPr>
          </a:p>
          <a:p>
            <a:pPr marL="685800" lvl="1" indent="-227965" algn="just">
              <a:lnSpc>
                <a:spcPct val="90000"/>
              </a:lnSpc>
              <a:spcBef>
                <a:spcPts val="500"/>
              </a:spcBef>
              <a:buClr>
                <a:srgbClr val="9B0D40"/>
              </a:buClr>
              <a:buFont typeface="Wingdings" panose="05000000000000000000" pitchFamily="2" charset="2"/>
              <a:buChar char=""/>
            </a:pPr>
            <a:r>
              <a:rPr lang="fr-FR" sz="2400" b="1" strike="noStrike" spc="-1">
                <a:solidFill>
                  <a:srgbClr val="9B0D40"/>
                </a:solidFill>
                <a:latin typeface="Times New Roman" panose="02020603050405020304"/>
              </a:rPr>
              <a:t>Besoin de conserver des donn</a:t>
            </a:r>
            <a:r>
              <a:rPr lang="fr-FR" sz="2400" b="1" strike="noStrike" spc="-1">
                <a:solidFill>
                  <a:srgbClr val="000000"/>
                </a:solidFill>
                <a:latin typeface="Times New Roman" panose="02020603050405020304"/>
              </a:rPr>
              <a:t>ées</a:t>
            </a:r>
            <a:r>
              <a:rPr lang="fr-FR" sz="2400" b="0" strike="noStrike" spc="-1">
                <a:solidFill>
                  <a:srgbClr val="000000"/>
                </a:solidFill>
                <a:latin typeface="Times New Roman" panose="02020603050405020304"/>
              </a:rPr>
              <a:t> (pour une utilisation future) après l’exécution du programme (exemple : carnet d ’adresses)</a:t>
            </a:r>
            <a:endParaRPr lang="fr-FR" sz="2400" b="0" strike="noStrike" spc="-1">
              <a:latin typeface="Arial" panose="020B0604020202020204"/>
            </a:endParaRPr>
          </a:p>
          <a:p>
            <a:pPr marL="457200" algn="just">
              <a:lnSpc>
                <a:spcPct val="90000"/>
              </a:lnSpc>
              <a:spcBef>
                <a:spcPts val="500"/>
              </a:spcBef>
            </a:pPr>
            <a:endParaRPr lang="fr-FR" sz="2400" b="0" strike="noStrike" spc="-1">
              <a:latin typeface="Arial" panose="020B0604020202020204"/>
            </a:endParaRPr>
          </a:p>
          <a:p>
            <a:pPr marL="685800" indent="-227965" algn="just">
              <a:lnSpc>
                <a:spcPct val="90000"/>
              </a:lnSpc>
              <a:spcBef>
                <a:spcPts val="500"/>
              </a:spcBef>
            </a:pPr>
            <a:r>
              <a:rPr lang="fr-FR" sz="2400" b="0" strike="noStrike" spc="-1">
                <a:solidFill>
                  <a:srgbClr val="253A46"/>
                </a:solidFill>
                <a:latin typeface="Wingdings" panose="05000000000000000000"/>
              </a:rPr>
              <a:t></a:t>
            </a:r>
            <a:r>
              <a:rPr lang="fr-FR" sz="2400" b="0" strike="noStrike" spc="-1">
                <a:solidFill>
                  <a:srgbClr val="000000"/>
                </a:solidFill>
                <a:latin typeface="Times New Roman" panose="02020603050405020304"/>
              </a:rPr>
              <a:t> </a:t>
            </a:r>
            <a:r>
              <a:rPr lang="fr-FR" sz="2400" b="1" strike="noStrike" spc="-1">
                <a:solidFill>
                  <a:srgbClr val="253A46"/>
                </a:solidFill>
                <a:latin typeface="Times New Roman" panose="02020603050405020304"/>
              </a:rPr>
              <a:t>la notion de fichier</a:t>
            </a:r>
            <a:r>
              <a:rPr lang="fr-FR" sz="2400" b="0" strike="noStrike" spc="-1">
                <a:solidFill>
                  <a:srgbClr val="253A46"/>
                </a:solidFill>
                <a:latin typeface="Times New Roman" panose="02020603050405020304"/>
              </a:rPr>
              <a:t>.</a:t>
            </a:r>
            <a:endParaRPr lang="fr-FR" sz="2400" b="0" strike="noStrike" spc="-1">
              <a:latin typeface="Arial" panose="020B0604020202020204"/>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8"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59" name="Picture 137"/>
          <p:cNvPicPr/>
          <p:nvPr/>
        </p:nvPicPr>
        <p:blipFill>
          <a:blip r:embed="rId1"/>
          <a:stretch>
            <a:fillRect/>
          </a:stretch>
        </p:blipFill>
        <p:spPr>
          <a:xfrm>
            <a:off x="0" y="0"/>
            <a:ext cx="12191400" cy="6857280"/>
          </a:xfrm>
          <a:prstGeom prst="rect">
            <a:avLst/>
          </a:prstGeom>
          <a:ln>
            <a:noFill/>
          </a:ln>
        </p:spPr>
      </p:pic>
      <p:sp>
        <p:nvSpPr>
          <p:cNvPr id="260"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Les fichiers</a:t>
            </a:r>
            <a:endParaRPr lang="fr-FR" sz="4000" b="0" strike="noStrike" spc="-1">
              <a:latin typeface="Arial" panose="020B0604020202020204"/>
            </a:endParaRPr>
          </a:p>
        </p:txBody>
      </p:sp>
      <p:sp>
        <p:nvSpPr>
          <p:cNvPr id="261" name="CustomShape 3"/>
          <p:cNvSpPr/>
          <p:nvPr/>
        </p:nvSpPr>
        <p:spPr>
          <a:xfrm>
            <a:off x="841680" y="2583720"/>
            <a:ext cx="10493280" cy="387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90000"/>
              </a:lnSpc>
              <a:spcBef>
                <a:spcPts val="1000"/>
              </a:spcBef>
              <a:buClr>
                <a:srgbClr val="3D590D"/>
              </a:buClr>
              <a:buFont typeface="Wingdings" panose="05000000000000000000" pitchFamily="2" charset="2"/>
              <a:buChar char=""/>
            </a:pPr>
            <a:r>
              <a:rPr lang="fr-FR" sz="2400" b="1" strike="noStrike" spc="-1">
                <a:solidFill>
                  <a:srgbClr val="3D590D"/>
                </a:solidFill>
                <a:latin typeface="Times New Roman" panose="02020603050405020304"/>
              </a:rPr>
              <a:t>Qu'est-ce qu'un fichier?</a:t>
            </a:r>
            <a:endParaRPr lang="fr-FR" sz="2400" b="0" strike="noStrike" spc="-1">
              <a:latin typeface="Arial" panose="020B0604020202020204"/>
            </a:endParaRPr>
          </a:p>
          <a:p>
            <a:pPr marL="685800" indent="-227965">
              <a:lnSpc>
                <a:spcPct val="90000"/>
              </a:lnSpc>
              <a:spcBef>
                <a:spcPts val="500"/>
              </a:spcBef>
            </a:pPr>
            <a:r>
              <a:rPr lang="fr-FR" sz="2400" b="0" strike="noStrike" spc="-1">
                <a:solidFill>
                  <a:srgbClr val="000000"/>
                </a:solidFill>
                <a:latin typeface="Times New Roman" panose="02020603050405020304"/>
              </a:rPr>
              <a:t>	Un fichier est une collection de fiches; </a:t>
            </a:r>
            <a:endParaRPr lang="fr-FR" sz="2400" b="0" strike="noStrike" spc="-1">
              <a:latin typeface="Arial" panose="020B0604020202020204"/>
            </a:endParaRPr>
          </a:p>
          <a:p>
            <a:pPr marL="228600" indent="-227965">
              <a:lnSpc>
                <a:spcPct val="90000"/>
              </a:lnSpc>
              <a:spcBef>
                <a:spcPts val="1000"/>
              </a:spcBef>
            </a:pPr>
            <a:r>
              <a:rPr lang="fr-FR" sz="2400" b="0" strike="noStrike" spc="-1">
                <a:solidFill>
                  <a:srgbClr val="000000"/>
                </a:solidFill>
                <a:latin typeface="Times New Roman" panose="02020603050405020304"/>
              </a:rPr>
              <a:t>	</a:t>
            </a:r>
            <a:r>
              <a:rPr lang="fr-FR" sz="2400" b="1" strike="noStrike" spc="-1">
                <a:solidFill>
                  <a:srgbClr val="00709A"/>
                </a:solidFill>
                <a:latin typeface="Times New Roman" panose="02020603050405020304"/>
              </a:rPr>
              <a:t>Exemple</a:t>
            </a:r>
            <a:r>
              <a:rPr lang="fr-FR" sz="2400" b="0" strike="noStrike" spc="-1">
                <a:solidFill>
                  <a:srgbClr val="00709A"/>
                </a:solidFill>
                <a:latin typeface="Times New Roman" panose="02020603050405020304"/>
              </a:rPr>
              <a:t> : </a:t>
            </a:r>
            <a:r>
              <a:rPr lang="fr-FR" sz="2400" b="0" strike="noStrike" spc="-1">
                <a:solidFill>
                  <a:srgbClr val="000000"/>
                </a:solidFill>
                <a:latin typeface="Times New Roman" panose="02020603050405020304"/>
              </a:rPr>
              <a:t>un fichier dans une bibliothèque, une administration etc. </a:t>
            </a:r>
            <a:endParaRPr lang="fr-FR" sz="2400" b="0" strike="noStrike" spc="-1">
              <a:latin typeface="Arial" panose="020B0604020202020204"/>
            </a:endParaRPr>
          </a:p>
          <a:p>
            <a:pPr marL="228600" indent="-227965">
              <a:lnSpc>
                <a:spcPct val="90000"/>
              </a:lnSpc>
              <a:spcBef>
                <a:spcPts val="1000"/>
              </a:spcBef>
            </a:pPr>
            <a:endParaRPr lang="fr-FR" sz="2400" b="0" strike="noStrike" spc="-1">
              <a:latin typeface="Arial" panose="020B0604020202020204"/>
            </a:endParaRPr>
          </a:p>
          <a:p>
            <a:pPr marL="228600" indent="-227965">
              <a:lnSpc>
                <a:spcPct val="90000"/>
              </a:lnSpc>
              <a:spcBef>
                <a:spcPts val="1000"/>
              </a:spcBef>
            </a:pPr>
            <a:r>
              <a:rPr lang="fr-FR" sz="2400" b="1" i="1" u="sng" strike="noStrike" spc="-1">
                <a:solidFill>
                  <a:srgbClr val="9B0D40"/>
                </a:solidFill>
                <a:uFillTx/>
                <a:latin typeface="Times New Roman" panose="02020603050405020304"/>
              </a:rPr>
              <a:t>Trouver une fiche</a:t>
            </a:r>
            <a:r>
              <a:rPr lang="fr-FR" sz="2400" b="0" strike="noStrike" spc="-1">
                <a:solidFill>
                  <a:srgbClr val="9B0D40"/>
                </a:solidFill>
                <a:latin typeface="Times New Roman" panose="02020603050405020304"/>
              </a:rPr>
              <a:t> ? </a:t>
            </a:r>
            <a:endParaRPr lang="fr-FR" sz="2400" b="0" strike="noStrike" spc="-1">
              <a:latin typeface="Arial" panose="020B0604020202020204"/>
            </a:endParaRPr>
          </a:p>
          <a:p>
            <a:pPr marL="685800" lvl="1" indent="-227965">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parcourir le fichier fiche après fiche</a:t>
            </a:r>
            <a:endParaRPr lang="fr-FR" sz="2400" b="0" strike="noStrike" spc="-1">
              <a:latin typeface="Arial" panose="020B0604020202020204"/>
            </a:endParaRPr>
          </a:p>
          <a:p>
            <a:pPr marL="685800" lvl="1" indent="-227965">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utiliser une clé d'accès, si le fichier est trié selon cette clé (ordre alphabétique, ordre de cotation des livres...).</a:t>
            </a:r>
            <a:endParaRPr lang="fr-FR" sz="2400" b="0" strike="noStrike" spc="-1">
              <a:latin typeface="Arial" panose="020B0604020202020204"/>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63" name="Picture 137"/>
          <p:cNvPicPr/>
          <p:nvPr/>
        </p:nvPicPr>
        <p:blipFill>
          <a:blip r:embed="rId1"/>
          <a:stretch>
            <a:fillRect/>
          </a:stretch>
        </p:blipFill>
        <p:spPr>
          <a:xfrm>
            <a:off x="0" y="0"/>
            <a:ext cx="12191400" cy="6857280"/>
          </a:xfrm>
          <a:prstGeom prst="rect">
            <a:avLst/>
          </a:prstGeom>
          <a:ln>
            <a:noFill/>
          </a:ln>
        </p:spPr>
      </p:pic>
      <p:sp>
        <p:nvSpPr>
          <p:cNvPr id="26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Les fichiers</a:t>
            </a:r>
            <a:endParaRPr lang="fr-FR" sz="4000" b="0" strike="noStrike" spc="-1">
              <a:latin typeface="Arial" panose="020B0604020202020204"/>
            </a:endParaRPr>
          </a:p>
        </p:txBody>
      </p:sp>
      <p:sp>
        <p:nvSpPr>
          <p:cNvPr id="265" name="CustomShape 3"/>
          <p:cNvSpPr/>
          <p:nvPr/>
        </p:nvSpPr>
        <p:spPr>
          <a:xfrm>
            <a:off x="861480" y="2637360"/>
            <a:ext cx="10442160" cy="360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90000"/>
              </a:lnSpc>
              <a:spcBef>
                <a:spcPts val="1000"/>
              </a:spcBef>
              <a:buClr>
                <a:srgbClr val="3D590D"/>
              </a:buClr>
              <a:buFont typeface="Wingdings" panose="05000000000000000000" pitchFamily="2" charset="2"/>
              <a:buChar char=""/>
            </a:pPr>
            <a:r>
              <a:rPr lang="fr-FR" sz="2400" b="1" strike="noStrike" spc="-1">
                <a:solidFill>
                  <a:srgbClr val="3D590D"/>
                </a:solidFill>
                <a:latin typeface="Times New Roman" panose="02020603050405020304"/>
              </a:rPr>
              <a:t>En informatique</a:t>
            </a:r>
            <a:r>
              <a:rPr lang="fr-FR" sz="2400" b="0" strike="noStrike" spc="-1">
                <a:solidFill>
                  <a:srgbClr val="3D590D"/>
                </a:solidFill>
                <a:latin typeface="Times New Roman" panose="02020603050405020304"/>
              </a:rPr>
              <a:t> : </a:t>
            </a:r>
            <a:endParaRPr lang="fr-FR" sz="2400" b="0" strike="noStrike" spc="-1">
              <a:latin typeface="Arial" panose="020B0604020202020204"/>
            </a:endParaRPr>
          </a:p>
          <a:p>
            <a:pPr algn="just">
              <a:lnSpc>
                <a:spcPct val="90000"/>
              </a:lnSpc>
              <a:spcBef>
                <a:spcPts val="1000"/>
              </a:spcBef>
            </a:pPr>
            <a:endParaRPr lang="fr-FR" sz="2400" b="0" strike="noStrike" spc="-1">
              <a:latin typeface="Arial" panose="020B0604020202020204"/>
            </a:endParaRPr>
          </a:p>
          <a:p>
            <a:pPr marL="228600" indent="-227965" algn="just">
              <a:lnSpc>
                <a:spcPct val="90000"/>
              </a:lnSpc>
              <a:spcBef>
                <a:spcPts val="1000"/>
              </a:spcBef>
            </a:pPr>
            <a:r>
              <a:rPr lang="fr-FR" sz="2400" b="0" strike="noStrike" spc="-1">
                <a:solidFill>
                  <a:srgbClr val="000000"/>
                </a:solidFill>
                <a:latin typeface="Times New Roman" panose="02020603050405020304"/>
              </a:rPr>
              <a:t>	Un </a:t>
            </a:r>
            <a:r>
              <a:rPr lang="fr-FR" sz="2400" b="1" strike="noStrike" spc="-1">
                <a:solidFill>
                  <a:srgbClr val="9B0D40"/>
                </a:solidFill>
                <a:latin typeface="Times New Roman" panose="02020603050405020304"/>
              </a:rPr>
              <a:t>fichier</a:t>
            </a:r>
            <a:r>
              <a:rPr lang="fr-FR" sz="2400" b="0" strike="noStrike" spc="-1">
                <a:solidFill>
                  <a:srgbClr val="000000"/>
                </a:solidFill>
                <a:latin typeface="Times New Roman" panose="02020603050405020304"/>
              </a:rPr>
              <a:t> est une séquence de données du même type enregistrées sur un support informatique (de manière </a:t>
            </a:r>
            <a:r>
              <a:rPr lang="fr-FR" sz="2400" b="1" strike="noStrike" spc="-1">
                <a:solidFill>
                  <a:srgbClr val="9B0D40"/>
                </a:solidFill>
                <a:latin typeface="Times New Roman" panose="02020603050405020304"/>
              </a:rPr>
              <a:t>permanente</a:t>
            </a:r>
            <a:r>
              <a:rPr lang="fr-FR" sz="2400" b="0" strike="noStrike" spc="-1">
                <a:solidFill>
                  <a:srgbClr val="000000"/>
                </a:solidFill>
                <a:latin typeface="Times New Roman" panose="02020603050405020304"/>
              </a:rPr>
              <a:t>). </a:t>
            </a:r>
            <a:endParaRPr lang="fr-FR" sz="2400" b="0" strike="noStrike" spc="-1">
              <a:latin typeface="Arial" panose="020B0604020202020204"/>
            </a:endParaRPr>
          </a:p>
          <a:p>
            <a:pPr marL="228600" indent="-227965" algn="just">
              <a:lnSpc>
                <a:spcPct val="9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Un fichier est :</a:t>
            </a:r>
            <a:endParaRPr lang="fr-FR" sz="2400" b="0" strike="noStrike" spc="-1">
              <a:latin typeface="Arial" panose="020B0604020202020204"/>
            </a:endParaRPr>
          </a:p>
          <a:p>
            <a:pPr marL="685800" lvl="1" indent="-227965" algn="just">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conservés en </a:t>
            </a:r>
            <a:r>
              <a:rPr lang="fr-FR" sz="2400" b="0" i="1" strike="noStrike" spc="-1">
                <a:solidFill>
                  <a:srgbClr val="9B0D40"/>
                </a:solidFill>
                <a:latin typeface="Times New Roman" panose="02020603050405020304"/>
              </a:rPr>
              <a:t>mémoire secondaire</a:t>
            </a:r>
            <a:endParaRPr lang="fr-FR" sz="2400" b="0" strike="noStrike" spc="-1">
              <a:latin typeface="Arial" panose="020B0604020202020204"/>
            </a:endParaRPr>
          </a:p>
          <a:p>
            <a:pPr marL="685800" indent="-227965" algn="just">
              <a:lnSpc>
                <a:spcPct val="90000"/>
              </a:lnSpc>
              <a:spcBef>
                <a:spcPts val="500"/>
              </a:spcBef>
            </a:pPr>
            <a:r>
              <a:rPr lang="fr-FR" sz="2400" b="0" strike="noStrike" spc="-1">
                <a:solidFill>
                  <a:srgbClr val="000000"/>
                </a:solidFill>
                <a:latin typeface="Times New Roman" panose="02020603050405020304"/>
              </a:rPr>
              <a:t>   (disques et bandes magnétiques, disquettes,...) </a:t>
            </a:r>
            <a:endParaRPr lang="fr-FR" sz="2400" b="0" strike="noStrike" spc="-1">
              <a:latin typeface="Arial" panose="020B0604020202020204"/>
            </a:endParaRPr>
          </a:p>
          <a:p>
            <a:pPr marL="685800" lvl="1" indent="-227965" algn="just">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désigné par un nom et possède des attributs tels que date de création, taille,...</a:t>
            </a:r>
            <a:endParaRPr lang="fr-FR" sz="2400" b="0" strike="noStrike" spc="-1">
              <a:latin typeface="Arial" panose="020B0604020202020204"/>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67" name="Picture 73"/>
          <p:cNvPicPr/>
          <p:nvPr/>
        </p:nvPicPr>
        <p:blipFill>
          <a:blip r:embed="rId1"/>
          <a:stretch>
            <a:fillRect/>
          </a:stretch>
        </p:blipFill>
        <p:spPr>
          <a:xfrm>
            <a:off x="0" y="0"/>
            <a:ext cx="12191400" cy="6857280"/>
          </a:xfrm>
          <a:prstGeom prst="rect">
            <a:avLst/>
          </a:prstGeom>
          <a:ln>
            <a:noFill/>
          </a:ln>
        </p:spPr>
      </p:pic>
      <p:sp>
        <p:nvSpPr>
          <p:cNvPr id="26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Fichiers : organisation et accès</a:t>
            </a:r>
            <a:endParaRPr lang="fr-FR" sz="4000" b="0" strike="noStrike" spc="-1">
              <a:latin typeface="Arial" panose="020B0604020202020204"/>
            </a:endParaRPr>
          </a:p>
        </p:txBody>
      </p:sp>
      <p:sp>
        <p:nvSpPr>
          <p:cNvPr id="269" name="CustomShape 3"/>
          <p:cNvSpPr/>
          <p:nvPr/>
        </p:nvSpPr>
        <p:spPr>
          <a:xfrm>
            <a:off x="755280" y="2544480"/>
            <a:ext cx="10256760" cy="3882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90000"/>
              </a:lnSpc>
              <a:spcBef>
                <a:spcPts val="1000"/>
              </a:spcBef>
              <a:buClr>
                <a:srgbClr val="3D590D"/>
              </a:buClr>
              <a:buFont typeface="Wingdings" panose="05000000000000000000" pitchFamily="2" charset="2"/>
              <a:buChar char=""/>
            </a:pPr>
            <a:r>
              <a:rPr lang="fr-FR" sz="2400" b="1" i="1" strike="noStrike" spc="-1">
                <a:solidFill>
                  <a:srgbClr val="3D590D"/>
                </a:solidFill>
                <a:latin typeface="Times New Roman" panose="02020603050405020304"/>
              </a:rPr>
              <a:t>Définition</a:t>
            </a:r>
            <a:r>
              <a:rPr lang="fr-FR" sz="2400" b="0" strike="noStrike" spc="-1">
                <a:solidFill>
                  <a:srgbClr val="3D590D"/>
                </a:solidFill>
                <a:latin typeface="Times New Roman" panose="02020603050405020304"/>
              </a:rPr>
              <a:t> </a:t>
            </a:r>
            <a:endParaRPr lang="fr-FR" sz="2400" b="0" strike="noStrike" spc="-1">
              <a:latin typeface="Arial" panose="020B0604020202020204"/>
            </a:endParaRPr>
          </a:p>
          <a:p>
            <a:pPr>
              <a:lnSpc>
                <a:spcPct val="90000"/>
              </a:lnSpc>
              <a:spcBef>
                <a:spcPts val="1000"/>
              </a:spcBef>
            </a:pPr>
            <a:endParaRPr lang="fr-FR" sz="2400" b="0" strike="noStrike" spc="-1">
              <a:latin typeface="Arial" panose="020B0604020202020204"/>
            </a:endParaRPr>
          </a:p>
          <a:p>
            <a:pPr marL="228600" indent="-227965">
              <a:lnSpc>
                <a:spcPct val="90000"/>
              </a:lnSpc>
              <a:spcBef>
                <a:spcPts val="500"/>
              </a:spcBef>
              <a:spcAft>
                <a:spcPts val="500"/>
              </a:spcAft>
            </a:pPr>
            <a:r>
              <a:rPr lang="fr-FR" sz="2400" b="0" strike="noStrike" spc="-1">
                <a:solidFill>
                  <a:srgbClr val="000000"/>
                </a:solidFill>
                <a:latin typeface="Times New Roman" panose="02020603050405020304"/>
              </a:rPr>
              <a:t>   L’organisation d'un fichier est la manière dont sont rangés </a:t>
            </a:r>
            <a:r>
              <a:rPr lang="fr-FR" sz="2400" b="1" strike="noStrike" spc="-1">
                <a:solidFill>
                  <a:srgbClr val="9B0D40"/>
                </a:solidFill>
                <a:latin typeface="Times New Roman" panose="02020603050405020304"/>
              </a:rPr>
              <a:t>physiquement</a:t>
            </a:r>
            <a:r>
              <a:rPr lang="fr-FR" sz="2400" b="0" strike="noStrike" spc="-1">
                <a:solidFill>
                  <a:srgbClr val="000000"/>
                </a:solidFill>
                <a:latin typeface="Times New Roman" panose="02020603050405020304"/>
              </a:rPr>
              <a:t>  les enregistrements du fichier. </a:t>
            </a:r>
            <a:endParaRPr lang="fr-FR" sz="2400" b="0" strike="noStrike" spc="-1">
              <a:latin typeface="Arial" panose="020B0604020202020204"/>
            </a:endParaRPr>
          </a:p>
          <a:p>
            <a:pPr marL="685800" lvl="1" indent="-227965">
              <a:lnSpc>
                <a:spcPct val="90000"/>
              </a:lnSpc>
              <a:spcBef>
                <a:spcPts val="500"/>
              </a:spcBef>
              <a:spcAft>
                <a:spcPts val="500"/>
              </a:spcAft>
              <a:buClr>
                <a:srgbClr val="000000"/>
              </a:buClr>
              <a:buFont typeface="Arial" panose="020B0604020202020204"/>
              <a:buChar char="•"/>
            </a:pPr>
            <a:r>
              <a:rPr lang="fr-FR" sz="2400" b="0" strike="noStrike" spc="-1">
                <a:solidFill>
                  <a:srgbClr val="000000"/>
                </a:solidFill>
                <a:latin typeface="Times New Roman" panose="02020603050405020304"/>
              </a:rPr>
              <a:t>Le but est d'arranger les enregistrement de manière à y accéder le plus rapidement possible. </a:t>
            </a:r>
            <a:endParaRPr lang="fr-FR" sz="2400" b="0" strike="noStrike" spc="-1">
              <a:latin typeface="Arial" panose="020B0604020202020204"/>
            </a:endParaRPr>
          </a:p>
          <a:p>
            <a:pPr marL="685800" lvl="1" indent="-227965">
              <a:lnSpc>
                <a:spcPct val="90000"/>
              </a:lnSpc>
              <a:spcBef>
                <a:spcPts val="500"/>
              </a:spcBef>
              <a:spcAft>
                <a:spcPts val="500"/>
              </a:spcAft>
              <a:buClr>
                <a:srgbClr val="000000"/>
              </a:buClr>
              <a:buFont typeface="Arial" panose="020B0604020202020204"/>
              <a:buChar char="•"/>
            </a:pPr>
            <a:r>
              <a:rPr lang="fr-FR" sz="2400" b="0" strike="noStrike" spc="-1">
                <a:solidFill>
                  <a:srgbClr val="000000"/>
                </a:solidFill>
                <a:latin typeface="Times New Roman" panose="02020603050405020304"/>
              </a:rPr>
              <a:t>L'organisation est choisie à la création du fichier.  </a:t>
            </a:r>
            <a:endParaRPr lang="fr-FR" sz="2400" b="0" strike="noStrike" spc="-1">
              <a:latin typeface="Arial" panose="020B0604020202020204"/>
            </a:endParaRPr>
          </a:p>
          <a:p>
            <a:pPr marL="685800" lvl="1" indent="-227965">
              <a:lnSpc>
                <a:spcPct val="90000"/>
              </a:lnSpc>
              <a:spcBef>
                <a:spcPts val="500"/>
              </a:spcBef>
              <a:spcAft>
                <a:spcPts val="500"/>
              </a:spcAft>
              <a:buClr>
                <a:srgbClr val="000000"/>
              </a:buClr>
              <a:buFont typeface="Arial" panose="020B0604020202020204"/>
              <a:buChar char="•"/>
            </a:pPr>
            <a:r>
              <a:rPr lang="fr-FR" sz="2400" b="0" strike="noStrike" spc="-1">
                <a:solidFill>
                  <a:srgbClr val="000000"/>
                </a:solidFill>
                <a:latin typeface="Times New Roman" panose="02020603050405020304"/>
              </a:rPr>
              <a:t>Le choix d'une organisation correspond à un compromis entre  rapidité d'accès et espace de stockage disponible. </a:t>
            </a:r>
            <a:endParaRPr lang="fr-FR" sz="2400" b="0" strike="noStrike" spc="-1">
              <a:latin typeface="Arial" panose="020B0604020202020204"/>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0"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71" name="Picture 73"/>
          <p:cNvPicPr/>
          <p:nvPr/>
        </p:nvPicPr>
        <p:blipFill>
          <a:blip r:embed="rId1"/>
          <a:stretch>
            <a:fillRect/>
          </a:stretch>
        </p:blipFill>
        <p:spPr>
          <a:xfrm>
            <a:off x="0" y="0"/>
            <a:ext cx="12191400" cy="6857280"/>
          </a:xfrm>
          <a:prstGeom prst="rect">
            <a:avLst/>
          </a:prstGeom>
          <a:ln>
            <a:noFill/>
          </a:ln>
        </p:spPr>
      </p:pic>
      <p:sp>
        <p:nvSpPr>
          <p:cNvPr id="272"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Fichiers : organisation séquentielle</a:t>
            </a:r>
            <a:endParaRPr lang="fr-FR" sz="4000" b="0" strike="noStrike" spc="-1">
              <a:latin typeface="Arial" panose="020B0604020202020204"/>
            </a:endParaRPr>
          </a:p>
        </p:txBody>
      </p:sp>
      <p:sp>
        <p:nvSpPr>
          <p:cNvPr id="273" name="CustomShape 3"/>
          <p:cNvSpPr/>
          <p:nvPr/>
        </p:nvSpPr>
        <p:spPr>
          <a:xfrm>
            <a:off x="795240" y="2570760"/>
            <a:ext cx="10216800" cy="321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90000"/>
              </a:lnSpc>
              <a:spcBef>
                <a:spcPts val="500"/>
              </a:spcBef>
              <a:spcAft>
                <a:spcPts val="500"/>
              </a:spcAft>
              <a:buClr>
                <a:srgbClr val="000000"/>
              </a:buClr>
              <a:buFont typeface="Arial" panose="020B0604020202020204"/>
              <a:buChar char="•"/>
            </a:pPr>
            <a:r>
              <a:rPr lang="fr-FR" sz="2400" b="0" strike="noStrike" spc="-1">
                <a:solidFill>
                  <a:srgbClr val="000000"/>
                </a:solidFill>
                <a:latin typeface="Times New Roman" panose="02020603050405020304"/>
              </a:rPr>
              <a:t>Elle ne permet qu'un seul accès : </a:t>
            </a:r>
            <a:r>
              <a:rPr lang="fr-FR" sz="2400" b="0" strike="noStrike" spc="-1">
                <a:solidFill>
                  <a:srgbClr val="9B0D40"/>
                </a:solidFill>
                <a:latin typeface="Times New Roman" panose="02020603050405020304"/>
              </a:rPr>
              <a:t>le séquentiel. </a:t>
            </a:r>
            <a:endParaRPr lang="fr-FR" sz="2400" b="0" strike="noStrike" spc="-1">
              <a:latin typeface="Arial" panose="020B0604020202020204"/>
            </a:endParaRPr>
          </a:p>
          <a:p>
            <a:pPr algn="just">
              <a:lnSpc>
                <a:spcPct val="90000"/>
              </a:lnSpc>
              <a:spcBef>
                <a:spcPts val="500"/>
              </a:spcBef>
              <a:spcAft>
                <a:spcPts val="500"/>
              </a:spcAft>
            </a:pPr>
            <a:endParaRPr lang="fr-FR" sz="2400" b="0" strike="noStrike" spc="-1">
              <a:latin typeface="Arial" panose="020B0604020202020204"/>
            </a:endParaRPr>
          </a:p>
          <a:p>
            <a:pPr marL="228600" indent="-227965" algn="just">
              <a:lnSpc>
                <a:spcPct val="90000"/>
              </a:lnSpc>
              <a:spcBef>
                <a:spcPts val="500"/>
              </a:spcBef>
              <a:spcAft>
                <a:spcPts val="500"/>
              </a:spcAft>
            </a:pPr>
            <a:r>
              <a:rPr lang="fr-FR" sz="2400" b="0" strike="noStrike" spc="-1">
                <a:solidFill>
                  <a:srgbClr val="000000"/>
                </a:solidFill>
                <a:latin typeface="Times New Roman" panose="02020603050405020304"/>
              </a:rPr>
              <a:t>    Toutes les informations sont enregistrées de façon </a:t>
            </a:r>
            <a:r>
              <a:rPr lang="fr-FR" sz="2400" b="1" strike="noStrike" spc="-1">
                <a:solidFill>
                  <a:srgbClr val="9B0D40"/>
                </a:solidFill>
                <a:latin typeface="Times New Roman" panose="02020603050405020304"/>
              </a:rPr>
              <a:t>séquentielle</a:t>
            </a:r>
            <a:r>
              <a:rPr lang="fr-FR" sz="2400" b="0" strike="noStrike" spc="-1">
                <a:solidFill>
                  <a:srgbClr val="000000"/>
                </a:solidFill>
                <a:latin typeface="Times New Roman" panose="02020603050405020304"/>
              </a:rPr>
              <a:t> (linéaire) les unes à la suite des autres. </a:t>
            </a:r>
            <a:endParaRPr lang="fr-FR" sz="2400" b="0" strike="noStrike" spc="-1">
              <a:latin typeface="Arial" panose="020B0604020202020204"/>
            </a:endParaRPr>
          </a:p>
          <a:p>
            <a:pPr marL="228600" indent="-227965" algn="just">
              <a:lnSpc>
                <a:spcPct val="90000"/>
              </a:lnSpc>
              <a:spcBef>
                <a:spcPts val="500"/>
              </a:spcBef>
              <a:spcAft>
                <a:spcPts val="500"/>
              </a:spcAft>
            </a:pPr>
            <a:r>
              <a:rPr lang="fr-FR" sz="2400" b="0" strike="noStrike" spc="-1">
                <a:solidFill>
                  <a:srgbClr val="000000"/>
                </a:solidFill>
                <a:latin typeface="Times New Roman" panose="02020603050405020304"/>
              </a:rPr>
              <a:t>    Pour accéder à une information particulière, il faut nécessairement parcourir le fichier à partir du début, et ce jusqu'au moment où  cette information est retrouvée. </a:t>
            </a:r>
            <a:endParaRPr lang="fr-FR" sz="2400" b="0" strike="noStrike" spc="-1">
              <a:latin typeface="Arial" panose="020B0604020202020204"/>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75" name="Picture 73"/>
          <p:cNvPicPr/>
          <p:nvPr/>
        </p:nvPicPr>
        <p:blipFill>
          <a:blip r:embed="rId1"/>
          <a:stretch>
            <a:fillRect/>
          </a:stretch>
        </p:blipFill>
        <p:spPr>
          <a:xfrm>
            <a:off x="0" y="0"/>
            <a:ext cx="12191400" cy="6857280"/>
          </a:xfrm>
          <a:prstGeom prst="rect">
            <a:avLst/>
          </a:prstGeom>
          <a:ln>
            <a:noFill/>
          </a:ln>
        </p:spPr>
      </p:pic>
      <p:sp>
        <p:nvSpPr>
          <p:cNvPr id="276"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Fichiers : organisation relative (accès direct)</a:t>
            </a:r>
            <a:endParaRPr lang="fr-FR" sz="4000" b="0" strike="noStrike" spc="-1">
              <a:latin typeface="Arial" panose="020B0604020202020204"/>
            </a:endParaRPr>
          </a:p>
        </p:txBody>
      </p:sp>
      <p:sp>
        <p:nvSpPr>
          <p:cNvPr id="277" name="CustomShape 3"/>
          <p:cNvSpPr/>
          <p:nvPr/>
        </p:nvSpPr>
        <p:spPr>
          <a:xfrm>
            <a:off x="967320" y="2754000"/>
            <a:ext cx="10044720" cy="303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90000"/>
              </a:lnSpc>
              <a:spcBef>
                <a:spcPts val="500"/>
              </a:spcBef>
              <a:spcAft>
                <a:spcPts val="500"/>
              </a:spcAft>
              <a:buClr>
                <a:srgbClr val="000000"/>
              </a:buClr>
              <a:buFont typeface="Arial" panose="020B0604020202020204"/>
              <a:buChar char="•"/>
            </a:pPr>
            <a:r>
              <a:rPr lang="fr-FR" sz="2400" b="0" strike="noStrike" spc="-1">
                <a:solidFill>
                  <a:srgbClr val="000000"/>
                </a:solidFill>
                <a:latin typeface="Times New Roman" panose="02020603050405020304"/>
              </a:rPr>
              <a:t>Chaque enregistrement possède un </a:t>
            </a:r>
            <a:r>
              <a:rPr lang="fr-FR" sz="2400" b="1" strike="noStrike" spc="-1">
                <a:solidFill>
                  <a:srgbClr val="9B0D40"/>
                </a:solidFill>
                <a:latin typeface="Times New Roman" panose="02020603050405020304"/>
              </a:rPr>
              <a:t>numéro</a:t>
            </a:r>
            <a:r>
              <a:rPr lang="fr-FR" sz="2400" b="0" strike="noStrike" spc="-1">
                <a:solidFill>
                  <a:srgbClr val="000000"/>
                </a:solidFill>
                <a:latin typeface="Times New Roman" panose="02020603050405020304"/>
              </a:rPr>
              <a:t>. </a:t>
            </a:r>
            <a:endParaRPr lang="fr-FR" sz="2400" b="0" strike="noStrike" spc="-1">
              <a:latin typeface="Arial" panose="020B0604020202020204"/>
            </a:endParaRPr>
          </a:p>
          <a:p>
            <a:pPr algn="just">
              <a:lnSpc>
                <a:spcPct val="90000"/>
              </a:lnSpc>
              <a:spcBef>
                <a:spcPts val="500"/>
              </a:spcBef>
              <a:spcAft>
                <a:spcPts val="500"/>
              </a:spcAft>
            </a:pPr>
            <a:endParaRPr lang="fr-FR" sz="2400" b="0" strike="noStrike" spc="-1">
              <a:latin typeface="Arial" panose="020B0604020202020204"/>
            </a:endParaRPr>
          </a:p>
          <a:p>
            <a:pPr marL="228600" indent="-227965" algn="just">
              <a:lnSpc>
                <a:spcPct val="90000"/>
              </a:lnSpc>
              <a:spcBef>
                <a:spcPts val="500"/>
              </a:spcBef>
              <a:spcAft>
                <a:spcPts val="500"/>
              </a:spcAft>
              <a:buClr>
                <a:srgbClr val="000000"/>
              </a:buClr>
              <a:buFont typeface="Arial" panose="020B0604020202020204"/>
              <a:buChar char="•"/>
            </a:pPr>
            <a:r>
              <a:rPr lang="fr-FR" sz="2400" b="0" strike="noStrike" spc="-1">
                <a:solidFill>
                  <a:srgbClr val="000000"/>
                </a:solidFill>
                <a:latin typeface="Times New Roman" panose="02020603050405020304"/>
              </a:rPr>
              <a:t>On accède à la fiche recherchée en spécifiant ce numéro d'enregistrement. </a:t>
            </a:r>
            <a:endParaRPr lang="fr-FR" sz="2400" b="0" strike="noStrike" spc="-1">
              <a:latin typeface="Arial" panose="020B0604020202020204"/>
            </a:endParaRPr>
          </a:p>
          <a:p>
            <a:pPr algn="just">
              <a:lnSpc>
                <a:spcPct val="90000"/>
              </a:lnSpc>
              <a:spcBef>
                <a:spcPts val="500"/>
              </a:spcBef>
              <a:spcAft>
                <a:spcPts val="500"/>
              </a:spcAft>
            </a:pPr>
            <a:endParaRPr lang="fr-FR" sz="2400" b="0" strike="noStrike" spc="-1">
              <a:latin typeface="Arial" panose="020B0604020202020204"/>
            </a:endParaRPr>
          </a:p>
          <a:p>
            <a:pPr marL="228600" indent="-227965" algn="just">
              <a:lnSpc>
                <a:spcPct val="90000"/>
              </a:lnSpc>
              <a:spcBef>
                <a:spcPts val="500"/>
              </a:spcBef>
              <a:spcAft>
                <a:spcPts val="500"/>
              </a:spcAft>
              <a:buClr>
                <a:srgbClr val="000000"/>
              </a:buClr>
              <a:buFont typeface="Arial" panose="020B0604020202020204"/>
              <a:buChar char="•"/>
            </a:pPr>
            <a:r>
              <a:rPr lang="fr-FR" sz="2400" b="0" strike="noStrike" spc="-1">
                <a:solidFill>
                  <a:srgbClr val="000000"/>
                </a:solidFill>
                <a:latin typeface="Times New Roman" panose="02020603050405020304"/>
              </a:rPr>
              <a:t>L'indication d'un numéro permet donc un </a:t>
            </a:r>
            <a:r>
              <a:rPr lang="fr-FR" sz="2400" b="1" strike="noStrike" spc="-1">
                <a:solidFill>
                  <a:srgbClr val="9B0D40"/>
                </a:solidFill>
                <a:latin typeface="Times New Roman" panose="02020603050405020304"/>
              </a:rPr>
              <a:t>accès direct</a:t>
            </a:r>
            <a:r>
              <a:rPr lang="fr-FR" sz="2400" b="0" strike="noStrike" spc="-1">
                <a:solidFill>
                  <a:srgbClr val="9B0D40"/>
                </a:solidFill>
                <a:latin typeface="Times New Roman" panose="02020603050405020304"/>
              </a:rPr>
              <a:t> </a:t>
            </a:r>
            <a:r>
              <a:rPr lang="fr-FR" sz="2400" b="0" strike="noStrike" spc="-1">
                <a:solidFill>
                  <a:srgbClr val="000000"/>
                </a:solidFill>
                <a:latin typeface="Times New Roman" panose="02020603050405020304"/>
              </a:rPr>
              <a:t>à l'information ainsi référencée. </a:t>
            </a:r>
            <a:endParaRPr lang="fr-FR" sz="2400" b="0" strike="noStrike" spc="-1">
              <a:latin typeface="Arial" panose="020B0604020202020204"/>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8"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79" name="Picture 73"/>
          <p:cNvPicPr/>
          <p:nvPr/>
        </p:nvPicPr>
        <p:blipFill>
          <a:blip r:embed="rId1"/>
          <a:stretch>
            <a:fillRect/>
          </a:stretch>
        </p:blipFill>
        <p:spPr>
          <a:xfrm>
            <a:off x="0" y="0"/>
            <a:ext cx="12191400" cy="6857280"/>
          </a:xfrm>
          <a:prstGeom prst="rect">
            <a:avLst/>
          </a:prstGeom>
          <a:ln>
            <a:noFill/>
          </a:ln>
        </p:spPr>
      </p:pic>
      <p:sp>
        <p:nvSpPr>
          <p:cNvPr id="280"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Fichiers : organisation indexée</a:t>
            </a:r>
            <a:endParaRPr lang="fr-FR" sz="4000" b="0" strike="noStrike" spc="-1">
              <a:latin typeface="Arial" panose="020B0604020202020204"/>
            </a:endParaRPr>
          </a:p>
        </p:txBody>
      </p:sp>
      <p:sp>
        <p:nvSpPr>
          <p:cNvPr id="281" name="CustomShape 3"/>
          <p:cNvSpPr/>
          <p:nvPr/>
        </p:nvSpPr>
        <p:spPr>
          <a:xfrm>
            <a:off x="755280" y="2531160"/>
            <a:ext cx="10468440" cy="3882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90000"/>
              </a:lnSpc>
              <a:spcBef>
                <a:spcPts val="1000"/>
              </a:spcBef>
              <a:buClr>
                <a:srgbClr val="3D590D"/>
              </a:buClr>
              <a:buFont typeface="Wingdings" panose="05000000000000000000" pitchFamily="2" charset="2"/>
              <a:buChar char=""/>
            </a:pPr>
            <a:r>
              <a:rPr lang="fr-FR" sz="2400" b="1" strike="noStrike" spc="-1">
                <a:solidFill>
                  <a:srgbClr val="3D590D"/>
                </a:solidFill>
                <a:latin typeface="Times New Roman" panose="02020603050405020304"/>
              </a:rPr>
              <a:t>Notion d ’index</a:t>
            </a:r>
            <a:r>
              <a:rPr lang="fr-FR" sz="2400" b="0" strike="noStrike" spc="-1">
                <a:solidFill>
                  <a:srgbClr val="3D590D"/>
                </a:solidFill>
                <a:latin typeface="Times New Roman" panose="02020603050405020304"/>
              </a:rPr>
              <a:t> :</a:t>
            </a:r>
            <a:endParaRPr lang="fr-FR" sz="2400" b="0" strike="noStrike" spc="-1">
              <a:latin typeface="Arial" panose="020B0604020202020204"/>
            </a:endParaRPr>
          </a:p>
          <a:p>
            <a:pPr algn="just">
              <a:lnSpc>
                <a:spcPct val="90000"/>
              </a:lnSpc>
              <a:spcBef>
                <a:spcPts val="1000"/>
              </a:spcBef>
            </a:pPr>
            <a:endParaRPr lang="fr-FR" sz="2400" b="0" strike="noStrike" spc="-1">
              <a:latin typeface="Arial" panose="020B0604020202020204"/>
            </a:endParaRPr>
          </a:p>
          <a:p>
            <a:pPr marL="685800" lvl="1" indent="-227965" algn="just">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Soit un fichier F dont les enregistrements E possèdent une clé C (e.g. nom). Un index permet d ’associer à chaque clé C le rang R de l ’enregistrement E de clé C dans F.</a:t>
            </a:r>
            <a:endParaRPr lang="fr-FR" sz="2400" b="0" strike="noStrike" spc="-1">
              <a:latin typeface="Arial" panose="020B0604020202020204"/>
            </a:endParaRPr>
          </a:p>
          <a:p>
            <a:pPr marL="685800" lvl="1" indent="-227965" algn="just">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L’index est alors une </a:t>
            </a:r>
            <a:r>
              <a:rPr lang="fr-FR" sz="2400" b="0" strike="noStrike" spc="-1">
                <a:solidFill>
                  <a:srgbClr val="00709A"/>
                </a:solidFill>
                <a:latin typeface="Times New Roman" panose="02020603050405020304"/>
              </a:rPr>
              <a:t>« table des matières » </a:t>
            </a:r>
            <a:r>
              <a:rPr lang="fr-FR" sz="2400" b="0" strike="noStrike" spc="-1">
                <a:solidFill>
                  <a:srgbClr val="000000"/>
                </a:solidFill>
                <a:latin typeface="Times New Roman" panose="02020603050405020304"/>
              </a:rPr>
              <a:t>du fichiers</a:t>
            </a:r>
            <a:endParaRPr lang="fr-FR" sz="2400" b="0" strike="noStrike" spc="-1">
              <a:latin typeface="Arial" panose="020B0604020202020204"/>
            </a:endParaRPr>
          </a:p>
          <a:p>
            <a:pPr marL="685800" lvl="1" indent="-227965" algn="just">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On crée des fichiers supplémentaire d'index </a:t>
            </a:r>
            <a:endParaRPr lang="fr-FR" sz="2400" b="0" strike="noStrike" spc="-1">
              <a:latin typeface="Arial" panose="020B0604020202020204"/>
            </a:endParaRPr>
          </a:p>
          <a:p>
            <a:pPr marL="685800" lvl="1" indent="-227965" algn="just">
              <a:lnSpc>
                <a:spcPct val="90000"/>
              </a:lnSpc>
              <a:spcBef>
                <a:spcPts val="500"/>
              </a:spcBef>
              <a:buClr>
                <a:srgbClr val="000000"/>
              </a:buClr>
              <a:buFont typeface="Arial" panose="020B0604020202020204"/>
              <a:buChar char="•"/>
            </a:pPr>
            <a:r>
              <a:rPr lang="fr-FR" sz="2400" b="0" strike="noStrike" spc="-1">
                <a:solidFill>
                  <a:srgbClr val="000000"/>
                </a:solidFill>
                <a:latin typeface="Times New Roman" panose="02020603050405020304"/>
              </a:rPr>
              <a:t>On parcourt un index pour rechercher une clef. On obtient ainsi l'adresse  exacte de l'information recherchée.      </a:t>
            </a:r>
            <a:endParaRPr lang="fr-FR" sz="2400" b="0" strike="noStrike" spc="-1">
              <a:latin typeface="Arial" panose="020B0604020202020204"/>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83" name="Picture 73"/>
          <p:cNvPicPr/>
          <p:nvPr/>
        </p:nvPicPr>
        <p:blipFill>
          <a:blip r:embed="rId1"/>
          <a:stretch>
            <a:fillRect/>
          </a:stretch>
        </p:blipFill>
        <p:spPr>
          <a:xfrm>
            <a:off x="0" y="0"/>
            <a:ext cx="12191400" cy="6857280"/>
          </a:xfrm>
          <a:prstGeom prst="rect">
            <a:avLst/>
          </a:prstGeom>
          <a:ln>
            <a:noFill/>
          </a:ln>
        </p:spPr>
      </p:pic>
      <p:sp>
        <p:nvSpPr>
          <p:cNvPr id="28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Les types de fichiers</a:t>
            </a:r>
            <a:endParaRPr lang="fr-FR" sz="4000" b="0" strike="noStrike" spc="-1">
              <a:latin typeface="Arial" panose="020B0604020202020204"/>
            </a:endParaRPr>
          </a:p>
        </p:txBody>
      </p:sp>
      <p:sp>
        <p:nvSpPr>
          <p:cNvPr id="285" name="CustomShape 3"/>
          <p:cNvSpPr/>
          <p:nvPr/>
        </p:nvSpPr>
        <p:spPr>
          <a:xfrm>
            <a:off x="874800" y="2584080"/>
            <a:ext cx="10468440" cy="374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9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a:rPr>
              <a:t>On distingue deux catégories: </a:t>
            </a:r>
            <a:endParaRPr lang="fr-FR" sz="2400" b="0" strike="noStrike" spc="-1">
              <a:latin typeface="Arial" panose="020B0604020202020204"/>
            </a:endParaRPr>
          </a:p>
          <a:p>
            <a:pPr algn="just">
              <a:lnSpc>
                <a:spcPct val="90000"/>
              </a:lnSpc>
              <a:spcBef>
                <a:spcPts val="1000"/>
              </a:spcBef>
            </a:pPr>
            <a:endParaRPr lang="fr-FR" sz="2400" b="0" strike="noStrike" spc="-1">
              <a:latin typeface="Arial" panose="020B0604020202020204"/>
            </a:endParaRPr>
          </a:p>
          <a:p>
            <a:pPr marL="685800" lvl="1" indent="-227965" algn="just">
              <a:lnSpc>
                <a:spcPct val="90000"/>
              </a:lnSpc>
              <a:spcBef>
                <a:spcPts val="500"/>
              </a:spcBef>
              <a:buClr>
                <a:srgbClr val="9B0D40"/>
              </a:buClr>
              <a:buFont typeface="Arial" panose="020B0604020202020204"/>
              <a:buChar char="•"/>
            </a:pPr>
            <a:r>
              <a:rPr lang="fr-FR" sz="2400" b="1" i="1" strike="noStrike" spc="-1">
                <a:solidFill>
                  <a:srgbClr val="9B0D40"/>
                </a:solidFill>
                <a:latin typeface="Times New Roman" panose="02020603050405020304"/>
              </a:rPr>
              <a:t>Les fichiers binaires</a:t>
            </a:r>
            <a:r>
              <a:rPr lang="fr-FR" sz="2400" b="0" strike="noStrike" spc="-1">
                <a:solidFill>
                  <a:srgbClr val="9B0D40"/>
                </a:solidFill>
                <a:latin typeface="Times New Roman" panose="02020603050405020304"/>
              </a:rPr>
              <a:t> </a:t>
            </a:r>
            <a:r>
              <a:rPr lang="fr-FR" sz="2400" b="0" strike="noStrike" spc="-1">
                <a:solidFill>
                  <a:srgbClr val="000000"/>
                </a:solidFill>
                <a:latin typeface="Times New Roman" panose="02020603050405020304"/>
              </a:rPr>
              <a:t>contenant du code binaire représentant chaque élément (enregistrement). Ces fichiers ne doivent être manipulés que par des programmes!</a:t>
            </a:r>
            <a:endParaRPr lang="fr-FR" sz="2400" b="0" strike="noStrike" spc="-1">
              <a:latin typeface="Arial" panose="020B0604020202020204"/>
            </a:endParaRPr>
          </a:p>
          <a:p>
            <a:pPr>
              <a:lnSpc>
                <a:spcPct val="100000"/>
              </a:lnSpc>
            </a:pPr>
            <a:endParaRPr lang="fr-FR" sz="2400" b="0" strike="noStrike" spc="-1">
              <a:latin typeface="Arial" panose="020B0604020202020204"/>
            </a:endParaRPr>
          </a:p>
          <a:p>
            <a:pPr marL="685800" lvl="1" indent="-227965" algn="just">
              <a:lnSpc>
                <a:spcPct val="90000"/>
              </a:lnSpc>
              <a:spcBef>
                <a:spcPts val="500"/>
              </a:spcBef>
              <a:buClr>
                <a:srgbClr val="9B0D40"/>
              </a:buClr>
              <a:buFont typeface="Arial" panose="020B0604020202020204"/>
              <a:buChar char="•"/>
            </a:pPr>
            <a:r>
              <a:rPr lang="fr-FR" sz="2400" b="1" i="1" strike="noStrike" spc="-1">
                <a:solidFill>
                  <a:srgbClr val="9B0D40"/>
                </a:solidFill>
                <a:latin typeface="Times New Roman" panose="02020603050405020304"/>
              </a:rPr>
              <a:t>Les fichiers textes</a:t>
            </a:r>
            <a:r>
              <a:rPr lang="fr-FR" sz="2400" b="0" strike="noStrike" spc="-1">
                <a:solidFill>
                  <a:srgbClr val="9B0D40"/>
                </a:solidFill>
                <a:latin typeface="Times New Roman" panose="02020603050405020304"/>
              </a:rPr>
              <a:t> </a:t>
            </a:r>
            <a:r>
              <a:rPr lang="fr-FR" sz="2400" b="0" strike="noStrike" spc="-1">
                <a:solidFill>
                  <a:srgbClr val="000000"/>
                </a:solidFill>
                <a:latin typeface="Times New Roman" panose="02020603050405020304"/>
              </a:rPr>
              <a:t>(appelés aussi imprimables) contenant des caractères et susceptibles d'être lus, éditées, imprimés...</a:t>
            </a:r>
            <a:endParaRPr lang="fr-FR" sz="2400" b="0" strike="noStrike" spc="-1">
              <a:latin typeface="Arial" panose="020B0604020202020204"/>
            </a:endParaRPr>
          </a:p>
          <a:p>
            <a:pPr marL="685800" indent="-227965" algn="just">
              <a:lnSpc>
                <a:spcPct val="90000"/>
              </a:lnSpc>
              <a:spcBef>
                <a:spcPts val="500"/>
              </a:spcBef>
            </a:pPr>
            <a:endParaRPr lang="fr-FR" sz="2400" b="0" strike="noStrike" spc="-1">
              <a:latin typeface="Arial" panose="020B0604020202020204"/>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87" name="Picture 137"/>
          <p:cNvPicPr/>
          <p:nvPr/>
        </p:nvPicPr>
        <p:blipFill>
          <a:blip r:embed="rId1"/>
          <a:stretch>
            <a:fillRect/>
          </a:stretch>
        </p:blipFill>
        <p:spPr>
          <a:xfrm>
            <a:off x="0" y="0"/>
            <a:ext cx="12191400" cy="6857280"/>
          </a:xfrm>
          <a:prstGeom prst="rect">
            <a:avLst/>
          </a:prstGeom>
          <a:ln>
            <a:noFill/>
          </a:ln>
        </p:spPr>
      </p:pic>
      <p:sp>
        <p:nvSpPr>
          <p:cNvPr id="28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TDA File(1)</a:t>
            </a:r>
            <a:endParaRPr lang="fr-FR" sz="4000" b="0" strike="noStrike" spc="-1">
              <a:latin typeface="Arial" panose="020B0604020202020204"/>
            </a:endParaRPr>
          </a:p>
        </p:txBody>
      </p:sp>
      <p:sp>
        <p:nvSpPr>
          <p:cNvPr id="289" name="CustomShape 3"/>
          <p:cNvSpPr/>
          <p:nvPr/>
        </p:nvSpPr>
        <p:spPr>
          <a:xfrm>
            <a:off x="1073160" y="2602800"/>
            <a:ext cx="9832680" cy="26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0000" lnSpcReduction="10000"/>
          </a:bodyPr>
          <a:lstStyle/>
          <a:p>
            <a:pPr marL="228600" indent="-227965" algn="just">
              <a:lnSpc>
                <a:spcPct val="90000"/>
              </a:lnSpc>
              <a:spcBef>
                <a:spcPts val="1000"/>
              </a:spcBef>
              <a:buClr>
                <a:srgbClr val="000000"/>
              </a:buClr>
              <a:buFont typeface="Arial" panose="020B0604020202020204"/>
              <a:buChar char="•"/>
            </a:pPr>
            <a:r>
              <a:rPr lang="en-US" altLang="fr-FR" sz="2400" b="0" strike="noStrike" spc="-1">
                <a:solidFill>
                  <a:srgbClr val="000000"/>
                </a:solidFill>
                <a:latin typeface="Times New Roman" panose="02020603050405020304" pitchFamily="18" charset="0"/>
                <a:cs typeface="Times New Roman" panose="02020603050405020304" pitchFamily="18" charset="0"/>
              </a:rPr>
              <a:t>Une file (queue) est une structure de donn</a:t>
            </a:r>
            <a:r>
              <a:rPr lang="en-US" altLang="en-US" sz="2400" b="0" strike="noStrike" spc="-1">
                <a:solidFill>
                  <a:srgbClr val="000000"/>
                </a:solidFill>
                <a:latin typeface="Times New Roman" panose="02020603050405020304" pitchFamily="18" charset="0"/>
                <a:cs typeface="Times New Roman" panose="02020603050405020304" pitchFamily="18" charset="0"/>
              </a:rPr>
              <a:t>é</a:t>
            </a:r>
            <a:r>
              <a:rPr lang="en-US" altLang="fr-FR" sz="2400" b="0" strike="noStrike" spc="-1">
                <a:solidFill>
                  <a:srgbClr val="000000"/>
                </a:solidFill>
                <a:latin typeface="Times New Roman" panose="02020603050405020304" pitchFamily="18" charset="0"/>
                <a:cs typeface="Times New Roman" panose="02020603050405020304" pitchFamily="18" charset="0"/>
              </a:rPr>
              <a:t>es lin</a:t>
            </a:r>
            <a:r>
              <a:rPr lang="en-US" altLang="en-US" sz="2400" b="0" strike="noStrike" spc="-1">
                <a:solidFill>
                  <a:srgbClr val="000000"/>
                </a:solidFill>
                <a:latin typeface="Times New Roman" panose="02020603050405020304" pitchFamily="18" charset="0"/>
                <a:cs typeface="Times New Roman" panose="02020603050405020304" pitchFamily="18" charset="0"/>
              </a:rPr>
              <a:t>é</a:t>
            </a:r>
            <a:r>
              <a:rPr lang="en-US" altLang="fr-FR" sz="2400" b="0" strike="noStrike" spc="-1">
                <a:solidFill>
                  <a:srgbClr val="000000"/>
                </a:solidFill>
                <a:latin typeface="Times New Roman" panose="02020603050405020304" pitchFamily="18" charset="0"/>
                <a:cs typeface="Times New Roman" panose="02020603050405020304" pitchFamily="18" charset="0"/>
              </a:rPr>
              <a:t>aire qui suit le principe FIFO (First-In, First-Out), ce qui signifie que le premier </a:t>
            </a:r>
            <a:r>
              <a:rPr lang="en-US" altLang="en-US" sz="2400" b="0" strike="noStrike" spc="-1">
                <a:solidFill>
                  <a:srgbClr val="000000"/>
                </a:solidFill>
                <a:latin typeface="Times New Roman" panose="02020603050405020304" pitchFamily="18" charset="0"/>
                <a:cs typeface="Times New Roman" panose="02020603050405020304" pitchFamily="18" charset="0"/>
              </a:rPr>
              <a:t>é</a:t>
            </a:r>
            <a:r>
              <a:rPr lang="en-US" altLang="fr-FR" sz="2400" b="0" strike="noStrike" spc="-1">
                <a:solidFill>
                  <a:srgbClr val="000000"/>
                </a:solidFill>
                <a:latin typeface="Times New Roman" panose="02020603050405020304" pitchFamily="18" charset="0"/>
                <a:cs typeface="Times New Roman" panose="02020603050405020304" pitchFamily="18" charset="0"/>
              </a:rPr>
              <a:t>l</a:t>
            </a:r>
            <a:r>
              <a:rPr lang="en-US" altLang="en-US" sz="2400" b="0" strike="noStrike" spc="-1">
                <a:solidFill>
                  <a:srgbClr val="000000"/>
                </a:solidFill>
                <a:latin typeface="Times New Roman" panose="02020603050405020304" pitchFamily="18" charset="0"/>
                <a:cs typeface="Times New Roman" panose="02020603050405020304" pitchFamily="18" charset="0"/>
              </a:rPr>
              <a:t>é</a:t>
            </a:r>
            <a:r>
              <a:rPr lang="en-US" altLang="fr-FR" sz="2400" b="0" strike="noStrike" spc="-1">
                <a:solidFill>
                  <a:srgbClr val="000000"/>
                </a:solidFill>
                <a:latin typeface="Times New Roman" panose="02020603050405020304" pitchFamily="18" charset="0"/>
                <a:cs typeface="Times New Roman" panose="02020603050405020304" pitchFamily="18" charset="0"/>
              </a:rPr>
              <a:t>ment ajout</a:t>
            </a:r>
            <a:r>
              <a:rPr lang="en-US" altLang="en-US" sz="2400" b="0" strike="noStrike" spc="-1">
                <a:solidFill>
                  <a:srgbClr val="000000"/>
                </a:solidFill>
                <a:latin typeface="Times New Roman" panose="02020603050405020304" pitchFamily="18" charset="0"/>
                <a:cs typeface="Times New Roman" panose="02020603050405020304" pitchFamily="18" charset="0"/>
              </a:rPr>
              <a:t>é</a:t>
            </a:r>
            <a:r>
              <a:rPr lang="en-US" altLang="fr-FR" sz="2400" b="0" strike="noStrike" spc="-1">
                <a:solidFill>
                  <a:srgbClr val="000000"/>
                </a:solidFill>
                <a:latin typeface="Times New Roman" panose="02020603050405020304" pitchFamily="18" charset="0"/>
                <a:cs typeface="Times New Roman" panose="02020603050405020304" pitchFamily="18" charset="0"/>
              </a:rPr>
              <a:t> est le premier à </a:t>
            </a:r>
            <a:r>
              <a:rPr lang="en-US" altLang="en-US" sz="2400" b="0" strike="noStrike" spc="-1">
                <a:solidFill>
                  <a:srgbClr val="000000"/>
                </a:solidFill>
                <a:latin typeface="Times New Roman" panose="02020603050405020304" pitchFamily="18" charset="0"/>
                <a:cs typeface="Times New Roman" panose="02020603050405020304" pitchFamily="18" charset="0"/>
              </a:rPr>
              <a:t>ê</a:t>
            </a:r>
            <a:r>
              <a:rPr lang="en-US" altLang="fr-FR" sz="2400" b="0" strike="noStrike" spc="-1">
                <a:solidFill>
                  <a:srgbClr val="000000"/>
                </a:solidFill>
                <a:latin typeface="Times New Roman" panose="02020603050405020304" pitchFamily="18" charset="0"/>
                <a:cs typeface="Times New Roman" panose="02020603050405020304" pitchFamily="18" charset="0"/>
              </a:rPr>
              <a:t>tre retir</a:t>
            </a:r>
            <a:r>
              <a:rPr lang="en-US" altLang="en-US" sz="2400" b="0" strike="noStrike" spc="-1">
                <a:solidFill>
                  <a:srgbClr val="000000"/>
                </a:solidFill>
                <a:latin typeface="Times New Roman" panose="02020603050405020304" pitchFamily="18" charset="0"/>
                <a:cs typeface="Times New Roman" panose="02020603050405020304" pitchFamily="18" charset="0"/>
              </a:rPr>
              <a:t>é</a:t>
            </a:r>
            <a:r>
              <a:rPr lang="en-US" altLang="fr-FR" sz="2400" b="0" strike="noStrike" spc="-1">
                <a:solidFill>
                  <a:srgbClr val="000000"/>
                </a:solidFill>
                <a:latin typeface="Times New Roman" panose="02020603050405020304" pitchFamily="18" charset="0"/>
                <a:cs typeface="Times New Roman" panose="02020603050405020304" pitchFamily="18" charset="0"/>
              </a:rPr>
              <a:t>.</a:t>
            </a:r>
            <a:endParaRPr lang="en-US" altLang="fr-FR" sz="2400" b="0" strike="noStrike" spc="-1">
              <a:solidFill>
                <a:srgbClr val="000000"/>
              </a:solidFill>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pitchFamily="18" charset="0"/>
                <a:cs typeface="Times New Roman" panose="02020603050405020304" pitchFamily="18" charset="0"/>
              </a:rPr>
              <a:t>Dans le cas d’une file on fait les adjonctions à une extrémité, les accès et les suppressions à l’autre extrémité.</a:t>
            </a:r>
            <a:endParaRPr 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pitchFamily="18" charset="0"/>
                <a:cs typeface="Times New Roman" panose="02020603050405020304" pitchFamily="18" charset="0"/>
              </a:rPr>
              <a:t>Les files sont aussi appelées FIFO ( first –in –first out) : premier-entré-premier-sorti</a:t>
            </a:r>
            <a:endParaRPr 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fr-FR" sz="2400" b="0" strike="noStrike" spc="-1">
                <a:solidFill>
                  <a:srgbClr val="000000"/>
                </a:solidFill>
                <a:latin typeface="Times New Roman" panose="02020603050405020304" pitchFamily="18" charset="0"/>
                <a:cs typeface="Times New Roman" panose="02020603050405020304" pitchFamily="18" charset="0"/>
              </a:rPr>
              <a:t>Une file comporte une </a:t>
            </a:r>
            <a:r>
              <a:rPr lang="fr-FR" sz="2400" b="1" strike="noStrike" spc="-1">
                <a:solidFill>
                  <a:srgbClr val="9B0D40"/>
                </a:solidFill>
                <a:latin typeface="Times New Roman" panose="02020603050405020304" pitchFamily="18" charset="0"/>
                <a:cs typeface="Times New Roman" panose="02020603050405020304" pitchFamily="18" charset="0"/>
              </a:rPr>
              <a:t>tête</a:t>
            </a:r>
            <a:r>
              <a:rPr lang="fr-FR" sz="2400" b="0" strike="noStrike" spc="-1">
                <a:solidFill>
                  <a:srgbClr val="000000"/>
                </a:solidFill>
                <a:latin typeface="Times New Roman" panose="02020603050405020304" pitchFamily="18" charset="0"/>
                <a:cs typeface="Times New Roman" panose="02020603050405020304" pitchFamily="18" charset="0"/>
              </a:rPr>
              <a:t> et une </a:t>
            </a:r>
            <a:r>
              <a:rPr lang="fr-FR" sz="2400" b="1" strike="noStrike" spc="-1">
                <a:solidFill>
                  <a:srgbClr val="9B0D40"/>
                </a:solidFill>
                <a:latin typeface="Times New Roman" panose="02020603050405020304" pitchFamily="18" charset="0"/>
                <a:cs typeface="Times New Roman" panose="02020603050405020304" pitchFamily="18" charset="0"/>
              </a:rPr>
              <a:t>queue</a:t>
            </a:r>
            <a:r>
              <a:rPr lang="fr-FR" sz="2400" b="1" strike="noStrike" spc="-1">
                <a:solidFill>
                  <a:srgbClr val="000000"/>
                </a:solidFill>
                <a:latin typeface="Times New Roman" panose="02020603050405020304" pitchFamily="18" charset="0"/>
                <a:cs typeface="Times New Roman" panose="02020603050405020304" pitchFamily="18" charset="0"/>
              </a:rPr>
              <a:t>. </a:t>
            </a:r>
            <a:r>
              <a:rPr lang="fr-FR" sz="2400" b="0" strike="noStrike" spc="-1">
                <a:solidFill>
                  <a:srgbClr val="000000"/>
                </a:solidFill>
                <a:latin typeface="Times New Roman" panose="02020603050405020304" pitchFamily="18" charset="0"/>
                <a:cs typeface="Times New Roman" panose="02020603050405020304" pitchFamily="18" charset="0"/>
              </a:rPr>
              <a:t>Les éléments sont donc retirés et consultés dans la tête et rajoutés dans la queue</a:t>
            </a:r>
            <a:r>
              <a:rPr lang="fr-FR" sz="2400" b="0" strike="noStrike" spc="-1">
                <a:solidFill>
                  <a:srgbClr val="000000"/>
                </a:solidFill>
                <a:latin typeface="Times New Roman" panose="02020603050405020304"/>
              </a:rPr>
              <a:t> </a:t>
            </a:r>
            <a:endParaRPr lang="fr-FR" sz="2400" b="0" strike="noStrike" spc="-1">
              <a:latin typeface="Arial" panose="020B0604020202020204"/>
            </a:endParaRPr>
          </a:p>
        </p:txBody>
      </p:sp>
      <p:pic>
        <p:nvPicPr>
          <p:cNvPr id="290" name="Image 1"/>
          <p:cNvPicPr/>
          <p:nvPr/>
        </p:nvPicPr>
        <p:blipFill>
          <a:blip r:embed="rId2"/>
          <a:stretch>
            <a:fillRect/>
          </a:stretch>
        </p:blipFill>
        <p:spPr>
          <a:xfrm>
            <a:off x="4295590" y="5296115"/>
            <a:ext cx="4075920" cy="1180440"/>
          </a:xfrm>
          <a:prstGeom prst="rect">
            <a:avLst/>
          </a:prstGeom>
          <a:ln>
            <a:noFill/>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87" name="Picture 137"/>
          <p:cNvPicPr/>
          <p:nvPr/>
        </p:nvPicPr>
        <p:blipFill>
          <a:blip r:embed="rId1"/>
          <a:stretch>
            <a:fillRect/>
          </a:stretch>
        </p:blipFill>
        <p:spPr>
          <a:xfrm>
            <a:off x="635" y="-27305"/>
            <a:ext cx="12191400" cy="6857280"/>
          </a:xfrm>
          <a:prstGeom prst="rect">
            <a:avLst/>
          </a:prstGeom>
          <a:ln>
            <a:noFill/>
          </a:ln>
        </p:spPr>
      </p:pic>
      <p:sp>
        <p:nvSpPr>
          <p:cNvPr id="28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chemeClr val="bg1"/>
                </a:solidFill>
                <a:latin typeface="Times New Roman" panose="02020603050405020304"/>
              </a:rPr>
              <a:t> </a:t>
            </a:r>
            <a:r>
              <a:rPr lang="en-US" altLang="fr-FR" sz="4000" spc="-1">
                <a:solidFill>
                  <a:schemeClr val="bg1"/>
                </a:solidFill>
                <a:latin typeface="Times New Roman" panose="02020603050405020304" pitchFamily="18" charset="0"/>
                <a:cs typeface="Times New Roman" panose="02020603050405020304" pitchFamily="18" charset="0"/>
                <a:sym typeface="+mn-ea"/>
              </a:rPr>
              <a:t>Caract</a:t>
            </a:r>
            <a:r>
              <a:rPr lang="en-US" altLang="en-US" sz="4000" spc="-1">
                <a:solidFill>
                  <a:schemeClr val="bg1"/>
                </a:solidFill>
                <a:latin typeface="Times New Roman" panose="02020603050405020304" pitchFamily="18" charset="0"/>
                <a:cs typeface="Times New Roman" panose="02020603050405020304" pitchFamily="18" charset="0"/>
                <a:sym typeface="+mn-ea"/>
              </a:rPr>
              <a:t>é</a:t>
            </a:r>
            <a:r>
              <a:rPr lang="en-US" altLang="fr-FR" sz="4000" spc="-1">
                <a:solidFill>
                  <a:schemeClr val="bg1"/>
                </a:solidFill>
                <a:latin typeface="Times New Roman" panose="02020603050405020304" pitchFamily="18" charset="0"/>
                <a:cs typeface="Times New Roman" panose="02020603050405020304" pitchFamily="18" charset="0"/>
                <a:sym typeface="+mn-ea"/>
              </a:rPr>
              <a:t>ristiques principales d’une file </a:t>
            </a:r>
            <a:endParaRPr lang="en-US" altLang="fr-FR" sz="4000" b="0" strike="noStrike" spc="-1">
              <a:solidFill>
                <a:schemeClr val="bg1"/>
              </a:solidFill>
              <a:latin typeface="Times New Roman" panose="02020603050405020304" pitchFamily="18" charset="0"/>
              <a:cs typeface="Times New Roman" panose="02020603050405020304" pitchFamily="18" charset="0"/>
            </a:endParaRPr>
          </a:p>
          <a:p>
            <a:pPr algn="ctr">
              <a:lnSpc>
                <a:spcPct val="90000"/>
              </a:lnSpc>
            </a:pPr>
            <a:endParaRPr lang="fr-FR" sz="4000" b="0" strike="noStrike" spc="-1">
              <a:latin typeface="Arial" panose="020B0604020202020204"/>
            </a:endParaRPr>
          </a:p>
        </p:txBody>
      </p:sp>
      <p:sp>
        <p:nvSpPr>
          <p:cNvPr id="289" name="CustomShape 3"/>
          <p:cNvSpPr/>
          <p:nvPr/>
        </p:nvSpPr>
        <p:spPr>
          <a:xfrm>
            <a:off x="1073150" y="2602865"/>
            <a:ext cx="9832975" cy="379603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7965" algn="just">
              <a:lnSpc>
                <a:spcPct val="90000"/>
              </a:lnSpc>
              <a:spcBef>
                <a:spcPts val="1000"/>
              </a:spcBef>
              <a:buClr>
                <a:srgbClr val="000000"/>
              </a:buClr>
              <a:buFont typeface="Arial" panose="020B0604020202020204"/>
              <a:buChar char="•"/>
            </a:pPr>
            <a:r>
              <a:rPr lang="en-US" altLang="fr-FR" sz="2400" b="1" strike="noStrike" spc="-1">
                <a:latin typeface="Times New Roman" panose="02020603050405020304" pitchFamily="18" charset="0"/>
                <a:cs typeface="Times New Roman" panose="02020603050405020304" pitchFamily="18" charset="0"/>
              </a:rPr>
              <a:t>Deux extr</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mit</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s :</a:t>
            </a:r>
            <a:endParaRPr lang="en-US" altLang="fr-FR" sz="24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0" strike="noStrike" spc="-1">
                <a:latin typeface="Times New Roman" panose="02020603050405020304" pitchFamily="18" charset="0"/>
                <a:cs typeface="Times New Roman" panose="02020603050405020304" pitchFamily="18" charset="0"/>
              </a:rPr>
              <a:t>T</a:t>
            </a:r>
            <a:r>
              <a:rPr lang="en-US" altLang="en-US" sz="2400" b="0" strike="noStrike" spc="-1">
                <a:latin typeface="Times New Roman" panose="02020603050405020304" pitchFamily="18" charset="0"/>
                <a:cs typeface="Times New Roman" panose="02020603050405020304" pitchFamily="18" charset="0"/>
              </a:rPr>
              <a:t>ê</a:t>
            </a:r>
            <a:r>
              <a:rPr lang="en-US" altLang="fr-FR" sz="2400" b="0" strike="noStrike" spc="-1">
                <a:latin typeface="Times New Roman" panose="02020603050405020304" pitchFamily="18" charset="0"/>
                <a:cs typeface="Times New Roman" panose="02020603050405020304" pitchFamily="18" charset="0"/>
              </a:rPr>
              <a:t>te (front) : L’endroit o</a:t>
            </a:r>
            <a:r>
              <a:rPr lang="en-US" altLang="en-US" sz="2400" b="0" strike="noStrike" spc="-1">
                <a:latin typeface="Times New Roman" panose="02020603050405020304" pitchFamily="18" charset="0"/>
                <a:cs typeface="Times New Roman" panose="02020603050405020304" pitchFamily="18" charset="0"/>
              </a:rPr>
              <a:t>ù</a:t>
            </a:r>
            <a:r>
              <a:rPr lang="en-US" altLang="fr-FR" sz="2400" b="0" strike="noStrike" spc="-1">
                <a:latin typeface="Times New Roman" panose="02020603050405020304" pitchFamily="18" charset="0"/>
                <a:cs typeface="Times New Roman" panose="02020603050405020304" pitchFamily="18" charset="0"/>
              </a:rPr>
              <a:t> les </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ments sont retir</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s (d</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filement).</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0" strike="noStrike" spc="-1">
                <a:latin typeface="Times New Roman" panose="02020603050405020304" pitchFamily="18" charset="0"/>
                <a:cs typeface="Times New Roman" panose="02020603050405020304" pitchFamily="18" charset="0"/>
              </a:rPr>
              <a:t>Queue (rear) : L’endroit o</a:t>
            </a:r>
            <a:r>
              <a:rPr lang="en-US" altLang="en-US" sz="2400" b="0" strike="noStrike" spc="-1">
                <a:latin typeface="Times New Roman" panose="02020603050405020304" pitchFamily="18" charset="0"/>
                <a:cs typeface="Times New Roman" panose="02020603050405020304" pitchFamily="18" charset="0"/>
              </a:rPr>
              <a:t>ù</a:t>
            </a:r>
            <a:r>
              <a:rPr lang="en-US" altLang="fr-FR" sz="2400" b="0" strike="noStrike" spc="-1">
                <a:latin typeface="Times New Roman" panose="02020603050405020304" pitchFamily="18" charset="0"/>
                <a:cs typeface="Times New Roman" panose="02020603050405020304" pitchFamily="18" charset="0"/>
              </a:rPr>
              <a:t> les </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ments sont ajout</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s (enfilement).</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1" strike="noStrike" spc="-1">
                <a:latin typeface="Times New Roman" panose="02020603050405020304" pitchFamily="18" charset="0"/>
                <a:cs typeface="Times New Roman" panose="02020603050405020304" pitchFamily="18" charset="0"/>
              </a:rPr>
              <a:t> Op</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rations principales :</a:t>
            </a:r>
            <a:endParaRPr lang="en-US" altLang="fr-FR" sz="2400" b="1"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0" strike="noStrike" spc="-1">
                <a:latin typeface="Times New Roman" panose="02020603050405020304" pitchFamily="18" charset="0"/>
                <a:cs typeface="Times New Roman" panose="02020603050405020304" pitchFamily="18" charset="0"/>
              </a:rPr>
              <a:t>Enfiler (enqueue) : Ajouter un </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 à la fin (queue).</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0" strike="noStrike" spc="-1">
                <a:latin typeface="Times New Roman" panose="02020603050405020304" pitchFamily="18" charset="0"/>
                <a:cs typeface="Times New Roman" panose="02020603050405020304" pitchFamily="18" charset="0"/>
              </a:rPr>
              <a:t>D</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filer (dequeue) : Retirer 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 en t</a:t>
            </a:r>
            <a:r>
              <a:rPr lang="en-US" altLang="en-US" sz="2400" b="0" strike="noStrike" spc="-1">
                <a:latin typeface="Times New Roman" panose="02020603050405020304" pitchFamily="18" charset="0"/>
                <a:cs typeface="Times New Roman" panose="02020603050405020304" pitchFamily="18" charset="0"/>
              </a:rPr>
              <a:t>ê</a:t>
            </a:r>
            <a:r>
              <a:rPr lang="en-US" altLang="fr-FR" sz="2400" b="0" strike="noStrike" spc="-1">
                <a:latin typeface="Times New Roman" panose="02020603050405020304" pitchFamily="18" charset="0"/>
                <a:cs typeface="Times New Roman" panose="02020603050405020304" pitchFamily="18" charset="0"/>
              </a:rPr>
              <a:t>te.</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0" strike="noStrike" spc="-1">
                <a:latin typeface="Times New Roman" panose="02020603050405020304" pitchFamily="18" charset="0"/>
                <a:cs typeface="Times New Roman" panose="02020603050405020304" pitchFamily="18" charset="0"/>
              </a:rPr>
              <a:t>Front : Acc</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der à 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 en t</a:t>
            </a:r>
            <a:r>
              <a:rPr lang="en-US" altLang="en-US" sz="2400" b="0" strike="noStrike" spc="-1">
                <a:latin typeface="Times New Roman" panose="02020603050405020304" pitchFamily="18" charset="0"/>
                <a:cs typeface="Times New Roman" panose="02020603050405020304" pitchFamily="18" charset="0"/>
              </a:rPr>
              <a:t>ê</a:t>
            </a:r>
            <a:r>
              <a:rPr lang="en-US" altLang="fr-FR" sz="2400" b="0" strike="noStrike" spc="-1">
                <a:latin typeface="Times New Roman" panose="02020603050405020304" pitchFamily="18" charset="0"/>
                <a:cs typeface="Times New Roman" panose="02020603050405020304" pitchFamily="18" charset="0"/>
              </a:rPr>
              <a:t>te sans le retirer.</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0" strike="noStrike" spc="-1">
                <a:latin typeface="Times New Roman" panose="02020603050405020304" pitchFamily="18" charset="0"/>
                <a:cs typeface="Times New Roman" panose="02020603050405020304" pitchFamily="18" charset="0"/>
              </a:rPr>
              <a:t>File vide : V</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rifier si la file est vide.</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0" strike="noStrike" spc="-1">
                <a:latin typeface="Times New Roman" panose="02020603050405020304" pitchFamily="18" charset="0"/>
                <a:cs typeface="Times New Roman" panose="02020603050405020304" pitchFamily="18" charset="0"/>
              </a:rPr>
              <a:t>File pleine (dans le cas d’une file statique).</a:t>
            </a:r>
            <a:endParaRPr lang="en-US" altLang="fr-FR" sz="2400" b="0"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87" name="Picture 137"/>
          <p:cNvPicPr/>
          <p:nvPr/>
        </p:nvPicPr>
        <p:blipFill>
          <a:blip r:embed="rId1"/>
          <a:stretch>
            <a:fillRect/>
          </a:stretch>
        </p:blipFill>
        <p:spPr>
          <a:xfrm>
            <a:off x="635" y="-27305"/>
            <a:ext cx="12191400" cy="6857280"/>
          </a:xfrm>
          <a:prstGeom prst="rect">
            <a:avLst/>
          </a:prstGeom>
          <a:ln>
            <a:noFill/>
          </a:ln>
        </p:spPr>
      </p:pic>
      <p:sp>
        <p:nvSpPr>
          <p:cNvPr id="28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US" altLang="fr-FR" sz="4000" b="1" spc="-1">
                <a:solidFill>
                  <a:schemeClr val="bg1"/>
                </a:solidFill>
                <a:latin typeface="Times New Roman" panose="02020603050405020304" pitchFamily="18" charset="0"/>
                <a:cs typeface="Times New Roman" panose="02020603050405020304" pitchFamily="18" charset="0"/>
                <a:sym typeface="+mn-ea"/>
              </a:rPr>
              <a:t>Types de files </a:t>
            </a:r>
            <a:endParaRPr lang="en-US" altLang="fr-FR" sz="4000" b="1" strike="noStrike" spc="-1">
              <a:solidFill>
                <a:schemeClr val="bg1"/>
              </a:solidFill>
              <a:latin typeface="Times New Roman" panose="02020603050405020304" pitchFamily="18" charset="0"/>
              <a:cs typeface="Times New Roman" panose="02020603050405020304" pitchFamily="18" charset="0"/>
            </a:endParaRPr>
          </a:p>
          <a:p>
            <a:pPr algn="ctr">
              <a:lnSpc>
                <a:spcPct val="90000"/>
              </a:lnSpc>
            </a:pPr>
            <a:endParaRPr lang="en-US" altLang="fr-FR" sz="4000" b="1" strike="noStrike" spc="-1">
              <a:solidFill>
                <a:schemeClr val="bg1"/>
              </a:solidFill>
              <a:latin typeface="Times New Roman" panose="02020603050405020304" pitchFamily="18" charset="0"/>
              <a:cs typeface="Times New Roman" panose="02020603050405020304" pitchFamily="18" charset="0"/>
            </a:endParaRPr>
          </a:p>
        </p:txBody>
      </p:sp>
      <p:sp>
        <p:nvSpPr>
          <p:cNvPr id="289" name="CustomShape 3"/>
          <p:cNvSpPr/>
          <p:nvPr/>
        </p:nvSpPr>
        <p:spPr>
          <a:xfrm>
            <a:off x="1073150" y="2602865"/>
            <a:ext cx="9832975" cy="379603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7965" algn="just">
              <a:lnSpc>
                <a:spcPct val="90000"/>
              </a:lnSpc>
              <a:spcBef>
                <a:spcPts val="1000"/>
              </a:spcBef>
              <a:buClr>
                <a:srgbClr val="000000"/>
              </a:buClr>
              <a:buFont typeface="Arial" panose="020B0604020202020204"/>
              <a:buChar char="•"/>
            </a:pP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1" strike="noStrike" spc="-1">
                <a:latin typeface="Times New Roman" panose="02020603050405020304" pitchFamily="18" charset="0"/>
                <a:cs typeface="Times New Roman" panose="02020603050405020304" pitchFamily="18" charset="0"/>
              </a:rPr>
              <a:t>File simple (classique)</a:t>
            </a:r>
            <a:r>
              <a:rPr lang="en-US" altLang="fr-FR" sz="2400" b="0" strike="noStrike" spc="-1">
                <a:latin typeface="Times New Roman" panose="02020603050405020304" pitchFamily="18" charset="0"/>
                <a:cs typeface="Times New Roman" panose="02020603050405020304" pitchFamily="18" charset="0"/>
              </a:rPr>
              <a:t> : Enfilement à la fin, d</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filement au d</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but.</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1" strike="noStrike" spc="-1">
                <a:latin typeface="Times New Roman" panose="02020603050405020304" pitchFamily="18" charset="0"/>
                <a:cs typeface="Times New Roman" panose="02020603050405020304" pitchFamily="18" charset="0"/>
              </a:rPr>
              <a:t>File circulaire </a:t>
            </a:r>
            <a:r>
              <a:rPr lang="en-US" altLang="fr-FR" sz="2400" b="0" strike="noStrike" spc="-1">
                <a:latin typeface="Times New Roman" panose="02020603050405020304" pitchFamily="18" charset="0"/>
                <a:cs typeface="Times New Roman" panose="02020603050405020304" pitchFamily="18" charset="0"/>
              </a:rPr>
              <a:t>: G</a:t>
            </a:r>
            <a:r>
              <a:rPr lang="en-US" altLang="en-US" sz="2400" b="0" strike="noStrike" spc="-1">
                <a:latin typeface="Times New Roman" panose="02020603050405020304" pitchFamily="18" charset="0"/>
                <a:cs typeface="Times New Roman" panose="02020603050405020304" pitchFamily="18" charset="0"/>
              </a:rPr>
              <a:t>è</a:t>
            </a:r>
            <a:r>
              <a:rPr lang="en-US" altLang="fr-FR" sz="2400" b="0" strike="noStrike" spc="-1">
                <a:latin typeface="Times New Roman" panose="02020603050405020304" pitchFamily="18" charset="0"/>
                <a:cs typeface="Times New Roman" panose="02020603050405020304" pitchFamily="18" charset="0"/>
              </a:rPr>
              <a:t>re efficacement l’espace m</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moire en r</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utilisant les cases lib</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r</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es.</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1" strike="noStrike" spc="-1">
                <a:latin typeface="Times New Roman" panose="02020603050405020304" pitchFamily="18" charset="0"/>
                <a:cs typeface="Times New Roman" panose="02020603050405020304" pitchFamily="18" charset="0"/>
              </a:rPr>
              <a:t>File à double extr</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mit</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 </a:t>
            </a:r>
            <a:r>
              <a:rPr lang="en-US" altLang="fr-FR" sz="2400" b="0" strike="noStrike" spc="-1">
                <a:latin typeface="Times New Roman" panose="02020603050405020304" pitchFamily="18" charset="0"/>
                <a:cs typeface="Times New Roman" panose="02020603050405020304" pitchFamily="18" charset="0"/>
              </a:rPr>
              <a:t>(Deque - Double Ended Queue) : Enfilement et d</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filement possibles aux deux extr</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mit</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s.</a:t>
            </a:r>
            <a:endParaRPr lang="en-US" altLang="fr-FR" sz="2400" b="0" strike="noStrike" spc="-1">
              <a:latin typeface="Times New Roman" panose="02020603050405020304" pitchFamily="18" charset="0"/>
              <a:cs typeface="Times New Roman" panose="02020603050405020304" pitchFamily="18" charset="0"/>
            </a:endParaRPr>
          </a:p>
          <a:p>
            <a:pPr marL="228600" indent="-227965" algn="just">
              <a:lnSpc>
                <a:spcPct val="90000"/>
              </a:lnSpc>
              <a:spcBef>
                <a:spcPts val="1000"/>
              </a:spcBef>
              <a:buClr>
                <a:srgbClr val="000000"/>
              </a:buClr>
              <a:buFont typeface="Arial" panose="020B0604020202020204"/>
              <a:buChar char="•"/>
            </a:pPr>
            <a:r>
              <a:rPr lang="en-US" altLang="fr-FR" sz="2400" b="1" strike="noStrike" spc="-1">
                <a:latin typeface="Times New Roman" panose="02020603050405020304" pitchFamily="18" charset="0"/>
                <a:cs typeface="Times New Roman" panose="02020603050405020304" pitchFamily="18" charset="0"/>
              </a:rPr>
              <a:t>File de priorit</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 </a:t>
            </a:r>
            <a:r>
              <a:rPr lang="en-US" altLang="fr-FR" sz="2400" b="0" strike="noStrike" spc="-1">
                <a:latin typeface="Times New Roman" panose="02020603050405020304" pitchFamily="18" charset="0"/>
                <a:cs typeface="Times New Roman" panose="02020603050405020304" pitchFamily="18" charset="0"/>
              </a:rPr>
              <a:t>: Les </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l</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ments ont une priorit</a:t>
            </a:r>
            <a:r>
              <a:rPr lang="en-US" altLang="en-US" sz="2400" b="0" strike="noStrike" spc="-1">
                <a:latin typeface="Times New Roman" panose="02020603050405020304" pitchFamily="18" charset="0"/>
                <a:cs typeface="Times New Roman" panose="02020603050405020304" pitchFamily="18" charset="0"/>
              </a:rPr>
              <a:t>é</a:t>
            </a:r>
            <a:r>
              <a:rPr lang="en-US" altLang="fr-FR" sz="2400" b="0" strike="noStrike" spc="-1">
                <a:latin typeface="Times New Roman" panose="02020603050405020304" pitchFamily="18" charset="0"/>
                <a:cs typeface="Times New Roman" panose="02020603050405020304" pitchFamily="18" charset="0"/>
              </a:rPr>
              <a:t> et sont extraits selon leur importance.</a:t>
            </a:r>
            <a:endParaRPr lang="en-US" altLang="fr-FR" sz="2400" b="0"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1" name="CustomShape 1"/>
          <p:cNvSpPr/>
          <p:nvPr/>
        </p:nvSpPr>
        <p:spPr>
          <a:xfrm>
            <a:off x="0" y="0"/>
            <a:ext cx="608148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92" name="CustomShape 2"/>
          <p:cNvSpPr/>
          <p:nvPr/>
        </p:nvSpPr>
        <p:spPr>
          <a:xfrm>
            <a:off x="0" y="0"/>
            <a:ext cx="12191400" cy="6857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93" name="Picture 75"/>
          <p:cNvPicPr/>
          <p:nvPr/>
        </p:nvPicPr>
        <p:blipFill>
          <a:blip r:embed="rId1"/>
          <a:stretch>
            <a:fillRect/>
          </a:stretch>
        </p:blipFill>
        <p:spPr>
          <a:xfrm>
            <a:off x="0" y="0"/>
            <a:ext cx="12191400" cy="6857280"/>
          </a:xfrm>
          <a:prstGeom prst="rect">
            <a:avLst/>
          </a:prstGeom>
          <a:ln>
            <a:noFill/>
          </a:ln>
        </p:spPr>
      </p:pic>
      <p:sp>
        <p:nvSpPr>
          <p:cNvPr id="294" name="CustomShape 3"/>
          <p:cNvSpPr/>
          <p:nvPr/>
        </p:nvSpPr>
        <p:spPr>
          <a:xfrm>
            <a:off x="640080" y="2053800"/>
            <a:ext cx="3668400" cy="2759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90000"/>
              </a:lnSpc>
            </a:pPr>
            <a:r>
              <a:rPr lang="fr-FR" sz="4400" b="0" strike="noStrike" spc="-1">
                <a:solidFill>
                  <a:srgbClr val="FFFFFF"/>
                </a:solidFill>
                <a:latin typeface="Times New Roman" panose="02020603050405020304"/>
              </a:rPr>
              <a:t>TDA File(2)</a:t>
            </a:r>
            <a:endParaRPr lang="fr-FR" sz="4400" b="0" strike="noStrike" spc="-1">
              <a:latin typeface="Arial" panose="020B0604020202020204"/>
            </a:endParaRPr>
          </a:p>
        </p:txBody>
      </p:sp>
      <p:sp>
        <p:nvSpPr>
          <p:cNvPr id="295" name="CustomShape 4"/>
          <p:cNvSpPr/>
          <p:nvPr/>
        </p:nvSpPr>
        <p:spPr>
          <a:xfrm>
            <a:off x="5314680" y="145800"/>
            <a:ext cx="6081480" cy="6439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1000" lnSpcReduction="10000"/>
          </a:bodyPr>
          <a:lstStyle/>
          <a:p>
            <a:pPr marL="228600" indent="-227965">
              <a:lnSpc>
                <a:spcPct val="90000"/>
              </a:lnSpc>
              <a:spcBef>
                <a:spcPts val="1000"/>
              </a:spcBef>
              <a:buClr>
                <a:srgbClr val="9B0D40"/>
              </a:buClr>
              <a:buFont typeface="Arial" panose="020B0604020202020204"/>
              <a:buChar char="•"/>
            </a:pPr>
            <a:r>
              <a:rPr lang="fr-FR" sz="1600" b="1" strike="noStrike" spc="-1">
                <a:solidFill>
                  <a:srgbClr val="9B0D40"/>
                </a:solidFill>
                <a:latin typeface="Times New Roman" panose="02020603050405020304"/>
              </a:rPr>
              <a:t>Type</a:t>
            </a:r>
            <a:r>
              <a:rPr lang="fr-FR" sz="1600" b="1" strike="noStrike" spc="-1">
                <a:solidFill>
                  <a:srgbClr val="000000"/>
                </a:solidFill>
                <a:latin typeface="Times New Roman" panose="02020603050405020304"/>
              </a:rPr>
              <a:t> F</a:t>
            </a:r>
            <a:r>
              <a:rPr lang="fr-FR" sz="1600" b="0" strike="noStrike" spc="-1">
                <a:solidFill>
                  <a:srgbClr val="000000"/>
                </a:solidFill>
                <a:latin typeface="Times New Roman" panose="02020603050405020304"/>
              </a:rPr>
              <a:t>ile</a:t>
            </a:r>
            <a:endParaRPr lang="fr-FR" sz="16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1600" b="1" strike="noStrike" spc="-1">
                <a:solidFill>
                  <a:srgbClr val="000000"/>
                </a:solidFill>
                <a:latin typeface="Times New Roman" panose="02020603050405020304"/>
              </a:rPr>
              <a:t>utilise</a:t>
            </a:r>
            <a:r>
              <a:rPr lang="fr-FR" sz="1600" b="0" strike="noStrike" spc="-1">
                <a:solidFill>
                  <a:srgbClr val="000000"/>
                </a:solidFill>
                <a:latin typeface="Times New Roman" panose="02020603050405020304"/>
              </a:rPr>
              <a:t> Booléen, Elément </a:t>
            </a:r>
            <a:endParaRPr lang="fr-FR" sz="1600" b="0" strike="noStrike" spc="-1">
              <a:latin typeface="Arial" panose="020B0604020202020204"/>
            </a:endParaRPr>
          </a:p>
          <a:p>
            <a:pPr marL="228600" indent="-227965">
              <a:lnSpc>
                <a:spcPct val="90000"/>
              </a:lnSpc>
              <a:spcBef>
                <a:spcPts val="1000"/>
              </a:spcBef>
              <a:buClr>
                <a:srgbClr val="9B0D40"/>
              </a:buClr>
              <a:buFont typeface="Arial" panose="020B0604020202020204"/>
              <a:buChar char="•"/>
            </a:pPr>
            <a:r>
              <a:rPr lang="fr-FR" sz="1600" b="1" strike="noStrike" spc="-1">
                <a:solidFill>
                  <a:srgbClr val="9B0D40"/>
                </a:solidFill>
                <a:latin typeface="Times New Roman" panose="02020603050405020304"/>
              </a:rPr>
              <a:t>Opérations</a:t>
            </a:r>
            <a:endParaRPr lang="fr-FR" sz="1600" b="0" strike="noStrike" spc="-1">
              <a:latin typeface="Arial" panose="020B0604020202020204"/>
            </a:endParaRPr>
          </a:p>
          <a:p>
            <a:pPr marL="685800" indent="-227965">
              <a:lnSpc>
                <a:spcPct val="90000"/>
              </a:lnSpc>
              <a:spcBef>
                <a:spcPts val="500"/>
              </a:spcBef>
            </a:pPr>
            <a:r>
              <a:rPr lang="fr-FR" sz="1600" b="0" strike="noStrike" spc="-1">
                <a:solidFill>
                  <a:srgbClr val="000000"/>
                </a:solidFill>
                <a:latin typeface="Times New Roman" panose="02020603050405020304"/>
              </a:rPr>
              <a:t>	File-vide 	: -&gt;File 		    {création d’une file vide FV(F)}</a:t>
            </a:r>
            <a:endParaRPr lang="fr-FR" sz="1600" b="0" strike="noStrike" spc="-1">
              <a:latin typeface="Arial" panose="020B0604020202020204"/>
            </a:endParaRPr>
          </a:p>
          <a:p>
            <a:pPr marL="685800" indent="-227965">
              <a:lnSpc>
                <a:spcPct val="90000"/>
              </a:lnSpc>
              <a:spcBef>
                <a:spcPts val="500"/>
              </a:spcBef>
            </a:pPr>
            <a:r>
              <a:rPr lang="fr-FR" sz="1600" b="0" strike="noStrike" spc="-1">
                <a:solidFill>
                  <a:srgbClr val="000000"/>
                </a:solidFill>
                <a:latin typeface="Times New Roman" panose="02020603050405020304"/>
              </a:rPr>
              <a:t>	Enfiler   	: File x Elément -&gt;File {EF(F,a)}</a:t>
            </a:r>
            <a:endParaRPr lang="fr-FR" sz="1600" b="0" strike="noStrike" spc="-1">
              <a:latin typeface="Arial" panose="020B0604020202020204"/>
            </a:endParaRPr>
          </a:p>
          <a:p>
            <a:pPr marL="685800" indent="-227965">
              <a:lnSpc>
                <a:spcPct val="90000"/>
              </a:lnSpc>
              <a:spcBef>
                <a:spcPts val="500"/>
              </a:spcBef>
            </a:pPr>
            <a:r>
              <a:rPr lang="fr-FR" sz="1600" b="0" strike="noStrike" spc="-1">
                <a:solidFill>
                  <a:srgbClr val="000000"/>
                </a:solidFill>
                <a:latin typeface="Times New Roman" panose="02020603050405020304"/>
              </a:rPr>
              <a:t>     Défiler    	: File -&gt;File                  {supprimer le dernier DF(F)}</a:t>
            </a:r>
            <a:endParaRPr lang="fr-FR" sz="1600" b="0" strike="noStrike" spc="-1">
              <a:latin typeface="Arial" panose="020B0604020202020204"/>
            </a:endParaRPr>
          </a:p>
          <a:p>
            <a:pPr marL="685800" indent="-227965">
              <a:lnSpc>
                <a:spcPct val="90000"/>
              </a:lnSpc>
              <a:spcBef>
                <a:spcPts val="500"/>
              </a:spcBef>
            </a:pPr>
            <a:r>
              <a:rPr lang="fr-FR" sz="1600" b="0" strike="noStrike" spc="-1">
                <a:solidFill>
                  <a:srgbClr val="000000"/>
                </a:solidFill>
                <a:latin typeface="Times New Roman" panose="02020603050405020304"/>
              </a:rPr>
              <a:t>     Valeur         : File-&gt;Elément            {renvoie l’élément au sommet sans modifier</a:t>
            </a:r>
            <a:endParaRPr lang="fr-FR" sz="1600" b="0" strike="noStrike" spc="-1">
              <a:latin typeface="Arial" panose="020B0604020202020204"/>
            </a:endParaRPr>
          </a:p>
          <a:p>
            <a:pPr marL="685800" indent="-227965">
              <a:lnSpc>
                <a:spcPct val="90000"/>
              </a:lnSpc>
              <a:spcBef>
                <a:spcPts val="500"/>
              </a:spcBef>
            </a:pPr>
            <a:r>
              <a:rPr lang="fr-FR" sz="1600" b="0" strike="noStrike" spc="-1">
                <a:solidFill>
                  <a:srgbClr val="000000"/>
                </a:solidFill>
                <a:latin typeface="Times New Roman" panose="02020603050405020304"/>
              </a:rPr>
              <a:t>                                                              la file  VF(F)}</a:t>
            </a:r>
            <a:endParaRPr lang="fr-FR" sz="1600" b="0" strike="noStrike" spc="-1">
              <a:latin typeface="Arial" panose="020B0604020202020204"/>
            </a:endParaRPr>
          </a:p>
          <a:p>
            <a:pPr marL="685800" indent="-227965">
              <a:lnSpc>
                <a:spcPct val="90000"/>
              </a:lnSpc>
              <a:spcBef>
                <a:spcPts val="500"/>
              </a:spcBef>
            </a:pPr>
            <a:r>
              <a:rPr lang="fr-FR" sz="1600" b="0" strike="noStrike" spc="-1">
                <a:solidFill>
                  <a:srgbClr val="000000"/>
                </a:solidFill>
                <a:latin typeface="Times New Roman" panose="02020603050405020304"/>
              </a:rPr>
              <a:t>     Est-vide      : File-&gt;Booléen            {test si la file est vide EV(F)}</a:t>
            </a:r>
            <a:endParaRPr lang="fr-FR" sz="1600" b="0" strike="noStrike" spc="-1">
              <a:latin typeface="Arial" panose="020B0604020202020204"/>
            </a:endParaRPr>
          </a:p>
          <a:p>
            <a:pPr marL="685800" indent="-227965">
              <a:lnSpc>
                <a:spcPct val="90000"/>
              </a:lnSpc>
              <a:spcBef>
                <a:spcPts val="500"/>
              </a:spcBef>
            </a:pPr>
            <a:endParaRPr lang="fr-FR" sz="1600" b="0" strike="noStrike" spc="-1">
              <a:latin typeface="Arial" panose="020B0604020202020204"/>
            </a:endParaRPr>
          </a:p>
          <a:p>
            <a:pPr marL="685800" indent="-227965">
              <a:lnSpc>
                <a:spcPct val="90000"/>
              </a:lnSpc>
              <a:spcBef>
                <a:spcPts val="500"/>
              </a:spcBef>
            </a:pPr>
            <a:r>
              <a:rPr lang="fr-FR" sz="1600" b="0" strike="noStrike" spc="-1">
                <a:solidFill>
                  <a:srgbClr val="000000"/>
                </a:solidFill>
                <a:latin typeface="Times New Roman" panose="02020603050405020304"/>
              </a:rPr>
              <a:t>Les opérations Défiler et Valeur ne sont définies que si la file n’est pas vide</a:t>
            </a:r>
            <a:endParaRPr lang="fr-FR" sz="1600" b="0" strike="noStrike" spc="-1">
              <a:latin typeface="Arial" panose="020B0604020202020204"/>
            </a:endParaRPr>
          </a:p>
          <a:p>
            <a:pPr marL="685800" indent="-227965">
              <a:lnSpc>
                <a:spcPct val="90000"/>
              </a:lnSpc>
              <a:spcBef>
                <a:spcPts val="500"/>
              </a:spcBef>
            </a:pPr>
            <a:r>
              <a:rPr lang="fr-FR" sz="1600" b="0" strike="noStrike" spc="-1">
                <a:solidFill>
                  <a:srgbClr val="000000"/>
                </a:solidFill>
                <a:latin typeface="Times New Roman" panose="02020603050405020304"/>
              </a:rPr>
              <a:t>Défiler(F) est-défini-ssi est-vide(F)=faux</a:t>
            </a:r>
            <a:endParaRPr lang="fr-FR" sz="1600" b="0" strike="noStrike" spc="-1">
              <a:latin typeface="Arial" panose="020B0604020202020204"/>
            </a:endParaRPr>
          </a:p>
          <a:p>
            <a:pPr marL="685800" indent="-227965">
              <a:lnSpc>
                <a:spcPct val="90000"/>
              </a:lnSpc>
              <a:spcBef>
                <a:spcPts val="500"/>
              </a:spcBef>
            </a:pPr>
            <a:r>
              <a:rPr lang="fr-FR" sz="1600" b="0" strike="noStrike" spc="-1">
                <a:solidFill>
                  <a:srgbClr val="000000"/>
                </a:solidFill>
                <a:latin typeface="Times New Roman" panose="02020603050405020304"/>
              </a:rPr>
              <a:t>Valeur(F) est-défini-ssi est –vide(F)=faux</a:t>
            </a:r>
            <a:endParaRPr lang="fr-FR" sz="1600" b="0" strike="noStrike" spc="-1">
              <a:latin typeface="Arial" panose="020B0604020202020204"/>
            </a:endParaRPr>
          </a:p>
          <a:p>
            <a:pPr marL="685800" indent="-227965">
              <a:lnSpc>
                <a:spcPct val="90000"/>
              </a:lnSpc>
              <a:spcBef>
                <a:spcPts val="500"/>
              </a:spcBef>
            </a:pPr>
            <a:endParaRPr lang="fr-FR" sz="1600" b="0" strike="noStrike" spc="-1">
              <a:latin typeface="Arial" panose="020B0604020202020204"/>
            </a:endParaRPr>
          </a:p>
          <a:p>
            <a:pPr marL="228600" indent="-227965">
              <a:lnSpc>
                <a:spcPct val="90000"/>
              </a:lnSpc>
              <a:spcBef>
                <a:spcPts val="1000"/>
              </a:spcBef>
              <a:buClr>
                <a:srgbClr val="9B0D40"/>
              </a:buClr>
              <a:buFont typeface="Arial" panose="020B0604020202020204"/>
              <a:buChar char="•"/>
            </a:pPr>
            <a:r>
              <a:rPr lang="fr-FR" sz="1600" b="1" strike="noStrike" spc="-1">
                <a:solidFill>
                  <a:srgbClr val="9B0D40"/>
                </a:solidFill>
                <a:latin typeface="Times New Roman" panose="02020603050405020304"/>
              </a:rPr>
              <a:t>Axiomes</a:t>
            </a:r>
            <a:endParaRPr lang="fr-FR" sz="1600" b="0" strike="noStrike" spc="-1">
              <a:latin typeface="Arial" panose="020B0604020202020204"/>
            </a:endParaRPr>
          </a:p>
          <a:p>
            <a:pPr marL="228600" indent="-227965">
              <a:lnSpc>
                <a:spcPct val="90000"/>
              </a:lnSpc>
              <a:spcBef>
                <a:spcPts val="1000"/>
              </a:spcBef>
            </a:pPr>
            <a:r>
              <a:rPr lang="fr-FR" sz="1600" b="0" strike="noStrike" spc="-1">
                <a:solidFill>
                  <a:srgbClr val="000000"/>
                </a:solidFill>
                <a:latin typeface="Times New Roman" panose="02020603050405020304"/>
              </a:rPr>
              <a:t>	Est-vide(F)=vrai =&gt; Valeur(Enfiler(F,e))=e</a:t>
            </a:r>
            <a:endParaRPr lang="fr-FR" sz="1600" b="0" strike="noStrike" spc="-1">
              <a:latin typeface="Arial" panose="020B0604020202020204"/>
            </a:endParaRPr>
          </a:p>
          <a:p>
            <a:pPr marL="228600" indent="-227965">
              <a:lnSpc>
                <a:spcPct val="90000"/>
              </a:lnSpc>
              <a:spcBef>
                <a:spcPts val="1000"/>
              </a:spcBef>
            </a:pPr>
            <a:r>
              <a:rPr lang="fr-FR" sz="1600" b="0" strike="noStrike" spc="-1">
                <a:solidFill>
                  <a:srgbClr val="000000"/>
                </a:solidFill>
                <a:latin typeface="Times New Roman" panose="02020603050405020304"/>
              </a:rPr>
              <a:t>	Est-vide(F)=faux =&gt; Valeur(Enfiler(F,e))=Valeur(F)</a:t>
            </a:r>
            <a:endParaRPr lang="fr-FR" sz="1600" b="0" strike="noStrike" spc="-1">
              <a:latin typeface="Arial" panose="020B0604020202020204"/>
            </a:endParaRPr>
          </a:p>
          <a:p>
            <a:pPr marL="228600" indent="-227965">
              <a:lnSpc>
                <a:spcPct val="90000"/>
              </a:lnSpc>
              <a:spcBef>
                <a:spcPts val="1000"/>
              </a:spcBef>
            </a:pPr>
            <a:r>
              <a:rPr lang="fr-FR" sz="1600" b="0" strike="noStrike" spc="-1">
                <a:solidFill>
                  <a:srgbClr val="000000"/>
                </a:solidFill>
                <a:latin typeface="Times New Roman" panose="02020603050405020304"/>
              </a:rPr>
              <a:t>	Est-vide(F)=vrai  =&gt; Défiler(Enfiler(F,e))= File-vide</a:t>
            </a:r>
            <a:endParaRPr lang="fr-FR" sz="1600" b="0" strike="noStrike" spc="-1">
              <a:latin typeface="Arial" panose="020B0604020202020204"/>
            </a:endParaRPr>
          </a:p>
          <a:p>
            <a:pPr marL="228600" indent="-227965">
              <a:lnSpc>
                <a:spcPct val="90000"/>
              </a:lnSpc>
              <a:spcBef>
                <a:spcPts val="1000"/>
              </a:spcBef>
            </a:pPr>
            <a:r>
              <a:rPr lang="fr-FR" sz="1600" b="0" strike="noStrike" spc="-1">
                <a:solidFill>
                  <a:srgbClr val="000000"/>
                </a:solidFill>
                <a:latin typeface="Times New Roman" panose="02020603050405020304"/>
              </a:rPr>
              <a:t>	Est-vide(F)=faux =&gt; Défiler(Enfiler(F,e))=Enfiler(Défiler(F),e)</a:t>
            </a:r>
            <a:endParaRPr lang="fr-FR" sz="1600" b="0" strike="noStrike" spc="-1">
              <a:latin typeface="Arial" panose="020B0604020202020204"/>
            </a:endParaRPr>
          </a:p>
          <a:p>
            <a:pPr marL="228600" indent="-227965">
              <a:lnSpc>
                <a:spcPct val="90000"/>
              </a:lnSpc>
              <a:spcBef>
                <a:spcPts val="1000"/>
              </a:spcBef>
            </a:pPr>
            <a:r>
              <a:rPr lang="fr-FR" sz="1600" b="0" strike="noStrike" spc="-1">
                <a:solidFill>
                  <a:srgbClr val="000000"/>
                </a:solidFill>
                <a:latin typeface="Times New Roman" panose="02020603050405020304"/>
              </a:rPr>
              <a:t>       Est-vide(File-vide)=vrai</a:t>
            </a:r>
            <a:endParaRPr lang="fr-FR" sz="1600" b="0" strike="noStrike" spc="-1">
              <a:latin typeface="Arial" panose="020B0604020202020204"/>
            </a:endParaRPr>
          </a:p>
          <a:p>
            <a:pPr marL="228600" indent="-227965">
              <a:lnSpc>
                <a:spcPct val="90000"/>
              </a:lnSpc>
              <a:spcBef>
                <a:spcPts val="1000"/>
              </a:spcBef>
            </a:pPr>
            <a:r>
              <a:rPr lang="fr-FR" sz="1600" b="0" strike="noStrike" spc="-1">
                <a:solidFill>
                  <a:srgbClr val="000000"/>
                </a:solidFill>
                <a:latin typeface="Times New Roman" panose="02020603050405020304"/>
              </a:rPr>
              <a:t>       Est-vide(Enfiler(F,e))=faux</a:t>
            </a:r>
            <a:endParaRPr lang="fr-FR" sz="1600" b="0" strike="noStrike" spc="-1">
              <a:latin typeface="Arial" panose="020B0604020202020204"/>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4" name="Picture 73"/>
          <p:cNvPicPr/>
          <p:nvPr/>
        </p:nvPicPr>
        <p:blipFill>
          <a:blip r:embed="rId1"/>
          <a:stretch>
            <a:fillRect/>
          </a:stretch>
        </p:blipFill>
        <p:spPr>
          <a:xfrm>
            <a:off x="0" y="28104"/>
            <a:ext cx="12191400" cy="6857280"/>
          </a:xfrm>
          <a:prstGeom prst="rect">
            <a:avLst/>
          </a:prstGeom>
          <a:ln>
            <a:noFill/>
          </a:ln>
        </p:spPr>
      </p:pic>
      <p:sp>
        <p:nvSpPr>
          <p:cNvPr id="22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tableau(1)</a:t>
            </a:r>
            <a:endParaRPr lang="fr-FR" sz="4000" b="0" strike="noStrike" spc="-1" dirty="0">
              <a:latin typeface="Arial" panose="020B0604020202020204"/>
            </a:endParaRPr>
          </a:p>
        </p:txBody>
      </p:sp>
      <p:sp>
        <p:nvSpPr>
          <p:cNvPr id="226" name="CustomShape 3"/>
          <p:cNvSpPr/>
          <p:nvPr/>
        </p:nvSpPr>
        <p:spPr>
          <a:xfrm>
            <a:off x="941040" y="2517840"/>
            <a:ext cx="10402200" cy="4014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4000"/>
          </a:bodyPr>
          <a:lstStyle/>
          <a:p>
            <a:pPr marL="285750" lvl="0" indent="-285750">
              <a:buFont typeface="Arial" panose="020B0604020202020204" pitchFamily="34" charset="0"/>
              <a:buChar char="•"/>
            </a:pPr>
            <a:r>
              <a:rPr lang="en-US" b="1" u="sng" spc="-1" dirty="0">
                <a:solidFill>
                  <a:srgbClr val="000000"/>
                </a:solidFill>
                <a:latin typeface="+mj-lt"/>
              </a:rPr>
              <a:t>Déclarer</a:t>
            </a:r>
            <a:endParaRPr lang="fr-FR" b="1" u="sng" spc="-1" dirty="0">
              <a:solidFill>
                <a:srgbClr val="000000"/>
              </a:solidFill>
              <a:latin typeface="+mj-lt"/>
            </a:endParaRPr>
          </a:p>
          <a:p>
            <a:pPr marL="635">
              <a:lnSpc>
                <a:spcPct val="90000"/>
              </a:lnSpc>
              <a:spcBef>
                <a:spcPts val="1000"/>
              </a:spcBef>
              <a:buClr>
                <a:srgbClr val="000000"/>
              </a:buClr>
            </a:pPr>
            <a:r>
              <a:rPr lang="fr-FR" spc="-1" dirty="0">
                <a:solidFill>
                  <a:srgbClr val="000000"/>
                </a:solidFill>
                <a:latin typeface="Times New Roman" panose="02020603050405020304"/>
              </a:rPr>
              <a:t>Type File = enregistrement</a:t>
            </a:r>
            <a:endParaRPr lang="fr-FR" spc="-1" dirty="0">
              <a:solidFill>
                <a:srgbClr val="000000"/>
              </a:solidFill>
              <a:latin typeface="Times New Roman" panose="02020603050405020304"/>
            </a:endParaRPr>
          </a:p>
          <a:p>
            <a:pPr marL="635">
              <a:lnSpc>
                <a:spcPct val="90000"/>
              </a:lnSpc>
              <a:spcBef>
                <a:spcPts val="1000"/>
              </a:spcBef>
              <a:buClr>
                <a:srgbClr val="000000"/>
              </a:buClr>
            </a:pPr>
            <a:r>
              <a:rPr lang="fr-FR" spc="-1" dirty="0">
                <a:solidFill>
                  <a:srgbClr val="000000"/>
                </a:solidFill>
                <a:latin typeface="Times New Roman" panose="02020603050405020304"/>
              </a:rPr>
              <a:t>	Début, Queue : entier;</a:t>
            </a:r>
            <a:endParaRPr lang="fr-FR" spc="-1" dirty="0">
              <a:solidFill>
                <a:srgbClr val="000000"/>
              </a:solidFill>
              <a:latin typeface="Times New Roman" panose="02020603050405020304"/>
            </a:endParaRPr>
          </a:p>
          <a:p>
            <a:pPr>
              <a:lnSpc>
                <a:spcPct val="90000"/>
              </a:lnSpc>
              <a:spcBef>
                <a:spcPts val="1000"/>
              </a:spcBef>
            </a:pPr>
            <a:r>
              <a:rPr lang="fr-FR" spc="-1" dirty="0">
                <a:solidFill>
                  <a:srgbClr val="000000"/>
                </a:solidFill>
                <a:latin typeface="Times New Roman" panose="02020603050405020304"/>
              </a:rPr>
              <a:t>	</a:t>
            </a:r>
            <a:r>
              <a:rPr lang="fr-FR" spc="-1" dirty="0" err="1">
                <a:solidFill>
                  <a:srgbClr val="000000"/>
                </a:solidFill>
                <a:latin typeface="Times New Roman" panose="02020603050405020304"/>
              </a:rPr>
              <a:t>elts</a:t>
            </a:r>
            <a:r>
              <a:rPr lang="fr-FR" spc="-1" dirty="0">
                <a:solidFill>
                  <a:srgbClr val="000000"/>
                </a:solidFill>
                <a:latin typeface="Times New Roman" panose="02020603050405020304"/>
              </a:rPr>
              <a:t> </a:t>
            </a:r>
            <a:r>
              <a:rPr lang="fr-FR" sz="1800" b="0" strike="noStrike" spc="-1" dirty="0">
                <a:solidFill>
                  <a:srgbClr val="000000"/>
                </a:solidFill>
                <a:latin typeface="Times New Roman" panose="02020603050405020304"/>
              </a:rPr>
              <a:t>: </a:t>
            </a:r>
            <a:r>
              <a:rPr lang="fr-FR" sz="1800" b="0" strike="noStrike" spc="-1" dirty="0" err="1">
                <a:solidFill>
                  <a:srgbClr val="000000"/>
                </a:solidFill>
                <a:latin typeface="Times New Roman" panose="02020603050405020304"/>
              </a:rPr>
              <a:t>tabelau</a:t>
            </a:r>
            <a:r>
              <a:rPr lang="fr-FR" sz="1800" b="0" strike="noStrike" spc="-1" dirty="0">
                <a:solidFill>
                  <a:srgbClr val="000000"/>
                </a:solidFill>
                <a:latin typeface="Times New Roman" panose="02020603050405020304"/>
              </a:rPr>
              <a:t> [1..lmax] d’</a:t>
            </a:r>
            <a:r>
              <a:rPr lang="fr-FR" sz="1800" b="0" strike="noStrike" spc="-1" dirty="0" err="1">
                <a:solidFill>
                  <a:srgbClr val="000000"/>
                </a:solidFill>
                <a:latin typeface="Times New Roman" panose="02020603050405020304"/>
              </a:rPr>
              <a:t>Element</a:t>
            </a:r>
            <a:endParaRPr lang="fr-FR" sz="1800" b="0" strike="noStrike" spc="-1" dirty="0">
              <a:latin typeface="Arial" panose="020B0604020202020204"/>
            </a:endParaRPr>
          </a:p>
          <a:p>
            <a:pPr>
              <a:lnSpc>
                <a:spcPct val="90000"/>
              </a:lnSpc>
              <a:spcBef>
                <a:spcPts val="1000"/>
              </a:spcBef>
            </a:pPr>
            <a:r>
              <a:rPr lang="fr-FR" sz="1800" b="0" strike="noStrike" spc="-1" dirty="0">
                <a:solidFill>
                  <a:srgbClr val="000000"/>
                </a:solidFill>
                <a:latin typeface="Times New Roman" panose="02020603050405020304"/>
              </a:rPr>
              <a:t> </a:t>
            </a:r>
            <a:r>
              <a:rPr lang="fr-FR" sz="1800" b="0" strike="noStrike" spc="-1" dirty="0" err="1">
                <a:solidFill>
                  <a:srgbClr val="000000"/>
                </a:solidFill>
                <a:latin typeface="Times New Roman" panose="02020603050405020304"/>
              </a:rPr>
              <a:t>FinEnregistrement</a:t>
            </a:r>
            <a:r>
              <a:rPr lang="fr-FR" sz="1800" b="0" strike="noStrike" spc="-1" dirty="0">
                <a:solidFill>
                  <a:srgbClr val="000000"/>
                </a:solidFill>
                <a:latin typeface="Times New Roman" panose="02020603050405020304"/>
              </a:rPr>
              <a:t> </a:t>
            </a:r>
            <a:endParaRPr lang="fr-FR" sz="1800" b="0" strike="noStrike" spc="-1" dirty="0">
              <a:latin typeface="Arial" panose="020B0604020202020204"/>
            </a:endParaRPr>
          </a:p>
          <a:p>
            <a:pPr marL="228600" lvl="0" indent="-227965">
              <a:lnSpc>
                <a:spcPct val="90000"/>
              </a:lnSpc>
              <a:spcBef>
                <a:spcPts val="1000"/>
              </a:spcBef>
              <a:buClr>
                <a:srgbClr val="000000"/>
              </a:buClr>
              <a:buFont typeface="Arial" panose="020B0604020202020204"/>
              <a:buChar char="•"/>
            </a:pPr>
            <a:r>
              <a:rPr lang="en-US" b="1" u="sng" spc="-1" dirty="0">
                <a:solidFill>
                  <a:srgbClr val="000000"/>
                </a:solidFill>
                <a:latin typeface="+mj-lt"/>
              </a:rPr>
              <a:t>Initialiser</a:t>
            </a:r>
            <a:r>
              <a:rPr lang="en-US" spc="-1" dirty="0">
                <a:solidFill>
                  <a:srgbClr val="000000"/>
                </a:solidFill>
                <a:latin typeface="Times New Roman" panose="02020603050405020304"/>
              </a:rPr>
              <a:t> :</a:t>
            </a:r>
            <a:endParaRPr lang="fr-FR" spc="-1" dirty="0">
              <a:solidFill>
                <a:srgbClr val="000000"/>
              </a:solidFill>
              <a:latin typeface="Times New Roman" panose="02020603050405020304"/>
            </a:endParaRPr>
          </a:p>
          <a:p>
            <a:pPr marL="635">
              <a:lnSpc>
                <a:spcPct val="90000"/>
              </a:lnSpc>
              <a:spcBef>
                <a:spcPts val="1000"/>
              </a:spcBef>
              <a:buClr>
                <a:srgbClr val="000000"/>
              </a:buClr>
            </a:pPr>
            <a:r>
              <a:rPr lang="en-US" spc="-1" dirty="0">
                <a:solidFill>
                  <a:srgbClr val="000000"/>
                </a:solidFill>
                <a:latin typeface="Times New Roman" panose="02020603050405020304"/>
              </a:rPr>
              <a:t>Procedure </a:t>
            </a:r>
            <a:r>
              <a:rPr lang="en-US" spc="-1" dirty="0" err="1">
                <a:solidFill>
                  <a:srgbClr val="000000"/>
                </a:solidFill>
                <a:latin typeface="Times New Roman" panose="02020603050405020304"/>
              </a:rPr>
              <a:t>Init_File</a:t>
            </a:r>
            <a:r>
              <a:rPr lang="fr-FR" spc="-1" dirty="0">
                <a:solidFill>
                  <a:srgbClr val="000000"/>
                </a:solidFill>
                <a:latin typeface="Times New Roman" panose="02020603050405020304"/>
              </a:rPr>
              <a:t> </a:t>
            </a:r>
            <a:r>
              <a:rPr lang="fr-FR" sz="1800" b="0" strike="noStrike" spc="-1" dirty="0">
                <a:solidFill>
                  <a:srgbClr val="000000"/>
                </a:solidFill>
                <a:latin typeface="Times New Roman" panose="02020603050405020304"/>
              </a:rPr>
              <a:t>(réf </a:t>
            </a:r>
            <a:r>
              <a:rPr lang="fr-FR" spc="-1" dirty="0">
                <a:solidFill>
                  <a:srgbClr val="000000"/>
                </a:solidFill>
                <a:latin typeface="Times New Roman" panose="02020603050405020304"/>
              </a:rPr>
              <a:t>F</a:t>
            </a:r>
            <a:r>
              <a:rPr lang="fr-FR" sz="1800" b="0" strike="noStrike" spc="-1" dirty="0">
                <a:solidFill>
                  <a:srgbClr val="000000"/>
                </a:solidFill>
                <a:latin typeface="Times New Roman" panose="02020603050405020304"/>
              </a:rPr>
              <a:t>: </a:t>
            </a:r>
            <a:r>
              <a:rPr lang="fr-FR" spc="-1" dirty="0">
                <a:solidFill>
                  <a:srgbClr val="000000"/>
                </a:solidFill>
                <a:latin typeface="Times New Roman" panose="02020603050405020304"/>
              </a:rPr>
              <a:t>F</a:t>
            </a:r>
            <a:r>
              <a:rPr lang="fr-FR" sz="1800" b="0" strike="noStrike" spc="-1" dirty="0">
                <a:solidFill>
                  <a:srgbClr val="000000"/>
                </a:solidFill>
                <a:latin typeface="Times New Roman" panose="02020603050405020304"/>
              </a:rPr>
              <a:t>ile)</a:t>
            </a:r>
            <a:endParaRPr lang="fr-FR" spc="-1" dirty="0">
              <a:solidFill>
                <a:srgbClr val="000000"/>
              </a:solidFill>
              <a:latin typeface="Times New Roman" panose="02020603050405020304"/>
            </a:endParaRPr>
          </a:p>
          <a:p>
            <a:r>
              <a:rPr lang="fr-FR" spc="-1" dirty="0">
                <a:solidFill>
                  <a:srgbClr val="000000"/>
                </a:solidFill>
                <a:latin typeface="Times New Roman" panose="02020603050405020304"/>
              </a:rPr>
              <a:t> Début</a:t>
            </a:r>
            <a:endParaRPr lang="fr-FR" spc="-1" dirty="0">
              <a:solidFill>
                <a:srgbClr val="000000"/>
              </a:solidFill>
              <a:latin typeface="Times New Roman" panose="02020603050405020304"/>
            </a:endParaRPr>
          </a:p>
          <a:p>
            <a:r>
              <a:rPr lang="fr-FR" spc="-1" dirty="0">
                <a:solidFill>
                  <a:srgbClr val="000000"/>
                </a:solidFill>
                <a:latin typeface="Times New Roman" panose="02020603050405020304"/>
              </a:rPr>
              <a:t> 	F. Début </a:t>
            </a:r>
            <a:r>
              <a:rPr lang="en-US" spc="-1" dirty="0">
                <a:solidFill>
                  <a:srgbClr val="000000"/>
                </a:solidFill>
                <a:latin typeface="Times New Roman" panose="02020603050405020304"/>
              </a:rPr>
              <a:t>←</a:t>
            </a:r>
            <a:r>
              <a:rPr lang="fr-FR" spc="-1" dirty="0">
                <a:solidFill>
                  <a:srgbClr val="000000"/>
                </a:solidFill>
                <a:latin typeface="Times New Roman" panose="02020603050405020304"/>
              </a:rPr>
              <a:t> 1 ;  </a:t>
            </a:r>
            <a:endParaRPr lang="fr-FR" spc="-1" dirty="0">
              <a:solidFill>
                <a:srgbClr val="000000"/>
              </a:solidFill>
              <a:latin typeface="Times New Roman" panose="02020603050405020304"/>
            </a:endParaRPr>
          </a:p>
          <a:p>
            <a:r>
              <a:rPr lang="fr-FR" spc="-1" dirty="0">
                <a:solidFill>
                  <a:srgbClr val="000000"/>
                </a:solidFill>
                <a:latin typeface="Times New Roman" panose="02020603050405020304"/>
              </a:rPr>
              <a:t>	F. Queue </a:t>
            </a:r>
            <a:r>
              <a:rPr lang="en-US" spc="-1" dirty="0">
                <a:solidFill>
                  <a:srgbClr val="000000"/>
                </a:solidFill>
                <a:latin typeface="Times New Roman" panose="02020603050405020304"/>
              </a:rPr>
              <a:t>←</a:t>
            </a:r>
            <a:r>
              <a:rPr lang="fr-FR" spc="-1" dirty="0">
                <a:solidFill>
                  <a:srgbClr val="000000"/>
                </a:solidFill>
                <a:latin typeface="Times New Roman" panose="02020603050405020304"/>
              </a:rPr>
              <a:t> 0 ;  </a:t>
            </a:r>
            <a:endParaRPr lang="fr-FR" spc="-1" dirty="0">
              <a:solidFill>
                <a:srgbClr val="000000"/>
              </a:solidFill>
              <a:latin typeface="Times New Roman" panose="02020603050405020304"/>
            </a:endParaRPr>
          </a:p>
          <a:p>
            <a:r>
              <a:rPr lang="fr-FR" spc="-1" dirty="0">
                <a:solidFill>
                  <a:srgbClr val="000000"/>
                </a:solidFill>
                <a:latin typeface="Times New Roman" panose="02020603050405020304"/>
              </a:rPr>
              <a:t>Fin </a:t>
            </a:r>
            <a:r>
              <a:rPr lang="en-US" spc="-1" dirty="0" err="1">
                <a:solidFill>
                  <a:srgbClr val="000000"/>
                </a:solidFill>
                <a:latin typeface="Times New Roman" panose="02020603050405020304"/>
              </a:rPr>
              <a:t>Init_File</a:t>
            </a:r>
            <a:r>
              <a:rPr lang="en-US" spc="-1" dirty="0">
                <a:solidFill>
                  <a:srgbClr val="000000"/>
                </a:solidFill>
                <a:latin typeface="Times New Roman" panose="02020603050405020304"/>
              </a:rPr>
              <a:t> </a:t>
            </a:r>
            <a:endParaRPr lang="fr-FR" spc="-1" dirty="0">
              <a:solidFill>
                <a:srgbClr val="000000"/>
              </a:solidFill>
              <a:latin typeface="Times New Roman" panose="02020603050405020304"/>
            </a:endParaRPr>
          </a:p>
          <a:p>
            <a:pPr marL="228600" indent="-227965">
              <a:lnSpc>
                <a:spcPct val="90000"/>
              </a:lnSpc>
              <a:spcBef>
                <a:spcPts val="1000"/>
              </a:spcBef>
            </a:pPr>
            <a:r>
              <a:rPr lang="fr-FR" sz="1800" b="0" strike="noStrike" spc="-1" dirty="0">
                <a:solidFill>
                  <a:srgbClr val="000000"/>
                </a:solidFill>
                <a:latin typeface="Times New Roman" panose="02020603050405020304"/>
              </a:rPr>
              <a:t>     </a:t>
            </a:r>
            <a:endParaRPr lang="fr-FR" sz="18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4" name="Picture 73"/>
          <p:cNvPicPr/>
          <p:nvPr/>
        </p:nvPicPr>
        <p:blipFill>
          <a:blip r:embed="rId1"/>
          <a:stretch>
            <a:fillRect/>
          </a:stretch>
        </p:blipFill>
        <p:spPr>
          <a:xfrm>
            <a:off x="0" y="28104"/>
            <a:ext cx="12191400" cy="6857280"/>
          </a:xfrm>
          <a:prstGeom prst="rect">
            <a:avLst/>
          </a:prstGeom>
          <a:ln>
            <a:noFill/>
          </a:ln>
        </p:spPr>
      </p:pic>
      <p:sp>
        <p:nvSpPr>
          <p:cNvPr id="22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tableau(1)</a:t>
            </a:r>
            <a:endParaRPr lang="fr-FR" sz="4000" b="0" strike="noStrike" spc="-1" dirty="0">
              <a:latin typeface="Arial" panose="020B0604020202020204"/>
            </a:endParaRPr>
          </a:p>
        </p:txBody>
      </p:sp>
      <p:sp>
        <p:nvSpPr>
          <p:cNvPr id="226" name="CustomShape 3"/>
          <p:cNvSpPr/>
          <p:nvPr/>
        </p:nvSpPr>
        <p:spPr>
          <a:xfrm>
            <a:off x="941040" y="2517840"/>
            <a:ext cx="10402200" cy="4014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lvl="0" indent="0">
              <a:buNone/>
            </a:pPr>
            <a:r>
              <a:rPr lang="en-US" altLang="fr-FR" sz="2000" b="1" strike="noStrike" spc="-1" dirty="0">
                <a:solidFill>
                  <a:srgbClr val="000000"/>
                </a:solidFill>
                <a:latin typeface="Times New Roman" panose="02020603050405020304"/>
              </a:rPr>
              <a:t>#include &lt;stdio.h&gt;</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#include &lt;stdlib.h&gt;</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#define LMAX 5  // Taille maximale de la file</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 D</a:t>
            </a:r>
            <a:r>
              <a:rPr lang="en-US" altLang="en-US" sz="2000" b="1" strike="noStrike" spc="-1" dirty="0">
                <a:solidFill>
                  <a:srgbClr val="000000"/>
                </a:solidFill>
                <a:latin typeface="Times New Roman" panose="02020603050405020304"/>
              </a:rPr>
              <a:t>é</a:t>
            </a:r>
            <a:r>
              <a:rPr lang="en-US" altLang="fr-FR" sz="2000" b="1" strike="noStrike" spc="-1" dirty="0">
                <a:solidFill>
                  <a:srgbClr val="000000"/>
                </a:solidFill>
                <a:latin typeface="Times New Roman" panose="02020603050405020304"/>
              </a:rPr>
              <a:t>finition de la structure de la file</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typedef struct {</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    int elements[LMAX];  // Tableau pour stocker les </a:t>
            </a:r>
            <a:r>
              <a:rPr lang="en-US" altLang="en-US" sz="2000" b="1" strike="noStrike" spc="-1" dirty="0">
                <a:solidFill>
                  <a:srgbClr val="000000"/>
                </a:solidFill>
                <a:latin typeface="Times New Roman" panose="02020603050405020304"/>
              </a:rPr>
              <a:t>é</a:t>
            </a:r>
            <a:r>
              <a:rPr lang="en-US" altLang="fr-FR" sz="2000" b="1" strike="noStrike" spc="-1" dirty="0">
                <a:solidFill>
                  <a:srgbClr val="000000"/>
                </a:solidFill>
                <a:latin typeface="Times New Roman" panose="02020603050405020304"/>
              </a:rPr>
              <a:t>l</a:t>
            </a:r>
            <a:r>
              <a:rPr lang="en-US" altLang="en-US" sz="2000" b="1" strike="noStrike" spc="-1" dirty="0">
                <a:solidFill>
                  <a:srgbClr val="000000"/>
                </a:solidFill>
                <a:latin typeface="Times New Roman" panose="02020603050405020304"/>
              </a:rPr>
              <a:t>é</a:t>
            </a:r>
            <a:r>
              <a:rPr lang="en-US" altLang="fr-FR" sz="2000" b="1" strike="noStrike" spc="-1" dirty="0">
                <a:solidFill>
                  <a:srgbClr val="000000"/>
                </a:solidFill>
                <a:latin typeface="Times New Roman" panose="02020603050405020304"/>
              </a:rPr>
              <a:t>ments</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    int debut;  // Indice du premier </a:t>
            </a:r>
            <a:r>
              <a:rPr lang="en-US" altLang="en-US" sz="2000" b="1" strike="noStrike" spc="-1" dirty="0">
                <a:solidFill>
                  <a:srgbClr val="000000"/>
                </a:solidFill>
                <a:latin typeface="Times New Roman" panose="02020603050405020304"/>
              </a:rPr>
              <a:t>é</a:t>
            </a:r>
            <a:r>
              <a:rPr lang="en-US" altLang="fr-FR" sz="2000" b="1" strike="noStrike" spc="-1" dirty="0">
                <a:solidFill>
                  <a:srgbClr val="000000"/>
                </a:solidFill>
                <a:latin typeface="Times New Roman" panose="02020603050405020304"/>
              </a:rPr>
              <a:t>l</a:t>
            </a:r>
            <a:r>
              <a:rPr lang="en-US" altLang="en-US" sz="2000" b="1" strike="noStrike" spc="-1" dirty="0">
                <a:solidFill>
                  <a:srgbClr val="000000"/>
                </a:solidFill>
                <a:latin typeface="Times New Roman" panose="02020603050405020304"/>
              </a:rPr>
              <a:t>é</a:t>
            </a:r>
            <a:r>
              <a:rPr lang="en-US" altLang="fr-FR" sz="2000" b="1" strike="noStrike" spc="-1" dirty="0">
                <a:solidFill>
                  <a:srgbClr val="000000"/>
                </a:solidFill>
                <a:latin typeface="Times New Roman" panose="02020603050405020304"/>
              </a:rPr>
              <a:t>ment (t</a:t>
            </a:r>
            <a:r>
              <a:rPr lang="en-US" altLang="en-US" sz="2000" b="1" strike="noStrike" spc="-1" dirty="0">
                <a:solidFill>
                  <a:srgbClr val="000000"/>
                </a:solidFill>
                <a:latin typeface="Times New Roman" panose="02020603050405020304"/>
              </a:rPr>
              <a:t>ê</a:t>
            </a:r>
            <a:r>
              <a:rPr lang="en-US" altLang="fr-FR" sz="2000" b="1" strike="noStrike" spc="-1" dirty="0">
                <a:solidFill>
                  <a:srgbClr val="000000"/>
                </a:solidFill>
                <a:latin typeface="Times New Roman" panose="02020603050405020304"/>
              </a:rPr>
              <a:t>te)</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    int queue;  // Indice du dernier </a:t>
            </a:r>
            <a:r>
              <a:rPr lang="en-US" altLang="en-US" sz="2000" b="1" strike="noStrike" spc="-1" dirty="0">
                <a:solidFill>
                  <a:srgbClr val="000000"/>
                </a:solidFill>
                <a:latin typeface="Times New Roman" panose="02020603050405020304"/>
              </a:rPr>
              <a:t>é</a:t>
            </a:r>
            <a:r>
              <a:rPr lang="en-US" altLang="fr-FR" sz="2000" b="1" strike="noStrike" spc="-1" dirty="0">
                <a:solidFill>
                  <a:srgbClr val="000000"/>
                </a:solidFill>
                <a:latin typeface="Times New Roman" panose="02020603050405020304"/>
              </a:rPr>
              <a:t>l</a:t>
            </a:r>
            <a:r>
              <a:rPr lang="en-US" altLang="en-US" sz="2000" b="1" strike="noStrike" spc="-1" dirty="0">
                <a:solidFill>
                  <a:srgbClr val="000000"/>
                </a:solidFill>
                <a:latin typeface="Times New Roman" panose="02020603050405020304"/>
              </a:rPr>
              <a:t>é</a:t>
            </a:r>
            <a:r>
              <a:rPr lang="en-US" altLang="fr-FR" sz="2000" b="1" strike="noStrike" spc="-1" dirty="0">
                <a:solidFill>
                  <a:srgbClr val="000000"/>
                </a:solidFill>
                <a:latin typeface="Times New Roman" panose="02020603050405020304"/>
              </a:rPr>
              <a:t>ment (queue)</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 File;</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 **Initialiser la file**</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void Init_File(File *F) {</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    F-&gt;debut = 1;  // La t</a:t>
            </a:r>
            <a:r>
              <a:rPr lang="en-US" altLang="en-US" sz="2000" b="1" strike="noStrike" spc="-1" dirty="0">
                <a:solidFill>
                  <a:srgbClr val="000000"/>
                </a:solidFill>
                <a:latin typeface="Times New Roman" panose="02020603050405020304"/>
              </a:rPr>
              <a:t>ê</a:t>
            </a:r>
            <a:r>
              <a:rPr lang="en-US" altLang="fr-FR" sz="2000" b="1" strike="noStrike" spc="-1" dirty="0">
                <a:solidFill>
                  <a:srgbClr val="000000"/>
                </a:solidFill>
                <a:latin typeface="Times New Roman" panose="02020603050405020304"/>
              </a:rPr>
              <a:t>te commence à l’indice 1</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    F-&gt;queue = 0;  // La file est vide au d</a:t>
            </a:r>
            <a:r>
              <a:rPr lang="en-US" altLang="en-US" sz="2000" b="1" strike="noStrike" spc="-1" dirty="0">
                <a:solidFill>
                  <a:srgbClr val="000000"/>
                </a:solidFill>
                <a:latin typeface="Times New Roman" panose="02020603050405020304"/>
              </a:rPr>
              <a:t>é</a:t>
            </a:r>
            <a:r>
              <a:rPr lang="en-US" altLang="fr-FR" sz="2000" b="1" strike="noStrike" spc="-1" dirty="0">
                <a:solidFill>
                  <a:srgbClr val="000000"/>
                </a:solidFill>
                <a:latin typeface="Times New Roman" panose="02020603050405020304"/>
              </a:rPr>
              <a:t>part (queue avant debut)</a:t>
            </a:r>
            <a:endParaRPr lang="en-US" altLang="fr-FR" sz="2000" b="1" strike="noStrike" spc="-1" dirty="0">
              <a:solidFill>
                <a:srgbClr val="000000"/>
              </a:solidFill>
              <a:latin typeface="Times New Roman" panose="02020603050405020304"/>
            </a:endParaRPr>
          </a:p>
          <a:p>
            <a:pPr lvl="0" indent="0">
              <a:buNone/>
            </a:pPr>
            <a:r>
              <a:rPr lang="en-US" altLang="fr-FR" sz="2000" b="1" strike="noStrike" spc="-1" dirty="0">
                <a:solidFill>
                  <a:srgbClr val="000000"/>
                </a:solidFill>
                <a:latin typeface="Times New Roman" panose="02020603050405020304"/>
              </a:rPr>
              <a:t>}</a:t>
            </a:r>
            <a:r>
              <a:rPr lang="fr-FR" sz="2000" b="0" strike="noStrike" spc="-1" dirty="0">
                <a:solidFill>
                  <a:srgbClr val="000000"/>
                </a:solidFill>
                <a:latin typeface="Times New Roman" panose="02020603050405020304"/>
              </a:rPr>
              <a:t>     </a:t>
            </a:r>
            <a:endParaRPr lang="fr-FR" sz="2000" b="0" strike="noStrike" spc="-1"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4" name="Picture 73"/>
          <p:cNvPicPr/>
          <p:nvPr/>
        </p:nvPicPr>
        <p:blipFill>
          <a:blip r:embed="rId1"/>
          <a:stretch>
            <a:fillRect/>
          </a:stretch>
        </p:blipFill>
        <p:spPr>
          <a:xfrm>
            <a:off x="0" y="28104"/>
            <a:ext cx="12191400" cy="6857280"/>
          </a:xfrm>
          <a:prstGeom prst="rect">
            <a:avLst/>
          </a:prstGeom>
          <a:ln>
            <a:noFill/>
          </a:ln>
        </p:spPr>
      </p:pic>
      <p:sp>
        <p:nvSpPr>
          <p:cNvPr id="22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tableau(1)</a:t>
            </a:r>
            <a:endParaRPr lang="fr-FR" sz="4000" b="0" strike="noStrike" spc="-1" dirty="0">
              <a:latin typeface="Arial" panose="020B0604020202020204"/>
            </a:endParaRPr>
          </a:p>
        </p:txBody>
      </p:sp>
      <p:sp>
        <p:nvSpPr>
          <p:cNvPr id="226" name="CustomShape 3"/>
          <p:cNvSpPr/>
          <p:nvPr/>
        </p:nvSpPr>
        <p:spPr>
          <a:xfrm>
            <a:off x="941040" y="2517840"/>
            <a:ext cx="10402200" cy="4014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lvl="0" indent="0">
              <a:buNone/>
            </a:pPr>
            <a:r>
              <a:rPr lang="en-US" altLang="fr-FR" sz="2400" b="1" strike="noStrike" spc="-1" dirty="0">
                <a:solidFill>
                  <a:srgbClr val="000000"/>
                </a:solidFill>
                <a:latin typeface="Times New Roman" panose="02020603050405020304"/>
              </a:rPr>
              <a:t>// **V</a:t>
            </a:r>
            <a:r>
              <a:rPr lang="en-US" altLang="en-US" sz="2400" b="1" strike="noStrike" spc="-1" dirty="0">
                <a:solidFill>
                  <a:srgbClr val="000000"/>
                </a:solidFill>
                <a:latin typeface="Times New Roman" panose="02020603050405020304"/>
              </a:rPr>
              <a:t>é</a:t>
            </a:r>
            <a:r>
              <a:rPr lang="en-US" altLang="fr-FR" sz="2400" b="1" strike="noStrike" spc="-1" dirty="0">
                <a:solidFill>
                  <a:srgbClr val="000000"/>
                </a:solidFill>
                <a:latin typeface="Times New Roman" panose="02020603050405020304"/>
              </a:rPr>
              <a:t>rifier si la file est vide**</a:t>
            </a:r>
            <a:endParaRPr lang="en-US" altLang="fr-FR" sz="2400" b="1" strike="noStrike" spc="-1" dirty="0">
              <a:solidFill>
                <a:srgbClr val="000000"/>
              </a:solidFill>
              <a:latin typeface="Times New Roman" panose="02020603050405020304"/>
            </a:endParaRPr>
          </a:p>
          <a:p>
            <a:pPr lvl="0" indent="0">
              <a:buNone/>
            </a:pPr>
            <a:r>
              <a:rPr lang="en-US" altLang="fr-FR" sz="2400" b="1" strike="noStrike" spc="-1" dirty="0">
                <a:solidFill>
                  <a:srgbClr val="000000"/>
                </a:solidFill>
                <a:latin typeface="Times New Roman" panose="02020603050405020304"/>
              </a:rPr>
              <a:t>int File_Vide(File F) {</a:t>
            </a:r>
            <a:endParaRPr lang="en-US" altLang="fr-FR" sz="2400" b="1" strike="noStrike" spc="-1" dirty="0">
              <a:solidFill>
                <a:srgbClr val="000000"/>
              </a:solidFill>
              <a:latin typeface="Times New Roman" panose="02020603050405020304"/>
            </a:endParaRPr>
          </a:p>
          <a:p>
            <a:pPr lvl="0" indent="0">
              <a:buNone/>
            </a:pPr>
            <a:r>
              <a:rPr lang="en-US" altLang="fr-FR" sz="2400" b="1" strike="noStrike" spc="-1" dirty="0">
                <a:solidFill>
                  <a:srgbClr val="000000"/>
                </a:solidFill>
                <a:latin typeface="Times New Roman" panose="02020603050405020304"/>
              </a:rPr>
              <a:t>    return (F.queue &lt; F.debut);  // Si queue est avant debut, la file est vide</a:t>
            </a:r>
            <a:endParaRPr lang="en-US" altLang="fr-FR" sz="2400" b="1" strike="noStrike" spc="-1" dirty="0">
              <a:solidFill>
                <a:srgbClr val="000000"/>
              </a:solidFill>
              <a:latin typeface="Times New Roman" panose="02020603050405020304"/>
            </a:endParaRPr>
          </a:p>
          <a:p>
            <a:pPr lvl="0" indent="0">
              <a:buNone/>
            </a:pPr>
            <a:r>
              <a:rPr lang="en-US" altLang="fr-FR" sz="2400" b="1" strike="noStrike" spc="-1" dirty="0">
                <a:solidFill>
                  <a:srgbClr val="000000"/>
                </a:solidFill>
                <a:latin typeface="Times New Roman" panose="02020603050405020304"/>
              </a:rPr>
              <a:t>}</a:t>
            </a:r>
            <a:endParaRPr lang="en-US" altLang="fr-FR" sz="2400" b="1" strike="noStrike" spc="-1" dirty="0">
              <a:solidFill>
                <a:srgbClr val="000000"/>
              </a:solidFill>
              <a:latin typeface="Times New Roman" panose="02020603050405020304"/>
            </a:endParaRPr>
          </a:p>
          <a:p>
            <a:pPr lvl="0" indent="0">
              <a:buNone/>
            </a:pPr>
            <a:endParaRPr lang="en-US" altLang="fr-FR" sz="2400" b="1" strike="noStrike" spc="-1" dirty="0">
              <a:solidFill>
                <a:srgbClr val="000000"/>
              </a:solidFill>
              <a:latin typeface="Times New Roman" panose="02020603050405020304"/>
            </a:endParaRPr>
          </a:p>
          <a:p>
            <a:pPr lvl="0" indent="0">
              <a:buNone/>
            </a:pPr>
            <a:r>
              <a:rPr lang="en-US" altLang="fr-FR" sz="2400" b="1" strike="noStrike" spc="-1" dirty="0">
                <a:solidFill>
                  <a:srgbClr val="000000"/>
                </a:solidFill>
                <a:latin typeface="Times New Roman" panose="02020603050405020304"/>
              </a:rPr>
              <a:t>// **V</a:t>
            </a:r>
            <a:r>
              <a:rPr lang="en-US" altLang="en-US" sz="2400" b="1" strike="noStrike" spc="-1" dirty="0">
                <a:solidFill>
                  <a:srgbClr val="000000"/>
                </a:solidFill>
                <a:latin typeface="Times New Roman" panose="02020603050405020304"/>
              </a:rPr>
              <a:t>é</a:t>
            </a:r>
            <a:r>
              <a:rPr lang="en-US" altLang="fr-FR" sz="2400" b="1" strike="noStrike" spc="-1" dirty="0">
                <a:solidFill>
                  <a:srgbClr val="000000"/>
                </a:solidFill>
                <a:latin typeface="Times New Roman" panose="02020603050405020304"/>
              </a:rPr>
              <a:t>rifier si la file est pleine**</a:t>
            </a:r>
            <a:endParaRPr lang="en-US" altLang="fr-FR" sz="2400" b="1" strike="noStrike" spc="-1" dirty="0">
              <a:solidFill>
                <a:srgbClr val="000000"/>
              </a:solidFill>
              <a:latin typeface="Times New Roman" panose="02020603050405020304"/>
            </a:endParaRPr>
          </a:p>
          <a:p>
            <a:pPr lvl="0" indent="0">
              <a:buNone/>
            </a:pPr>
            <a:r>
              <a:rPr lang="en-US" altLang="fr-FR" sz="2400" b="1" strike="noStrike" spc="-1" dirty="0">
                <a:solidFill>
                  <a:srgbClr val="000000"/>
                </a:solidFill>
                <a:latin typeface="Times New Roman" panose="02020603050405020304"/>
              </a:rPr>
              <a:t>int File_Pleine(File F) {</a:t>
            </a:r>
            <a:endParaRPr lang="en-US" altLang="fr-FR" sz="2400" b="1" strike="noStrike" spc="-1" dirty="0">
              <a:solidFill>
                <a:srgbClr val="000000"/>
              </a:solidFill>
              <a:latin typeface="Times New Roman" panose="02020603050405020304"/>
            </a:endParaRPr>
          </a:p>
          <a:p>
            <a:pPr lvl="0" indent="0">
              <a:buNone/>
            </a:pPr>
            <a:r>
              <a:rPr lang="en-US" altLang="fr-FR" sz="2400" b="1" strike="noStrike" spc="-1" dirty="0">
                <a:solidFill>
                  <a:srgbClr val="000000"/>
                </a:solidFill>
                <a:latin typeface="Times New Roman" panose="02020603050405020304"/>
              </a:rPr>
              <a:t>    return (F.queue == LMAX);  // Si queue atteint LMAX, la file est pleine</a:t>
            </a:r>
            <a:endParaRPr lang="en-US" altLang="fr-FR" sz="2400" b="1" strike="noStrike" spc="-1" dirty="0">
              <a:solidFill>
                <a:srgbClr val="000000"/>
              </a:solidFill>
              <a:latin typeface="Times New Roman" panose="02020603050405020304"/>
            </a:endParaRPr>
          </a:p>
          <a:p>
            <a:pPr lvl="0" indent="0">
              <a:buNone/>
            </a:pPr>
            <a:r>
              <a:rPr lang="en-US" altLang="fr-FR" sz="2400" b="1" strike="noStrike" spc="-1" dirty="0">
                <a:solidFill>
                  <a:srgbClr val="000000"/>
                </a:solidFill>
                <a:latin typeface="Times New Roman" panose="02020603050405020304"/>
              </a:rPr>
              <a:t>}</a:t>
            </a:r>
            <a:r>
              <a:rPr lang="fr-FR" sz="2400" b="1" strike="noStrike" spc="-1" dirty="0">
                <a:solidFill>
                  <a:srgbClr val="000000"/>
                </a:solidFill>
                <a:latin typeface="Times New Roman" panose="02020603050405020304"/>
              </a:rPr>
              <a:t>  </a:t>
            </a:r>
            <a:endParaRPr lang="fr-FR" sz="2400" b="1" strike="noStrike" spc="-1"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tableau(2)</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4000"/>
          </a:bodyPr>
          <a:lstStyle/>
          <a:p>
            <a:pPr marL="343535" indent="-342900">
              <a:lnSpc>
                <a:spcPct val="90000"/>
              </a:lnSpc>
              <a:spcBef>
                <a:spcPts val="1000"/>
              </a:spcBef>
              <a:buFont typeface="Arial" panose="020B0604020202020204" pitchFamily="34" charset="0"/>
              <a:buChar char="•"/>
            </a:pPr>
            <a:r>
              <a:rPr lang="en-US" sz="2000" b="1" u="sng" strike="noStrike" spc="-1" dirty="0">
                <a:solidFill>
                  <a:srgbClr val="000000"/>
                </a:solidFill>
                <a:latin typeface="+mj-lt"/>
              </a:rPr>
              <a:t>Enfiler</a:t>
            </a:r>
            <a:r>
              <a:rPr lang="en-US" sz="2000" b="1" strike="noStrike" spc="-1" dirty="0">
                <a:solidFill>
                  <a:srgbClr val="000000"/>
                </a:solidFill>
                <a:latin typeface="Times New Roman" panose="02020603050405020304"/>
              </a:rPr>
              <a:t> :  </a:t>
            </a:r>
            <a:endParaRPr lang="fr-FR" sz="2000" b="1" strike="noStrike" spc="-1" dirty="0">
              <a:solidFill>
                <a:srgbClr val="000000"/>
              </a:solidFill>
              <a:latin typeface="Times New Roman" panose="02020603050405020304"/>
            </a:endParaRPr>
          </a:p>
          <a:p>
            <a:pPr marL="228600" indent="-227965">
              <a:lnSpc>
                <a:spcPct val="90000"/>
              </a:lnSpc>
              <a:spcBef>
                <a:spcPts val="1000"/>
              </a:spcBef>
            </a:pPr>
            <a:r>
              <a:rPr lang="fr-FR" sz="2000" spc="-1" dirty="0">
                <a:solidFill>
                  <a:srgbClr val="000000"/>
                </a:solidFill>
                <a:latin typeface="Times New Roman" panose="02020603050405020304"/>
              </a:rPr>
              <a:t>Procédure Enfiler(réf F: File, val X : Elément)</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Début</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Si </a:t>
            </a:r>
            <a:r>
              <a:rPr lang="en-US" sz="2000" spc="-1" dirty="0" err="1">
                <a:solidFill>
                  <a:srgbClr val="000000"/>
                </a:solidFill>
                <a:latin typeface="Times New Roman" panose="02020603050405020304"/>
              </a:rPr>
              <a:t>File_pleine</a:t>
            </a:r>
            <a:r>
              <a:rPr lang="en-US" sz="2000" spc="-1" dirty="0">
                <a:solidFill>
                  <a:srgbClr val="000000"/>
                </a:solidFill>
                <a:latin typeface="Times New Roman" panose="02020603050405020304"/>
              </a:rPr>
              <a:t> (F) Alors </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Ecrire (‘’impossible la File est pleine’’)</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Sinon</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F. </a:t>
            </a:r>
            <a:r>
              <a:rPr lang="fr-FR" sz="2000" spc="-1" dirty="0">
                <a:solidFill>
                  <a:srgbClr val="000000"/>
                </a:solidFill>
                <a:latin typeface="Times New Roman" panose="02020603050405020304"/>
              </a:rPr>
              <a:t>Queue  </a:t>
            </a:r>
            <a:r>
              <a:rPr lang="en-US" sz="2000" spc="-1" dirty="0">
                <a:solidFill>
                  <a:srgbClr val="000000"/>
                </a:solidFill>
                <a:latin typeface="Times New Roman" panose="02020603050405020304"/>
              </a:rPr>
              <a:t>← F.</a:t>
            </a:r>
            <a:r>
              <a:rPr lang="fr-FR" sz="2000" spc="-1" dirty="0">
                <a:solidFill>
                  <a:srgbClr val="000000"/>
                </a:solidFill>
                <a:latin typeface="Times New Roman" panose="02020603050405020304"/>
              </a:rPr>
              <a:t>Queue</a:t>
            </a:r>
            <a:r>
              <a:rPr lang="en-US" sz="2000" spc="-1" dirty="0">
                <a:solidFill>
                  <a:srgbClr val="000000"/>
                </a:solidFill>
                <a:latin typeface="Times New Roman" panose="02020603050405020304"/>
              </a:rPr>
              <a:t>+1;</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a:t>
            </a:r>
            <a:r>
              <a:rPr lang="en-US" sz="2000" spc="-1" dirty="0" err="1">
                <a:solidFill>
                  <a:srgbClr val="000000"/>
                </a:solidFill>
                <a:latin typeface="Times New Roman" panose="02020603050405020304"/>
              </a:rPr>
              <a:t>F.elts</a:t>
            </a:r>
            <a:r>
              <a:rPr lang="en-US" sz="2000" spc="-1" dirty="0">
                <a:solidFill>
                  <a:srgbClr val="000000"/>
                </a:solidFill>
                <a:latin typeface="Times New Roman" panose="02020603050405020304"/>
              </a:rPr>
              <a:t>[F. </a:t>
            </a:r>
            <a:r>
              <a:rPr lang="fr-FR" sz="2000" spc="-1" dirty="0">
                <a:solidFill>
                  <a:srgbClr val="000000"/>
                </a:solidFill>
                <a:latin typeface="Times New Roman" panose="02020603050405020304"/>
              </a:rPr>
              <a:t>Queue</a:t>
            </a:r>
            <a:r>
              <a:rPr lang="en-US" sz="2000" spc="-1" dirty="0">
                <a:solidFill>
                  <a:srgbClr val="000000"/>
                </a:solidFill>
                <a:latin typeface="Times New Roman" panose="02020603050405020304"/>
              </a:rPr>
              <a:t>] ← X;</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a:t>
            </a:r>
            <a:r>
              <a:rPr lang="en-US" sz="2000" spc="-1" dirty="0" err="1">
                <a:solidFill>
                  <a:srgbClr val="000000"/>
                </a:solidFill>
                <a:latin typeface="Times New Roman" panose="02020603050405020304"/>
              </a:rPr>
              <a:t>FinSi</a:t>
            </a:r>
            <a:endParaRPr lang="fr-FR" sz="2000" spc="-1" dirty="0">
              <a:solidFill>
                <a:srgbClr val="000000"/>
              </a:solidFill>
              <a:latin typeface="Times New Roman" panose="02020603050405020304"/>
            </a:endParaRPr>
          </a:p>
          <a:p>
            <a:r>
              <a:rPr lang="en-US" sz="2000" spc="-1" dirty="0" err="1">
                <a:solidFill>
                  <a:srgbClr val="000000"/>
                </a:solidFill>
                <a:latin typeface="Times New Roman" panose="02020603050405020304"/>
              </a:rPr>
              <a:t>FinEnfiler</a:t>
            </a:r>
            <a:endParaRPr lang="fr-FR" sz="2000" spc="-1" dirty="0">
              <a:solidFill>
                <a:srgbClr val="000000"/>
              </a:solidFill>
              <a:latin typeface="Times New Roman" panose="02020603050405020304"/>
            </a:endParaRPr>
          </a:p>
          <a:p>
            <a:pPr marL="685800" indent="-227965">
              <a:lnSpc>
                <a:spcPct val="90000"/>
              </a:lnSpc>
              <a:spcBef>
                <a:spcPts val="500"/>
              </a:spcBef>
            </a:pPr>
            <a:endParaRPr lang="fr-FR" sz="20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tableau(2)</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**Enfiler un </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l</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ment (ajouter à la queue)**</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void Enfiler(File *F, int val) {</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if (File_Pleine(*F)) {</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printf("Erreur : File pleine !\\n");</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return;</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F-&gt;queue++;  // Avancer queue</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F-&gt;elements[F-&gt;queue - 1] = val;  // Stocker l'</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l</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ment (indices 0-based en C)</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printf("Enfile : %d\\n", val);</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a:t>
            </a:r>
            <a:endParaRPr lang="en-US" altLang="fr-FR" sz="20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tableau(2)</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20000"/>
          </a:bodyPr>
          <a:lstStyle/>
          <a:p>
            <a:pPr marL="685800" indent="-227965" algn="just">
              <a:lnSpc>
                <a:spcPct val="90000"/>
              </a:lnSpc>
              <a:spcBef>
                <a:spcPts val="500"/>
              </a:spcBef>
            </a:pPr>
            <a:r>
              <a:rPr lang="en-US" altLang="fr-FR" sz="2000" b="1" strike="noStrike" spc="-1" dirty="0">
                <a:solidFill>
                  <a:srgbClr val="FF0000"/>
                </a:solidFill>
                <a:latin typeface="Times New Roman" panose="02020603050405020304" pitchFamily="18" charset="0"/>
                <a:cs typeface="Times New Roman" panose="02020603050405020304" pitchFamily="18" charset="0"/>
              </a:rPr>
              <a:t>Si</a:t>
            </a:r>
            <a:r>
              <a:rPr lang="fr-FR" altLang="en-US" sz="2000" b="1" strike="noStrike" spc="-1" dirty="0">
                <a:solidFill>
                  <a:srgbClr val="FF0000"/>
                </a:solidFill>
                <a:latin typeface="Times New Roman" panose="02020603050405020304" pitchFamily="18" charset="0"/>
                <a:cs typeface="Times New Roman" panose="02020603050405020304" pitchFamily="18" charset="0"/>
              </a:rPr>
              <a:t> nous préferons </a:t>
            </a:r>
            <a:r>
              <a:rPr lang="en-US" altLang="fr-FR" sz="2000" b="1" strike="noStrike" spc="-1" dirty="0">
                <a:solidFill>
                  <a:srgbClr val="FF0000"/>
                </a:solidFill>
                <a:latin typeface="Times New Roman" panose="02020603050405020304" pitchFamily="18" charset="0"/>
                <a:cs typeface="Times New Roman" panose="02020603050405020304" pitchFamily="18" charset="0"/>
              </a:rPr>
              <a:t> une approche plus standard, on peut ajuster queue pour repr</a:t>
            </a:r>
            <a:r>
              <a:rPr lang="en-US" altLang="en-US" sz="2000" b="1" strike="noStrike" spc="-1" dirty="0">
                <a:solidFill>
                  <a:srgbClr val="FF0000"/>
                </a:solidFill>
                <a:latin typeface="Times New Roman" panose="02020603050405020304" pitchFamily="18" charset="0"/>
                <a:cs typeface="Times New Roman" panose="02020603050405020304" pitchFamily="18" charset="0"/>
              </a:rPr>
              <a:t>é</a:t>
            </a:r>
            <a:r>
              <a:rPr lang="en-US" altLang="fr-FR" sz="2000" b="1" strike="noStrike" spc="-1" dirty="0">
                <a:solidFill>
                  <a:srgbClr val="FF0000"/>
                </a:solidFill>
                <a:latin typeface="Times New Roman" panose="02020603050405020304" pitchFamily="18" charset="0"/>
                <a:cs typeface="Times New Roman" panose="02020603050405020304" pitchFamily="18" charset="0"/>
              </a:rPr>
              <a:t>senter l'index r</a:t>
            </a:r>
            <a:r>
              <a:rPr lang="en-US" altLang="en-US" sz="2000" b="1" strike="noStrike" spc="-1" dirty="0">
                <a:solidFill>
                  <a:srgbClr val="FF0000"/>
                </a:solidFill>
                <a:latin typeface="Times New Roman" panose="02020603050405020304" pitchFamily="18" charset="0"/>
                <a:cs typeface="Times New Roman" panose="02020603050405020304" pitchFamily="18" charset="0"/>
              </a:rPr>
              <a:t>é</a:t>
            </a:r>
            <a:r>
              <a:rPr lang="en-US" altLang="fr-FR" sz="2000" b="1" strike="noStrike" spc="-1" dirty="0">
                <a:solidFill>
                  <a:srgbClr val="FF0000"/>
                </a:solidFill>
                <a:latin typeface="Times New Roman" panose="02020603050405020304" pitchFamily="18" charset="0"/>
                <a:cs typeface="Times New Roman" panose="02020603050405020304" pitchFamily="18" charset="0"/>
              </a:rPr>
              <a:t>el du dernier </a:t>
            </a:r>
            <a:r>
              <a:rPr lang="en-US" altLang="en-US" sz="2000" b="1" strike="noStrike" spc="-1" dirty="0">
                <a:solidFill>
                  <a:srgbClr val="FF0000"/>
                </a:solidFill>
                <a:latin typeface="Times New Roman" panose="02020603050405020304" pitchFamily="18" charset="0"/>
                <a:cs typeface="Times New Roman" panose="02020603050405020304" pitchFamily="18" charset="0"/>
              </a:rPr>
              <a:t>é</a:t>
            </a:r>
            <a:r>
              <a:rPr lang="en-US" altLang="fr-FR" sz="2000" b="1" strike="noStrike" spc="-1" dirty="0">
                <a:solidFill>
                  <a:srgbClr val="FF0000"/>
                </a:solidFill>
                <a:latin typeface="Times New Roman" panose="02020603050405020304" pitchFamily="18" charset="0"/>
                <a:cs typeface="Times New Roman" panose="02020603050405020304" pitchFamily="18" charset="0"/>
              </a:rPr>
              <a:t>l</a:t>
            </a:r>
            <a:r>
              <a:rPr lang="en-US" altLang="en-US" sz="2000" b="1" strike="noStrike" spc="-1" dirty="0">
                <a:solidFill>
                  <a:srgbClr val="FF0000"/>
                </a:solidFill>
                <a:latin typeface="Times New Roman" panose="02020603050405020304" pitchFamily="18" charset="0"/>
                <a:cs typeface="Times New Roman" panose="02020603050405020304" pitchFamily="18" charset="0"/>
              </a:rPr>
              <a:t>é</a:t>
            </a:r>
            <a:r>
              <a:rPr lang="en-US" altLang="fr-FR" sz="2000" b="1" strike="noStrike" spc="-1" dirty="0">
                <a:solidFill>
                  <a:srgbClr val="FF0000"/>
                </a:solidFill>
                <a:latin typeface="Times New Roman" panose="02020603050405020304" pitchFamily="18" charset="0"/>
                <a:cs typeface="Times New Roman" panose="02020603050405020304" pitchFamily="18" charset="0"/>
              </a:rPr>
              <a:t>ment en faisant :</a:t>
            </a:r>
            <a:endParaRPr lang="en-US" altLang="fr-FR" sz="2000" b="1" strike="noStrike" spc="-1" dirty="0">
              <a:solidFill>
                <a:srgbClr val="FF0000"/>
              </a:solidFill>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void Enfiler(File *F, int val) {</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if (File_Pleine(*F)) {</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printf("Erreur : File pleine !\\n");</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return;</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if (File_Vide(*F)) {  // Si la file est vide, on initialise debut</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F-&gt;debut = 0;</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F-&gt;elements[F-&gt;queue] = val;  // Ajouter l'</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l</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ment directement à queue</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F-&gt;queue++;  // Incr</a:t>
            </a:r>
            <a:r>
              <a:rPr lang="en-US" altLang="en-US" sz="2000" b="1" strike="noStrike" spc="-1" dirty="0">
                <a:latin typeface="Times New Roman" panose="02020603050405020304" pitchFamily="18" charset="0"/>
                <a:cs typeface="Times New Roman" panose="02020603050405020304" pitchFamily="18" charset="0"/>
              </a:rPr>
              <a:t>é</a:t>
            </a:r>
            <a:r>
              <a:rPr lang="en-US" altLang="fr-FR" sz="2000" b="1" strike="noStrike" spc="-1" dirty="0">
                <a:latin typeface="Times New Roman" panose="02020603050405020304" pitchFamily="18" charset="0"/>
                <a:cs typeface="Times New Roman" panose="02020603050405020304" pitchFamily="18" charset="0"/>
              </a:rPr>
              <a:t>menter queue</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    printf("Enfile : %d\\n", val);</a:t>
            </a:r>
            <a:endParaRPr lang="en-US" altLang="fr-FR" sz="20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000" b="1" strike="noStrike" spc="-1" dirty="0">
                <a:latin typeface="Times New Roman" panose="02020603050405020304" pitchFamily="18" charset="0"/>
                <a:cs typeface="Times New Roman" panose="02020603050405020304" pitchFamily="18" charset="0"/>
              </a:rPr>
              <a:t>}</a:t>
            </a:r>
            <a:endParaRPr lang="en-US" altLang="fr-FR" sz="20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tableau(2)</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685800" indent="-227965">
              <a:lnSpc>
                <a:spcPct val="90000"/>
              </a:lnSpc>
              <a:spcBef>
                <a:spcPts val="500"/>
              </a:spcBef>
            </a:pPr>
            <a:endParaRPr lang="en-US" altLang="fr-FR" sz="2000" b="1" strike="noStrike" spc="-1" dirty="0">
              <a:latin typeface="Times New Roman" panose="02020603050405020304" pitchFamily="18" charset="0"/>
              <a:cs typeface="Times New Roman" panose="02020603050405020304" pitchFamily="18" charset="0"/>
            </a:endParaRPr>
          </a:p>
          <a:p>
            <a:pPr marL="915035" indent="-457200">
              <a:lnSpc>
                <a:spcPct val="90000"/>
              </a:lnSpc>
              <a:spcBef>
                <a:spcPts val="500"/>
              </a:spcBef>
              <a:buFont typeface="Arial" panose="020B0604020202020204" pitchFamily="34" charset="0"/>
              <a:buChar char="•"/>
            </a:pPr>
            <a:r>
              <a:rPr lang="en-US" altLang="fr-FR" sz="2800" b="1" strike="noStrike" spc="-1" dirty="0">
                <a:latin typeface="Times New Roman" panose="02020603050405020304" pitchFamily="18" charset="0"/>
                <a:cs typeface="Times New Roman" panose="02020603050405020304" pitchFamily="18" charset="0"/>
              </a:rPr>
              <a:t>F-&gt;elements[F-&gt;queue - 1] = val; fonctionne SI queue est utilis</a:t>
            </a:r>
            <a:r>
              <a:rPr lang="en-US" altLang="en-US" sz="2800" b="1" strike="noStrike" spc="-1" dirty="0">
                <a:latin typeface="Times New Roman" panose="02020603050405020304" pitchFamily="18" charset="0"/>
                <a:cs typeface="Times New Roman" panose="02020603050405020304" pitchFamily="18" charset="0"/>
              </a:rPr>
              <a:t>é</a:t>
            </a:r>
            <a:r>
              <a:rPr lang="en-US" altLang="fr-FR" sz="2800" b="1" strike="noStrike" spc="-1" dirty="0">
                <a:latin typeface="Times New Roman" panose="02020603050405020304" pitchFamily="18" charset="0"/>
                <a:cs typeface="Times New Roman" panose="02020603050405020304" pitchFamily="18" charset="0"/>
              </a:rPr>
              <a:t> comme compteur d'</a:t>
            </a:r>
            <a:r>
              <a:rPr lang="en-US" altLang="en-US" sz="2800" b="1" strike="noStrike" spc="-1" dirty="0">
                <a:latin typeface="Times New Roman" panose="02020603050405020304" pitchFamily="18" charset="0"/>
                <a:cs typeface="Times New Roman" panose="02020603050405020304" pitchFamily="18" charset="0"/>
              </a:rPr>
              <a:t>é</a:t>
            </a:r>
            <a:r>
              <a:rPr lang="en-US" altLang="fr-FR" sz="2800" b="1" strike="noStrike" spc="-1" dirty="0">
                <a:latin typeface="Times New Roman" panose="02020603050405020304" pitchFamily="18" charset="0"/>
                <a:cs typeface="Times New Roman" panose="02020603050405020304" pitchFamily="18" charset="0"/>
              </a:rPr>
              <a:t>l</a:t>
            </a:r>
            <a:r>
              <a:rPr lang="en-US" altLang="en-US" sz="2800" b="1" strike="noStrike" spc="-1" dirty="0">
                <a:latin typeface="Times New Roman" panose="02020603050405020304" pitchFamily="18" charset="0"/>
                <a:cs typeface="Times New Roman" panose="02020603050405020304" pitchFamily="18" charset="0"/>
              </a:rPr>
              <a:t>é</a:t>
            </a:r>
            <a:r>
              <a:rPr lang="en-US" altLang="fr-FR" sz="2800" b="1" strike="noStrike" spc="-1" dirty="0">
                <a:latin typeface="Times New Roman" panose="02020603050405020304" pitchFamily="18" charset="0"/>
                <a:cs typeface="Times New Roman" panose="02020603050405020304" pitchFamily="18" charset="0"/>
              </a:rPr>
              <a:t>ments.</a:t>
            </a:r>
            <a:endParaRPr lang="en-US" altLang="fr-FR" sz="2800" b="1" strike="noStrike" spc="-1" dirty="0">
              <a:latin typeface="Times New Roman" panose="02020603050405020304" pitchFamily="18" charset="0"/>
              <a:cs typeface="Times New Roman" panose="02020603050405020304" pitchFamily="18" charset="0"/>
            </a:endParaRPr>
          </a:p>
          <a:p>
            <a:pPr marL="915035" indent="-457200">
              <a:lnSpc>
                <a:spcPct val="90000"/>
              </a:lnSpc>
              <a:spcBef>
                <a:spcPts val="500"/>
              </a:spcBef>
              <a:buFont typeface="Arial" panose="020B0604020202020204" pitchFamily="34" charset="0"/>
              <a:buChar char="•"/>
            </a:pPr>
            <a:endParaRPr lang="en-US" altLang="fr-FR" sz="2800" b="1" strike="noStrike" spc="-1" dirty="0">
              <a:latin typeface="Times New Roman" panose="02020603050405020304" pitchFamily="18" charset="0"/>
              <a:cs typeface="Times New Roman" panose="02020603050405020304" pitchFamily="18" charset="0"/>
            </a:endParaRPr>
          </a:p>
          <a:p>
            <a:pPr marL="915035" indent="-457200">
              <a:lnSpc>
                <a:spcPct val="90000"/>
              </a:lnSpc>
              <a:spcBef>
                <a:spcPts val="500"/>
              </a:spcBef>
              <a:buFont typeface="Arial" panose="020B0604020202020204" pitchFamily="34" charset="0"/>
              <a:buChar char="•"/>
            </a:pPr>
            <a:r>
              <a:rPr lang="en-US" altLang="fr-FR" sz="2800" b="1" strike="noStrike" spc="-1" dirty="0">
                <a:latin typeface="Times New Roman" panose="02020603050405020304" pitchFamily="18" charset="0"/>
                <a:cs typeface="Times New Roman" panose="02020603050405020304" pitchFamily="18" charset="0"/>
              </a:rPr>
              <a:t>Une meilleure version est F-&gt;elements[F-&gt;queue] = val; F-&gt;queue++;, qui fonctionne de mani</a:t>
            </a:r>
            <a:r>
              <a:rPr lang="en-US" altLang="en-US" sz="2800" b="1" strike="noStrike" spc="-1" dirty="0">
                <a:latin typeface="Times New Roman" panose="02020603050405020304" pitchFamily="18" charset="0"/>
                <a:cs typeface="Times New Roman" panose="02020603050405020304" pitchFamily="18" charset="0"/>
              </a:rPr>
              <a:t>è</a:t>
            </a:r>
            <a:r>
              <a:rPr lang="en-US" altLang="fr-FR" sz="2800" b="1" strike="noStrike" spc="-1" dirty="0">
                <a:latin typeface="Times New Roman" panose="02020603050405020304" pitchFamily="18" charset="0"/>
                <a:cs typeface="Times New Roman" panose="02020603050405020304" pitchFamily="18" charset="0"/>
              </a:rPr>
              <a:t>re plus intuitive.</a:t>
            </a:r>
            <a:endParaRPr lang="en-US" altLang="fr-FR" sz="2800" b="1" strike="noStrike" spc="-1" dirty="0">
              <a:latin typeface="Times New Roman" panose="02020603050405020304" pitchFamily="18" charset="0"/>
              <a:cs typeface="Times New Roman" panose="02020603050405020304" pitchFamily="18" charset="0"/>
            </a:endParaRPr>
          </a:p>
          <a:p>
            <a:pPr marL="457835" indent="0">
              <a:lnSpc>
                <a:spcPct val="90000"/>
              </a:lnSpc>
              <a:spcBef>
                <a:spcPts val="500"/>
              </a:spcBef>
              <a:buFont typeface="Arial" panose="020B0604020202020204" pitchFamily="34" charset="0"/>
              <a:buNone/>
            </a:pPr>
            <a:endParaRPr lang="en-US" altLang="fr-FR" sz="2800" b="1" strike="noStrike" spc="-1" dirty="0">
              <a:latin typeface="Times New Roman" panose="02020603050405020304" pitchFamily="18" charset="0"/>
              <a:cs typeface="Times New Roman" panose="02020603050405020304" pitchFamily="18" charset="0"/>
            </a:endParaRPr>
          </a:p>
          <a:p>
            <a:pPr marL="915035" indent="-457200">
              <a:lnSpc>
                <a:spcPct val="90000"/>
              </a:lnSpc>
              <a:spcBef>
                <a:spcPts val="500"/>
              </a:spcBef>
              <a:buFont typeface="Arial" panose="020B0604020202020204" pitchFamily="34" charset="0"/>
              <a:buChar char="•"/>
            </a:pPr>
            <a:r>
              <a:rPr lang="en-US" altLang="fr-FR" sz="2800" b="1" strike="noStrike" spc="-1" dirty="0">
                <a:latin typeface="Times New Roman" panose="02020603050405020304" pitchFamily="18" charset="0"/>
                <a:cs typeface="Times New Roman" panose="02020603050405020304" pitchFamily="18" charset="0"/>
              </a:rPr>
              <a:t>Cela </a:t>
            </a:r>
            <a:r>
              <a:rPr lang="en-US" altLang="en-US" sz="2800" b="1" strike="noStrike" spc="-1" dirty="0">
                <a:latin typeface="Times New Roman" panose="02020603050405020304" pitchFamily="18" charset="0"/>
                <a:cs typeface="Times New Roman" panose="02020603050405020304" pitchFamily="18" charset="0"/>
              </a:rPr>
              <a:t>é</a:t>
            </a:r>
            <a:r>
              <a:rPr lang="en-US" altLang="fr-FR" sz="2800" b="1" strike="noStrike" spc="-1" dirty="0">
                <a:latin typeface="Times New Roman" panose="02020603050405020304" pitchFamily="18" charset="0"/>
                <a:cs typeface="Times New Roman" panose="02020603050405020304" pitchFamily="18" charset="0"/>
              </a:rPr>
              <a:t>vite des erreurs d'indexation et est plus standard en C.</a:t>
            </a:r>
            <a:endParaRPr lang="en-US" altLang="fr-FR" sz="28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tableau(3)</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4000"/>
          </a:bodyPr>
          <a:lstStyle/>
          <a:p>
            <a:pPr marL="343535" indent="-342900">
              <a:lnSpc>
                <a:spcPct val="90000"/>
              </a:lnSpc>
              <a:spcBef>
                <a:spcPts val="1000"/>
              </a:spcBef>
              <a:buFont typeface="Arial" panose="020B0604020202020204" pitchFamily="34" charset="0"/>
              <a:buChar char="•"/>
            </a:pPr>
            <a:r>
              <a:rPr lang="en-US" sz="2000" b="1" u="sng" spc="-1" dirty="0">
                <a:solidFill>
                  <a:srgbClr val="000000"/>
                </a:solidFill>
                <a:latin typeface="+mj-lt"/>
              </a:rPr>
              <a:t>Défiler:  </a:t>
            </a:r>
            <a:endParaRPr lang="fr-FR" sz="2000" b="1" u="sng" spc="-1" dirty="0">
              <a:solidFill>
                <a:srgbClr val="000000"/>
              </a:solidFill>
              <a:latin typeface="+mj-lt"/>
            </a:endParaRPr>
          </a:p>
          <a:p>
            <a:pPr marL="228600" indent="-227965">
              <a:lnSpc>
                <a:spcPct val="90000"/>
              </a:lnSpc>
              <a:spcBef>
                <a:spcPts val="1000"/>
              </a:spcBef>
            </a:pPr>
            <a:r>
              <a:rPr lang="fr-FR" sz="2000" spc="-1" dirty="0">
                <a:solidFill>
                  <a:srgbClr val="000000"/>
                </a:solidFill>
                <a:latin typeface="Times New Roman" panose="02020603050405020304"/>
              </a:rPr>
              <a:t>Procédure Défiler(réf F: File)</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Début</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Si </a:t>
            </a:r>
            <a:r>
              <a:rPr lang="en-US" sz="2000" spc="-1" dirty="0" err="1">
                <a:solidFill>
                  <a:srgbClr val="000000"/>
                </a:solidFill>
                <a:latin typeface="Times New Roman" panose="02020603050405020304"/>
              </a:rPr>
              <a:t>File_vide</a:t>
            </a:r>
            <a:r>
              <a:rPr lang="en-US" sz="2000" spc="-1" dirty="0">
                <a:solidFill>
                  <a:srgbClr val="000000"/>
                </a:solidFill>
                <a:latin typeface="Times New Roman" panose="02020603050405020304"/>
              </a:rPr>
              <a:t>(F) Alors </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Ecrire (‘’impossible la File est vide’’)</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Sinon</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a:t>
            </a:r>
            <a:r>
              <a:rPr lang="en-US" sz="2000" spc="-1" dirty="0" err="1">
                <a:solidFill>
                  <a:srgbClr val="000000"/>
                </a:solidFill>
                <a:latin typeface="Times New Roman" panose="02020603050405020304"/>
              </a:rPr>
              <a:t>F.Début</a:t>
            </a:r>
            <a:r>
              <a:rPr lang="en-US" sz="2000" spc="-1" dirty="0">
                <a:solidFill>
                  <a:srgbClr val="000000"/>
                </a:solidFill>
                <a:latin typeface="Times New Roman" panose="02020603050405020304"/>
              </a:rPr>
              <a:t> ← </a:t>
            </a:r>
            <a:r>
              <a:rPr lang="en-US" sz="2000" spc="-1" dirty="0" err="1">
                <a:solidFill>
                  <a:srgbClr val="000000"/>
                </a:solidFill>
                <a:latin typeface="Times New Roman" panose="02020603050405020304"/>
              </a:rPr>
              <a:t>F.Début</a:t>
            </a:r>
            <a:r>
              <a:rPr lang="en-US" sz="2000" spc="-1" dirty="0">
                <a:solidFill>
                  <a:srgbClr val="000000"/>
                </a:solidFill>
                <a:latin typeface="Times New Roman" panose="02020603050405020304"/>
              </a:rPr>
              <a:t> + 1;</a:t>
            </a:r>
            <a:endParaRPr lang="fr-FR" sz="2000" spc="-1" dirty="0">
              <a:solidFill>
                <a:srgbClr val="000000"/>
              </a:solidFill>
              <a:latin typeface="Times New Roman" panose="02020603050405020304"/>
            </a:endParaRPr>
          </a:p>
          <a:p>
            <a:r>
              <a:rPr lang="en-US" sz="2000" spc="-1" dirty="0">
                <a:solidFill>
                  <a:srgbClr val="000000"/>
                </a:solidFill>
                <a:latin typeface="Times New Roman" panose="02020603050405020304"/>
              </a:rPr>
              <a:t>		</a:t>
            </a:r>
            <a:r>
              <a:rPr lang="en-US" sz="2000" spc="-1" dirty="0" err="1">
                <a:solidFill>
                  <a:srgbClr val="000000"/>
                </a:solidFill>
                <a:latin typeface="Times New Roman" panose="02020603050405020304"/>
              </a:rPr>
              <a:t>FinSi</a:t>
            </a:r>
            <a:endParaRPr lang="fr-FR" sz="2000" spc="-1" dirty="0">
              <a:solidFill>
                <a:srgbClr val="000000"/>
              </a:solidFill>
              <a:latin typeface="Times New Roman" panose="02020603050405020304"/>
            </a:endParaRPr>
          </a:p>
          <a:p>
            <a:r>
              <a:rPr lang="en-US" sz="2000" spc="-1" dirty="0" err="1">
                <a:solidFill>
                  <a:srgbClr val="000000"/>
                </a:solidFill>
                <a:latin typeface="Times New Roman" panose="02020603050405020304"/>
              </a:rPr>
              <a:t>FinDéFiler</a:t>
            </a:r>
            <a:endParaRPr lang="fr-FR" sz="2000" spc="-1" dirty="0">
              <a:solidFill>
                <a:srgbClr val="000000"/>
              </a:solidFill>
              <a:latin typeface="Times New Roman" panose="02020603050405020304"/>
            </a:endParaRPr>
          </a:p>
          <a:p>
            <a:pPr marL="685800" indent="-227965">
              <a:lnSpc>
                <a:spcPct val="90000"/>
              </a:lnSpc>
              <a:spcBef>
                <a:spcPts val="500"/>
              </a:spcBef>
            </a:pPr>
            <a:endParaRPr lang="fr-FR" sz="2000" b="0" strike="noStrike" spc="-1" dirty="0">
              <a:latin typeface="Arial" panose="020B0604020202020204"/>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tableau(3)</a:t>
            </a:r>
            <a:endParaRPr lang="fr-FR" sz="4000" b="0" strike="noStrike" spc="-1" dirty="0">
              <a:latin typeface="Arial" panose="020B0604020202020204"/>
            </a:endParaRPr>
          </a:p>
        </p:txBody>
      </p:sp>
      <p:sp>
        <p:nvSpPr>
          <p:cNvPr id="230" name="CustomShape 3"/>
          <p:cNvSpPr/>
          <p:nvPr/>
        </p:nvSpPr>
        <p:spPr>
          <a:xfrm>
            <a:off x="821690" y="2557780"/>
            <a:ext cx="10733405" cy="42608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  **D</a:t>
            </a:r>
            <a:r>
              <a:rPr lang="en-US" altLang="en-US" sz="2400" b="1" strike="noStrike" spc="-1" dirty="0">
                <a:latin typeface="Times New Roman" panose="02020603050405020304" pitchFamily="18" charset="0"/>
                <a:cs typeface="Times New Roman" panose="02020603050405020304" pitchFamily="18" charset="0"/>
              </a:rPr>
              <a:t>é</a:t>
            </a:r>
            <a:r>
              <a:rPr lang="en-US" altLang="fr-FR" sz="2400" b="1" strike="noStrike" spc="-1" dirty="0">
                <a:latin typeface="Times New Roman" panose="02020603050405020304" pitchFamily="18" charset="0"/>
                <a:cs typeface="Times New Roman" panose="02020603050405020304" pitchFamily="18" charset="0"/>
              </a:rPr>
              <a:t>filer un </a:t>
            </a:r>
            <a:r>
              <a:rPr lang="en-US" altLang="en-US" sz="2400" b="1" strike="noStrike" spc="-1" dirty="0">
                <a:latin typeface="Times New Roman" panose="02020603050405020304" pitchFamily="18" charset="0"/>
                <a:cs typeface="Times New Roman" panose="02020603050405020304" pitchFamily="18" charset="0"/>
              </a:rPr>
              <a:t>é</a:t>
            </a:r>
            <a:r>
              <a:rPr lang="en-US" altLang="fr-FR" sz="2400" b="1" strike="noStrike" spc="-1" dirty="0">
                <a:latin typeface="Times New Roman" panose="02020603050405020304" pitchFamily="18" charset="0"/>
                <a:cs typeface="Times New Roman" panose="02020603050405020304" pitchFamily="18" charset="0"/>
              </a:rPr>
              <a:t>l</a:t>
            </a:r>
            <a:r>
              <a:rPr lang="en-US" altLang="en-US" sz="2400" b="1" strike="noStrike" spc="-1" dirty="0">
                <a:latin typeface="Times New Roman" panose="02020603050405020304" pitchFamily="18" charset="0"/>
                <a:cs typeface="Times New Roman" panose="02020603050405020304" pitchFamily="18" charset="0"/>
              </a:rPr>
              <a:t>é</a:t>
            </a:r>
            <a:r>
              <a:rPr lang="en-US" altLang="fr-FR" sz="2400" b="1" strike="noStrike" spc="-1" dirty="0">
                <a:latin typeface="Times New Roman" panose="02020603050405020304" pitchFamily="18" charset="0"/>
                <a:cs typeface="Times New Roman" panose="02020603050405020304" pitchFamily="18" charset="0"/>
              </a:rPr>
              <a:t>ment (retirer depuis la t</a:t>
            </a:r>
            <a:r>
              <a:rPr lang="en-US" altLang="en-US" sz="2400" b="1" strike="noStrike" spc="-1" dirty="0">
                <a:latin typeface="Times New Roman" panose="02020603050405020304" pitchFamily="18" charset="0"/>
                <a:cs typeface="Times New Roman" panose="02020603050405020304" pitchFamily="18" charset="0"/>
              </a:rPr>
              <a:t>ê</a:t>
            </a:r>
            <a:r>
              <a:rPr lang="en-US" altLang="fr-FR" sz="2400" b="1" strike="noStrike" spc="-1" dirty="0">
                <a:latin typeface="Times New Roman" panose="02020603050405020304" pitchFamily="18" charset="0"/>
                <a:cs typeface="Times New Roman" panose="02020603050405020304" pitchFamily="18" charset="0"/>
              </a:rPr>
              <a:t>te)**</a:t>
            </a:r>
            <a:endParaRPr lang="en-US" altLang="fr-FR" sz="24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void Defiler(File *F) {</a:t>
            </a:r>
            <a:endParaRPr lang="en-US" altLang="fr-FR" sz="24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    if (File_Vide(*F)) {</a:t>
            </a:r>
            <a:endParaRPr lang="en-US" altLang="fr-FR" sz="24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        printf("Erreur : File vide !\\n");</a:t>
            </a:r>
            <a:endParaRPr lang="en-US" altLang="fr-FR" sz="24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        return</a:t>
            </a:r>
            <a:r>
              <a:rPr lang="fr-FR" altLang="en-US" sz="2400" b="1" strike="noStrike" spc="-1" dirty="0">
                <a:latin typeface="Times New Roman" panose="02020603050405020304" pitchFamily="18" charset="0"/>
                <a:cs typeface="Times New Roman" panose="02020603050405020304" pitchFamily="18" charset="0"/>
              </a:rPr>
              <a:t> </a:t>
            </a:r>
            <a:r>
              <a:rPr lang="en-US" altLang="fr-FR" sz="2400" b="1" strike="noStrike" spc="-1" dirty="0">
                <a:latin typeface="Times New Roman" panose="02020603050405020304" pitchFamily="18" charset="0"/>
                <a:cs typeface="Times New Roman" panose="02020603050405020304" pitchFamily="18" charset="0"/>
              </a:rPr>
              <a:t>;  }</a:t>
            </a:r>
            <a:endParaRPr lang="en-US" altLang="fr-FR" sz="24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    printf("D</a:t>
            </a:r>
            <a:r>
              <a:rPr lang="en-US" altLang="en-US" sz="2400" b="1" strike="noStrike" spc="-1" dirty="0">
                <a:latin typeface="Times New Roman" panose="02020603050405020304" pitchFamily="18" charset="0"/>
                <a:cs typeface="Times New Roman" panose="02020603050405020304" pitchFamily="18" charset="0"/>
              </a:rPr>
              <a:t>é</a:t>
            </a:r>
            <a:r>
              <a:rPr lang="en-US" altLang="fr-FR" sz="2400" b="1" strike="noStrike" spc="-1" dirty="0">
                <a:latin typeface="Times New Roman" panose="02020603050405020304" pitchFamily="18" charset="0"/>
                <a:cs typeface="Times New Roman" panose="02020603050405020304" pitchFamily="18" charset="0"/>
              </a:rPr>
              <a:t>file : %d\\n", F-&gt;elements[F-&gt;debut - 1]); </a:t>
            </a:r>
            <a:endParaRPr lang="en-US" altLang="fr-FR" sz="24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 // Afficher l'</a:t>
            </a:r>
            <a:r>
              <a:rPr lang="en-US" altLang="en-US" sz="2400" b="1" strike="noStrike" spc="-1" dirty="0">
                <a:latin typeface="Times New Roman" panose="02020603050405020304" pitchFamily="18" charset="0"/>
                <a:cs typeface="Times New Roman" panose="02020603050405020304" pitchFamily="18" charset="0"/>
              </a:rPr>
              <a:t>é</a:t>
            </a:r>
            <a:r>
              <a:rPr lang="en-US" altLang="fr-FR" sz="2400" b="1" strike="noStrike" spc="-1" dirty="0">
                <a:latin typeface="Times New Roman" panose="02020603050405020304" pitchFamily="18" charset="0"/>
                <a:cs typeface="Times New Roman" panose="02020603050405020304" pitchFamily="18" charset="0"/>
              </a:rPr>
              <a:t>l</a:t>
            </a:r>
            <a:r>
              <a:rPr lang="en-US" altLang="en-US" sz="2400" b="1" strike="noStrike" spc="-1" dirty="0">
                <a:latin typeface="Times New Roman" panose="02020603050405020304" pitchFamily="18" charset="0"/>
                <a:cs typeface="Times New Roman" panose="02020603050405020304" pitchFamily="18" charset="0"/>
              </a:rPr>
              <a:t>é</a:t>
            </a:r>
            <a:r>
              <a:rPr lang="en-US" altLang="fr-FR" sz="2400" b="1" strike="noStrike" spc="-1" dirty="0">
                <a:latin typeface="Times New Roman" panose="02020603050405020304" pitchFamily="18" charset="0"/>
                <a:cs typeface="Times New Roman" panose="02020603050405020304" pitchFamily="18" charset="0"/>
              </a:rPr>
              <a:t>ment supprim</a:t>
            </a:r>
            <a:r>
              <a:rPr lang="en-US" altLang="en-US" sz="2400" b="1" strike="noStrike" spc="-1" dirty="0">
                <a:latin typeface="Times New Roman" panose="02020603050405020304" pitchFamily="18" charset="0"/>
                <a:cs typeface="Times New Roman" panose="02020603050405020304" pitchFamily="18" charset="0"/>
              </a:rPr>
              <a:t>é</a:t>
            </a:r>
            <a:endParaRPr lang="en-US" altLang="en-US" sz="24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    F-&gt;debut++;  // Avancer la t</a:t>
            </a:r>
            <a:r>
              <a:rPr lang="en-US" altLang="en-US" sz="2400" b="1" strike="noStrike" spc="-1" dirty="0">
                <a:latin typeface="Times New Roman" panose="02020603050405020304" pitchFamily="18" charset="0"/>
                <a:cs typeface="Times New Roman" panose="02020603050405020304" pitchFamily="18" charset="0"/>
              </a:rPr>
              <a:t>ê</a:t>
            </a:r>
            <a:r>
              <a:rPr lang="en-US" altLang="fr-FR" sz="2400" b="1" strike="noStrike" spc="-1" dirty="0">
                <a:latin typeface="Times New Roman" panose="02020603050405020304" pitchFamily="18" charset="0"/>
                <a:cs typeface="Times New Roman" panose="02020603050405020304" pitchFamily="18" charset="0"/>
              </a:rPr>
              <a:t>te</a:t>
            </a:r>
            <a:endParaRPr lang="en-US" altLang="fr-FR" sz="24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    if (F-&gt;debut &gt; F-&gt;queue) {  // R</a:t>
            </a:r>
            <a:r>
              <a:rPr lang="en-US" altLang="en-US" sz="2400" b="1" strike="noStrike" spc="-1" dirty="0">
                <a:latin typeface="Times New Roman" panose="02020603050405020304" pitchFamily="18" charset="0"/>
                <a:cs typeface="Times New Roman" panose="02020603050405020304" pitchFamily="18" charset="0"/>
              </a:rPr>
              <a:t>é</a:t>
            </a:r>
            <a:r>
              <a:rPr lang="en-US" altLang="fr-FR" sz="2400" b="1" strike="noStrike" spc="-1" dirty="0">
                <a:latin typeface="Times New Roman" panose="02020603050405020304" pitchFamily="18" charset="0"/>
                <a:cs typeface="Times New Roman" panose="02020603050405020304" pitchFamily="18" charset="0"/>
              </a:rPr>
              <a:t>initialisation si la file devient vide</a:t>
            </a:r>
            <a:endParaRPr lang="en-US" altLang="fr-FR" sz="2400"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sz="2400" b="1" strike="noStrike" spc="-1" dirty="0">
                <a:latin typeface="Times New Roman" panose="02020603050405020304" pitchFamily="18" charset="0"/>
                <a:cs typeface="Times New Roman" panose="02020603050405020304" pitchFamily="18" charset="0"/>
              </a:rPr>
              <a:t>        Init_File(F);}}</a:t>
            </a:r>
            <a:endParaRPr lang="en-US" altLang="fr-FR" sz="2400"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tableau(3)</a:t>
            </a:r>
            <a:endParaRPr lang="fr-FR" sz="4000" b="0" strike="noStrike" spc="-1" dirty="0">
              <a:latin typeface="Arial" panose="020B0604020202020204"/>
            </a:endParaRPr>
          </a:p>
        </p:txBody>
      </p:sp>
      <p:sp>
        <p:nvSpPr>
          <p:cNvPr id="230" name="CustomShape 3"/>
          <p:cNvSpPr/>
          <p:nvPr/>
        </p:nvSpPr>
        <p:spPr>
          <a:xfrm>
            <a:off x="821690" y="2557780"/>
            <a:ext cx="10733405" cy="42608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**Programme principal**</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int main() {</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File maFile;</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Init_File(&amp;maFile);</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 Ajout d'</a:t>
            </a:r>
            <a:r>
              <a:rPr lang="en-US" altLang="en-US" b="1" strike="noStrike" spc="-1" dirty="0">
                <a:latin typeface="Times New Roman" panose="02020603050405020304" pitchFamily="18" charset="0"/>
                <a:cs typeface="Times New Roman" panose="02020603050405020304" pitchFamily="18" charset="0"/>
              </a:rPr>
              <a:t>é</a:t>
            </a:r>
            <a:r>
              <a:rPr lang="en-US" altLang="fr-FR" b="1" strike="noStrike" spc="-1" dirty="0">
                <a:latin typeface="Times New Roman" panose="02020603050405020304" pitchFamily="18" charset="0"/>
                <a:cs typeface="Times New Roman" panose="02020603050405020304" pitchFamily="18" charset="0"/>
              </a:rPr>
              <a:t>l</a:t>
            </a:r>
            <a:r>
              <a:rPr lang="en-US" altLang="en-US" b="1" strike="noStrike" spc="-1" dirty="0">
                <a:latin typeface="Times New Roman" panose="02020603050405020304" pitchFamily="18" charset="0"/>
                <a:cs typeface="Times New Roman" panose="02020603050405020304" pitchFamily="18" charset="0"/>
              </a:rPr>
              <a:t>é</a:t>
            </a:r>
            <a:r>
              <a:rPr lang="en-US" altLang="fr-FR" b="1" strike="noStrike" spc="-1" dirty="0">
                <a:latin typeface="Times New Roman" panose="02020603050405020304" pitchFamily="18" charset="0"/>
                <a:cs typeface="Times New Roman" panose="02020603050405020304" pitchFamily="18" charset="0"/>
              </a:rPr>
              <a:t>ments à la file</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Enfiler(&amp;maFile, 10);// queue = 1,   elements[0] = 10</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Enfiler(&amp;maFile, 20); // queue = 2,   elements[1] = 20</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Enfiler(&amp;maFile, 30);// queue = 3,   elements[2] = 30</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Afficher_File(maFile);  // Afficher la file</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 Suppression d'un </a:t>
            </a:r>
            <a:r>
              <a:rPr lang="en-US" altLang="en-US" b="1" strike="noStrike" spc="-1" dirty="0">
                <a:latin typeface="Times New Roman" panose="02020603050405020304" pitchFamily="18" charset="0"/>
                <a:cs typeface="Times New Roman" panose="02020603050405020304" pitchFamily="18" charset="0"/>
              </a:rPr>
              <a:t>é</a:t>
            </a:r>
            <a:r>
              <a:rPr lang="en-US" altLang="fr-FR" b="1" strike="noStrike" spc="-1" dirty="0">
                <a:latin typeface="Times New Roman" panose="02020603050405020304" pitchFamily="18" charset="0"/>
                <a:cs typeface="Times New Roman" panose="02020603050405020304" pitchFamily="18" charset="0"/>
              </a:rPr>
              <a:t>l</a:t>
            </a:r>
            <a:r>
              <a:rPr lang="en-US" altLang="en-US" b="1" strike="noStrike" spc="-1" dirty="0">
                <a:latin typeface="Times New Roman" panose="02020603050405020304" pitchFamily="18" charset="0"/>
                <a:cs typeface="Times New Roman" panose="02020603050405020304" pitchFamily="18" charset="0"/>
              </a:rPr>
              <a:t>é</a:t>
            </a:r>
            <a:r>
              <a:rPr lang="en-US" altLang="fr-FR" b="1" strike="noStrike" spc="-1" dirty="0">
                <a:latin typeface="Times New Roman" panose="02020603050405020304" pitchFamily="18" charset="0"/>
                <a:cs typeface="Times New Roman" panose="02020603050405020304" pitchFamily="18" charset="0"/>
              </a:rPr>
              <a:t>ment</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Defiler(&amp;maFile);</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Afficher_File(maFile);  // Afficher apr</a:t>
            </a:r>
            <a:r>
              <a:rPr lang="en-US" altLang="en-US" b="1" strike="noStrike" spc="-1" dirty="0">
                <a:latin typeface="Times New Roman" panose="02020603050405020304" pitchFamily="18" charset="0"/>
                <a:cs typeface="Times New Roman" panose="02020603050405020304" pitchFamily="18" charset="0"/>
              </a:rPr>
              <a:t>è</a:t>
            </a:r>
            <a:r>
              <a:rPr lang="en-US" altLang="fr-FR" b="1" strike="noStrike" spc="-1" dirty="0">
                <a:latin typeface="Times New Roman" panose="02020603050405020304" pitchFamily="18" charset="0"/>
                <a:cs typeface="Times New Roman" panose="02020603050405020304" pitchFamily="18" charset="0"/>
              </a:rPr>
              <a:t>s suppression</a:t>
            </a:r>
            <a:endParaRPr lang="en-US" altLang="fr-FR" b="1" strike="noStrike" spc="-1" dirty="0">
              <a:latin typeface="Times New Roman" panose="02020603050405020304" pitchFamily="18" charset="0"/>
              <a:cs typeface="Times New Roman" panose="02020603050405020304" pitchFamily="18" charset="0"/>
            </a:endParaRPr>
          </a:p>
          <a:p>
            <a:pPr marL="685800" indent="-227965">
              <a:lnSpc>
                <a:spcPct val="90000"/>
              </a:lnSpc>
              <a:spcBef>
                <a:spcPts val="500"/>
              </a:spcBef>
            </a:pPr>
            <a:r>
              <a:rPr lang="en-US" altLang="fr-FR" b="1" strike="noStrike" spc="-1" dirty="0">
                <a:latin typeface="Times New Roman" panose="02020603050405020304" pitchFamily="18" charset="0"/>
                <a:cs typeface="Times New Roman" panose="02020603050405020304" pitchFamily="18" charset="0"/>
              </a:rPr>
              <a:t>    return 0;}</a:t>
            </a:r>
            <a:endParaRPr lang="en-US" altLang="fr-FR" b="1"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28" name="Picture 73"/>
          <p:cNvPicPr/>
          <p:nvPr/>
        </p:nvPicPr>
        <p:blipFill>
          <a:blip r:embed="rId1"/>
          <a:stretch>
            <a:fillRect/>
          </a:stretch>
        </p:blipFill>
        <p:spPr>
          <a:xfrm>
            <a:off x="0" y="0"/>
            <a:ext cx="12191400" cy="6857280"/>
          </a:xfrm>
          <a:prstGeom prst="rect">
            <a:avLst/>
          </a:prstGeom>
          <a:ln>
            <a:noFill/>
          </a:ln>
        </p:spPr>
      </p:pic>
      <p:sp>
        <p:nvSpPr>
          <p:cNvPr id="22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spc="-1" dirty="0">
                <a:solidFill>
                  <a:srgbClr val="FFFFFF"/>
                </a:solidFill>
                <a:latin typeface="Times New Roman" panose="02020603050405020304"/>
              </a:rPr>
              <a:t>F</a:t>
            </a:r>
            <a:r>
              <a:rPr lang="fr-FR" sz="4000" b="0" strike="noStrike" spc="-1" dirty="0">
                <a:solidFill>
                  <a:srgbClr val="FFFFFF"/>
                </a:solidFill>
                <a:latin typeface="Times New Roman" panose="02020603050405020304"/>
              </a:rPr>
              <a:t>ile. Implémentation à l’aide d’un tableau(4)</a:t>
            </a:r>
            <a:endParaRPr lang="fr-FR" sz="4000" b="0" strike="noStrike" spc="-1" dirty="0">
              <a:latin typeface="Arial" panose="020B0604020202020204"/>
            </a:endParaRPr>
          </a:p>
        </p:txBody>
      </p:sp>
      <p:sp>
        <p:nvSpPr>
          <p:cNvPr id="230" name="CustomShape 3"/>
          <p:cNvSpPr/>
          <p:nvPr/>
        </p:nvSpPr>
        <p:spPr>
          <a:xfrm>
            <a:off x="821520" y="2557800"/>
            <a:ext cx="10733400" cy="393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1500" lnSpcReduction="20000"/>
          </a:bodyPr>
          <a:lstStyle/>
          <a:p>
            <a:pPr marL="342900" lvl="0" indent="-342900">
              <a:buFont typeface="Arial" panose="020B0604020202020204" pitchFamily="34" charset="0"/>
              <a:buChar char="•"/>
            </a:pPr>
            <a:r>
              <a:rPr lang="en-US" sz="2000" b="1" u="sng" dirty="0" err="1"/>
              <a:t>EstVide</a:t>
            </a:r>
            <a:r>
              <a:rPr lang="en-US" sz="2000" b="1" u="sng" dirty="0"/>
              <a:t> : </a:t>
            </a:r>
            <a:endParaRPr lang="en-US" sz="2000" b="1" u="sng" dirty="0"/>
          </a:p>
          <a:p>
            <a:pPr marL="342900" lvl="0" indent="-342900">
              <a:buFont typeface="Arial" panose="020B0604020202020204" pitchFamily="34" charset="0"/>
              <a:buChar char="•"/>
            </a:pPr>
            <a:endParaRPr lang="fr-FR" sz="2000" dirty="0"/>
          </a:p>
          <a:p>
            <a:r>
              <a:rPr lang="en-US" sz="2000" dirty="0"/>
              <a:t>Fonction </a:t>
            </a:r>
            <a:r>
              <a:rPr lang="en-US" sz="2000" dirty="0" err="1"/>
              <a:t>File_vide</a:t>
            </a:r>
            <a:r>
              <a:rPr lang="en-US" sz="2000" dirty="0"/>
              <a:t> (F : File) : </a:t>
            </a:r>
            <a:r>
              <a:rPr lang="en-US" sz="2000" dirty="0" err="1"/>
              <a:t>Booleen</a:t>
            </a:r>
            <a:r>
              <a:rPr lang="en-US" sz="2000" dirty="0"/>
              <a:t> </a:t>
            </a:r>
            <a:endParaRPr lang="fr-FR" sz="2000" dirty="0"/>
          </a:p>
          <a:p>
            <a:r>
              <a:rPr lang="en-US" sz="2000" dirty="0" err="1"/>
              <a:t>Debut</a:t>
            </a:r>
            <a:endParaRPr lang="fr-FR" sz="2000" dirty="0"/>
          </a:p>
          <a:p>
            <a:r>
              <a:rPr lang="en-US" sz="2000" dirty="0"/>
              <a:t> 	Si F. Début &gt; </a:t>
            </a:r>
            <a:r>
              <a:rPr lang="fr-FR" sz="2000" dirty="0"/>
              <a:t>F. Queue  </a:t>
            </a:r>
            <a:r>
              <a:rPr lang="en-US" sz="2000" dirty="0"/>
              <a:t> Alors</a:t>
            </a:r>
            <a:endParaRPr lang="fr-FR" sz="2000" dirty="0"/>
          </a:p>
          <a:p>
            <a:r>
              <a:rPr lang="en-US" sz="2000" dirty="0"/>
              <a:t>		</a:t>
            </a:r>
            <a:r>
              <a:rPr lang="en-US" sz="2000" dirty="0" err="1"/>
              <a:t>File_vide</a:t>
            </a:r>
            <a:r>
              <a:rPr lang="en-US" sz="2000" dirty="0"/>
              <a:t> </a:t>
            </a:r>
            <a:r>
              <a:rPr lang="en-US" sz="2000" b="1" dirty="0"/>
              <a:t>←</a:t>
            </a:r>
            <a:r>
              <a:rPr lang="en-US" sz="2000" dirty="0"/>
              <a:t> vrais ;</a:t>
            </a:r>
            <a:endParaRPr lang="fr-FR" sz="2000" dirty="0"/>
          </a:p>
          <a:p>
            <a:r>
              <a:rPr lang="en-US" sz="2000" dirty="0"/>
              <a:t> 	Sinon</a:t>
            </a:r>
            <a:endParaRPr lang="fr-FR" sz="2000" dirty="0"/>
          </a:p>
          <a:p>
            <a:r>
              <a:rPr lang="en-US" sz="2000" dirty="0"/>
              <a:t>		</a:t>
            </a:r>
            <a:r>
              <a:rPr lang="en-US" sz="2000" dirty="0" err="1"/>
              <a:t>File_vide</a:t>
            </a:r>
            <a:r>
              <a:rPr lang="en-US" sz="2000" dirty="0"/>
              <a:t> </a:t>
            </a:r>
            <a:r>
              <a:rPr lang="en-US" sz="2000" b="1" dirty="0"/>
              <a:t>←</a:t>
            </a:r>
            <a:r>
              <a:rPr lang="en-US" sz="2000" dirty="0"/>
              <a:t> faux ;</a:t>
            </a:r>
            <a:endParaRPr lang="fr-FR" sz="2000" dirty="0"/>
          </a:p>
          <a:p>
            <a:r>
              <a:rPr lang="en-US" sz="2000" dirty="0"/>
              <a:t> 	</a:t>
            </a:r>
            <a:r>
              <a:rPr lang="en-US" sz="2000" dirty="0" err="1"/>
              <a:t>FinSi</a:t>
            </a:r>
            <a:r>
              <a:rPr lang="en-US" sz="2000" dirty="0"/>
              <a:t> ;</a:t>
            </a:r>
            <a:endParaRPr lang="fr-FR" sz="2000" dirty="0"/>
          </a:p>
          <a:p>
            <a:r>
              <a:rPr lang="en-US" sz="2000" dirty="0"/>
              <a:t>Fin </a:t>
            </a:r>
            <a:endParaRPr lang="en-US" sz="2000" u="sng" spc="-1" dirty="0">
              <a:solidFill>
                <a:srgbClr val="000000"/>
              </a:solidFill>
              <a:latin typeface="+mj-lt"/>
            </a:endParaRPr>
          </a:p>
          <a:p>
            <a:pPr marL="343535" indent="-342900">
              <a:lnSpc>
                <a:spcPct val="90000"/>
              </a:lnSpc>
              <a:spcBef>
                <a:spcPts val="1000"/>
              </a:spcBef>
              <a:buFont typeface="Arial" panose="020B0604020202020204" pitchFamily="34" charset="0"/>
              <a:buChar char="•"/>
            </a:pPr>
            <a:r>
              <a:rPr lang="en-US" sz="2000" b="1" u="sng" spc="-1" dirty="0" err="1">
                <a:solidFill>
                  <a:srgbClr val="000000"/>
                </a:solidFill>
                <a:latin typeface="+mj-lt"/>
              </a:rPr>
              <a:t>EstPleine</a:t>
            </a:r>
            <a:r>
              <a:rPr lang="en-US" sz="2000" b="1" u="sng" spc="-1" dirty="0">
                <a:solidFill>
                  <a:srgbClr val="000000"/>
                </a:solidFill>
                <a:latin typeface="+mj-lt"/>
              </a:rPr>
              <a:t> : </a:t>
            </a:r>
            <a:endParaRPr lang="en-US" sz="2000" b="1" u="sng" spc="-1" dirty="0">
              <a:solidFill>
                <a:srgbClr val="000000"/>
              </a:solidFill>
              <a:latin typeface="+mj-lt"/>
            </a:endParaRPr>
          </a:p>
          <a:p>
            <a:pPr indent="-342900">
              <a:spcBef>
                <a:spcPts val="1000"/>
              </a:spcBef>
              <a:buFont typeface="Arial" panose="020B0604020202020204" pitchFamily="34" charset="0"/>
              <a:buChar char="•"/>
            </a:pPr>
            <a:endParaRPr lang="fr-FR" sz="2000" dirty="0"/>
          </a:p>
          <a:p>
            <a:r>
              <a:rPr lang="en-US" sz="2000" dirty="0"/>
              <a:t>Fonction </a:t>
            </a:r>
            <a:r>
              <a:rPr lang="en-US" sz="2000" dirty="0" err="1"/>
              <a:t>File_pleine</a:t>
            </a:r>
            <a:r>
              <a:rPr lang="en-US" sz="2000" dirty="0"/>
              <a:t> (F : File) : </a:t>
            </a:r>
            <a:r>
              <a:rPr lang="en-US" sz="2000" dirty="0" err="1"/>
              <a:t>Booleen</a:t>
            </a:r>
            <a:r>
              <a:rPr lang="en-US" sz="2000" dirty="0"/>
              <a:t> </a:t>
            </a:r>
            <a:endParaRPr lang="fr-FR" sz="2000" dirty="0"/>
          </a:p>
          <a:p>
            <a:r>
              <a:rPr lang="en-US" sz="2000" dirty="0" err="1"/>
              <a:t>Debut</a:t>
            </a:r>
            <a:endParaRPr lang="fr-FR" sz="2000" dirty="0"/>
          </a:p>
          <a:p>
            <a:r>
              <a:rPr lang="en-US" sz="2000" dirty="0"/>
              <a:t> 	Si (</a:t>
            </a:r>
            <a:r>
              <a:rPr lang="fr-FR" sz="2000" dirty="0"/>
              <a:t>F. Queue </a:t>
            </a:r>
            <a:r>
              <a:rPr lang="en-US" sz="2000" dirty="0"/>
              <a:t>= N)   Alors</a:t>
            </a:r>
            <a:endParaRPr lang="fr-FR" sz="2000" dirty="0"/>
          </a:p>
          <a:p>
            <a:r>
              <a:rPr lang="en-US" sz="2000" dirty="0"/>
              <a:t>		</a:t>
            </a:r>
            <a:r>
              <a:rPr lang="en-US" sz="2000" dirty="0" err="1"/>
              <a:t>File_pleine</a:t>
            </a:r>
            <a:r>
              <a:rPr lang="en-US" sz="2000" dirty="0"/>
              <a:t> ← vrais ;</a:t>
            </a:r>
            <a:endParaRPr lang="fr-FR" sz="2000" dirty="0"/>
          </a:p>
          <a:p>
            <a:r>
              <a:rPr lang="en-US" sz="2000" dirty="0"/>
              <a:t> 	Sinon</a:t>
            </a:r>
            <a:endParaRPr lang="fr-FR" sz="2000" dirty="0"/>
          </a:p>
          <a:p>
            <a:r>
              <a:rPr lang="en-US" sz="2000" dirty="0"/>
              <a:t>		</a:t>
            </a:r>
            <a:r>
              <a:rPr lang="en-US" sz="2000" dirty="0" err="1"/>
              <a:t>File_pleine</a:t>
            </a:r>
            <a:r>
              <a:rPr lang="en-US" sz="2000" dirty="0"/>
              <a:t> ← faux ;</a:t>
            </a:r>
            <a:endParaRPr lang="fr-FR" sz="2000" dirty="0"/>
          </a:p>
          <a:p>
            <a:r>
              <a:rPr lang="en-US" sz="2000" dirty="0"/>
              <a:t> 	</a:t>
            </a:r>
            <a:r>
              <a:rPr lang="en-US" sz="2000" dirty="0" err="1"/>
              <a:t>FinSi</a:t>
            </a:r>
            <a:r>
              <a:rPr lang="en-US" sz="2000" dirty="0"/>
              <a:t> </a:t>
            </a:r>
            <a:endParaRPr lang="fr-FR" sz="2000" dirty="0"/>
          </a:p>
          <a:p>
            <a:r>
              <a:rPr lang="en-US" sz="2000" dirty="0"/>
              <a:t>Fin </a:t>
            </a:r>
            <a:endParaRPr lang="fr-FR" sz="2000"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9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297" name="Picture 73"/>
          <p:cNvPicPr/>
          <p:nvPr/>
        </p:nvPicPr>
        <p:blipFill>
          <a:blip r:embed="rId1"/>
          <a:stretch>
            <a:fillRect/>
          </a:stretch>
        </p:blipFill>
        <p:spPr>
          <a:xfrm>
            <a:off x="0" y="0"/>
            <a:ext cx="12191400" cy="6857280"/>
          </a:xfrm>
          <a:prstGeom prst="rect">
            <a:avLst/>
          </a:prstGeom>
          <a:ln>
            <a:noFill/>
          </a:ln>
        </p:spPr>
      </p:pic>
      <p:sp>
        <p:nvSpPr>
          <p:cNvPr id="29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Représentation contiguë des files</a:t>
            </a:r>
            <a:endParaRPr lang="fr-FR" sz="4000" b="0" strike="noStrike" spc="-1">
              <a:latin typeface="Arial" panose="020B0604020202020204"/>
            </a:endParaRPr>
          </a:p>
        </p:txBody>
      </p:sp>
      <p:sp>
        <p:nvSpPr>
          <p:cNvPr id="299" name="CustomShape 3"/>
          <p:cNvSpPr/>
          <p:nvPr/>
        </p:nvSpPr>
        <p:spPr>
          <a:xfrm>
            <a:off x="1179360" y="2432160"/>
            <a:ext cx="9832680" cy="622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90000"/>
              </a:lnSpc>
              <a:spcBef>
                <a:spcPts val="1000"/>
              </a:spcBef>
              <a:buClr>
                <a:srgbClr val="3D590D"/>
              </a:buClr>
              <a:buFont typeface="Wingdings" panose="05000000000000000000" pitchFamily="2" charset="2"/>
              <a:buChar char=""/>
            </a:pPr>
            <a:r>
              <a:rPr lang="fr-FR" sz="2400" b="0" strike="noStrike" spc="-1">
                <a:solidFill>
                  <a:srgbClr val="3D590D"/>
                </a:solidFill>
                <a:latin typeface="Times New Roman" panose="02020603050405020304"/>
              </a:rPr>
              <a:t>Moyens de représentation : tableau</a:t>
            </a:r>
            <a:endParaRPr lang="fr-FR" sz="2400" b="0" strike="noStrike" spc="-1">
              <a:latin typeface="Arial" panose="020B0604020202020204"/>
            </a:endParaRPr>
          </a:p>
        </p:txBody>
      </p:sp>
      <p:sp>
        <p:nvSpPr>
          <p:cNvPr id="300" name="CustomShape 4"/>
          <p:cNvSpPr/>
          <p:nvPr/>
        </p:nvSpPr>
        <p:spPr>
          <a:xfrm>
            <a:off x="2135160" y="6237360"/>
            <a:ext cx="7200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900"/>
              </a:spcBef>
            </a:pPr>
            <a:r>
              <a:rPr lang="fr-FR" sz="1800" b="0" strike="noStrike" spc="-1">
                <a:solidFill>
                  <a:srgbClr val="273339"/>
                </a:solidFill>
                <a:latin typeface="Times New Roman" panose="02020603050405020304"/>
                <a:ea typeface="DejaVu Sans"/>
              </a:rPr>
              <a:t>On fait progresser les indices modulo taille </a:t>
            </a:r>
            <a:r>
              <a:rPr lang="fr-FR" sz="1800" b="0" i="1" strike="noStrike" spc="-1">
                <a:solidFill>
                  <a:srgbClr val="273339"/>
                </a:solidFill>
                <a:latin typeface="Times New Roman" panose="02020603050405020304"/>
                <a:ea typeface="DejaVu Sans"/>
              </a:rPr>
              <a:t>Lmax</a:t>
            </a:r>
            <a:r>
              <a:rPr lang="fr-FR" sz="1800" b="0" strike="noStrike" spc="-1">
                <a:solidFill>
                  <a:srgbClr val="273339"/>
                </a:solidFill>
                <a:latin typeface="Times New Roman" panose="02020603050405020304"/>
                <a:ea typeface="DejaVu Sans"/>
              </a:rPr>
              <a:t> du tableau</a:t>
            </a:r>
            <a:endParaRPr lang="fr-FR" sz="1800" b="0" strike="noStrike" spc="-1">
              <a:latin typeface="Arial" panose="020B0604020202020204"/>
            </a:endParaRPr>
          </a:p>
        </p:txBody>
      </p:sp>
      <p:pic>
        <p:nvPicPr>
          <p:cNvPr id="301" name="Image 1"/>
          <p:cNvPicPr/>
          <p:nvPr/>
        </p:nvPicPr>
        <p:blipFill>
          <a:blip r:embed="rId2"/>
          <a:stretch>
            <a:fillRect/>
          </a:stretch>
        </p:blipFill>
        <p:spPr>
          <a:xfrm>
            <a:off x="2411280" y="2949840"/>
            <a:ext cx="6021000" cy="3291120"/>
          </a:xfrm>
          <a:prstGeom prst="rect">
            <a:avLst/>
          </a:prstGeom>
          <a:ln>
            <a:noFill/>
          </a:ln>
        </p:spPr>
      </p:pic>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302" name="CustomShape 1"/>
          <p:cNvSpPr/>
          <p:nvPr/>
        </p:nvSpPr>
        <p:spPr>
          <a:xfrm>
            <a:off x="0" y="0"/>
            <a:ext cx="608148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303" name="CustomShape 2"/>
          <p:cNvSpPr/>
          <p:nvPr/>
        </p:nvSpPr>
        <p:spPr>
          <a:xfrm>
            <a:off x="0" y="0"/>
            <a:ext cx="12191400" cy="6857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04" name="Picture 75"/>
          <p:cNvPicPr/>
          <p:nvPr/>
        </p:nvPicPr>
        <p:blipFill>
          <a:blip r:embed="rId1"/>
          <a:stretch>
            <a:fillRect/>
          </a:stretch>
        </p:blipFill>
        <p:spPr>
          <a:xfrm>
            <a:off x="0" y="0"/>
            <a:ext cx="12191400" cy="6857280"/>
          </a:xfrm>
          <a:prstGeom prst="rect">
            <a:avLst/>
          </a:prstGeom>
          <a:ln>
            <a:noFill/>
          </a:ln>
        </p:spPr>
      </p:pic>
      <p:sp>
        <p:nvSpPr>
          <p:cNvPr id="305" name="CustomShape 3"/>
          <p:cNvSpPr/>
          <p:nvPr/>
        </p:nvSpPr>
        <p:spPr>
          <a:xfrm>
            <a:off x="640080" y="2053800"/>
            <a:ext cx="3668400" cy="2759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90000"/>
              </a:lnSpc>
            </a:pPr>
            <a:r>
              <a:rPr lang="fr-FR" sz="4400" b="0" strike="noStrike" spc="-1">
                <a:solidFill>
                  <a:srgbClr val="FFFFFF"/>
                </a:solidFill>
                <a:latin typeface="Times New Roman" panose="02020603050405020304"/>
              </a:rPr>
              <a:t>Représentation contiguë des files(2)</a:t>
            </a:r>
            <a:endParaRPr lang="fr-FR" sz="4400" b="0" strike="noStrike" spc="-1">
              <a:latin typeface="Arial" panose="020B0604020202020204"/>
            </a:endParaRPr>
          </a:p>
        </p:txBody>
      </p:sp>
      <p:sp>
        <p:nvSpPr>
          <p:cNvPr id="306" name="CustomShape 4"/>
          <p:cNvSpPr/>
          <p:nvPr/>
        </p:nvSpPr>
        <p:spPr>
          <a:xfrm>
            <a:off x="5660640" y="145080"/>
            <a:ext cx="5735520" cy="6472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Gérer les débordements </a:t>
            </a:r>
            <a:endParaRPr lang="fr-FR" sz="2000" b="0" strike="noStrike" spc="-1">
              <a:latin typeface="Arial" panose="020B0604020202020204"/>
            </a:endParaRPr>
          </a:p>
          <a:p>
            <a:pPr marL="228600" indent="-227965">
              <a:lnSpc>
                <a:spcPct val="90000"/>
              </a:lnSpc>
              <a:spcBef>
                <a:spcPts val="1000"/>
              </a:spcBef>
            </a:pPr>
            <a:r>
              <a:rPr lang="fr-FR" sz="2000" b="0" strike="noStrike" spc="-1">
                <a:solidFill>
                  <a:srgbClr val="000000"/>
                </a:solidFill>
                <a:latin typeface="Times New Roman" panose="02020603050405020304"/>
              </a:rPr>
              <a:t>(1) Enfiler</a:t>
            </a:r>
            <a:endParaRPr lang="fr-FR" sz="20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j:=j+1 mod lmax</a:t>
            </a:r>
            <a:endParaRPr lang="fr-FR" sz="20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Si j=i alors File-pleine</a:t>
            </a:r>
            <a:endParaRPr lang="fr-FR" sz="20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          sinon </a:t>
            </a:r>
            <a:endParaRPr lang="fr-FR" sz="20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                 Si File-vide(F) alors i:=j; FSi</a:t>
            </a:r>
            <a:endParaRPr lang="fr-FR" sz="20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                 Tab[j]:=e;</a:t>
            </a:r>
            <a:endParaRPr lang="fr-FR" sz="20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FSI</a:t>
            </a:r>
            <a:endParaRPr lang="fr-FR" sz="2000" b="0" strike="noStrike" spc="-1">
              <a:latin typeface="Arial" panose="020B0604020202020204"/>
            </a:endParaRPr>
          </a:p>
          <a:p>
            <a:pPr marL="228600" indent="-227965">
              <a:lnSpc>
                <a:spcPct val="90000"/>
              </a:lnSpc>
              <a:spcBef>
                <a:spcPts val="1000"/>
              </a:spcBef>
            </a:pPr>
            <a:r>
              <a:rPr lang="fr-FR" sz="2000" b="0" strike="noStrike" spc="-1">
                <a:solidFill>
                  <a:srgbClr val="000000"/>
                </a:solidFill>
                <a:latin typeface="Times New Roman" panose="02020603050405020304"/>
              </a:rPr>
              <a:t>(2) Défiler </a:t>
            </a:r>
            <a:endParaRPr lang="fr-FR" sz="2000" b="0" strike="noStrike" spc="-1">
              <a:latin typeface="Arial" panose="020B0604020202020204"/>
            </a:endParaRPr>
          </a:p>
          <a:p>
            <a:pPr marL="228600" indent="-227965">
              <a:lnSpc>
                <a:spcPct val="90000"/>
              </a:lnSpc>
              <a:spcBef>
                <a:spcPts val="1000"/>
              </a:spcBef>
            </a:pPr>
            <a:r>
              <a:rPr lang="fr-FR" sz="2000" b="0" strike="noStrike" spc="-1">
                <a:solidFill>
                  <a:srgbClr val="000000"/>
                </a:solidFill>
                <a:latin typeface="Times New Roman" panose="02020603050405020304"/>
              </a:rPr>
              <a:t>	Si !File-vide(F)</a:t>
            </a:r>
            <a:endParaRPr lang="fr-FR" sz="20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2000" b="0" strike="noStrike" spc="-1">
                <a:solidFill>
                  <a:srgbClr val="000000"/>
                </a:solidFill>
                <a:latin typeface="Times New Roman" panose="02020603050405020304"/>
              </a:rPr>
              <a:t>i:=i+1 mod lmax</a:t>
            </a:r>
            <a:endParaRPr lang="fr-FR" sz="2000" b="0" strike="noStrike" spc="-1">
              <a:latin typeface="Arial" panose="020B0604020202020204"/>
            </a:endParaRPr>
          </a:p>
          <a:p>
            <a:pPr marL="228600" indent="-227965">
              <a:lnSpc>
                <a:spcPct val="90000"/>
              </a:lnSpc>
              <a:spcBef>
                <a:spcPts val="1000"/>
              </a:spcBef>
            </a:pPr>
            <a:r>
              <a:rPr lang="fr-FR" sz="2000" b="0" strike="noStrike" spc="-1">
                <a:solidFill>
                  <a:srgbClr val="000000"/>
                </a:solidFill>
                <a:latin typeface="Times New Roman" panose="02020603050405020304"/>
              </a:rPr>
              <a:t>    e:=Tab[i];</a:t>
            </a:r>
            <a:endParaRPr lang="fr-FR" sz="2000" b="0" strike="noStrike" spc="-1">
              <a:latin typeface="Arial" panose="020B0604020202020204"/>
            </a:endParaRPr>
          </a:p>
          <a:p>
            <a:pPr marL="228600" indent="-227965">
              <a:lnSpc>
                <a:spcPct val="90000"/>
              </a:lnSpc>
              <a:spcBef>
                <a:spcPts val="1000"/>
              </a:spcBef>
            </a:pPr>
            <a:r>
              <a:rPr lang="fr-FR" sz="2000" b="0" strike="noStrike" spc="-1">
                <a:solidFill>
                  <a:srgbClr val="000000"/>
                </a:solidFill>
                <a:latin typeface="Times New Roman" panose="02020603050405020304"/>
              </a:rPr>
              <a:t>    Si i:=j alors </a:t>
            </a:r>
            <a:endParaRPr lang="fr-FR" sz="2000" b="0" strike="noStrike" spc="-1">
              <a:latin typeface="Arial" panose="020B0604020202020204"/>
            </a:endParaRPr>
          </a:p>
          <a:p>
            <a:pPr marL="228600" indent="-227965">
              <a:lnSpc>
                <a:spcPct val="90000"/>
              </a:lnSpc>
              <a:spcBef>
                <a:spcPts val="1000"/>
              </a:spcBef>
            </a:pPr>
            <a:r>
              <a:rPr lang="fr-FR" sz="2000" b="0" strike="noStrike" spc="-1">
                <a:solidFill>
                  <a:srgbClr val="000000"/>
                </a:solidFill>
                <a:latin typeface="Times New Roman" panose="02020603050405020304"/>
              </a:rPr>
              <a:t>		j:=-1; i:=-1;</a:t>
            </a:r>
            <a:endParaRPr lang="fr-FR" sz="2000" b="0" strike="noStrike" spc="-1">
              <a:latin typeface="Arial" panose="020B0604020202020204"/>
            </a:endParaRPr>
          </a:p>
          <a:p>
            <a:pPr marL="228600" indent="-227965">
              <a:lnSpc>
                <a:spcPct val="90000"/>
              </a:lnSpc>
              <a:spcBef>
                <a:spcPts val="1000"/>
              </a:spcBef>
            </a:pPr>
            <a:r>
              <a:rPr lang="fr-FR" sz="2000" b="0" strike="noStrike" spc="-1">
                <a:solidFill>
                  <a:srgbClr val="000000"/>
                </a:solidFill>
                <a:latin typeface="Times New Roman" panose="02020603050405020304"/>
              </a:rPr>
              <a:t>    FSi</a:t>
            </a:r>
            <a:endParaRPr lang="fr-FR" sz="2000" b="0" strike="noStrike" spc="-1">
              <a:latin typeface="Arial" panose="020B0604020202020204"/>
            </a:endParaRPr>
          </a:p>
          <a:p>
            <a:pPr marL="228600" indent="-227965">
              <a:lnSpc>
                <a:spcPct val="90000"/>
              </a:lnSpc>
              <a:spcBef>
                <a:spcPts val="1000"/>
              </a:spcBef>
            </a:pPr>
            <a:r>
              <a:rPr lang="fr-FR" sz="2000" b="0" strike="noStrike" spc="-1">
                <a:solidFill>
                  <a:srgbClr val="000000"/>
                </a:solidFill>
                <a:latin typeface="Times New Roman" panose="02020603050405020304"/>
              </a:rPr>
              <a:t>(3) File vide </a:t>
            </a:r>
            <a:r>
              <a:rPr lang="fr-FR" sz="2000" b="0" strike="noStrike" spc="-1">
                <a:solidFill>
                  <a:srgbClr val="000000"/>
                </a:solidFill>
                <a:latin typeface="Wingdings" panose="05000000000000000000"/>
              </a:rPr>
              <a:t></a:t>
            </a:r>
            <a:r>
              <a:rPr lang="fr-FR" sz="2000" b="0" strike="noStrike" spc="-1">
                <a:solidFill>
                  <a:srgbClr val="000000"/>
                </a:solidFill>
                <a:latin typeface="Times New Roman" panose="02020603050405020304"/>
              </a:rPr>
              <a:t> i=-1et j=-1</a:t>
            </a:r>
            <a:endParaRPr lang="fr-FR" sz="2000" b="0" strike="noStrike" spc="-1">
              <a:latin typeface="Arial" panose="020B0604020202020204"/>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08" name="Picture 73"/>
          <p:cNvPicPr/>
          <p:nvPr/>
        </p:nvPicPr>
        <p:blipFill>
          <a:blip r:embed="rId1"/>
          <a:stretch>
            <a:fillRect/>
          </a:stretch>
        </p:blipFill>
        <p:spPr>
          <a:xfrm>
            <a:off x="0" y="0"/>
            <a:ext cx="12191400" cy="6857280"/>
          </a:xfrm>
          <a:prstGeom prst="rect">
            <a:avLst/>
          </a:prstGeom>
          <a:ln>
            <a:noFill/>
          </a:ln>
        </p:spPr>
      </p:pic>
      <p:sp>
        <p:nvSpPr>
          <p:cNvPr id="30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sp>
        <p:nvSpPr>
          <p:cNvPr id="310" name="CustomShape 3"/>
          <p:cNvSpPr/>
          <p:nvPr/>
        </p:nvSpPr>
        <p:spPr>
          <a:xfrm>
            <a:off x="802800" y="2663640"/>
            <a:ext cx="10209240" cy="3733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10000"/>
          </a:bodyPr>
          <a:lstStyle/>
          <a:p>
            <a:pPr algn="just">
              <a:lnSpc>
                <a:spcPct val="90000"/>
              </a:lnSpc>
              <a:spcBef>
                <a:spcPts val="1000"/>
              </a:spcBef>
            </a:pPr>
            <a:r>
              <a:rPr lang="fr-FR" sz="1800" b="0" strike="noStrike" spc="-1">
                <a:solidFill>
                  <a:srgbClr val="000000"/>
                </a:solidFill>
                <a:latin typeface="Times New Roman" panose="02020603050405020304"/>
                <a:ea typeface="DejaVu Sans"/>
              </a:rPr>
              <a:t>Une File dynamique est une liste à laquelle  on attache deux (2) pointeurs Debut et Queue. C’est un enregistrement à deux cases : pointeur qui pointe le premier élément de la liste (Debut) et un autre qui pointe la dernière valeur ajoutée dans la liste (Queue).</a:t>
            </a:r>
            <a:endParaRPr lang="fr-FR" sz="18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fr-FR" sz="1800" b="0" strike="noStrike" spc="-1">
                <a:solidFill>
                  <a:srgbClr val="000000"/>
                </a:solidFill>
                <a:latin typeface="Times New Roman" panose="02020603050405020304"/>
                <a:ea typeface="DejaVu Sans"/>
              </a:rPr>
              <a:t>Exemples :</a:t>
            </a:r>
            <a:endParaRPr lang="fr-FR" sz="1800" b="0" strike="noStrike" spc="-1">
              <a:latin typeface="Arial" panose="020B0604020202020204"/>
            </a:endParaRPr>
          </a:p>
          <a:p>
            <a:pPr>
              <a:lnSpc>
                <a:spcPct val="90000"/>
              </a:lnSpc>
              <a:spcBef>
                <a:spcPts val="1000"/>
              </a:spcBef>
            </a:pPr>
            <a:r>
              <a:rPr lang="fr-FR" sz="1800" b="0" strike="noStrike" spc="-1">
                <a:solidFill>
                  <a:srgbClr val="000000"/>
                </a:solidFill>
                <a:latin typeface="Times New Roman" panose="02020603050405020304"/>
                <a:ea typeface="DejaVu Sans"/>
              </a:rPr>
              <a:t>1- Une file vide     Debut = Queue = Nil </a:t>
            </a:r>
            <a:endParaRPr lang="fr-FR" sz="1800" b="0" strike="noStrike" spc="-1">
              <a:latin typeface="Arial" panose="020B0604020202020204"/>
            </a:endParaRPr>
          </a:p>
          <a:p>
            <a:pPr>
              <a:lnSpc>
                <a:spcPct val="90000"/>
              </a:lnSpc>
              <a:spcBef>
                <a:spcPts val="1000"/>
              </a:spcBef>
            </a:pPr>
            <a:r>
              <a:rPr lang="fr-FR" sz="1800" b="0" strike="noStrike" spc="-1">
                <a:solidFill>
                  <a:srgbClr val="000000"/>
                </a:solidFill>
                <a:latin typeface="Times New Roman" panose="02020603050405020304"/>
                <a:ea typeface="DejaVu Sans"/>
              </a:rPr>
              <a:t>2- Une file a un seul élément     Debut = Queue  ≠ Nil</a:t>
            </a:r>
            <a:endParaRPr lang="fr-FR" sz="1800" b="0" strike="noStrike" spc="-1">
              <a:latin typeface="Arial" panose="020B0604020202020204"/>
            </a:endParaRPr>
          </a:p>
          <a:p>
            <a:pPr>
              <a:lnSpc>
                <a:spcPct val="90000"/>
              </a:lnSpc>
              <a:spcBef>
                <a:spcPts val="1000"/>
              </a:spcBef>
            </a:pPr>
            <a:r>
              <a:rPr lang="fr-FR" sz="1800" b="0" strike="noStrike" spc="-1">
                <a:solidFill>
                  <a:srgbClr val="000000"/>
                </a:solidFill>
                <a:latin typeface="Times New Roman" panose="02020603050405020304"/>
                <a:ea typeface="DejaVu Sans"/>
              </a:rPr>
              <a:t>3- Une file a plus d’un élément      Debut ≠ Queue</a:t>
            </a:r>
            <a:endParaRPr lang="fr-FR" sz="1800" b="0" strike="noStrike" spc="-1">
              <a:latin typeface="Arial" panose="020B0604020202020204"/>
            </a:endParaRPr>
          </a:p>
          <a:p>
            <a:pPr>
              <a:lnSpc>
                <a:spcPct val="90000"/>
              </a:lnSpc>
              <a:spcBef>
                <a:spcPts val="1000"/>
              </a:spcBef>
            </a:pPr>
            <a:r>
              <a:rPr lang="fr-FR" sz="1800" b="0" strike="noStrike" spc="-1">
                <a:solidFill>
                  <a:srgbClr val="000000"/>
                </a:solidFill>
                <a:latin typeface="Times New Roman" panose="02020603050405020304"/>
                <a:ea typeface="DejaVu Sans"/>
              </a:rPr>
              <a:t>De même que pour les files statiques nous présentons la déclaration et les sous algorithmes de bases détaillés pour le type statique. Et dans un souci d’uniformisation nous utilisons les mêmes noms mais en ajoutant un D (pour rappeler Dynamique) à la fin de chaque nom pour faire la différence</a:t>
            </a:r>
            <a:endParaRPr lang="fr-FR" sz="1800" b="0" strike="noStrike" spc="-1">
              <a:latin typeface="Arial" panose="020B0604020202020204"/>
            </a:endParaRPr>
          </a:p>
          <a:p>
            <a:pPr>
              <a:lnSpc>
                <a:spcPct val="90000"/>
              </a:lnSpc>
              <a:spcBef>
                <a:spcPts val="1000"/>
              </a:spcBef>
            </a:pPr>
            <a:r>
              <a:rPr lang="fr-FR" sz="1800" b="0" strike="noStrike" spc="-1">
                <a:solidFill>
                  <a:srgbClr val="000000"/>
                </a:solidFill>
                <a:latin typeface="Times New Roman" panose="02020603050405020304"/>
                <a:ea typeface="DejaVu Sans"/>
              </a:rPr>
              <a:t>Note : Il n’y a pas de file pleine pour les files dynamique. La seule possibilité de ne pas pouvoir  ajouter un élément c’est d’avoir une mémoire pleine, cas que l’on ne prend pas en considération ici.</a:t>
            </a:r>
            <a:endParaRPr lang="fr-FR" sz="1800" b="0" strike="noStrike" spc="-1">
              <a:latin typeface="Arial" panose="020B0604020202020204"/>
            </a:endParaRPr>
          </a:p>
        </p:txBody>
      </p:sp>
      <p:sp>
        <p:nvSpPr>
          <p:cNvPr id="311" name="CustomShape 4"/>
          <p:cNvSpPr/>
          <p:nvPr/>
        </p:nvSpPr>
        <p:spPr>
          <a:xfrm>
            <a:off x="2356920" y="3940920"/>
            <a:ext cx="26964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dk1"/>
          </a:lnRef>
          <a:fillRef idx="0">
            <a:schemeClr val="dk1"/>
          </a:fillRef>
          <a:effectRef idx="0">
            <a:schemeClr val="dk1"/>
          </a:effectRef>
          <a:fontRef idx="minor"/>
        </p:style>
      </p:sp>
      <p:sp>
        <p:nvSpPr>
          <p:cNvPr id="312" name="CustomShape 5"/>
          <p:cNvSpPr/>
          <p:nvPr/>
        </p:nvSpPr>
        <p:spPr>
          <a:xfrm>
            <a:off x="3539520" y="4273560"/>
            <a:ext cx="26964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dk1"/>
          </a:lnRef>
          <a:fillRef idx="0">
            <a:schemeClr val="dk1"/>
          </a:fillRef>
          <a:effectRef idx="0">
            <a:schemeClr val="dk1"/>
          </a:effectRef>
          <a:fontRef idx="minor"/>
        </p:style>
      </p:sp>
      <p:sp>
        <p:nvSpPr>
          <p:cNvPr id="313" name="CustomShape 6"/>
          <p:cNvSpPr/>
          <p:nvPr/>
        </p:nvSpPr>
        <p:spPr>
          <a:xfrm>
            <a:off x="3809880" y="4634280"/>
            <a:ext cx="26964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dk1"/>
          </a:lnRef>
          <a:fillRef idx="0">
            <a:schemeClr val="dk1"/>
          </a:fillRef>
          <a:effectRef idx="0">
            <a:schemeClr val="dk1"/>
          </a:effectRef>
          <a:fontRef idx="minor"/>
        </p:style>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08" name="Picture 73"/>
          <p:cNvPicPr/>
          <p:nvPr/>
        </p:nvPicPr>
        <p:blipFill>
          <a:blip r:embed="rId1"/>
          <a:stretch>
            <a:fillRect/>
          </a:stretch>
        </p:blipFill>
        <p:spPr>
          <a:xfrm>
            <a:off x="0" y="0"/>
            <a:ext cx="12191400" cy="6857280"/>
          </a:xfrm>
          <a:prstGeom prst="rect">
            <a:avLst/>
          </a:prstGeom>
          <a:ln>
            <a:noFill/>
          </a:ln>
        </p:spPr>
      </p:pic>
      <p:sp>
        <p:nvSpPr>
          <p:cNvPr id="30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sp>
        <p:nvSpPr>
          <p:cNvPr id="310" name="CustomShape 3"/>
          <p:cNvSpPr/>
          <p:nvPr/>
        </p:nvSpPr>
        <p:spPr>
          <a:xfrm>
            <a:off x="802800" y="2663640"/>
            <a:ext cx="10209240" cy="3733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just">
              <a:lnSpc>
                <a:spcPct val="90000"/>
              </a:lnSpc>
              <a:spcBef>
                <a:spcPts val="1000"/>
              </a:spcBef>
            </a:pPr>
            <a:r>
              <a:rPr lang="en-US" altLang="fr-FR" sz="2400" b="1" strike="noStrike" spc="-1">
                <a:latin typeface="Times New Roman" panose="02020603050405020304" pitchFamily="18" charset="0"/>
                <a:cs typeface="Times New Roman" panose="02020603050405020304" pitchFamily="18" charset="0"/>
              </a:rPr>
              <a:t>D</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finition des structures</a:t>
            </a:r>
            <a:endParaRPr lang="en-US" altLang="fr-FR" sz="24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400" b="1" strike="noStrike" spc="-1">
                <a:latin typeface="Times New Roman" panose="02020603050405020304" pitchFamily="18" charset="0"/>
                <a:cs typeface="Times New Roman" panose="02020603050405020304" pitchFamily="18" charset="0"/>
              </a:rPr>
              <a:t>Elem : repr</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sente un </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l</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ment de la file, contenant :</a:t>
            </a:r>
            <a:endParaRPr lang="en-US" altLang="fr-FR" sz="24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400" b="1" strike="noStrike" spc="-1">
                <a:latin typeface="Times New Roman" panose="02020603050405020304" pitchFamily="18" charset="0"/>
                <a:cs typeface="Times New Roman" panose="02020603050405020304" pitchFamily="18" charset="0"/>
              </a:rPr>
              <a:t>info : la valeur stock</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e.</a:t>
            </a:r>
            <a:endParaRPr lang="en-US" altLang="fr-FR" sz="24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400" b="1" strike="noStrike" spc="-1">
                <a:latin typeface="Times New Roman" panose="02020603050405020304" pitchFamily="18" charset="0"/>
                <a:cs typeface="Times New Roman" panose="02020603050405020304" pitchFamily="18" charset="0"/>
              </a:rPr>
              <a:t>suiv : un pointeur vers l'</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l</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ment suivant.</a:t>
            </a:r>
            <a:endParaRPr lang="en-US" altLang="fr-FR" sz="24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400" b="1" strike="noStrike" spc="-1">
                <a:latin typeface="Times New Roman" panose="02020603050405020304" pitchFamily="18" charset="0"/>
                <a:cs typeface="Times New Roman" panose="02020603050405020304" pitchFamily="18" charset="0"/>
              </a:rPr>
              <a:t>FileD : la file dynamique, contenant :</a:t>
            </a:r>
            <a:endParaRPr lang="en-US" altLang="fr-FR" sz="24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400" b="1" strike="noStrike" spc="-1">
                <a:latin typeface="Times New Roman" panose="02020603050405020304" pitchFamily="18" charset="0"/>
                <a:cs typeface="Times New Roman" panose="02020603050405020304" pitchFamily="18" charset="0"/>
              </a:rPr>
              <a:t>debut : pointe vers le premier </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l</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ment.</a:t>
            </a:r>
            <a:endParaRPr lang="en-US" altLang="fr-FR" sz="24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400" b="1" strike="noStrike" spc="-1">
                <a:latin typeface="Times New Roman" panose="02020603050405020304" pitchFamily="18" charset="0"/>
                <a:cs typeface="Times New Roman" panose="02020603050405020304" pitchFamily="18" charset="0"/>
              </a:rPr>
              <a:t>queue : pointe vers le dernier </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l</a:t>
            </a:r>
            <a:r>
              <a:rPr lang="en-US" altLang="en-US" sz="2400" b="1" strike="noStrike" spc="-1">
                <a:latin typeface="Times New Roman" panose="02020603050405020304" pitchFamily="18" charset="0"/>
                <a:cs typeface="Times New Roman" panose="02020603050405020304" pitchFamily="18" charset="0"/>
              </a:rPr>
              <a:t>é</a:t>
            </a:r>
            <a:r>
              <a:rPr lang="en-US" altLang="fr-FR" sz="2400" b="1" strike="noStrike" spc="-1">
                <a:latin typeface="Times New Roman" panose="02020603050405020304" pitchFamily="18" charset="0"/>
                <a:cs typeface="Times New Roman" panose="02020603050405020304" pitchFamily="18" charset="0"/>
              </a:rPr>
              <a:t>ment.</a:t>
            </a:r>
            <a:endParaRPr lang="en-US" altLang="fr-FR" sz="2400" b="1" strike="noStrike" spc="-1">
              <a:latin typeface="Times New Roman" panose="02020603050405020304" pitchFamily="18" charset="0"/>
              <a:cs typeface="Times New Roman" panose="02020603050405020304" pitchFamily="18" charset="0"/>
            </a:endParaRPr>
          </a:p>
        </p:txBody>
      </p:sp>
      <p:sp>
        <p:nvSpPr>
          <p:cNvPr id="311" name="CustomShape 4"/>
          <p:cNvSpPr/>
          <p:nvPr/>
        </p:nvSpPr>
        <p:spPr>
          <a:xfrm>
            <a:off x="2356920" y="3940920"/>
            <a:ext cx="26964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dk1"/>
          </a:lnRef>
          <a:fillRef idx="0">
            <a:schemeClr val="dk1"/>
          </a:fillRef>
          <a:effectRef idx="0">
            <a:schemeClr val="dk1"/>
          </a:effectRef>
          <a:fontRef idx="minor"/>
        </p:style>
      </p:sp>
      <p:sp>
        <p:nvSpPr>
          <p:cNvPr id="312" name="CustomShape 5"/>
          <p:cNvSpPr/>
          <p:nvPr/>
        </p:nvSpPr>
        <p:spPr>
          <a:xfrm>
            <a:off x="3539520" y="4273560"/>
            <a:ext cx="26964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dk1"/>
          </a:lnRef>
          <a:fillRef idx="0">
            <a:schemeClr val="dk1"/>
          </a:fillRef>
          <a:effectRef idx="0">
            <a:schemeClr val="dk1"/>
          </a:effectRef>
          <a:fontRef idx="minor"/>
        </p:style>
      </p:sp>
      <p:sp>
        <p:nvSpPr>
          <p:cNvPr id="313" name="CustomShape 6"/>
          <p:cNvSpPr/>
          <p:nvPr/>
        </p:nvSpPr>
        <p:spPr>
          <a:xfrm>
            <a:off x="3809880" y="4634280"/>
            <a:ext cx="26964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dk1"/>
          </a:lnRef>
          <a:fillRef idx="0">
            <a:schemeClr val="dk1"/>
          </a:fillRef>
          <a:effectRef idx="0">
            <a:schemeClr val="dk1"/>
          </a:effectRef>
          <a:fontRef idx="minor"/>
        </p:style>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08" name="Picture 73"/>
          <p:cNvPicPr/>
          <p:nvPr/>
        </p:nvPicPr>
        <p:blipFill>
          <a:blip r:embed="rId1"/>
          <a:stretch>
            <a:fillRect/>
          </a:stretch>
        </p:blipFill>
        <p:spPr>
          <a:xfrm>
            <a:off x="0" y="0"/>
            <a:ext cx="12191400" cy="6857280"/>
          </a:xfrm>
          <a:prstGeom prst="rect">
            <a:avLst/>
          </a:prstGeom>
          <a:ln>
            <a:noFill/>
          </a:ln>
        </p:spPr>
      </p:pic>
      <p:sp>
        <p:nvSpPr>
          <p:cNvPr id="30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sp>
        <p:nvSpPr>
          <p:cNvPr id="310" name="CustomShape 3"/>
          <p:cNvSpPr/>
          <p:nvPr/>
        </p:nvSpPr>
        <p:spPr>
          <a:xfrm>
            <a:off x="838995" y="2407100"/>
            <a:ext cx="10209240" cy="3733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 D</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finition de la structure d'un </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 de la file</a:t>
            </a: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typedef struct Elem {</a:t>
            </a: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    int info;         // Valeur stock</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e dans 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a:t>
            </a: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    struct Elem* suiv; // Pointeur vers 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 suivant</a:t>
            </a: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 Elem;</a:t>
            </a: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 D</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finition de la structure de la file dynamique</a:t>
            </a: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typedef struct FileD {</a:t>
            </a: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    Elem* debut; // Pointeur vers le premier </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 de la file</a:t>
            </a: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    Elem* queue; // Pointeur vers le dernier </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 de la file</a:t>
            </a:r>
            <a:endParaRPr lang="en-US" altLang="fr-FR" sz="20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 FileD;</a:t>
            </a:r>
            <a:endParaRPr lang="en-US" altLang="fr-FR" sz="2000" b="1" strike="noStrike" spc="-1">
              <a:latin typeface="Times New Roman" panose="02020603050405020304" pitchFamily="18" charset="0"/>
              <a:cs typeface="Times New Roman" panose="02020603050405020304" pitchFamily="18" charset="0"/>
            </a:endParaRPr>
          </a:p>
        </p:txBody>
      </p:sp>
      <p:sp>
        <p:nvSpPr>
          <p:cNvPr id="311" name="CustomShape 4"/>
          <p:cNvSpPr/>
          <p:nvPr/>
        </p:nvSpPr>
        <p:spPr>
          <a:xfrm>
            <a:off x="2356920" y="3940920"/>
            <a:ext cx="26964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dk1"/>
          </a:lnRef>
          <a:fillRef idx="0">
            <a:schemeClr val="dk1"/>
          </a:fillRef>
          <a:effectRef idx="0">
            <a:schemeClr val="dk1"/>
          </a:effectRef>
          <a:fontRef idx="minor"/>
        </p:style>
      </p:sp>
      <p:sp>
        <p:nvSpPr>
          <p:cNvPr id="312" name="CustomShape 5"/>
          <p:cNvSpPr/>
          <p:nvPr/>
        </p:nvSpPr>
        <p:spPr>
          <a:xfrm>
            <a:off x="3539520" y="4273560"/>
            <a:ext cx="26964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dk1"/>
          </a:lnRef>
          <a:fillRef idx="0">
            <a:schemeClr val="dk1"/>
          </a:fillRef>
          <a:effectRef idx="0">
            <a:schemeClr val="dk1"/>
          </a:effectRef>
          <a:fontRef idx="minor"/>
        </p:style>
      </p:sp>
      <p:sp>
        <p:nvSpPr>
          <p:cNvPr id="313" name="CustomShape 6"/>
          <p:cNvSpPr/>
          <p:nvPr/>
        </p:nvSpPr>
        <p:spPr>
          <a:xfrm>
            <a:off x="3809880" y="4634280"/>
            <a:ext cx="26964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dk1"/>
          </a:lnRef>
          <a:fillRef idx="0">
            <a:schemeClr val="dk1"/>
          </a:fillRef>
          <a:effectRef idx="0">
            <a:schemeClr val="dk1"/>
          </a:effectRef>
          <a:fontRef idx="minor"/>
        </p:style>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08" name="Picture 73"/>
          <p:cNvPicPr/>
          <p:nvPr/>
        </p:nvPicPr>
        <p:blipFill>
          <a:blip r:embed="rId1"/>
          <a:stretch>
            <a:fillRect/>
          </a:stretch>
        </p:blipFill>
        <p:spPr>
          <a:xfrm>
            <a:off x="0" y="0"/>
            <a:ext cx="12191400" cy="6857280"/>
          </a:xfrm>
          <a:prstGeom prst="rect">
            <a:avLst/>
          </a:prstGeom>
          <a:ln>
            <a:noFill/>
          </a:ln>
        </p:spPr>
      </p:pic>
      <p:sp>
        <p:nvSpPr>
          <p:cNvPr id="30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sp>
        <p:nvSpPr>
          <p:cNvPr id="310" name="CustomShape 3"/>
          <p:cNvSpPr/>
          <p:nvPr/>
        </p:nvSpPr>
        <p:spPr>
          <a:xfrm>
            <a:off x="802800" y="2663640"/>
            <a:ext cx="10209240" cy="3733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just">
              <a:lnSpc>
                <a:spcPct val="90000"/>
              </a:lnSpc>
              <a:spcBef>
                <a:spcPts val="1000"/>
              </a:spcBef>
            </a:pPr>
            <a:r>
              <a:rPr lang="en-US" altLang="fr-FR" sz="2800" b="1" strike="noStrike" spc="-1">
                <a:latin typeface="Times New Roman" panose="02020603050405020304" pitchFamily="18" charset="0"/>
                <a:cs typeface="Times New Roman" panose="02020603050405020304" pitchFamily="18" charset="0"/>
              </a:rPr>
              <a:t>void Init_FileD(FileD *F) {</a:t>
            </a:r>
            <a:endParaRPr lang="en-US" altLang="fr-FR" sz="28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800" b="1" strike="noStrike" spc="-1">
                <a:latin typeface="Times New Roman" panose="02020603050405020304" pitchFamily="18" charset="0"/>
                <a:cs typeface="Times New Roman" panose="02020603050405020304" pitchFamily="18" charset="0"/>
              </a:rPr>
              <a:t>    F-&gt;debut = NULL;</a:t>
            </a:r>
            <a:endParaRPr lang="en-US" altLang="fr-FR" sz="28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800" b="1" strike="noStrike" spc="-1">
                <a:latin typeface="Times New Roman" panose="02020603050405020304" pitchFamily="18" charset="0"/>
                <a:cs typeface="Times New Roman" panose="02020603050405020304" pitchFamily="18" charset="0"/>
              </a:rPr>
              <a:t>    F-&gt;queue = NULL;</a:t>
            </a:r>
            <a:endParaRPr lang="en-US" altLang="fr-FR" sz="28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800" b="1" strike="noStrike" spc="-1">
                <a:latin typeface="Times New Roman" panose="02020603050405020304" pitchFamily="18" charset="0"/>
                <a:cs typeface="Times New Roman" panose="02020603050405020304" pitchFamily="18" charset="0"/>
              </a:rPr>
              <a:t>}</a:t>
            </a:r>
            <a:br>
              <a:rPr lang="en-US" altLang="fr-FR" sz="2800" b="1" strike="noStrike" spc="-1">
                <a:latin typeface="Times New Roman" panose="02020603050405020304" pitchFamily="18" charset="0"/>
                <a:cs typeface="Times New Roman" panose="02020603050405020304" pitchFamily="18" charset="0"/>
              </a:rPr>
            </a:br>
            <a:r>
              <a:rPr lang="en-US" altLang="fr-FR" sz="2800" b="1" strike="noStrike" spc="-1">
                <a:latin typeface="Times New Roman" panose="02020603050405020304" pitchFamily="18" charset="0"/>
                <a:cs typeface="Times New Roman" panose="02020603050405020304" pitchFamily="18" charset="0"/>
              </a:rPr>
              <a:t>int FileD_Vide(FileD F) {</a:t>
            </a:r>
            <a:endParaRPr lang="en-US" altLang="fr-FR" sz="28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800" b="1" strike="noStrike" spc="-1">
                <a:latin typeface="Times New Roman" panose="02020603050405020304" pitchFamily="18" charset="0"/>
                <a:cs typeface="Times New Roman" panose="02020603050405020304" pitchFamily="18" charset="0"/>
              </a:rPr>
              <a:t>    return (F.debut == NULL);</a:t>
            </a:r>
            <a:endParaRPr lang="en-US" altLang="fr-FR" sz="28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2800" b="1" strike="noStrike" spc="-1">
                <a:latin typeface="Times New Roman" panose="02020603050405020304" pitchFamily="18" charset="0"/>
                <a:cs typeface="Times New Roman" panose="02020603050405020304" pitchFamily="18" charset="0"/>
              </a:rPr>
              <a:t>}</a:t>
            </a:r>
            <a:endParaRPr lang="en-US" altLang="fr-FR" sz="28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endParaRPr lang="en-US" altLang="fr-FR" sz="24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endParaRPr lang="en-US" altLang="fr-FR" sz="24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08" name="Picture 73"/>
          <p:cNvPicPr/>
          <p:nvPr/>
        </p:nvPicPr>
        <p:blipFill>
          <a:blip r:embed="rId1"/>
          <a:stretch>
            <a:fillRect/>
          </a:stretch>
        </p:blipFill>
        <p:spPr>
          <a:xfrm>
            <a:off x="0" y="0"/>
            <a:ext cx="12191400" cy="6857280"/>
          </a:xfrm>
          <a:prstGeom prst="rect">
            <a:avLst/>
          </a:prstGeom>
          <a:ln>
            <a:noFill/>
          </a:ln>
        </p:spPr>
      </p:pic>
      <p:sp>
        <p:nvSpPr>
          <p:cNvPr id="30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sp>
        <p:nvSpPr>
          <p:cNvPr id="310" name="CustomShape 3"/>
          <p:cNvSpPr/>
          <p:nvPr/>
        </p:nvSpPr>
        <p:spPr>
          <a:xfrm>
            <a:off x="839470" y="2205355"/>
            <a:ext cx="10209530" cy="4196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void EnfilerD(FileD *F, int valeur)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Elem *nouveau = (Elem *)malloc(sizeof(Elem));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if (nouveau == NULL)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printf("Erreur d'allocation m</a:t>
            </a:r>
            <a:r>
              <a:rPr lang="en-US" altLang="en-US" sz="1900" b="1" strike="noStrike" spc="-1">
                <a:latin typeface="Times New Roman" panose="02020603050405020304" pitchFamily="18" charset="0"/>
                <a:cs typeface="Times New Roman" panose="02020603050405020304" pitchFamily="18" charset="0"/>
              </a:rPr>
              <a:t>é</a:t>
            </a:r>
            <a:r>
              <a:rPr lang="en-US" altLang="fr-FR" sz="1900" b="1" strike="noStrike" spc="-1">
                <a:latin typeface="Times New Roman" panose="02020603050405020304" pitchFamily="18" charset="0"/>
                <a:cs typeface="Times New Roman" panose="02020603050405020304" pitchFamily="18" charset="0"/>
              </a:rPr>
              <a:t>moire !\\n");</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return;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nouveau-&gt;info = valeur;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nouveau-&gt;suiv = NULL;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if (FileD_Vide(*F)) {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F-&gt;debut = F-&gt;queue = nouveau;</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 else {F-&gt;queue-&gt;suiv = nouveau;</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F-&gt;queue = nouveau;}}</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endParaRPr lang="en-US" altLang="fr-FR" sz="5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08" name="Picture 73"/>
          <p:cNvPicPr/>
          <p:nvPr/>
        </p:nvPicPr>
        <p:blipFill>
          <a:blip r:embed="rId1"/>
          <a:stretch>
            <a:fillRect/>
          </a:stretch>
        </p:blipFill>
        <p:spPr>
          <a:xfrm>
            <a:off x="0" y="0"/>
            <a:ext cx="12191400" cy="6857280"/>
          </a:xfrm>
          <a:prstGeom prst="rect">
            <a:avLst/>
          </a:prstGeom>
          <a:ln>
            <a:noFill/>
          </a:ln>
        </p:spPr>
      </p:pic>
      <p:sp>
        <p:nvSpPr>
          <p:cNvPr id="30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sp>
        <p:nvSpPr>
          <p:cNvPr id="310" name="CustomShape 3"/>
          <p:cNvSpPr/>
          <p:nvPr/>
        </p:nvSpPr>
        <p:spPr>
          <a:xfrm>
            <a:off x="839470" y="2205355"/>
            <a:ext cx="10209530" cy="4196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void DefilerD(FileD *F)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if (FileD_Vide(*F))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printf("Erreur : File vide !\\n");</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return;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Elem *temp = F-&gt;debut;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printf("D</a:t>
            </a:r>
            <a:r>
              <a:rPr lang="en-US" altLang="en-US" sz="1900" b="1" strike="noStrike" spc="-1">
                <a:latin typeface="Times New Roman" panose="02020603050405020304" pitchFamily="18" charset="0"/>
                <a:cs typeface="Times New Roman" panose="02020603050405020304" pitchFamily="18" charset="0"/>
              </a:rPr>
              <a:t>é</a:t>
            </a:r>
            <a:r>
              <a:rPr lang="en-US" altLang="fr-FR" sz="1900" b="1" strike="noStrike" spc="-1">
                <a:latin typeface="Times New Roman" panose="02020603050405020304" pitchFamily="18" charset="0"/>
                <a:cs typeface="Times New Roman" panose="02020603050405020304" pitchFamily="18" charset="0"/>
              </a:rPr>
              <a:t>file : %d\\n", temp-&gt;info);</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F-&gt;debut = F-&gt;debut-&gt;suiv;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if (F-&gt;debut == NULL) {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F-&gt;queue = NULL;</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    free(temp);  </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r>
              <a:rPr lang="en-US" altLang="fr-FR" sz="1900" b="1" strike="noStrike" spc="-1">
                <a:latin typeface="Times New Roman" panose="02020603050405020304" pitchFamily="18" charset="0"/>
                <a:cs typeface="Times New Roman" panose="02020603050405020304" pitchFamily="18" charset="0"/>
              </a:rPr>
              <a:t>}</a:t>
            </a: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endParaRPr lang="en-US" altLang="fr-FR" sz="1900" b="1" strike="noStrike" spc="-1">
              <a:latin typeface="Times New Roman" panose="02020603050405020304" pitchFamily="18" charset="0"/>
              <a:cs typeface="Times New Roman" panose="02020603050405020304" pitchFamily="18" charset="0"/>
            </a:endParaRPr>
          </a:p>
          <a:p>
            <a:pPr algn="just">
              <a:lnSpc>
                <a:spcPct val="90000"/>
              </a:lnSpc>
              <a:spcBef>
                <a:spcPts val="1000"/>
              </a:spcBef>
            </a:pPr>
            <a:endParaRPr lang="en-US" altLang="fr-FR" sz="5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4"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15" name="Picture 73"/>
          <p:cNvPicPr/>
          <p:nvPr/>
        </p:nvPicPr>
        <p:blipFill>
          <a:blip r:embed="rId1"/>
          <a:stretch>
            <a:fillRect/>
          </a:stretch>
        </p:blipFill>
        <p:spPr>
          <a:xfrm>
            <a:off x="0" y="0"/>
            <a:ext cx="12191400" cy="6857280"/>
          </a:xfrm>
          <a:prstGeom prst="rect">
            <a:avLst/>
          </a:prstGeom>
          <a:ln>
            <a:noFill/>
          </a:ln>
        </p:spPr>
      </p:pic>
      <p:sp>
        <p:nvSpPr>
          <p:cNvPr id="316"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pic>
        <p:nvPicPr>
          <p:cNvPr id="317" name="Image 1"/>
          <p:cNvPicPr/>
          <p:nvPr/>
        </p:nvPicPr>
        <p:blipFill>
          <a:blip r:embed="rId2"/>
          <a:stretch>
            <a:fillRect/>
          </a:stretch>
        </p:blipFill>
        <p:spPr>
          <a:xfrm>
            <a:off x="1867320" y="2696630"/>
            <a:ext cx="8409240" cy="4155840"/>
          </a:xfrm>
          <a:prstGeom prst="rect">
            <a:avLst/>
          </a:prstGeom>
          <a:ln>
            <a:noFill/>
          </a:ln>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8"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19" name="Picture 73"/>
          <p:cNvPicPr/>
          <p:nvPr/>
        </p:nvPicPr>
        <p:blipFill>
          <a:blip r:embed="rId1"/>
          <a:stretch>
            <a:fillRect/>
          </a:stretch>
        </p:blipFill>
        <p:spPr>
          <a:xfrm>
            <a:off x="0" y="0"/>
            <a:ext cx="12191400" cy="6857280"/>
          </a:xfrm>
          <a:prstGeom prst="rect">
            <a:avLst/>
          </a:prstGeom>
          <a:ln>
            <a:noFill/>
          </a:ln>
        </p:spPr>
      </p:pic>
      <p:sp>
        <p:nvSpPr>
          <p:cNvPr id="320"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pic>
        <p:nvPicPr>
          <p:cNvPr id="321" name="Image 3"/>
          <p:cNvPicPr/>
          <p:nvPr/>
        </p:nvPicPr>
        <p:blipFill>
          <a:blip r:embed="rId2"/>
          <a:stretch>
            <a:fillRect/>
          </a:stretch>
        </p:blipFill>
        <p:spPr>
          <a:xfrm>
            <a:off x="1879200" y="2563560"/>
            <a:ext cx="8432640" cy="4068360"/>
          </a:xfrm>
          <a:prstGeom prst="rect">
            <a:avLst/>
          </a:prstGeom>
          <a:ln>
            <a:noFill/>
          </a:ln>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23" name="Picture 73"/>
          <p:cNvPicPr/>
          <p:nvPr/>
        </p:nvPicPr>
        <p:blipFill>
          <a:blip r:embed="rId1"/>
          <a:stretch>
            <a:fillRect/>
          </a:stretch>
        </p:blipFill>
        <p:spPr>
          <a:xfrm>
            <a:off x="0" y="0"/>
            <a:ext cx="12191400" cy="6857280"/>
          </a:xfrm>
          <a:prstGeom prst="rect">
            <a:avLst/>
          </a:prstGeom>
          <a:ln>
            <a:noFill/>
          </a:ln>
        </p:spPr>
      </p:pic>
      <p:sp>
        <p:nvSpPr>
          <p:cNvPr id="32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pic>
        <p:nvPicPr>
          <p:cNvPr id="325" name="Image 2"/>
          <p:cNvPicPr/>
          <p:nvPr/>
        </p:nvPicPr>
        <p:blipFill>
          <a:blip r:embed="rId2"/>
          <a:stretch>
            <a:fillRect/>
          </a:stretch>
        </p:blipFill>
        <p:spPr>
          <a:xfrm>
            <a:off x="1967040" y="2541240"/>
            <a:ext cx="8052120" cy="4206600"/>
          </a:xfrm>
          <a:prstGeom prst="rect">
            <a:avLst/>
          </a:prstGeom>
          <a:ln>
            <a:noFill/>
          </a:ln>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27" name="Picture 73"/>
          <p:cNvPicPr/>
          <p:nvPr/>
        </p:nvPicPr>
        <p:blipFill>
          <a:blip r:embed="rId1"/>
          <a:stretch>
            <a:fillRect/>
          </a:stretch>
        </p:blipFill>
        <p:spPr>
          <a:xfrm>
            <a:off x="0" y="0"/>
            <a:ext cx="12191400" cy="6857280"/>
          </a:xfrm>
          <a:prstGeom prst="rect">
            <a:avLst/>
          </a:prstGeom>
          <a:ln>
            <a:noFill/>
          </a:ln>
        </p:spPr>
      </p:pic>
      <p:sp>
        <p:nvSpPr>
          <p:cNvPr id="32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File Dynamique</a:t>
            </a:r>
            <a:endParaRPr lang="fr-FR" sz="4000" b="0" strike="noStrike" spc="-1">
              <a:latin typeface="Arial" panose="020B0604020202020204"/>
            </a:endParaRPr>
          </a:p>
        </p:txBody>
      </p:sp>
      <p:pic>
        <p:nvPicPr>
          <p:cNvPr id="329" name="Image 1"/>
          <p:cNvPicPr/>
          <p:nvPr/>
        </p:nvPicPr>
        <p:blipFill>
          <a:blip r:embed="rId2"/>
          <a:stretch>
            <a:fillRect/>
          </a:stretch>
        </p:blipFill>
        <p:spPr>
          <a:xfrm>
            <a:off x="1976040" y="2458080"/>
            <a:ext cx="7785360" cy="4399200"/>
          </a:xfrm>
          <a:prstGeom prst="rect">
            <a:avLst/>
          </a:prstGeom>
          <a:ln>
            <a:noFill/>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0" name="CustomShape 1"/>
          <p:cNvSpPr/>
          <p:nvPr/>
        </p:nvSpPr>
        <p:spPr>
          <a:xfrm>
            <a:off x="475560" y="0"/>
            <a:ext cx="10909440" cy="6857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31" name="Picture 13"/>
          <p:cNvPicPr/>
          <p:nvPr/>
        </p:nvPicPr>
        <p:blipFill>
          <a:blip r:embed="rId1"/>
          <a:stretch>
            <a:fillRect/>
          </a:stretch>
        </p:blipFill>
        <p:spPr>
          <a:xfrm>
            <a:off x="0" y="0"/>
            <a:ext cx="12191400" cy="6857280"/>
          </a:xfrm>
          <a:prstGeom prst="rect">
            <a:avLst/>
          </a:prstGeom>
          <a:ln>
            <a:noFill/>
          </a:ln>
        </p:spPr>
      </p:pic>
      <p:sp>
        <p:nvSpPr>
          <p:cNvPr id="332" name="CustomShape 2"/>
          <p:cNvSpPr/>
          <p:nvPr/>
        </p:nvSpPr>
        <p:spPr>
          <a:xfrm>
            <a:off x="3045240" y="2653200"/>
            <a:ext cx="6104520" cy="203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rmAutofit fontScale="87500" lnSpcReduction="10000"/>
          </a:bodyPr>
          <a:lstStyle/>
          <a:p>
            <a:pPr algn="ctr">
              <a:lnSpc>
                <a:spcPct val="90000"/>
              </a:lnSpc>
            </a:pPr>
            <a:r>
              <a:rPr lang="fr-FR" sz="8800" b="1" strike="noStrike" spc="-1">
                <a:solidFill>
                  <a:srgbClr val="FFFFFF"/>
                </a:solidFill>
                <a:latin typeface="Times New Roman" panose="02020603050405020304"/>
              </a:rPr>
              <a:t>Listes chaînées</a:t>
            </a:r>
            <a:endParaRPr lang="fr-FR" sz="8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34" name="Picture 73"/>
          <p:cNvPicPr/>
          <p:nvPr/>
        </p:nvPicPr>
        <p:blipFill>
          <a:blip r:embed="rId1"/>
          <a:stretch>
            <a:fillRect/>
          </a:stretch>
        </p:blipFill>
        <p:spPr>
          <a:xfrm>
            <a:off x="0" y="0"/>
            <a:ext cx="12191400" cy="6857280"/>
          </a:xfrm>
          <a:prstGeom prst="rect">
            <a:avLst/>
          </a:prstGeom>
          <a:ln>
            <a:noFill/>
          </a:ln>
        </p:spPr>
      </p:pic>
      <p:sp>
        <p:nvSpPr>
          <p:cNvPr id="33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chaînées(1)</a:t>
            </a:r>
            <a:endParaRPr lang="fr-FR" sz="4000" b="0" strike="noStrike" spc="-1">
              <a:latin typeface="Arial" panose="020B0604020202020204"/>
            </a:endParaRPr>
          </a:p>
        </p:txBody>
      </p:sp>
      <p:sp>
        <p:nvSpPr>
          <p:cNvPr id="336" name="CustomShape 3"/>
          <p:cNvSpPr/>
          <p:nvPr/>
        </p:nvSpPr>
        <p:spPr>
          <a:xfrm>
            <a:off x="220680" y="2754000"/>
            <a:ext cx="11743200" cy="410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gn="just">
              <a:lnSpc>
                <a:spcPct val="90000"/>
              </a:lnSpc>
              <a:spcBef>
                <a:spcPts val="1000"/>
              </a:spcBef>
            </a:pPr>
            <a:r>
              <a:rPr lang="fr-FR" sz="1800" b="0" strike="noStrike" spc="-1">
                <a:solidFill>
                  <a:srgbClr val="000000"/>
                </a:solidFill>
                <a:latin typeface="Times New Roman" panose="02020603050405020304"/>
              </a:rPr>
              <a:t>Une  liste  chaînée est  une  structure  linéaire  qui  n'a  pas  de  dimension  fixée  à  sa  création. Ses éléments de même type sont éparpillés dans la  mémoire et reliés  entre  eux par des pointeurs. Sa dimension  peut  être  modifiée  selon  la  place  disponible  en  mémoire.  La  liste  est accessible uniquement par sa tête de liste c’est-à-dire son premier élément. </a:t>
            </a:r>
            <a:endParaRPr lang="fr-FR" sz="1800" b="0" strike="noStrike" spc="-1">
              <a:latin typeface="Arial" panose="020B0604020202020204"/>
            </a:endParaRPr>
          </a:p>
          <a:p>
            <a:pPr marL="228600" indent="-227965" algn="just">
              <a:lnSpc>
                <a:spcPct val="90000"/>
              </a:lnSpc>
              <a:spcBef>
                <a:spcPts val="1000"/>
              </a:spcBef>
            </a:pPr>
            <a:r>
              <a:rPr lang="fr-FR" sz="1800" b="0" strike="noStrike" spc="-1">
                <a:solidFill>
                  <a:srgbClr val="000000"/>
                </a:solidFill>
                <a:latin typeface="Times New Roman" panose="02020603050405020304"/>
              </a:rPr>
              <a:t>Pour les listes chaînées la séquence est mise en oeuvre par le pointeur porté par chaque élément qui  indique l'emplacement de l'élément suivant. Le dernier élément de la liste ne pointe sur rien (Nil).  On accède à un élément de la liste en parcourant les éléments grâce à leurs pointeurs.</a:t>
            </a:r>
            <a:endParaRPr lang="fr-FR" sz="1800" b="0" strike="noStrike" spc="-1">
              <a:latin typeface="Arial" panose="020B0604020202020204"/>
            </a:endParaRPr>
          </a:p>
          <a:p>
            <a:pPr marL="228600" indent="-227965">
              <a:lnSpc>
                <a:spcPct val="90000"/>
              </a:lnSpc>
              <a:spcBef>
                <a:spcPts val="1000"/>
              </a:spcBef>
            </a:pPr>
            <a:r>
              <a:rPr lang="fr-FR" sz="1800" b="0" strike="noStrike" spc="-1">
                <a:solidFill>
                  <a:srgbClr val="000000"/>
                </a:solidFill>
                <a:latin typeface="Times New Roman" panose="02020603050405020304"/>
              </a:rPr>
              <a:t>Soit la liste chaînée suivante (@ indique que le nombre qui le suit représente une adresse) :</a:t>
            </a:r>
            <a:endParaRPr lang="fr-FR" sz="1800" b="0" strike="noStrike" spc="-1">
              <a:latin typeface="Arial" panose="020B0604020202020204"/>
            </a:endParaRPr>
          </a:p>
          <a:p>
            <a:pPr marL="228600" indent="-227965">
              <a:lnSpc>
                <a:spcPct val="90000"/>
              </a:lnSpc>
              <a:spcBef>
                <a:spcPts val="1000"/>
              </a:spcBef>
            </a:pPr>
            <a:endParaRPr lang="fr-FR" sz="1800" b="0" strike="noStrike" spc="-1">
              <a:latin typeface="Arial" panose="020B0604020202020204"/>
            </a:endParaRPr>
          </a:p>
          <a:p>
            <a:pPr marL="228600" indent="-227965">
              <a:lnSpc>
                <a:spcPct val="90000"/>
              </a:lnSpc>
              <a:spcBef>
                <a:spcPts val="1000"/>
              </a:spcBef>
            </a:pPr>
            <a:endParaRPr lang="fr-FR" sz="1800" b="0" strike="noStrike" spc="-1">
              <a:latin typeface="Arial" panose="020B0604020202020204"/>
            </a:endParaRPr>
          </a:p>
          <a:p>
            <a:pPr marL="228600" indent="-227965">
              <a:lnSpc>
                <a:spcPct val="90000"/>
              </a:lnSpc>
              <a:spcBef>
                <a:spcPts val="1000"/>
              </a:spcBef>
            </a:pPr>
            <a:r>
              <a:rPr lang="fr-FR" sz="1800" b="0" strike="noStrike" spc="-1">
                <a:solidFill>
                  <a:srgbClr val="000000"/>
                </a:solidFill>
                <a:latin typeface="Times New Roman" panose="02020603050405020304"/>
              </a:rPr>
              <a:t>Pour accéder au troisième élément de la liste il faut toujours débuter la lecture de la liste par son  premier  élément  dans  le pointeur  duquel trouve la position du troisième élément…  Pour ajouter, supprimer ou déplacer un élément il suffit d'allouer une place en mémoire et de mettre  à jour les pointeurs des éléments.</a:t>
            </a:r>
            <a:endParaRPr lang="fr-FR" sz="1800" b="0" strike="noStrike" spc="-1">
              <a:latin typeface="Arial" panose="020B0604020202020204"/>
            </a:endParaRPr>
          </a:p>
        </p:txBody>
      </p:sp>
      <p:pic>
        <p:nvPicPr>
          <p:cNvPr id="337" name="Image 1"/>
          <p:cNvPicPr/>
          <p:nvPr/>
        </p:nvPicPr>
        <p:blipFill>
          <a:blip r:embed="rId2"/>
          <a:stretch>
            <a:fillRect/>
          </a:stretch>
        </p:blipFill>
        <p:spPr>
          <a:xfrm>
            <a:off x="1934640" y="4806000"/>
            <a:ext cx="7713360" cy="770760"/>
          </a:xfrm>
          <a:prstGeom prst="rect">
            <a:avLst/>
          </a:prstGeom>
          <a:ln>
            <a:noFill/>
          </a:ln>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34" name="Picture 73"/>
          <p:cNvPicPr/>
          <p:nvPr/>
        </p:nvPicPr>
        <p:blipFill>
          <a:blip r:embed="rId1"/>
          <a:stretch>
            <a:fillRect/>
          </a:stretch>
        </p:blipFill>
        <p:spPr>
          <a:xfrm>
            <a:off x="0" y="0"/>
            <a:ext cx="12191400" cy="6857280"/>
          </a:xfrm>
          <a:prstGeom prst="rect">
            <a:avLst/>
          </a:prstGeom>
          <a:ln>
            <a:noFill/>
          </a:ln>
        </p:spPr>
      </p:pic>
      <p:sp>
        <p:nvSpPr>
          <p:cNvPr id="33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chaînées(1)</a:t>
            </a:r>
            <a:endParaRPr lang="fr-FR" sz="4000" b="0" strike="noStrike" spc="-1">
              <a:latin typeface="Arial" panose="020B0604020202020204"/>
            </a:endParaRPr>
          </a:p>
        </p:txBody>
      </p:sp>
      <p:sp>
        <p:nvSpPr>
          <p:cNvPr id="336" name="CustomShape 3"/>
          <p:cNvSpPr/>
          <p:nvPr/>
        </p:nvSpPr>
        <p:spPr>
          <a:xfrm>
            <a:off x="220680" y="2754000"/>
            <a:ext cx="11743200" cy="410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Structure dynamique :</a:t>
            </a:r>
            <a:r>
              <a:rPr lang="en-US" altLang="fr-FR" sz="2000" strike="noStrike" spc="-1">
                <a:latin typeface="Times New Roman" panose="02020603050405020304" pitchFamily="18" charset="0"/>
                <a:cs typeface="Times New Roman" panose="02020603050405020304" pitchFamily="18" charset="0"/>
              </a:rPr>
              <a:t> pas de taille fixe à la cr</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ation.</a:t>
            </a:r>
            <a:endParaRPr lang="en-US" altLang="fr-FR" sz="2000"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endParaRPr lang="en-US" altLang="fr-FR" sz="2000"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ments non contigus :</a:t>
            </a:r>
            <a:r>
              <a:rPr lang="en-US" altLang="fr-FR" sz="2000" strike="noStrike" spc="-1">
                <a:latin typeface="Times New Roman" panose="02020603050405020304" pitchFamily="18" charset="0"/>
                <a:cs typeface="Times New Roman" panose="02020603050405020304" pitchFamily="18" charset="0"/>
              </a:rPr>
              <a:t> les donn</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es sont </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parpill</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es en m</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moire, reli</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es par des pointeurs.</a:t>
            </a:r>
            <a:endParaRPr lang="en-US" altLang="fr-FR" sz="2000"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endParaRPr lang="en-US" altLang="fr-FR" sz="2000"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Acc</a:t>
            </a:r>
            <a:r>
              <a:rPr lang="en-US" altLang="en-US" sz="2000" b="1" strike="noStrike" spc="-1">
                <a:latin typeface="Times New Roman" panose="02020603050405020304" pitchFamily="18" charset="0"/>
                <a:cs typeface="Times New Roman" panose="02020603050405020304" pitchFamily="18" charset="0"/>
              </a:rPr>
              <a:t>è</a:t>
            </a:r>
            <a:r>
              <a:rPr lang="en-US" altLang="fr-FR" sz="2000" b="1" strike="noStrike" spc="-1">
                <a:latin typeface="Times New Roman" panose="02020603050405020304" pitchFamily="18" charset="0"/>
                <a:cs typeface="Times New Roman" panose="02020603050405020304" pitchFamily="18" charset="0"/>
              </a:rPr>
              <a:t>s par la t</a:t>
            </a:r>
            <a:r>
              <a:rPr lang="en-US" altLang="en-US" sz="2000" b="1" strike="noStrike" spc="-1">
                <a:latin typeface="Times New Roman" panose="02020603050405020304" pitchFamily="18" charset="0"/>
                <a:cs typeface="Times New Roman" panose="02020603050405020304" pitchFamily="18" charset="0"/>
              </a:rPr>
              <a:t>ê</a:t>
            </a:r>
            <a:r>
              <a:rPr lang="en-US" altLang="fr-FR" sz="2000" b="1" strike="noStrike" spc="-1">
                <a:latin typeface="Times New Roman" panose="02020603050405020304" pitchFamily="18" charset="0"/>
                <a:cs typeface="Times New Roman" panose="02020603050405020304" pitchFamily="18" charset="0"/>
              </a:rPr>
              <a:t>te :</a:t>
            </a:r>
            <a:r>
              <a:rPr lang="en-US" altLang="fr-FR" sz="2000" strike="noStrike" spc="-1">
                <a:latin typeface="Times New Roman" panose="02020603050405020304" pitchFamily="18" charset="0"/>
                <a:cs typeface="Times New Roman" panose="02020603050405020304" pitchFamily="18" charset="0"/>
              </a:rPr>
              <a:t> tout parcours commence toujours par le premier </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l</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ment.</a:t>
            </a:r>
            <a:endParaRPr lang="en-US" altLang="fr-FR" sz="2000"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endParaRPr lang="en-US" altLang="fr-FR" sz="2000"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Lien entre les </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ments :</a:t>
            </a:r>
            <a:r>
              <a:rPr lang="en-US" altLang="fr-FR" sz="2000" strike="noStrike" spc="-1">
                <a:latin typeface="Times New Roman" panose="02020603050405020304" pitchFamily="18" charset="0"/>
                <a:cs typeface="Times New Roman" panose="02020603050405020304" pitchFamily="18" charset="0"/>
              </a:rPr>
              <a:t> chaque </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l</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ment (appel</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 maillon ou n</a:t>
            </a:r>
            <a:r>
              <a:rPr lang="en-US" altLang="en-US" sz="2000" strike="noStrike" spc="-1">
                <a:latin typeface="Times New Roman" panose="02020603050405020304" pitchFamily="18" charset="0"/>
                <a:cs typeface="Times New Roman" panose="02020603050405020304" pitchFamily="18" charset="0"/>
              </a:rPr>
              <a:t>œ</a:t>
            </a:r>
            <a:r>
              <a:rPr lang="en-US" altLang="fr-FR" sz="2000" strike="noStrike" spc="-1">
                <a:latin typeface="Times New Roman" panose="02020603050405020304" pitchFamily="18" charset="0"/>
                <a:cs typeface="Times New Roman" panose="02020603050405020304" pitchFamily="18" charset="0"/>
              </a:rPr>
              <a:t>ud) contient une valeur et un pointeur vers le suivant.</a:t>
            </a:r>
            <a:endParaRPr lang="en-US" altLang="fr-FR" sz="2000"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endParaRPr lang="en-US" altLang="fr-FR" sz="2000"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Fin de la liste :</a:t>
            </a:r>
            <a:r>
              <a:rPr lang="en-US" altLang="fr-FR" sz="2000" strike="noStrike" spc="-1">
                <a:latin typeface="Times New Roman" panose="02020603050405020304" pitchFamily="18" charset="0"/>
                <a:cs typeface="Times New Roman" panose="02020603050405020304" pitchFamily="18" charset="0"/>
              </a:rPr>
              <a:t> indiqu</a:t>
            </a:r>
            <a:r>
              <a:rPr lang="en-US" altLang="en-US" sz="2000" strike="noStrike" spc="-1">
                <a:latin typeface="Times New Roman" panose="02020603050405020304" pitchFamily="18" charset="0"/>
                <a:cs typeface="Times New Roman" panose="02020603050405020304" pitchFamily="18" charset="0"/>
              </a:rPr>
              <a:t>é</a:t>
            </a:r>
            <a:r>
              <a:rPr lang="en-US" altLang="fr-FR" sz="2000" strike="noStrike" spc="-1">
                <a:latin typeface="Times New Roman" panose="02020603050405020304" pitchFamily="18" charset="0"/>
                <a:cs typeface="Times New Roman" panose="02020603050405020304" pitchFamily="18" charset="0"/>
              </a:rPr>
              <a:t>e par un pointeur nul (souvent NULL en C ou None en Python).</a:t>
            </a:r>
            <a:endParaRPr lang="en-US" altLang="fr-FR" sz="2000"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34" name="Picture 73"/>
          <p:cNvPicPr/>
          <p:nvPr/>
        </p:nvPicPr>
        <p:blipFill>
          <a:blip r:embed="rId1"/>
          <a:stretch>
            <a:fillRect/>
          </a:stretch>
        </p:blipFill>
        <p:spPr>
          <a:xfrm>
            <a:off x="0" y="0"/>
            <a:ext cx="12191400" cy="6857280"/>
          </a:xfrm>
          <a:prstGeom prst="rect">
            <a:avLst/>
          </a:prstGeom>
          <a:ln>
            <a:noFill/>
          </a:ln>
        </p:spPr>
      </p:pic>
      <p:sp>
        <p:nvSpPr>
          <p:cNvPr id="33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chaînées(1)</a:t>
            </a:r>
            <a:endParaRPr lang="fr-FR" sz="4000" b="0" strike="noStrike" spc="-1">
              <a:latin typeface="Arial" panose="020B0604020202020204"/>
            </a:endParaRPr>
          </a:p>
        </p:txBody>
      </p:sp>
      <p:sp>
        <p:nvSpPr>
          <p:cNvPr id="336" name="CustomShape 3"/>
          <p:cNvSpPr/>
          <p:nvPr/>
        </p:nvSpPr>
        <p:spPr>
          <a:xfrm>
            <a:off x="220680" y="2754000"/>
            <a:ext cx="11743200" cy="410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Exemple illustratif :</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Imaginons une liste contenant les valeurs 5 </a:t>
            </a:r>
            <a:r>
              <a:rPr lang="en-US" altLang="en-US" sz="2000" b="1" strike="noStrike" spc="-1">
                <a:latin typeface="Times New Roman" panose="02020603050405020304" pitchFamily="18" charset="0"/>
                <a:cs typeface="Times New Roman" panose="02020603050405020304" pitchFamily="18" charset="0"/>
              </a:rPr>
              <a:t>→</a:t>
            </a:r>
            <a:r>
              <a:rPr lang="en-US" altLang="fr-FR" sz="2000" b="1" strike="noStrike" spc="-1">
                <a:latin typeface="Times New Roman" panose="02020603050405020304" pitchFamily="18" charset="0"/>
                <a:cs typeface="Times New Roman" panose="02020603050405020304" pitchFamily="18" charset="0"/>
              </a:rPr>
              <a:t> 12 </a:t>
            </a:r>
            <a:r>
              <a:rPr lang="en-US" altLang="en-US" sz="2000" b="1" strike="noStrike" spc="-1">
                <a:latin typeface="Times New Roman" panose="02020603050405020304" pitchFamily="18" charset="0"/>
                <a:cs typeface="Times New Roman" panose="02020603050405020304" pitchFamily="18" charset="0"/>
              </a:rPr>
              <a:t>→</a:t>
            </a:r>
            <a:r>
              <a:rPr lang="en-US" altLang="fr-FR" sz="2000" b="1" strike="noStrike" spc="-1">
                <a:latin typeface="Times New Roman" panose="02020603050405020304" pitchFamily="18" charset="0"/>
                <a:cs typeface="Times New Roman" panose="02020603050405020304" pitchFamily="18" charset="0"/>
              </a:rPr>
              <a:t> 7 :</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Adresse	Valeur	Pointeur vers</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@1000	5	@1050</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@1050	12	@1080</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@1080	7	NULL</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La t</a:t>
            </a:r>
            <a:r>
              <a:rPr lang="en-US" altLang="en-US" sz="2000" b="1" strike="noStrike" spc="-1">
                <a:latin typeface="Times New Roman" panose="02020603050405020304" pitchFamily="18" charset="0"/>
                <a:cs typeface="Times New Roman" panose="02020603050405020304" pitchFamily="18" charset="0"/>
              </a:rPr>
              <a:t>ê</a:t>
            </a:r>
            <a:r>
              <a:rPr lang="en-US" altLang="fr-FR" sz="2000" b="1" strike="noStrike" spc="-1">
                <a:latin typeface="Times New Roman" panose="02020603050405020304" pitchFamily="18" charset="0"/>
                <a:cs typeface="Times New Roman" panose="02020603050405020304" pitchFamily="18" charset="0"/>
              </a:rPr>
              <a:t>te pointe vers @1000.</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Le premier </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 (@1000) contient la valeur 5 et un pointeur vers @1050 (le 2e </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Le deuxi</a:t>
            </a:r>
            <a:r>
              <a:rPr lang="en-US" altLang="en-US" sz="2000" b="1" strike="noStrike" spc="-1">
                <a:latin typeface="Times New Roman" panose="02020603050405020304" pitchFamily="18" charset="0"/>
                <a:cs typeface="Times New Roman" panose="02020603050405020304" pitchFamily="18" charset="0"/>
              </a:rPr>
              <a:t>è</a:t>
            </a:r>
            <a:r>
              <a:rPr lang="en-US" altLang="fr-FR" sz="2000" b="1" strike="noStrike" spc="-1">
                <a:latin typeface="Times New Roman" panose="02020603050405020304" pitchFamily="18" charset="0"/>
                <a:cs typeface="Times New Roman" panose="02020603050405020304" pitchFamily="18" charset="0"/>
              </a:rPr>
              <a:t>me pointe vers @1080 (le 3e).</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Le dernier (@1080) a un pointeur nul, marquant la fin.</a:t>
            </a:r>
            <a:endParaRPr lang="en-US" altLang="fr-FR" sz="20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34" name="Picture 73"/>
          <p:cNvPicPr/>
          <p:nvPr/>
        </p:nvPicPr>
        <p:blipFill>
          <a:blip r:embed="rId1"/>
          <a:stretch>
            <a:fillRect/>
          </a:stretch>
        </p:blipFill>
        <p:spPr>
          <a:xfrm>
            <a:off x="0" y="0"/>
            <a:ext cx="12191400" cy="6857280"/>
          </a:xfrm>
          <a:prstGeom prst="rect">
            <a:avLst/>
          </a:prstGeom>
          <a:ln>
            <a:noFill/>
          </a:ln>
        </p:spPr>
      </p:pic>
      <p:sp>
        <p:nvSpPr>
          <p:cNvPr id="33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chaînées(1)</a:t>
            </a:r>
            <a:endParaRPr lang="fr-FR" sz="4000" b="0" strike="noStrike" spc="-1">
              <a:latin typeface="Arial" panose="020B0604020202020204"/>
            </a:endParaRPr>
          </a:p>
        </p:txBody>
      </p:sp>
      <p:sp>
        <p:nvSpPr>
          <p:cNvPr id="336" name="CustomShape 3"/>
          <p:cNvSpPr/>
          <p:nvPr/>
        </p:nvSpPr>
        <p:spPr>
          <a:xfrm>
            <a:off x="220680" y="2754000"/>
            <a:ext cx="11743200" cy="410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Pour acc</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der au troisi</a:t>
            </a:r>
            <a:r>
              <a:rPr lang="en-US" altLang="en-US" sz="2000" b="1" strike="noStrike" spc="-1">
                <a:latin typeface="Times New Roman" panose="02020603050405020304" pitchFamily="18" charset="0"/>
                <a:cs typeface="Times New Roman" panose="02020603050405020304" pitchFamily="18" charset="0"/>
              </a:rPr>
              <a:t>è</a:t>
            </a:r>
            <a:r>
              <a:rPr lang="en-US" altLang="fr-FR" sz="2000" b="1" strike="noStrike" spc="-1">
                <a:latin typeface="Times New Roman" panose="02020603050405020304" pitchFamily="18" charset="0"/>
                <a:cs typeface="Times New Roman" panose="02020603050405020304" pitchFamily="18" charset="0"/>
              </a:rPr>
              <a:t>me </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l</a:t>
            </a:r>
            <a:r>
              <a:rPr lang="en-US" altLang="en-US" sz="2000" b="1" strike="noStrike" spc="-1">
                <a:latin typeface="Times New Roman" panose="02020603050405020304" pitchFamily="18" charset="0"/>
                <a:cs typeface="Times New Roman" panose="02020603050405020304" pitchFamily="18" charset="0"/>
              </a:rPr>
              <a:t>é</a:t>
            </a:r>
            <a:r>
              <a:rPr lang="en-US" altLang="fr-FR" sz="2000" b="1" strike="noStrike" spc="-1">
                <a:latin typeface="Times New Roman" panose="02020603050405020304" pitchFamily="18" charset="0"/>
                <a:cs typeface="Times New Roman" panose="02020603050405020304" pitchFamily="18" charset="0"/>
              </a:rPr>
              <a:t>ment :</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Suivre la t</a:t>
            </a:r>
            <a:r>
              <a:rPr lang="en-US" altLang="en-US" sz="2000" b="1" strike="noStrike" spc="-1">
                <a:latin typeface="Times New Roman" panose="02020603050405020304" pitchFamily="18" charset="0"/>
                <a:cs typeface="Times New Roman" panose="02020603050405020304" pitchFamily="18" charset="0"/>
              </a:rPr>
              <a:t>ê</a:t>
            </a:r>
            <a:r>
              <a:rPr lang="en-US" altLang="fr-FR" sz="2000" b="1" strike="noStrike" spc="-1">
                <a:latin typeface="Times New Roman" panose="02020603050405020304" pitchFamily="18" charset="0"/>
                <a:cs typeface="Times New Roman" panose="02020603050405020304" pitchFamily="18" charset="0"/>
              </a:rPr>
              <a:t>te : </a:t>
            </a:r>
            <a:r>
              <a:rPr lang="en-US" altLang="en-US" sz="2000" b="1" strike="noStrike" spc="-1">
                <a:latin typeface="Times New Roman" panose="02020603050405020304" pitchFamily="18" charset="0"/>
                <a:cs typeface="Times New Roman" panose="02020603050405020304" pitchFamily="18" charset="0"/>
              </a:rPr>
              <a:t>→</a:t>
            </a:r>
            <a:r>
              <a:rPr lang="en-US" altLang="fr-FR" sz="2000" b="1" strike="noStrike" spc="-1">
                <a:latin typeface="Times New Roman" panose="02020603050405020304" pitchFamily="18" charset="0"/>
                <a:cs typeface="Times New Roman" panose="02020603050405020304" pitchFamily="18" charset="0"/>
              </a:rPr>
              <a:t> @1000</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Suivre le pointeur : </a:t>
            </a:r>
            <a:r>
              <a:rPr lang="en-US" altLang="en-US" sz="2000" b="1" strike="noStrike" spc="-1">
                <a:latin typeface="Times New Roman" panose="02020603050405020304" pitchFamily="18" charset="0"/>
                <a:cs typeface="Times New Roman" panose="02020603050405020304" pitchFamily="18" charset="0"/>
              </a:rPr>
              <a:t>→</a:t>
            </a:r>
            <a:r>
              <a:rPr lang="en-US" altLang="fr-FR" sz="2000" b="1" strike="noStrike" spc="-1">
                <a:latin typeface="Times New Roman" panose="02020603050405020304" pitchFamily="18" charset="0"/>
                <a:cs typeface="Times New Roman" panose="02020603050405020304" pitchFamily="18" charset="0"/>
              </a:rPr>
              <a:t> @1050</a:t>
            </a: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endParaRPr lang="en-US" alt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pPr>
            <a:r>
              <a:rPr lang="en-US" altLang="fr-FR" sz="2000" b="1" strike="noStrike" spc="-1">
                <a:latin typeface="Times New Roman" panose="02020603050405020304" pitchFamily="18" charset="0"/>
                <a:cs typeface="Times New Roman" panose="02020603050405020304" pitchFamily="18" charset="0"/>
              </a:rPr>
              <a:t>Suivre encore le pointeur : </a:t>
            </a:r>
            <a:r>
              <a:rPr lang="en-US" altLang="en-US" sz="2000" b="1" strike="noStrike" spc="-1">
                <a:latin typeface="Times New Roman" panose="02020603050405020304" pitchFamily="18" charset="0"/>
                <a:cs typeface="Times New Roman" panose="02020603050405020304" pitchFamily="18" charset="0"/>
              </a:rPr>
              <a:t>→</a:t>
            </a:r>
            <a:r>
              <a:rPr lang="en-US" altLang="fr-FR" sz="2000" b="1" strike="noStrike" spc="-1">
                <a:latin typeface="Times New Roman" panose="02020603050405020304" pitchFamily="18" charset="0"/>
                <a:cs typeface="Times New Roman" panose="02020603050405020304" pitchFamily="18" charset="0"/>
              </a:rPr>
              <a:t> @1080</a:t>
            </a:r>
            <a:endParaRPr lang="en-US" altLang="fr-FR" sz="20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8"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39" name="Picture 73"/>
          <p:cNvPicPr/>
          <p:nvPr/>
        </p:nvPicPr>
        <p:blipFill>
          <a:blip r:embed="rId1"/>
          <a:stretch>
            <a:fillRect/>
          </a:stretch>
        </p:blipFill>
        <p:spPr>
          <a:xfrm>
            <a:off x="0" y="0"/>
            <a:ext cx="12191400" cy="6857280"/>
          </a:xfrm>
          <a:prstGeom prst="rect">
            <a:avLst/>
          </a:prstGeom>
          <a:ln>
            <a:noFill/>
          </a:ln>
        </p:spPr>
      </p:pic>
      <p:sp>
        <p:nvSpPr>
          <p:cNvPr id="340"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chaînées(1)</a:t>
            </a:r>
            <a:endParaRPr lang="fr-FR" sz="4000" b="0" strike="noStrike" spc="-1">
              <a:latin typeface="Arial" panose="020B0604020202020204"/>
            </a:endParaRPr>
          </a:p>
        </p:txBody>
      </p:sp>
      <p:sp>
        <p:nvSpPr>
          <p:cNvPr id="341" name="CustomShape 3"/>
          <p:cNvSpPr/>
          <p:nvPr/>
        </p:nvSpPr>
        <p:spPr>
          <a:xfrm>
            <a:off x="677880" y="2566800"/>
            <a:ext cx="11035080" cy="3927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90000"/>
              </a:lnSpc>
              <a:spcBef>
                <a:spcPts val="1000"/>
              </a:spcBef>
            </a:pPr>
            <a:r>
              <a:rPr lang="fr-FR" sz="1800" b="0" strike="noStrike" spc="-1">
                <a:solidFill>
                  <a:srgbClr val="000000"/>
                </a:solidFill>
                <a:latin typeface="Times New Roman" panose="02020603050405020304"/>
              </a:rPr>
              <a:t>Il existe différents types de listes chaînées : </a:t>
            </a:r>
            <a:endParaRPr lang="fr-FR" sz="1800" b="0" strike="noStrike" spc="-1">
              <a:latin typeface="Arial" panose="020B0604020202020204"/>
            </a:endParaRPr>
          </a:p>
          <a:p>
            <a:pPr marL="228600" indent="-227965" algn="just">
              <a:lnSpc>
                <a:spcPct val="90000"/>
              </a:lnSpc>
              <a:spcBef>
                <a:spcPts val="1000"/>
              </a:spcBef>
              <a:buClr>
                <a:srgbClr val="000000"/>
              </a:buClr>
              <a:buFont typeface="Wingdings" panose="05000000000000000000" pitchFamily="2" charset="2"/>
              <a:buChar char=""/>
            </a:pPr>
            <a:r>
              <a:rPr lang="fr-FR" sz="1800" b="1" strike="noStrike" spc="-1">
                <a:solidFill>
                  <a:srgbClr val="000000"/>
                </a:solidFill>
                <a:latin typeface="Times New Roman" panose="02020603050405020304"/>
              </a:rPr>
              <a:t> Liste chaînée simple </a:t>
            </a:r>
            <a:r>
              <a:rPr lang="fr-FR" sz="1800" b="0" strike="noStrike" spc="-1">
                <a:solidFill>
                  <a:srgbClr val="000000"/>
                </a:solidFill>
                <a:latin typeface="Times New Roman" panose="02020603050405020304"/>
              </a:rPr>
              <a:t>constituée d'éléments reliés entre eux par des pointeurs. </a:t>
            </a:r>
            <a:endParaRPr lang="fr-FR" sz="1800" b="0" strike="noStrike" spc="-1">
              <a:latin typeface="Arial" panose="020B0604020202020204"/>
            </a:endParaRPr>
          </a:p>
          <a:p>
            <a:pPr marL="228600" indent="-227965" algn="just">
              <a:lnSpc>
                <a:spcPct val="90000"/>
              </a:lnSpc>
              <a:spcBef>
                <a:spcPts val="1000"/>
              </a:spcBef>
              <a:buClr>
                <a:srgbClr val="000000"/>
              </a:buClr>
              <a:buFont typeface="Wingdings" panose="05000000000000000000" pitchFamily="2" charset="2"/>
              <a:buChar char=""/>
            </a:pPr>
            <a:r>
              <a:rPr lang="fr-FR" sz="1800" b="1" strike="noStrike" spc="-1">
                <a:solidFill>
                  <a:srgbClr val="000000"/>
                </a:solidFill>
                <a:latin typeface="Times New Roman" panose="02020603050405020304"/>
              </a:rPr>
              <a:t>Liste chaînée ordonnée </a:t>
            </a:r>
            <a:r>
              <a:rPr lang="fr-FR" sz="1800" b="0" strike="noStrike" spc="-1">
                <a:solidFill>
                  <a:srgbClr val="000000"/>
                </a:solidFill>
                <a:latin typeface="Times New Roman" panose="02020603050405020304"/>
              </a:rPr>
              <a:t>où l'élément suivant est plus grand que le précédent. L'insertion et la  suppression d'élément se font de façon à ce que la liste reste triée. </a:t>
            </a:r>
            <a:endParaRPr lang="fr-FR" sz="1800" b="0" strike="noStrike" spc="-1">
              <a:latin typeface="Arial" panose="020B0604020202020204"/>
            </a:endParaRPr>
          </a:p>
          <a:p>
            <a:pPr marL="228600" indent="-227965" algn="just">
              <a:lnSpc>
                <a:spcPct val="90000"/>
              </a:lnSpc>
              <a:spcBef>
                <a:spcPts val="1000"/>
              </a:spcBef>
              <a:buClr>
                <a:srgbClr val="000000"/>
              </a:buClr>
              <a:buFont typeface="Wingdings" panose="05000000000000000000" pitchFamily="2" charset="2"/>
              <a:buChar char=""/>
            </a:pPr>
            <a:r>
              <a:rPr lang="fr-FR" sz="1800" b="0" strike="noStrike" spc="-1">
                <a:solidFill>
                  <a:srgbClr val="000000"/>
                </a:solidFill>
                <a:latin typeface="Times New Roman" panose="02020603050405020304"/>
              </a:rPr>
              <a:t> </a:t>
            </a:r>
            <a:r>
              <a:rPr lang="fr-FR" sz="1800" b="1" strike="noStrike" spc="-1">
                <a:solidFill>
                  <a:srgbClr val="000000"/>
                </a:solidFill>
                <a:latin typeface="Times New Roman" panose="02020603050405020304"/>
              </a:rPr>
              <a:t>Liste doublement chaînée </a:t>
            </a:r>
            <a:r>
              <a:rPr lang="fr-FR" sz="1800" b="0" strike="noStrike" spc="-1">
                <a:solidFill>
                  <a:srgbClr val="000000"/>
                </a:solidFill>
                <a:latin typeface="Times New Roman" panose="02020603050405020304"/>
              </a:rPr>
              <a:t>où chaque élément dispose non plus d'un mais de deux pointeurs pointant  respectivement  sur  l'élément  précédent  et  l'élément  suivant.  Ceci  permet  de  lire  la liste dans les deux sens, du premier vers le dernier élément ou inversement. </a:t>
            </a:r>
            <a:endParaRPr lang="fr-FR" sz="1800" b="0" strike="noStrike" spc="-1">
              <a:latin typeface="Arial" panose="020B0604020202020204"/>
            </a:endParaRPr>
          </a:p>
          <a:p>
            <a:pPr marL="228600" indent="-227965" algn="just">
              <a:lnSpc>
                <a:spcPct val="90000"/>
              </a:lnSpc>
              <a:spcBef>
                <a:spcPts val="1000"/>
              </a:spcBef>
              <a:buClr>
                <a:srgbClr val="000000"/>
              </a:buClr>
              <a:buFont typeface="Wingdings" panose="05000000000000000000" pitchFamily="2" charset="2"/>
              <a:buChar char=""/>
            </a:pPr>
            <a:r>
              <a:rPr lang="fr-FR" sz="1800" b="1" strike="noStrike" spc="-1">
                <a:solidFill>
                  <a:srgbClr val="000000"/>
                </a:solidFill>
                <a:latin typeface="Times New Roman" panose="02020603050405020304"/>
              </a:rPr>
              <a:t> Liste circulaire </a:t>
            </a:r>
            <a:r>
              <a:rPr lang="fr-FR" sz="1800" b="0" strike="noStrike" spc="-1">
                <a:solidFill>
                  <a:srgbClr val="000000"/>
                </a:solidFill>
                <a:latin typeface="Times New Roman" panose="02020603050405020304"/>
              </a:rPr>
              <a:t>où le dernier élément pointe sur le premier élément de la liste. S'il s'agit d'une liste doublement chaînée alors de premier élément pointe également sur le dernier. </a:t>
            </a:r>
            <a:endParaRPr lang="fr-FR" sz="1800" b="0" strike="noStrike" spc="-1">
              <a:latin typeface="Arial" panose="020B0604020202020204"/>
            </a:endParaRPr>
          </a:p>
          <a:p>
            <a:pPr algn="just">
              <a:lnSpc>
                <a:spcPct val="90000"/>
              </a:lnSpc>
              <a:spcBef>
                <a:spcPts val="1000"/>
              </a:spcBef>
            </a:pPr>
            <a:r>
              <a:rPr lang="fr-FR" sz="1800" b="0" strike="noStrike" spc="-1">
                <a:solidFill>
                  <a:srgbClr val="000000"/>
                </a:solidFill>
                <a:latin typeface="Times New Roman" panose="02020603050405020304"/>
              </a:rPr>
              <a:t>Ces différents types peuvent être mixés selon les besoins. On utilise une liste chaînée plutôt qu'un tableau lorsque l'on doit traiter des objets représentés par des suites sur lesquelles on doit effectuer de nombreuses suppressions et de nombreux ajouts. Les manipulations sont alors plus rapides qu'avec des tableaux. </a:t>
            </a:r>
            <a:endParaRPr lang="fr-FR" sz="1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43" name="Picture 73"/>
          <p:cNvPicPr/>
          <p:nvPr/>
        </p:nvPicPr>
        <p:blipFill>
          <a:blip r:embed="rId1"/>
          <a:stretch>
            <a:fillRect/>
          </a:stretch>
        </p:blipFill>
        <p:spPr>
          <a:xfrm>
            <a:off x="0" y="0"/>
            <a:ext cx="12191400" cy="6857280"/>
          </a:xfrm>
          <a:prstGeom prst="rect">
            <a:avLst/>
          </a:prstGeom>
          <a:ln>
            <a:noFill/>
          </a:ln>
        </p:spPr>
      </p:pic>
      <p:sp>
        <p:nvSpPr>
          <p:cNvPr id="344"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chaînées(2)</a:t>
            </a:r>
            <a:endParaRPr lang="fr-FR" sz="4000" b="0" strike="noStrike" spc="-1">
              <a:latin typeface="Arial" panose="020B0604020202020204"/>
            </a:endParaRPr>
          </a:p>
        </p:txBody>
      </p:sp>
      <p:sp>
        <p:nvSpPr>
          <p:cNvPr id="345" name="CustomShape 3"/>
          <p:cNvSpPr/>
          <p:nvPr/>
        </p:nvSpPr>
        <p:spPr>
          <a:xfrm>
            <a:off x="355680" y="2566800"/>
            <a:ext cx="10525680" cy="3927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90000"/>
              </a:lnSpc>
              <a:spcBef>
                <a:spcPts val="1000"/>
              </a:spcBef>
            </a:pPr>
            <a:r>
              <a:rPr lang="fr-FR" sz="2000" b="1" strike="noStrike" spc="-1">
                <a:solidFill>
                  <a:srgbClr val="000000"/>
                </a:solidFill>
                <a:latin typeface="Times New Roman" panose="02020603050405020304" pitchFamily="18" charset="0"/>
                <a:cs typeface="Times New Roman" panose="02020603050405020304" pitchFamily="18" charset="0"/>
              </a:rPr>
              <a:t>Définitions </a:t>
            </a:r>
            <a:endParaRPr lang="fr-FR" sz="2000" b="1"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fr-FR" sz="2000" b="1" strike="noStrike" spc="-1">
                <a:solidFill>
                  <a:srgbClr val="000000"/>
                </a:solidFill>
                <a:latin typeface="Times New Roman" panose="02020603050405020304" pitchFamily="18" charset="0"/>
                <a:cs typeface="Times New Roman" panose="02020603050405020304" pitchFamily="18" charset="0"/>
              </a:rPr>
              <a:t>Un élément d'une liste est l'ensemble (ou structure) formé : </a:t>
            </a:r>
            <a:endParaRPr 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buClr>
                <a:srgbClr val="000000"/>
              </a:buClr>
              <a:buFont typeface="Wingdings" panose="05000000000000000000" pitchFamily="2" charset="2"/>
              <a:buChar char=""/>
            </a:pPr>
            <a:r>
              <a:rPr lang="fr-FR" sz="2000" b="1" strike="noStrike" spc="-1">
                <a:solidFill>
                  <a:srgbClr val="000000"/>
                </a:solidFill>
                <a:latin typeface="Times New Roman" panose="02020603050405020304" pitchFamily="18" charset="0"/>
                <a:cs typeface="Times New Roman" panose="02020603050405020304" pitchFamily="18" charset="0"/>
              </a:rPr>
              <a:t> d'une donnée ou information, </a:t>
            </a:r>
            <a:endParaRPr 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buClr>
                <a:srgbClr val="000000"/>
              </a:buClr>
              <a:buFont typeface="Wingdings" panose="05000000000000000000" pitchFamily="2" charset="2"/>
              <a:buChar char=""/>
            </a:pPr>
            <a:r>
              <a:rPr lang="fr-FR" sz="2000" b="1" strike="noStrike" spc="-1">
                <a:solidFill>
                  <a:srgbClr val="000000"/>
                </a:solidFill>
                <a:latin typeface="Times New Roman" panose="02020603050405020304" pitchFamily="18" charset="0"/>
                <a:cs typeface="Times New Roman" panose="02020603050405020304" pitchFamily="18" charset="0"/>
              </a:rPr>
              <a:t>d'un pointeur nommé Suivant indiquant la position de l'élément le suivant dans la liste. A chaque élément est associée une adresse mémoire. </a:t>
            </a:r>
            <a:endParaRPr lang="fr-FR" sz="2000" b="1" strike="noStrike" spc="-1">
              <a:latin typeface="Times New Roman" panose="02020603050405020304" pitchFamily="18" charset="0"/>
              <a:cs typeface="Times New Roman" panose="02020603050405020304" pitchFamily="18" charset="0"/>
            </a:endParaRPr>
          </a:p>
          <a:p>
            <a:pPr>
              <a:lnSpc>
                <a:spcPct val="90000"/>
              </a:lnSpc>
              <a:spcBef>
                <a:spcPts val="1000"/>
              </a:spcBef>
            </a:pPr>
            <a:r>
              <a:rPr lang="fr-FR" sz="2000" b="1" strike="noStrike" spc="-1">
                <a:solidFill>
                  <a:srgbClr val="000000"/>
                </a:solidFill>
                <a:latin typeface="Times New Roman" panose="02020603050405020304" pitchFamily="18" charset="0"/>
                <a:cs typeface="Times New Roman" panose="02020603050405020304" pitchFamily="18" charset="0"/>
              </a:rPr>
              <a:t>Les listes chaînées font appel à la notion de variable dynamique. Une variable dynamique: </a:t>
            </a:r>
            <a:endParaRPr 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buClr>
                <a:srgbClr val="000000"/>
              </a:buClr>
              <a:buFont typeface="Wingdings" panose="05000000000000000000" pitchFamily="2" charset="2"/>
              <a:buChar char=""/>
            </a:pPr>
            <a:r>
              <a:rPr lang="fr-FR" sz="2000" b="1" strike="noStrike" spc="-1">
                <a:solidFill>
                  <a:srgbClr val="000000"/>
                </a:solidFill>
                <a:latin typeface="Times New Roman" panose="02020603050405020304" pitchFamily="18" charset="0"/>
                <a:cs typeface="Times New Roman" panose="02020603050405020304" pitchFamily="18" charset="0"/>
              </a:rPr>
              <a:t> est déclarée au début de l'exécution d'un programme, </a:t>
            </a:r>
            <a:endParaRPr 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buClr>
                <a:srgbClr val="000000"/>
              </a:buClr>
              <a:buFont typeface="Wingdings" panose="05000000000000000000" pitchFamily="2" charset="2"/>
              <a:buChar char=""/>
            </a:pPr>
            <a:r>
              <a:rPr lang="fr-FR" sz="2000" b="1" strike="noStrike" spc="-1">
                <a:solidFill>
                  <a:srgbClr val="000000"/>
                </a:solidFill>
                <a:latin typeface="Times New Roman" panose="02020603050405020304" pitchFamily="18" charset="0"/>
                <a:cs typeface="Times New Roman" panose="02020603050405020304" pitchFamily="18" charset="0"/>
              </a:rPr>
              <a:t>elle y est créée, c'est-à-dire qu'on lui alloue un espace à occuper à une adresse de la mémoire, </a:t>
            </a:r>
            <a:endParaRPr 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buClr>
                <a:srgbClr val="000000"/>
              </a:buClr>
              <a:buFont typeface="Wingdings" panose="05000000000000000000" pitchFamily="2" charset="2"/>
              <a:buChar char=""/>
            </a:pPr>
            <a:r>
              <a:rPr lang="fr-FR" sz="2000" b="1" strike="noStrike" spc="-1">
                <a:solidFill>
                  <a:srgbClr val="000000"/>
                </a:solidFill>
                <a:latin typeface="Times New Roman" panose="02020603050405020304" pitchFamily="18" charset="0"/>
                <a:cs typeface="Times New Roman" panose="02020603050405020304" pitchFamily="18" charset="0"/>
              </a:rPr>
              <a:t>elle peut y être détruite, c'est-à-dire que l'espace mémoire qu'elle occupait est libéré, </a:t>
            </a:r>
            <a:endParaRPr lang="fr-FR" sz="2000" b="1" strike="noStrike" spc="-1">
              <a:latin typeface="Times New Roman" panose="02020603050405020304" pitchFamily="18" charset="0"/>
              <a:cs typeface="Times New Roman" panose="02020603050405020304" pitchFamily="18" charset="0"/>
            </a:endParaRPr>
          </a:p>
          <a:p>
            <a:pPr marL="228600" indent="-227965">
              <a:lnSpc>
                <a:spcPct val="90000"/>
              </a:lnSpc>
              <a:spcBef>
                <a:spcPts val="1000"/>
              </a:spcBef>
              <a:buClr>
                <a:srgbClr val="000000"/>
              </a:buClr>
              <a:buFont typeface="Wingdings" panose="05000000000000000000" pitchFamily="2" charset="2"/>
              <a:buChar char=""/>
            </a:pPr>
            <a:r>
              <a:rPr lang="fr-FR" sz="2000" b="1" strike="noStrike" spc="-1">
                <a:solidFill>
                  <a:srgbClr val="000000"/>
                </a:solidFill>
                <a:latin typeface="Times New Roman" panose="02020603050405020304" pitchFamily="18" charset="0"/>
                <a:cs typeface="Times New Roman" panose="02020603050405020304" pitchFamily="18" charset="0"/>
              </a:rPr>
              <a:t> l'accès à la valeur se fait à l'aide d'un pointeur.</a:t>
            </a:r>
            <a:endParaRPr lang="fr-FR" sz="2000" b="1"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47" name="Picture 73"/>
          <p:cNvPicPr/>
          <p:nvPr/>
        </p:nvPicPr>
        <p:blipFill>
          <a:blip r:embed="rId1"/>
          <a:stretch>
            <a:fillRect/>
          </a:stretch>
        </p:blipFill>
        <p:spPr>
          <a:xfrm>
            <a:off x="0" y="0"/>
            <a:ext cx="12191400" cy="6857280"/>
          </a:xfrm>
          <a:prstGeom prst="rect">
            <a:avLst/>
          </a:prstGeom>
          <a:ln>
            <a:noFill/>
          </a:ln>
        </p:spPr>
      </p:pic>
      <p:sp>
        <p:nvSpPr>
          <p:cNvPr id="34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chaînées(2)</a:t>
            </a:r>
            <a:endParaRPr lang="fr-FR" sz="4000" b="0" strike="noStrike" spc="-1">
              <a:latin typeface="Arial" panose="020B0604020202020204"/>
            </a:endParaRPr>
          </a:p>
        </p:txBody>
      </p:sp>
      <p:sp>
        <p:nvSpPr>
          <p:cNvPr id="349" name="CustomShape 3"/>
          <p:cNvSpPr/>
          <p:nvPr/>
        </p:nvSpPr>
        <p:spPr>
          <a:xfrm>
            <a:off x="497520" y="2566800"/>
            <a:ext cx="10821600" cy="3927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90000"/>
              </a:lnSpc>
              <a:spcBef>
                <a:spcPts val="1000"/>
              </a:spcBef>
            </a:pPr>
            <a:r>
              <a:rPr lang="fr-FR" sz="1800" b="0" strike="noStrike" spc="-1">
                <a:solidFill>
                  <a:srgbClr val="000000"/>
                </a:solidFill>
                <a:latin typeface="Times New Roman" panose="02020603050405020304"/>
              </a:rPr>
              <a:t>Un pointeur est une variable dont la valeur est une adresse mémoire (voir chapitre 9). Un pointeur, noté P, pointe sur une variable dynamique notée P^.</a:t>
            </a:r>
            <a:endParaRPr lang="fr-FR" sz="1800" b="0" strike="noStrike" spc="-1">
              <a:latin typeface="Arial" panose="020B0604020202020204"/>
            </a:endParaRPr>
          </a:p>
          <a:p>
            <a:pPr>
              <a:lnSpc>
                <a:spcPct val="90000"/>
              </a:lnSpc>
              <a:spcBef>
                <a:spcPts val="1000"/>
              </a:spcBef>
            </a:pPr>
            <a:r>
              <a:rPr lang="fr-FR" sz="1800" b="0" strike="noStrike" spc="-1">
                <a:solidFill>
                  <a:srgbClr val="000000"/>
                </a:solidFill>
                <a:latin typeface="Times New Roman" panose="02020603050405020304"/>
              </a:rPr>
              <a:t>Le type de base est le type de la variable pointée. </a:t>
            </a:r>
            <a:endParaRPr lang="fr-FR" sz="1800" b="0" strike="noStrike" spc="-1">
              <a:latin typeface="Arial" panose="020B0604020202020204"/>
            </a:endParaRPr>
          </a:p>
          <a:p>
            <a:pPr>
              <a:lnSpc>
                <a:spcPct val="90000"/>
              </a:lnSpc>
              <a:spcBef>
                <a:spcPts val="1000"/>
              </a:spcBef>
            </a:pPr>
            <a:r>
              <a:rPr lang="fr-FR" sz="1800" b="0" strike="noStrike" spc="-1">
                <a:solidFill>
                  <a:srgbClr val="000000"/>
                </a:solidFill>
                <a:latin typeface="Times New Roman" panose="02020603050405020304"/>
              </a:rPr>
              <a:t>Le  type  du  pointeur est  l'ensemble  des  adresses  des  variables  pointées du  type  de  base.  Il  est représenté par le symbole ^suivi de l'identificateur du type de base. </a:t>
            </a:r>
            <a:endParaRPr lang="fr-FR" sz="1800" b="0" strike="noStrike" spc="-1">
              <a:latin typeface="Arial" panose="020B0604020202020204"/>
            </a:endParaRPr>
          </a:p>
          <a:p>
            <a:pPr>
              <a:lnSpc>
                <a:spcPct val="90000"/>
              </a:lnSpc>
              <a:spcBef>
                <a:spcPts val="1000"/>
              </a:spcBef>
            </a:pPr>
            <a:endParaRPr lang="fr-FR" sz="1800" b="0" strike="noStrike" spc="-1">
              <a:latin typeface="Arial" panose="020B0604020202020204"/>
            </a:endParaRPr>
          </a:p>
          <a:p>
            <a:pPr>
              <a:lnSpc>
                <a:spcPct val="90000"/>
              </a:lnSpc>
              <a:spcBef>
                <a:spcPts val="1000"/>
              </a:spcBef>
            </a:pPr>
            <a:endParaRPr lang="fr-FR" sz="1800" b="0" strike="noStrike" spc="-1">
              <a:latin typeface="Arial" panose="020B0604020202020204"/>
            </a:endParaRPr>
          </a:p>
          <a:p>
            <a:pPr>
              <a:lnSpc>
                <a:spcPct val="90000"/>
              </a:lnSpc>
              <a:spcBef>
                <a:spcPts val="1000"/>
              </a:spcBef>
            </a:pPr>
            <a:endParaRPr lang="fr-FR" sz="1800" b="0" strike="noStrike" spc="-1">
              <a:latin typeface="Arial" panose="020B0604020202020204"/>
            </a:endParaRPr>
          </a:p>
          <a:p>
            <a:pPr algn="just">
              <a:lnSpc>
                <a:spcPct val="90000"/>
              </a:lnSpc>
              <a:spcBef>
                <a:spcPts val="1000"/>
              </a:spcBef>
            </a:pPr>
            <a:r>
              <a:rPr lang="fr-FR" sz="1800" b="0" strike="noStrike" spc="-1">
                <a:solidFill>
                  <a:srgbClr val="000000"/>
                </a:solidFill>
                <a:latin typeface="Times New Roman" panose="02020603050405020304"/>
              </a:rPr>
              <a:t>La variable pointeur P pointe sur l'espace mémoire P^ d'adresse 3. Cette cellule mémoire contient la valeur "Essai" dans le champ Info et la valeur spéciale Nil dans le champ Suivant. Ce champ servira à indiquer quel est l’élément suivant lorsque la cellule fera partie d’une liste. La valeur Nil indique qu’il n’y a pas d'élément suivant. P^ est l'objet dont l'adresse est rangée dans P.</a:t>
            </a:r>
            <a:endParaRPr lang="fr-FR" sz="1800" b="0" strike="noStrike" spc="-1">
              <a:latin typeface="Arial" panose="020B0604020202020204"/>
            </a:endParaRPr>
          </a:p>
        </p:txBody>
      </p:sp>
      <p:pic>
        <p:nvPicPr>
          <p:cNvPr id="350" name="Image 1"/>
          <p:cNvPicPr/>
          <p:nvPr/>
        </p:nvPicPr>
        <p:blipFill>
          <a:blip r:embed="rId2"/>
          <a:stretch>
            <a:fillRect/>
          </a:stretch>
        </p:blipFill>
        <p:spPr>
          <a:xfrm>
            <a:off x="3185280" y="4086360"/>
            <a:ext cx="5000760" cy="1075680"/>
          </a:xfrm>
          <a:prstGeom prst="rect">
            <a:avLst/>
          </a:prstGeom>
          <a:ln>
            <a:noFill/>
          </a:ln>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1"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52" name="Picture 73"/>
          <p:cNvPicPr/>
          <p:nvPr/>
        </p:nvPicPr>
        <p:blipFill>
          <a:blip r:embed="rId1"/>
          <a:stretch>
            <a:fillRect/>
          </a:stretch>
        </p:blipFill>
        <p:spPr>
          <a:xfrm>
            <a:off x="0" y="0"/>
            <a:ext cx="12191400" cy="6857280"/>
          </a:xfrm>
          <a:prstGeom prst="rect">
            <a:avLst/>
          </a:prstGeom>
          <a:ln>
            <a:noFill/>
          </a:ln>
        </p:spPr>
      </p:pic>
      <p:sp>
        <p:nvSpPr>
          <p:cNvPr id="353"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chaînées(2)</a:t>
            </a:r>
            <a:endParaRPr lang="fr-FR" sz="4000" b="0" strike="noStrike" spc="-1">
              <a:latin typeface="Arial" panose="020B0604020202020204"/>
            </a:endParaRPr>
          </a:p>
        </p:txBody>
      </p:sp>
      <p:sp>
        <p:nvSpPr>
          <p:cNvPr id="354" name="CustomShape 3"/>
          <p:cNvSpPr/>
          <p:nvPr/>
        </p:nvSpPr>
        <p:spPr>
          <a:xfrm>
            <a:off x="792000" y="2333520"/>
            <a:ext cx="10917360" cy="4479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0" strike="noStrike" spc="-1">
                <a:solidFill>
                  <a:srgbClr val="20282D"/>
                </a:solidFill>
                <a:latin typeface="Times New Roman" panose="02020603050405020304"/>
                <a:ea typeface="DejaVu Sans"/>
              </a:rPr>
              <a:t>Les listes chaînées entraînent l'utilisation de procédures d'allocation et de libération dynamiques de la mémoire. Ces procédures sont les suivantes: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 </a:t>
            </a:r>
            <a:r>
              <a:rPr lang="fr-FR" sz="1800" b="1" strike="noStrike" spc="-1">
                <a:solidFill>
                  <a:srgbClr val="20282D"/>
                </a:solidFill>
                <a:latin typeface="Times New Roman" panose="02020603050405020304"/>
                <a:ea typeface="DejaVu Sans"/>
              </a:rPr>
              <a:t>Allouer(P): </a:t>
            </a:r>
            <a:r>
              <a:rPr lang="fr-FR" sz="1800" b="0" strike="noStrike" spc="-1">
                <a:solidFill>
                  <a:srgbClr val="20282D"/>
                </a:solidFill>
                <a:latin typeface="Times New Roman" panose="02020603050405020304"/>
                <a:ea typeface="DejaVu Sans"/>
              </a:rPr>
              <a:t>réserve un espace mémoire P^ et donne pour valeur à P l'adresse de cet espace mémoire. On alloue un espace mémoire pour un élément sur lequel pointe P.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1" strike="noStrike" spc="-1">
                <a:solidFill>
                  <a:srgbClr val="20282D"/>
                </a:solidFill>
                <a:latin typeface="Times New Roman" panose="02020603050405020304"/>
                <a:ea typeface="DejaVu Sans"/>
              </a:rPr>
              <a:t>Désallouer(P) :</a:t>
            </a:r>
            <a:r>
              <a:rPr lang="fr-FR" sz="1800" b="0" strike="noStrike" spc="-1">
                <a:solidFill>
                  <a:srgbClr val="20282D"/>
                </a:solidFill>
                <a:latin typeface="Times New Roman" panose="02020603050405020304"/>
                <a:ea typeface="DejaVu Sans"/>
              </a:rPr>
              <a:t>  libère  l'espace  mémoire  qui  était  occupé  par  l'élément  à  supprimer  P^  sur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lequel pointe P. Pour définir les variables utilisées dans l'exemple ci-dessus, il faut :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définir le type des éléments de liste :  Type Cellule=  Structure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Info : Chaîne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Suivant : Liste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fin Structure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définir le type du pointeur :   Type Liste = ^Cellule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déclarer une variable pointeur :  Var P : Liste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allouer  une  cellule  mémoire  qui  réserve  un  espace  en  mémoire  et  donne  à  P  la  valeur  de l'adresse de l'espace mémoire P^ : Allouer(P)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affecter des valeur à l'espace mémoire P^:  P^.Info     "Essai" ; P^.Suivant      Nil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Quand P = Nil alors P ne pointe sur rien.</a:t>
            </a:r>
            <a:endParaRPr lang="fr-FR" sz="1800" b="0" strike="noStrike" spc="-1">
              <a:latin typeface="Arial" panose="020B0604020202020204"/>
            </a:endParaRPr>
          </a:p>
        </p:txBody>
      </p:sp>
      <p:sp>
        <p:nvSpPr>
          <p:cNvPr id="355" name="CustomShape 4"/>
          <p:cNvSpPr/>
          <p:nvPr/>
        </p:nvSpPr>
        <p:spPr>
          <a:xfrm flipH="1">
            <a:off x="5812920" y="6386760"/>
            <a:ext cx="28260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356" name="CustomShape 5"/>
          <p:cNvSpPr/>
          <p:nvPr/>
        </p:nvSpPr>
        <p:spPr>
          <a:xfrm flipH="1">
            <a:off x="7957080" y="6386040"/>
            <a:ext cx="282600" cy="360"/>
          </a:xfrm>
          <a:custGeom>
            <a:avLst/>
            <a:gdLst/>
            <a:ahLst/>
            <a:cxnLst/>
            <a:rect l="l" t="t" r="r" b="b"/>
            <a:pathLst>
              <a:path w="21600" h="21600">
                <a:moveTo>
                  <a:pt x="0" y="0"/>
                </a:moveTo>
                <a:lnTo>
                  <a:pt x="21600" y="21600"/>
                </a:lnTo>
              </a:path>
            </a:pathLst>
          </a:custGeom>
          <a:noFill/>
          <a:ln>
            <a:solidFill>
              <a:schemeClr val="tx1"/>
            </a:solidFill>
            <a:round/>
            <a:tailEnd type="triangle" w="med" len="med"/>
          </a:ln>
        </p:spPr>
        <p:style>
          <a:lnRef idx="1">
            <a:schemeClr val="accent1"/>
          </a:lnRef>
          <a:fillRef idx="0">
            <a:schemeClr val="accent1"/>
          </a:fillRef>
          <a:effectRef idx="0">
            <a:schemeClr val="accent1"/>
          </a:effectRef>
          <a:fontRef idx="minor"/>
        </p:style>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7"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58" name="Picture 73"/>
          <p:cNvPicPr/>
          <p:nvPr/>
        </p:nvPicPr>
        <p:blipFill>
          <a:blip r:embed="rId1"/>
          <a:stretch>
            <a:fillRect/>
          </a:stretch>
        </p:blipFill>
        <p:spPr>
          <a:xfrm>
            <a:off x="0" y="0"/>
            <a:ext cx="12191400" cy="6857280"/>
          </a:xfrm>
          <a:prstGeom prst="rect">
            <a:avLst/>
          </a:prstGeom>
          <a:ln>
            <a:noFill/>
          </a:ln>
        </p:spPr>
      </p:pic>
      <p:sp>
        <p:nvSpPr>
          <p:cNvPr id="359"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60" name="CustomShape 3"/>
          <p:cNvSpPr/>
          <p:nvPr/>
        </p:nvSpPr>
        <p:spPr>
          <a:xfrm>
            <a:off x="636840" y="2754000"/>
            <a:ext cx="10917360" cy="3381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Une liste chaînée simple est composée : </a:t>
            </a:r>
            <a:endParaRPr lang="fr-FR" sz="2000" b="0" strike="noStrike" spc="-1">
              <a:latin typeface="Times New Roman" panose="02020603050405020304" pitchFamily="18" charset="0"/>
              <a:cs typeface="Times New Roman" panose="02020603050405020304" pitchFamily="18" charset="0"/>
            </a:endParaRPr>
          </a:p>
          <a:p>
            <a:pPr marL="285750" indent="-285115">
              <a:lnSpc>
                <a:spcPct val="100000"/>
              </a:lnSpc>
              <a:buClr>
                <a:srgbClr val="20282D"/>
              </a:buClr>
              <a:buFont typeface="Wingdings" panose="05000000000000000000" pitchFamily="2" charset="2"/>
              <a:buChar char=""/>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d'un ensemble d'éléments tel que chacun : </a:t>
            </a:r>
            <a:endParaRPr lang="fr-FR" sz="2000" b="0" strike="noStrike" spc="-1">
              <a:latin typeface="Times New Roman" panose="02020603050405020304" pitchFamily="18" charset="0"/>
              <a:cs typeface="Times New Roman" panose="02020603050405020304" pitchFamily="18" charset="0"/>
            </a:endParaRPr>
          </a:p>
          <a:p>
            <a:pPr marL="457200">
              <a:lnSpc>
                <a:spcPct val="100000"/>
              </a:lnSpc>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o  est rangé en mémoire à une certaine adresse, </a:t>
            </a:r>
            <a:endParaRPr lang="fr-FR" sz="2000" b="0" strike="noStrike" spc="-1">
              <a:latin typeface="Times New Roman" panose="02020603050405020304" pitchFamily="18" charset="0"/>
              <a:cs typeface="Times New Roman" panose="02020603050405020304" pitchFamily="18" charset="0"/>
            </a:endParaRPr>
          </a:p>
          <a:p>
            <a:pPr marL="457200">
              <a:lnSpc>
                <a:spcPct val="100000"/>
              </a:lnSpc>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o  contient une donnée (Info), </a:t>
            </a:r>
            <a:endParaRPr lang="fr-FR" sz="2000" b="0" strike="noStrike" spc="-1">
              <a:latin typeface="Times New Roman" panose="02020603050405020304" pitchFamily="18" charset="0"/>
              <a:cs typeface="Times New Roman" panose="02020603050405020304" pitchFamily="18" charset="0"/>
            </a:endParaRPr>
          </a:p>
          <a:p>
            <a:pPr marL="457200">
              <a:lnSpc>
                <a:spcPct val="100000"/>
              </a:lnSpc>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o  contient un pointeur, souvent nommé  Suivant, qui contient l'adresse de l'élément suivant dans la liste, </a:t>
            </a:r>
            <a:endParaRPr lang="fr-FR" sz="2000" b="0" strike="noStrike" spc="-1">
              <a:latin typeface="Times New Roman" panose="02020603050405020304" pitchFamily="18" charset="0"/>
              <a:cs typeface="Times New Roman" panose="02020603050405020304" pitchFamily="18" charset="0"/>
            </a:endParaRPr>
          </a:p>
          <a:p>
            <a:pPr marL="285750" indent="-285115">
              <a:lnSpc>
                <a:spcPct val="100000"/>
              </a:lnSpc>
              <a:buClr>
                <a:srgbClr val="20282D"/>
              </a:buClr>
              <a:buFont typeface="Wingdings" panose="05000000000000000000" pitchFamily="2" charset="2"/>
              <a:buChar char=""/>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d'une variable, appelée Tête, contenant l'adresse du premier élément de la liste chaînée. </a:t>
            </a:r>
            <a:endParaRPr lang="fr-FR" sz="2000" b="0" strike="noStrike" spc="-1">
              <a:latin typeface="Times New Roman" panose="02020603050405020304" pitchFamily="18" charset="0"/>
              <a:cs typeface="Times New Roman" panose="02020603050405020304" pitchFamily="18" charset="0"/>
            </a:endParaRPr>
          </a:p>
          <a:p>
            <a:pPr>
              <a:lnSpc>
                <a:spcPct val="100000"/>
              </a:lnSpc>
            </a:pPr>
            <a:endParaRPr lang="fr-FR" sz="2000" b="0" strike="noStrike" spc="-1">
              <a:latin typeface="Times New Roman" panose="02020603050405020304" pitchFamily="18" charset="0"/>
              <a:cs typeface="Times New Roman" panose="02020603050405020304" pitchFamily="18" charset="0"/>
            </a:endParaRPr>
          </a:p>
          <a:p>
            <a:pPr>
              <a:lnSpc>
                <a:spcPct val="100000"/>
              </a:lnSpc>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Le pointeur du dernier élément contient la valeur  Nil. Dans le cas d'une liste vide le pointeur de la </a:t>
            </a:r>
            <a:endParaRPr lang="fr-FR" sz="2000" b="0" strike="noStrike" spc="-1">
              <a:latin typeface="Times New Roman" panose="02020603050405020304" pitchFamily="18" charset="0"/>
              <a:cs typeface="Times New Roman" panose="02020603050405020304" pitchFamily="18" charset="0"/>
            </a:endParaRPr>
          </a:p>
          <a:p>
            <a:pPr>
              <a:lnSpc>
                <a:spcPct val="100000"/>
              </a:lnSpc>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tête contient la valeur Nil. Une liste est définie par l'adresse de son premier élément. </a:t>
            </a:r>
            <a:endParaRPr lang="fr-FR" sz="2000" b="0" strike="noStrike" spc="-1">
              <a:latin typeface="Times New Roman" panose="02020603050405020304" pitchFamily="18" charset="0"/>
              <a:cs typeface="Times New Roman" panose="02020603050405020304" pitchFamily="18" charset="0"/>
            </a:endParaRPr>
          </a:p>
          <a:p>
            <a:pPr>
              <a:lnSpc>
                <a:spcPct val="100000"/>
              </a:lnSpc>
            </a:pPr>
            <a:endParaRPr lang="fr-FR" sz="2000" b="0" strike="noStrike" spc="-1">
              <a:latin typeface="Times New Roman" panose="02020603050405020304" pitchFamily="18" charset="0"/>
              <a:cs typeface="Times New Roman" panose="02020603050405020304" pitchFamily="18" charset="0"/>
            </a:endParaRPr>
          </a:p>
          <a:p>
            <a:pPr>
              <a:lnSpc>
                <a:spcPct val="100000"/>
              </a:lnSpc>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Avant  d'écrire  des  algorithmes  manipulant  une  liste chaînée,  il  est  utile  de  montrer  un  schéma </a:t>
            </a:r>
            <a:endParaRPr lang="fr-FR" sz="2000" b="0" strike="noStrike" spc="-1">
              <a:latin typeface="Times New Roman" panose="02020603050405020304" pitchFamily="18" charset="0"/>
              <a:cs typeface="Times New Roman" panose="02020603050405020304" pitchFamily="18" charset="0"/>
            </a:endParaRPr>
          </a:p>
          <a:p>
            <a:pPr>
              <a:lnSpc>
                <a:spcPct val="100000"/>
              </a:lnSpc>
            </a:pPr>
            <a:r>
              <a:rPr lang="fr-FR" sz="2000" b="0" strike="noStrike" spc="-1">
                <a:solidFill>
                  <a:srgbClr val="20282D"/>
                </a:solidFill>
                <a:latin typeface="Times New Roman" panose="02020603050405020304" pitchFamily="18" charset="0"/>
                <a:ea typeface="DejaVu Sans"/>
                <a:cs typeface="Times New Roman" panose="02020603050405020304" pitchFamily="18" charset="0"/>
              </a:rPr>
              <a:t>représentant graphiquement l'organisation des éléments de la liste chaînée.</a:t>
            </a:r>
            <a:r>
              <a:rPr lang="fr-FR" sz="1800" b="0" strike="noStrike" spc="-1">
                <a:solidFill>
                  <a:srgbClr val="20282D"/>
                </a:solidFill>
                <a:latin typeface="Times New Roman" panose="02020603050405020304"/>
                <a:ea typeface="DejaVu Sans"/>
              </a:rPr>
              <a:t> </a:t>
            </a:r>
            <a:endParaRPr lang="fr-FR" sz="1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1"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62" name="Picture 73"/>
          <p:cNvPicPr/>
          <p:nvPr/>
        </p:nvPicPr>
        <p:blipFill>
          <a:blip r:embed="rId1"/>
          <a:stretch>
            <a:fillRect/>
          </a:stretch>
        </p:blipFill>
        <p:spPr>
          <a:xfrm>
            <a:off x="0" y="0"/>
            <a:ext cx="12191400" cy="6857280"/>
          </a:xfrm>
          <a:prstGeom prst="rect">
            <a:avLst/>
          </a:prstGeom>
          <a:ln>
            <a:noFill/>
          </a:ln>
        </p:spPr>
      </p:pic>
      <p:sp>
        <p:nvSpPr>
          <p:cNvPr id="363"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64" name="CustomShape 3"/>
          <p:cNvSpPr/>
          <p:nvPr/>
        </p:nvSpPr>
        <p:spPr>
          <a:xfrm>
            <a:off x="510480" y="2419200"/>
            <a:ext cx="10917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0" strike="noStrike" spc="-1">
                <a:solidFill>
                  <a:srgbClr val="20282D"/>
                </a:solidFill>
                <a:latin typeface="Times New Roman" panose="02020603050405020304"/>
                <a:ea typeface="DejaVu Sans"/>
              </a:rPr>
              <a:t>Exemple:</a:t>
            </a:r>
            <a:endParaRPr lang="fr-FR" sz="1800" b="0" strike="noStrike" spc="-1">
              <a:latin typeface="Arial" panose="020B0604020202020204"/>
            </a:endParaRPr>
          </a:p>
        </p:txBody>
      </p:sp>
      <p:pic>
        <p:nvPicPr>
          <p:cNvPr id="365" name="Image 1"/>
          <p:cNvPicPr/>
          <p:nvPr/>
        </p:nvPicPr>
        <p:blipFill>
          <a:blip r:embed="rId2"/>
          <a:stretch>
            <a:fillRect/>
          </a:stretch>
        </p:blipFill>
        <p:spPr>
          <a:xfrm>
            <a:off x="1811520" y="2603880"/>
            <a:ext cx="8315640" cy="4047840"/>
          </a:xfrm>
          <a:prstGeom prst="rect">
            <a:avLst/>
          </a:prstGeom>
          <a:ln>
            <a:noFill/>
          </a:ln>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67" name="Picture 73"/>
          <p:cNvPicPr/>
          <p:nvPr/>
        </p:nvPicPr>
        <p:blipFill>
          <a:blip r:embed="rId1"/>
          <a:stretch>
            <a:fillRect/>
          </a:stretch>
        </p:blipFill>
        <p:spPr>
          <a:xfrm>
            <a:off x="0" y="0"/>
            <a:ext cx="12191400" cy="6857280"/>
          </a:xfrm>
          <a:prstGeom prst="rect">
            <a:avLst/>
          </a:prstGeom>
          <a:ln>
            <a:noFill/>
          </a:ln>
        </p:spPr>
      </p:pic>
      <p:sp>
        <p:nvSpPr>
          <p:cNvPr id="36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69" name="CustomShape 3"/>
          <p:cNvSpPr/>
          <p:nvPr/>
        </p:nvSpPr>
        <p:spPr>
          <a:xfrm>
            <a:off x="495000" y="2611800"/>
            <a:ext cx="10917360" cy="3381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0" strike="noStrike" spc="-1">
                <a:solidFill>
                  <a:srgbClr val="20282D"/>
                </a:solidFill>
                <a:latin typeface="Times New Roman" panose="02020603050405020304"/>
                <a:ea typeface="DejaVu Sans"/>
              </a:rPr>
              <a:t>Traitements de base d'utilisation d'une liste chaînée simple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Il faut commencer par définir un type de variable pour chaque élément  de la chaîne. En langage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algorithmique ceci se fait comme suit : </a:t>
            </a: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p:txBody>
      </p:sp>
      <p:pic>
        <p:nvPicPr>
          <p:cNvPr id="370" name="Image 1"/>
          <p:cNvPicPr/>
          <p:nvPr/>
        </p:nvPicPr>
        <p:blipFill>
          <a:blip r:embed="rId2"/>
          <a:stretch>
            <a:fillRect/>
          </a:stretch>
        </p:blipFill>
        <p:spPr>
          <a:xfrm>
            <a:off x="1828080" y="3700800"/>
            <a:ext cx="8534880" cy="2209320"/>
          </a:xfrm>
          <a:prstGeom prst="rect">
            <a:avLst/>
          </a:prstGeom>
          <a:ln>
            <a:noFill/>
          </a:ln>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67" name="Picture 73"/>
          <p:cNvPicPr/>
          <p:nvPr/>
        </p:nvPicPr>
        <p:blipFill>
          <a:blip r:embed="rId1"/>
          <a:stretch>
            <a:fillRect/>
          </a:stretch>
        </p:blipFill>
        <p:spPr>
          <a:xfrm>
            <a:off x="0" y="0"/>
            <a:ext cx="12191400" cy="6857280"/>
          </a:xfrm>
          <a:prstGeom prst="rect">
            <a:avLst/>
          </a:prstGeom>
          <a:ln>
            <a:noFill/>
          </a:ln>
        </p:spPr>
      </p:pic>
      <p:sp>
        <p:nvSpPr>
          <p:cNvPr id="36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69" name="CustomShape 3"/>
          <p:cNvSpPr/>
          <p:nvPr/>
        </p:nvSpPr>
        <p:spPr>
          <a:xfrm>
            <a:off x="495300" y="2611755"/>
            <a:ext cx="10917555" cy="429831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D</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finition de la structure d'un </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ment de la liste</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typedef struct Element {</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char info[50]; </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 Champ info : ici une cha</a:t>
            </a:r>
            <a:r>
              <a:rPr lang="en-US" altLang="en-US" sz="2800" b="0" strike="noStrike" spc="-1">
                <a:latin typeface="Times New Roman" panose="02020603050405020304" pitchFamily="18" charset="0"/>
                <a:cs typeface="Times New Roman" panose="02020603050405020304" pitchFamily="18" charset="0"/>
              </a:rPr>
              <a:t>î</a:t>
            </a:r>
            <a:r>
              <a:rPr lang="en-US" altLang="fr-FR" sz="2800" b="0" strike="noStrike" spc="-1">
                <a:latin typeface="Times New Roman" panose="02020603050405020304" pitchFamily="18" charset="0"/>
                <a:cs typeface="Times New Roman" panose="02020603050405020304" pitchFamily="18" charset="0"/>
              </a:rPr>
              <a:t>ne de caract</a:t>
            </a:r>
            <a:r>
              <a:rPr lang="en-US" altLang="en-US" sz="2800" b="0" strike="noStrike" spc="-1">
                <a:latin typeface="Times New Roman" panose="02020603050405020304" pitchFamily="18" charset="0"/>
                <a:cs typeface="Times New Roman" panose="02020603050405020304" pitchFamily="18" charset="0"/>
              </a:rPr>
              <a:t>è</a:t>
            </a:r>
            <a:r>
              <a:rPr lang="en-US" altLang="fr-FR" sz="2800" b="0" strike="noStrike" spc="-1">
                <a:latin typeface="Times New Roman" panose="02020603050405020304" pitchFamily="18" charset="0"/>
                <a:cs typeface="Times New Roman" panose="02020603050405020304" pitchFamily="18" charset="0"/>
              </a:rPr>
              <a:t>res (peut </a:t>
            </a:r>
            <a:r>
              <a:rPr lang="en-US" altLang="en-US" sz="2800" b="0" strike="noStrike" spc="-1">
                <a:latin typeface="Times New Roman" panose="02020603050405020304" pitchFamily="18" charset="0"/>
                <a:cs typeface="Times New Roman" panose="02020603050405020304" pitchFamily="18" charset="0"/>
              </a:rPr>
              <a:t>ê</a:t>
            </a:r>
            <a:r>
              <a:rPr lang="en-US" altLang="fr-FR" sz="2800" b="0" strike="noStrike" spc="-1">
                <a:latin typeface="Times New Roman" panose="02020603050405020304" pitchFamily="18" charset="0"/>
                <a:cs typeface="Times New Roman" panose="02020603050405020304" pitchFamily="18" charset="0"/>
              </a:rPr>
              <a:t>tre un entier, etc.)</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struct Element* suivant;     </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Pointeur vers 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ment suivant de la liste (cha</a:t>
            </a:r>
            <a:r>
              <a:rPr lang="en-US" altLang="en-US" sz="2800" b="0" strike="noStrike" spc="-1">
                <a:latin typeface="Times New Roman" panose="02020603050405020304" pitchFamily="18" charset="0"/>
                <a:cs typeface="Times New Roman" panose="02020603050405020304" pitchFamily="18" charset="0"/>
              </a:rPr>
              <a:t>î</a:t>
            </a:r>
            <a:r>
              <a:rPr lang="en-US" altLang="fr-FR" sz="2800" b="0" strike="noStrike" spc="-1">
                <a:latin typeface="Times New Roman" panose="02020603050405020304" pitchFamily="18" charset="0"/>
                <a:cs typeface="Times New Roman" panose="02020603050405020304" pitchFamily="18" charset="0"/>
              </a:rPr>
              <a:t>nage)</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Element;</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D</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finition du type Liste comme un pointeur vers Element</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typedef Element* Liste;</a:t>
            </a:r>
            <a:endParaRPr lang="en-US" altLang="fr-FR" sz="2800" b="0" strike="noStrike" spc="-1">
              <a:latin typeface="Times New Roman" panose="02020603050405020304" pitchFamily="18" charset="0"/>
              <a:cs typeface="Times New Roman" panose="02020603050405020304" pitchFamily="18" charset="0"/>
            </a:endParaRPr>
          </a:p>
          <a:p>
            <a:pPr>
              <a:lnSpc>
                <a:spcPct val="100000"/>
              </a:lnSpc>
            </a:pPr>
            <a:endParaRPr lang="en-US" alt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67" name="Picture 73"/>
          <p:cNvPicPr/>
          <p:nvPr/>
        </p:nvPicPr>
        <p:blipFill>
          <a:blip r:embed="rId1"/>
          <a:stretch>
            <a:fillRect/>
          </a:stretch>
        </p:blipFill>
        <p:spPr>
          <a:xfrm>
            <a:off x="0" y="0"/>
            <a:ext cx="12191400" cy="6857280"/>
          </a:xfrm>
          <a:prstGeom prst="rect">
            <a:avLst/>
          </a:prstGeom>
          <a:ln>
            <a:noFill/>
          </a:ln>
        </p:spPr>
      </p:pic>
      <p:sp>
        <p:nvSpPr>
          <p:cNvPr id="36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69" name="CustomShape 3"/>
          <p:cNvSpPr/>
          <p:nvPr/>
        </p:nvSpPr>
        <p:spPr>
          <a:xfrm>
            <a:off x="495300" y="2611755"/>
            <a:ext cx="10917555" cy="429831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n-US" altLang="fr-FR" b="0" strike="noStrike" spc="-1">
                <a:latin typeface="Times New Roman" panose="02020603050405020304" pitchFamily="18" charset="0"/>
                <a:cs typeface="Times New Roman" panose="02020603050405020304" pitchFamily="18" charset="0"/>
              </a:rPr>
              <a:t>// Cr</a:t>
            </a:r>
            <a:r>
              <a:rPr lang="en-US" altLang="en-US" b="0" strike="noStrike" spc="-1">
                <a:latin typeface="Times New Roman" panose="02020603050405020304" pitchFamily="18" charset="0"/>
                <a:cs typeface="Times New Roman" panose="02020603050405020304" pitchFamily="18" charset="0"/>
              </a:rPr>
              <a:t>é</a:t>
            </a:r>
            <a:r>
              <a:rPr lang="en-US" altLang="fr-FR" b="0" strike="noStrike" spc="-1">
                <a:latin typeface="Times New Roman" panose="02020603050405020304" pitchFamily="18" charset="0"/>
                <a:cs typeface="Times New Roman" panose="02020603050405020304" pitchFamily="18" charset="0"/>
              </a:rPr>
              <a:t>e un nouveau n</a:t>
            </a:r>
            <a:r>
              <a:rPr lang="en-US" altLang="en-US" b="0" strike="noStrike" spc="-1">
                <a:latin typeface="Times New Roman" panose="02020603050405020304" pitchFamily="18" charset="0"/>
                <a:cs typeface="Times New Roman" panose="02020603050405020304" pitchFamily="18" charset="0"/>
              </a:rPr>
              <a:t>œ</a:t>
            </a:r>
            <a:r>
              <a:rPr lang="en-US" altLang="fr-FR" b="0" strike="noStrike" spc="-1">
                <a:latin typeface="Times New Roman" panose="02020603050405020304" pitchFamily="18" charset="0"/>
                <a:cs typeface="Times New Roman" panose="02020603050405020304" pitchFamily="18" charset="0"/>
              </a:rPr>
              <a:t>ud avec une valeur donn</a:t>
            </a:r>
            <a:r>
              <a:rPr lang="en-US" altLang="en-US" b="0" strike="noStrike" spc="-1">
                <a:latin typeface="Times New Roman" panose="02020603050405020304" pitchFamily="18" charset="0"/>
                <a:cs typeface="Times New Roman" panose="02020603050405020304" pitchFamily="18" charset="0"/>
              </a:rPr>
              <a:t>é</a:t>
            </a:r>
            <a:r>
              <a:rPr lang="en-US" altLang="fr-FR" b="0" strike="noStrike" spc="-1">
                <a:latin typeface="Times New Roman" panose="02020603050405020304" pitchFamily="18" charset="0"/>
                <a:cs typeface="Times New Roman" panose="02020603050405020304" pitchFamily="18" charset="0"/>
              </a:rPr>
              <a:t>e</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Liste creerNoeud(const char* valeur) {</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 Allocation dynamique de m</a:t>
            </a:r>
            <a:r>
              <a:rPr lang="en-US" altLang="en-US" b="0" strike="noStrike" spc="-1">
                <a:latin typeface="Times New Roman" panose="02020603050405020304" pitchFamily="18" charset="0"/>
                <a:cs typeface="Times New Roman" panose="02020603050405020304" pitchFamily="18" charset="0"/>
              </a:rPr>
              <a:t>é</a:t>
            </a:r>
            <a:r>
              <a:rPr lang="en-US" altLang="fr-FR" b="0" strike="noStrike" spc="-1">
                <a:latin typeface="Times New Roman" panose="02020603050405020304" pitchFamily="18" charset="0"/>
                <a:cs typeface="Times New Roman" panose="02020603050405020304" pitchFamily="18" charset="0"/>
              </a:rPr>
              <a:t>moire pour un nouveau n</a:t>
            </a:r>
            <a:r>
              <a:rPr lang="en-US" altLang="en-US" b="0" strike="noStrike" spc="-1">
                <a:latin typeface="Times New Roman" panose="02020603050405020304" pitchFamily="18" charset="0"/>
                <a:cs typeface="Times New Roman" panose="02020603050405020304" pitchFamily="18" charset="0"/>
              </a:rPr>
              <a:t>œ</a:t>
            </a:r>
            <a:r>
              <a:rPr lang="en-US" altLang="fr-FR" b="0" strike="noStrike" spc="-1">
                <a:latin typeface="Times New Roman" panose="02020603050405020304" pitchFamily="18" charset="0"/>
                <a:cs typeface="Times New Roman" panose="02020603050405020304" pitchFamily="18" charset="0"/>
              </a:rPr>
              <a:t>ud</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Liste nouveau = (Liste)malloc(sizeof(Element));</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 V</a:t>
            </a:r>
            <a:r>
              <a:rPr lang="en-US" altLang="en-US" b="0" strike="noStrike" spc="-1">
                <a:latin typeface="Times New Roman" panose="02020603050405020304" pitchFamily="18" charset="0"/>
                <a:cs typeface="Times New Roman" panose="02020603050405020304" pitchFamily="18" charset="0"/>
              </a:rPr>
              <a:t>é</a:t>
            </a:r>
            <a:r>
              <a:rPr lang="en-US" altLang="fr-FR" b="0" strike="noStrike" spc="-1">
                <a:latin typeface="Times New Roman" panose="02020603050405020304" pitchFamily="18" charset="0"/>
                <a:cs typeface="Times New Roman" panose="02020603050405020304" pitchFamily="18" charset="0"/>
              </a:rPr>
              <a:t>rification si l’allocation a </a:t>
            </a:r>
            <a:r>
              <a:rPr lang="en-US" altLang="en-US" b="0" strike="noStrike" spc="-1">
                <a:latin typeface="Times New Roman" panose="02020603050405020304" pitchFamily="18" charset="0"/>
                <a:cs typeface="Times New Roman" panose="02020603050405020304" pitchFamily="18" charset="0"/>
              </a:rPr>
              <a:t>é</a:t>
            </a:r>
            <a:r>
              <a:rPr lang="en-US" altLang="fr-FR" b="0" strike="noStrike" spc="-1">
                <a:latin typeface="Times New Roman" panose="02020603050405020304" pitchFamily="18" charset="0"/>
                <a:cs typeface="Times New Roman" panose="02020603050405020304" pitchFamily="18" charset="0"/>
              </a:rPr>
              <a:t>chou</a:t>
            </a:r>
            <a:r>
              <a:rPr lang="en-US" altLang="en-US" b="0" strike="noStrike" spc="-1">
                <a:latin typeface="Times New Roman" panose="02020603050405020304" pitchFamily="18" charset="0"/>
                <a:cs typeface="Times New Roman" panose="02020603050405020304" pitchFamily="18" charset="0"/>
              </a:rPr>
              <a:t>é</a:t>
            </a:r>
            <a:endParaRPr lang="en-US" altLang="en-US"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if (nouveau == NULL) {</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printf("Erreur d'allocation m</a:t>
            </a:r>
            <a:r>
              <a:rPr lang="en-US" altLang="en-US" b="0" strike="noStrike" spc="-1">
                <a:latin typeface="Times New Roman" panose="02020603050405020304" pitchFamily="18" charset="0"/>
                <a:cs typeface="Times New Roman" panose="02020603050405020304" pitchFamily="18" charset="0"/>
              </a:rPr>
              <a:t>é</a:t>
            </a:r>
            <a:r>
              <a:rPr lang="en-US" altLang="fr-FR" b="0" strike="noStrike" spc="-1">
                <a:latin typeface="Times New Roman" panose="02020603050405020304" pitchFamily="18" charset="0"/>
                <a:cs typeface="Times New Roman" panose="02020603050405020304" pitchFamily="18" charset="0"/>
              </a:rPr>
              <a:t>moire\n");</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exit(1); // Arr</a:t>
            </a:r>
            <a:r>
              <a:rPr lang="en-US" altLang="en-US" b="0" strike="noStrike" spc="-1">
                <a:latin typeface="Times New Roman" panose="02020603050405020304" pitchFamily="18" charset="0"/>
                <a:cs typeface="Times New Roman" panose="02020603050405020304" pitchFamily="18" charset="0"/>
              </a:rPr>
              <a:t>ê</a:t>
            </a:r>
            <a:r>
              <a:rPr lang="en-US" altLang="fr-FR" b="0" strike="noStrike" spc="-1">
                <a:latin typeface="Times New Roman" panose="02020603050405020304" pitchFamily="18" charset="0"/>
                <a:cs typeface="Times New Roman" panose="02020603050405020304" pitchFamily="18" charset="0"/>
              </a:rPr>
              <a:t>t du programme</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 Copie de la valeur dans le champ info</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strcpy(nouveau-&gt;info, valeur);</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 Le pointeur suivant est initialis</a:t>
            </a:r>
            <a:r>
              <a:rPr lang="en-US" altLang="en-US" b="0" strike="noStrike" spc="-1">
                <a:latin typeface="Times New Roman" panose="02020603050405020304" pitchFamily="18" charset="0"/>
                <a:cs typeface="Times New Roman" panose="02020603050405020304" pitchFamily="18" charset="0"/>
              </a:rPr>
              <a:t>é</a:t>
            </a:r>
            <a:r>
              <a:rPr lang="en-US" altLang="fr-FR" b="0" strike="noStrike" spc="-1">
                <a:latin typeface="Times New Roman" panose="02020603050405020304" pitchFamily="18" charset="0"/>
                <a:cs typeface="Times New Roman" panose="02020603050405020304" pitchFamily="18" charset="0"/>
              </a:rPr>
              <a:t> à NULL</a:t>
            </a:r>
            <a:r>
              <a:rPr lang="fr-FR" altLang="en-US" b="0" strike="noStrike" spc="-1">
                <a:latin typeface="Times New Roman" panose="02020603050405020304" pitchFamily="18" charset="0"/>
                <a:cs typeface="Times New Roman" panose="02020603050405020304" pitchFamily="18" charset="0"/>
              </a:rPr>
              <a:t> car c’est le dernier element pour le moment </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nouveau-&gt;suivant = NULL;</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    return nouveau;</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b="0" strike="noStrike" spc="-1">
                <a:latin typeface="Times New Roman" panose="02020603050405020304" pitchFamily="18" charset="0"/>
                <a:cs typeface="Times New Roman" panose="02020603050405020304" pitchFamily="18" charset="0"/>
              </a:rPr>
              <a:t>}</a:t>
            </a: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67" name="Picture 73"/>
          <p:cNvPicPr/>
          <p:nvPr/>
        </p:nvPicPr>
        <p:blipFill>
          <a:blip r:embed="rId1"/>
          <a:stretch>
            <a:fillRect/>
          </a:stretch>
        </p:blipFill>
        <p:spPr>
          <a:xfrm>
            <a:off x="0" y="0"/>
            <a:ext cx="12191400" cy="6857280"/>
          </a:xfrm>
          <a:prstGeom prst="rect">
            <a:avLst/>
          </a:prstGeom>
          <a:ln>
            <a:noFill/>
          </a:ln>
        </p:spPr>
      </p:pic>
      <p:sp>
        <p:nvSpPr>
          <p:cNvPr id="36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69" name="CustomShape 3"/>
          <p:cNvSpPr/>
          <p:nvPr/>
        </p:nvSpPr>
        <p:spPr>
          <a:xfrm>
            <a:off x="495300" y="2611755"/>
            <a:ext cx="10917555" cy="429831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Affiche les </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l</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ments de la liste un par un</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void afficherListe(Liste tete) {</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Liste courant = tete;  // On part du d</a:t>
            </a:r>
            <a:r>
              <a:rPr lang="en-US" altLang="en-US" sz="2800" b="0" strike="noStrike" spc="-1">
                <a:latin typeface="Times New Roman" panose="02020603050405020304" pitchFamily="18" charset="0"/>
                <a:cs typeface="Times New Roman" panose="02020603050405020304" pitchFamily="18" charset="0"/>
              </a:rPr>
              <a:t>é</a:t>
            </a:r>
            <a:r>
              <a:rPr lang="en-US" altLang="fr-FR" sz="2800" b="0" strike="noStrike" spc="-1">
                <a:latin typeface="Times New Roman" panose="02020603050405020304" pitchFamily="18" charset="0"/>
                <a:cs typeface="Times New Roman" panose="02020603050405020304" pitchFamily="18" charset="0"/>
              </a:rPr>
              <a:t>but de la liste</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while (courant != NULL) {  // Tant qu’on n’atteint pas la fin (NULL)</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printf("%s -&gt; ", courant-&gt;info);  // Affiche la valeur</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courant = courant-&gt;suivant;       // Passe au n</a:t>
            </a:r>
            <a:r>
              <a:rPr lang="en-US" altLang="en-US" sz="2800" b="0" strike="noStrike" spc="-1">
                <a:latin typeface="Times New Roman" panose="02020603050405020304" pitchFamily="18" charset="0"/>
                <a:cs typeface="Times New Roman" panose="02020603050405020304" pitchFamily="18" charset="0"/>
              </a:rPr>
              <a:t>œ</a:t>
            </a:r>
            <a:r>
              <a:rPr lang="en-US" altLang="fr-FR" sz="2800" b="0" strike="noStrike" spc="-1">
                <a:latin typeface="Times New Roman" panose="02020603050405020304" pitchFamily="18" charset="0"/>
                <a:cs typeface="Times New Roman" panose="02020603050405020304" pitchFamily="18" charset="0"/>
              </a:rPr>
              <a:t>ud suivant</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    printf("NULL\n");  // Marque la fin de la liste</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r>
              <a:rPr lang="en-US" altLang="fr-FR" sz="2800" b="0" strike="noStrike" spc="-1">
                <a:latin typeface="Times New Roman" panose="02020603050405020304" pitchFamily="18" charset="0"/>
                <a:cs typeface="Times New Roman" panose="02020603050405020304" pitchFamily="18" charset="0"/>
              </a:rPr>
              <a:t>}</a:t>
            </a:r>
            <a:endParaRPr lang="en-US" altLang="fr-FR" sz="2800" b="0" strike="noStrike" spc="-1">
              <a:latin typeface="Times New Roman" panose="02020603050405020304" pitchFamily="18" charset="0"/>
              <a:cs typeface="Times New Roman" panose="02020603050405020304" pitchFamily="18" charset="0"/>
            </a:endParaRPr>
          </a:p>
          <a:p>
            <a:pPr algn="just">
              <a:lnSpc>
                <a:spcPct val="100000"/>
              </a:lnSpc>
            </a:pPr>
            <a:endParaRPr lang="en-US" alt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a:p>
            <a:pPr algn="just">
              <a:lnSpc>
                <a:spcPct val="100000"/>
              </a:lnSpc>
            </a:pPr>
            <a:endParaRPr lang="fr-FR" b="0" strike="noStrike" spc="-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1"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72" name="Picture 73"/>
          <p:cNvPicPr/>
          <p:nvPr/>
        </p:nvPicPr>
        <p:blipFill>
          <a:blip r:embed="rId1"/>
          <a:stretch>
            <a:fillRect/>
          </a:stretch>
        </p:blipFill>
        <p:spPr>
          <a:xfrm>
            <a:off x="0" y="0"/>
            <a:ext cx="12191400" cy="6857280"/>
          </a:xfrm>
          <a:prstGeom prst="rect">
            <a:avLst/>
          </a:prstGeom>
          <a:ln>
            <a:noFill/>
          </a:ln>
        </p:spPr>
      </p:pic>
      <p:sp>
        <p:nvSpPr>
          <p:cNvPr id="373"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74" name="CustomShape 3"/>
          <p:cNvSpPr/>
          <p:nvPr/>
        </p:nvSpPr>
        <p:spPr>
          <a:xfrm>
            <a:off x="355680" y="2417400"/>
            <a:ext cx="11105280" cy="393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1" strike="noStrike" spc="-1">
                <a:solidFill>
                  <a:srgbClr val="20282D"/>
                </a:solidFill>
                <a:latin typeface="Times New Roman" panose="02020603050405020304"/>
                <a:ea typeface="DejaVu Sans"/>
              </a:rPr>
              <a:t>Créer une liste chaînée composée de 2 éléments de type chaîne de caractères.</a:t>
            </a:r>
            <a:r>
              <a:rPr lang="fr-FR" sz="1800" b="0" strike="noStrike" spc="-1">
                <a:solidFill>
                  <a:srgbClr val="20282D"/>
                </a:solidFill>
                <a:latin typeface="Times New Roman" panose="02020603050405020304"/>
                <a:ea typeface="DejaVu Sans"/>
              </a:rPr>
              <a:t> Déclarations des types pour la liste :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Type Liste = ^Element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Type Element = Structure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Info :  chaîne de caractères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Suivant :  Liste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Fin structure </a:t>
            </a: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p:txBody>
      </p:sp>
      <p:pic>
        <p:nvPicPr>
          <p:cNvPr id="375" name="Image 2"/>
          <p:cNvPicPr/>
          <p:nvPr/>
        </p:nvPicPr>
        <p:blipFill>
          <a:blip r:embed="rId2"/>
          <a:stretch>
            <a:fillRect/>
          </a:stretch>
        </p:blipFill>
        <p:spPr>
          <a:xfrm>
            <a:off x="3650040" y="3976920"/>
            <a:ext cx="8185320" cy="2880360"/>
          </a:xfrm>
          <a:prstGeom prst="rect">
            <a:avLst/>
          </a:prstGeom>
          <a:ln>
            <a:noFill/>
          </a:ln>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6"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77" name="Picture 73"/>
          <p:cNvPicPr/>
          <p:nvPr/>
        </p:nvPicPr>
        <p:blipFill>
          <a:blip r:embed="rId1"/>
          <a:stretch>
            <a:fillRect/>
          </a:stretch>
        </p:blipFill>
        <p:spPr>
          <a:xfrm>
            <a:off x="0" y="0"/>
            <a:ext cx="12191400" cy="6857280"/>
          </a:xfrm>
          <a:prstGeom prst="rect">
            <a:avLst/>
          </a:prstGeom>
          <a:ln>
            <a:noFill/>
          </a:ln>
        </p:spPr>
      </p:pic>
      <p:sp>
        <p:nvSpPr>
          <p:cNvPr id="378"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79" name="CustomShape 3"/>
          <p:cNvSpPr/>
          <p:nvPr/>
        </p:nvSpPr>
        <p:spPr>
          <a:xfrm>
            <a:off x="355680" y="2417400"/>
            <a:ext cx="10917360" cy="420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1" strike="noStrike" spc="-1">
                <a:solidFill>
                  <a:srgbClr val="20282D"/>
                </a:solidFill>
                <a:latin typeface="Times New Roman" panose="02020603050405020304"/>
                <a:ea typeface="DejaVu Sans"/>
              </a:rPr>
              <a:t>Créer une liste chaînée composée de 2 éléments de type chaîne de caractères.</a:t>
            </a:r>
            <a:r>
              <a:rPr lang="fr-FR" sz="1800" b="0" strike="noStrike" spc="-1">
                <a:solidFill>
                  <a:srgbClr val="20282D"/>
                </a:solidFill>
                <a:latin typeface="Times New Roman" panose="02020603050405020304"/>
                <a:ea typeface="DejaVu Sans"/>
              </a:rPr>
              <a:t> Déclarations des types pour la liste :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Type Liste = ^Element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Type Element = Structure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Info :  chaîne de caractères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Suivant :  Liste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Fin structure </a:t>
            </a: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p:txBody>
      </p:sp>
      <p:pic>
        <p:nvPicPr>
          <p:cNvPr id="380" name="Image 2"/>
          <p:cNvPicPr/>
          <p:nvPr/>
        </p:nvPicPr>
        <p:blipFill>
          <a:blip r:embed="rId2"/>
          <a:stretch>
            <a:fillRect/>
          </a:stretch>
        </p:blipFill>
        <p:spPr>
          <a:xfrm>
            <a:off x="3650040" y="3976920"/>
            <a:ext cx="8185320" cy="2880360"/>
          </a:xfrm>
          <a:prstGeom prst="rect">
            <a:avLst/>
          </a:prstGeom>
          <a:ln>
            <a:noFill/>
          </a:ln>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1"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82" name="Picture 73"/>
          <p:cNvPicPr/>
          <p:nvPr/>
        </p:nvPicPr>
        <p:blipFill>
          <a:blip r:embed="rId1"/>
          <a:stretch>
            <a:fillRect/>
          </a:stretch>
        </p:blipFill>
        <p:spPr>
          <a:xfrm>
            <a:off x="0" y="0"/>
            <a:ext cx="12191400" cy="6857280"/>
          </a:xfrm>
          <a:prstGeom prst="rect">
            <a:avLst/>
          </a:prstGeom>
          <a:ln>
            <a:noFill/>
          </a:ln>
        </p:spPr>
      </p:pic>
      <p:sp>
        <p:nvSpPr>
          <p:cNvPr id="383"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84" name="CustomShape 3"/>
          <p:cNvSpPr/>
          <p:nvPr/>
        </p:nvSpPr>
        <p:spPr>
          <a:xfrm>
            <a:off x="636840" y="2606400"/>
            <a:ext cx="10917360" cy="502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1" strike="noStrike" spc="-1">
                <a:solidFill>
                  <a:srgbClr val="20282D"/>
                </a:solidFill>
                <a:latin typeface="Times New Roman" panose="02020603050405020304"/>
                <a:ea typeface="DejaVu Sans"/>
              </a:rPr>
              <a:t>Créer une liste chaînée composée de plusieurs éléments de type chaîne de caractères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Déclarations des types pour la liste :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Type Liste = ^Element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Type Element = Structure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Info :  chaîne de caractères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Suivant :  Liste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fin Structure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Pour  créer  une  liste  chaînée  contenant  un  nombre  d'éléments  à  préciser  par  l'utilisateur  il  suffit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d'introduire deux variables de type Entier NombreEltet Compteur</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de faire saisir la valeur de NombreEltpar l'utilisateur dès le début du programme,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d'écrire une boucle Pour  Compteur allant de 1 à NombreElt comprenant les instructions 6, 7, 8 et 9. </a:t>
            </a: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5"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86" name="Picture 73"/>
          <p:cNvPicPr/>
          <p:nvPr/>
        </p:nvPicPr>
        <p:blipFill>
          <a:blip r:embed="rId1"/>
          <a:stretch>
            <a:fillRect/>
          </a:stretch>
        </p:blipFill>
        <p:spPr>
          <a:xfrm>
            <a:off x="0" y="0"/>
            <a:ext cx="12191400" cy="6857280"/>
          </a:xfrm>
          <a:prstGeom prst="rect">
            <a:avLst/>
          </a:prstGeom>
          <a:ln>
            <a:noFill/>
          </a:ln>
        </p:spPr>
      </p:pic>
      <p:sp>
        <p:nvSpPr>
          <p:cNvPr id="387"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pic>
        <p:nvPicPr>
          <p:cNvPr id="388" name="Image 1"/>
          <p:cNvPicPr/>
          <p:nvPr/>
        </p:nvPicPr>
        <p:blipFill>
          <a:blip r:embed="rId2"/>
          <a:stretch>
            <a:fillRect/>
          </a:stretch>
        </p:blipFill>
        <p:spPr>
          <a:xfrm>
            <a:off x="579960" y="2632680"/>
            <a:ext cx="5583600" cy="2127600"/>
          </a:xfrm>
          <a:prstGeom prst="rect">
            <a:avLst/>
          </a:prstGeom>
          <a:ln>
            <a:noFill/>
          </a:ln>
        </p:spPr>
      </p:pic>
      <p:pic>
        <p:nvPicPr>
          <p:cNvPr id="389" name="Image 2"/>
          <p:cNvPicPr/>
          <p:nvPr/>
        </p:nvPicPr>
        <p:blipFill>
          <a:blip r:embed="rId3"/>
          <a:stretch>
            <a:fillRect/>
          </a:stretch>
        </p:blipFill>
        <p:spPr>
          <a:xfrm>
            <a:off x="5729760" y="4277535"/>
            <a:ext cx="6105600" cy="2274840"/>
          </a:xfrm>
          <a:prstGeom prst="rect">
            <a:avLst/>
          </a:prstGeom>
          <a:ln>
            <a:noFill/>
          </a:ln>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0"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91" name="Picture 73"/>
          <p:cNvPicPr/>
          <p:nvPr/>
        </p:nvPicPr>
        <p:blipFill>
          <a:blip r:embed="rId1"/>
          <a:stretch>
            <a:fillRect/>
          </a:stretch>
        </p:blipFill>
        <p:spPr>
          <a:xfrm>
            <a:off x="0" y="0"/>
            <a:ext cx="12191400" cy="6857280"/>
          </a:xfrm>
          <a:prstGeom prst="rect">
            <a:avLst/>
          </a:prstGeom>
          <a:ln>
            <a:noFill/>
          </a:ln>
        </p:spPr>
      </p:pic>
      <p:sp>
        <p:nvSpPr>
          <p:cNvPr id="392"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93" name="CustomShape 3"/>
          <p:cNvSpPr/>
          <p:nvPr/>
        </p:nvSpPr>
        <p:spPr>
          <a:xfrm>
            <a:off x="355680" y="2490840"/>
            <a:ext cx="10917360" cy="201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1" strike="noStrike" spc="-1">
                <a:solidFill>
                  <a:srgbClr val="20282D"/>
                </a:solidFill>
                <a:latin typeface="Times New Roman" panose="02020603050405020304"/>
                <a:ea typeface="DejaVu Sans"/>
              </a:rPr>
              <a:t>Afficher les éléments d'une liste chaînée</a:t>
            </a: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p:txBody>
      </p:sp>
      <p:pic>
        <p:nvPicPr>
          <p:cNvPr id="394" name="Image 4"/>
          <p:cNvPicPr/>
          <p:nvPr/>
        </p:nvPicPr>
        <p:blipFill>
          <a:blip r:embed="rId2"/>
          <a:stretch>
            <a:fillRect/>
          </a:stretch>
        </p:blipFill>
        <p:spPr>
          <a:xfrm>
            <a:off x="4800240" y="2490840"/>
            <a:ext cx="5068440" cy="4366440"/>
          </a:xfrm>
          <a:prstGeom prst="rect">
            <a:avLst/>
          </a:prstGeom>
          <a:ln>
            <a:noFill/>
          </a:ln>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5"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96" name="Picture 73"/>
          <p:cNvPicPr/>
          <p:nvPr/>
        </p:nvPicPr>
        <p:blipFill>
          <a:blip r:embed="rId1"/>
          <a:stretch>
            <a:fillRect/>
          </a:stretch>
        </p:blipFill>
        <p:spPr>
          <a:xfrm>
            <a:off x="0" y="0"/>
            <a:ext cx="12191400" cy="6857280"/>
          </a:xfrm>
          <a:prstGeom prst="rect">
            <a:avLst/>
          </a:prstGeom>
          <a:ln>
            <a:noFill/>
          </a:ln>
        </p:spPr>
      </p:pic>
      <p:sp>
        <p:nvSpPr>
          <p:cNvPr id="397"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398" name="CustomShape 3"/>
          <p:cNvSpPr/>
          <p:nvPr/>
        </p:nvSpPr>
        <p:spPr>
          <a:xfrm>
            <a:off x="636840" y="2754000"/>
            <a:ext cx="10917360" cy="420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1" strike="noStrike" spc="-1">
                <a:solidFill>
                  <a:srgbClr val="20282D"/>
                </a:solidFill>
                <a:latin typeface="Times New Roman" panose="02020603050405020304"/>
                <a:ea typeface="DejaVu Sans"/>
              </a:rPr>
              <a:t>Rechercher une valeur donnée dans une liste chaînée ordonnée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Dans cet exemple nous reprenons le cas de la liste chaînée contenant des éléments de type chaine de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caractères,  mais  ce  pourrait  être  tout  autre  type,  selon  celui  déterminé  à  la  création  de  la  liste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(rappelons que tous les éléments d'une liste chaînée doivent avoir le même type). La liste va être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parcourue  à  partir  de  son  premier  élément  (celui  pointé  par  le  pointeur  de  tête).  Il  a  deux  cas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d’arrêt :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avoir trouvé la valeur de l'élément, </a:t>
            </a:r>
            <a:endParaRPr lang="fr-FR" sz="1800" b="0" strike="noStrike" spc="-1">
              <a:latin typeface="Arial" panose="020B0604020202020204"/>
            </a:endParaRPr>
          </a:p>
          <a:p>
            <a:pPr marL="285750" indent="-285115">
              <a:lnSpc>
                <a:spcPct val="100000"/>
              </a:lnSpc>
              <a:buClr>
                <a:srgbClr val="20282D"/>
              </a:buClr>
              <a:buFont typeface="Wingdings" panose="05000000000000000000" pitchFamily="2" charset="2"/>
              <a:buChar char=""/>
            </a:pPr>
            <a:r>
              <a:rPr lang="fr-FR" sz="1800" b="0" strike="noStrike" spc="-1">
                <a:solidFill>
                  <a:srgbClr val="20282D"/>
                </a:solidFill>
                <a:latin typeface="Times New Roman" panose="02020603050405020304"/>
                <a:ea typeface="DejaVu Sans"/>
              </a:rPr>
              <a:t>avoir atteint la fin de la liste.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L'algorithme est donné sous forme d'une procédure qui reçoit la tête de liste en paramètre. La valeur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à chercher est lue dans la procédure. </a:t>
            </a: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400" name="Picture 73"/>
          <p:cNvPicPr/>
          <p:nvPr/>
        </p:nvPicPr>
        <p:blipFill>
          <a:blip r:embed="rId1"/>
          <a:stretch>
            <a:fillRect/>
          </a:stretch>
        </p:blipFill>
        <p:spPr>
          <a:xfrm>
            <a:off x="0" y="0"/>
            <a:ext cx="12191400" cy="6857280"/>
          </a:xfrm>
          <a:prstGeom prst="rect">
            <a:avLst/>
          </a:prstGeom>
          <a:ln>
            <a:noFill/>
          </a:ln>
        </p:spPr>
      </p:pic>
      <p:sp>
        <p:nvSpPr>
          <p:cNvPr id="401"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pic>
        <p:nvPicPr>
          <p:cNvPr id="402" name="Image 1"/>
          <p:cNvPicPr/>
          <p:nvPr/>
        </p:nvPicPr>
        <p:blipFill>
          <a:blip r:embed="rId2"/>
          <a:stretch>
            <a:fillRect/>
          </a:stretch>
        </p:blipFill>
        <p:spPr>
          <a:xfrm>
            <a:off x="2923560" y="2506680"/>
            <a:ext cx="6472080" cy="4129920"/>
          </a:xfrm>
          <a:prstGeom prst="rect">
            <a:avLst/>
          </a:prstGeom>
          <a:ln>
            <a:noFill/>
          </a:ln>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404" name="Picture 73"/>
          <p:cNvPicPr/>
          <p:nvPr/>
        </p:nvPicPr>
        <p:blipFill>
          <a:blip r:embed="rId1"/>
          <a:stretch>
            <a:fillRect/>
          </a:stretch>
        </p:blipFill>
        <p:spPr>
          <a:xfrm>
            <a:off x="0" y="0"/>
            <a:ext cx="12191400" cy="6857280"/>
          </a:xfrm>
          <a:prstGeom prst="rect">
            <a:avLst/>
          </a:prstGeom>
          <a:ln>
            <a:noFill/>
          </a:ln>
        </p:spPr>
      </p:pic>
      <p:sp>
        <p:nvSpPr>
          <p:cNvPr id="40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406" name="CustomShape 3"/>
          <p:cNvSpPr/>
          <p:nvPr/>
        </p:nvSpPr>
        <p:spPr>
          <a:xfrm>
            <a:off x="495000" y="2470320"/>
            <a:ext cx="10917360" cy="1461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1" strike="noStrike" spc="-1">
                <a:solidFill>
                  <a:srgbClr val="20282D"/>
                </a:solidFill>
                <a:latin typeface="Times New Roman" panose="02020603050405020304"/>
                <a:ea typeface="DejaVu Sans"/>
              </a:rPr>
              <a:t>Supprimer le premier élément d'une liste chaînée </a:t>
            </a: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p:txBody>
      </p:sp>
      <p:pic>
        <p:nvPicPr>
          <p:cNvPr id="407" name="Image 1"/>
          <p:cNvPicPr/>
          <p:nvPr/>
        </p:nvPicPr>
        <p:blipFill>
          <a:blip r:embed="rId2"/>
          <a:stretch>
            <a:fillRect/>
          </a:stretch>
        </p:blipFill>
        <p:spPr>
          <a:xfrm>
            <a:off x="4284360" y="2864160"/>
            <a:ext cx="5530680" cy="3993120"/>
          </a:xfrm>
          <a:prstGeom prst="rect">
            <a:avLst/>
          </a:prstGeom>
          <a:ln>
            <a:noFill/>
          </a:ln>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8"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409" name="Picture 73"/>
          <p:cNvPicPr/>
          <p:nvPr/>
        </p:nvPicPr>
        <p:blipFill>
          <a:blip r:embed="rId1"/>
          <a:stretch>
            <a:fillRect/>
          </a:stretch>
        </p:blipFill>
        <p:spPr>
          <a:xfrm>
            <a:off x="0" y="0"/>
            <a:ext cx="12191400" cy="6857280"/>
          </a:xfrm>
          <a:prstGeom prst="rect">
            <a:avLst/>
          </a:prstGeom>
          <a:ln>
            <a:noFill/>
          </a:ln>
        </p:spPr>
      </p:pic>
      <p:sp>
        <p:nvSpPr>
          <p:cNvPr id="410"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sp>
        <p:nvSpPr>
          <p:cNvPr id="411" name="CustomShape 3"/>
          <p:cNvSpPr/>
          <p:nvPr/>
        </p:nvSpPr>
        <p:spPr>
          <a:xfrm>
            <a:off x="495000" y="2470320"/>
            <a:ext cx="10917360" cy="3381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1" strike="noStrike" spc="-1">
                <a:solidFill>
                  <a:srgbClr val="20282D"/>
                </a:solidFill>
                <a:latin typeface="Times New Roman" panose="02020603050405020304"/>
                <a:ea typeface="DejaVu Sans"/>
              </a:rPr>
              <a:t>Supprimer d'une liste chaînée un élément portant une valeur donnée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Il faut: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traiter à part la suppression du premier élément car il faut modifier le pointeur de tête,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trouver l'adresse Pde l'élément à supprimer,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sauvegarder  l'adresse  Prec de  l'élément  précédant  l'élément  pointé  par  P pour  connaître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l'adresse de l'élément précédant l'élément à supprimer, puis faire pointer l'élément précédent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sur l'élément suivant l'élément à supprimer,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  Libérer l'espace mémoire occupé par l'élément supprimé. </a:t>
            </a:r>
            <a:endParaRPr lang="fr-FR" sz="1800" b="0" strike="noStrike" spc="-1">
              <a:latin typeface="Arial" panose="020B0604020202020204"/>
            </a:endParaRPr>
          </a:p>
          <a:p>
            <a:pPr>
              <a:lnSpc>
                <a:spcPct val="100000"/>
              </a:lnSpc>
            </a:pPr>
            <a:r>
              <a:rPr lang="fr-FR" sz="1800" b="0" strike="noStrike" spc="-1">
                <a:solidFill>
                  <a:srgbClr val="20282D"/>
                </a:solidFill>
                <a:latin typeface="Times New Roman" panose="02020603050405020304"/>
                <a:ea typeface="DejaVu Sans"/>
              </a:rPr>
              <a:t>L'exemple considère que l'on souhaite supprimer l'élément contenant la valeur "liste" de la liste ci-dessus. </a:t>
            </a: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a:p>
            <a:pPr>
              <a:lnSpc>
                <a:spcPct val="100000"/>
              </a:lnSpc>
            </a:pPr>
            <a:endParaRPr lang="fr-FR" sz="1800" b="0" strike="noStrike" spc="-1">
              <a:latin typeface="Arial" panose="020B0604020202020204"/>
            </a:endParaRPr>
          </a:p>
        </p:txBody>
      </p:sp>
      <p:pic>
        <p:nvPicPr>
          <p:cNvPr id="412" name="Image 2"/>
          <p:cNvPicPr/>
          <p:nvPr/>
        </p:nvPicPr>
        <p:blipFill>
          <a:blip r:embed="rId2"/>
          <a:stretch>
            <a:fillRect/>
          </a:stretch>
        </p:blipFill>
        <p:spPr>
          <a:xfrm>
            <a:off x="3972600" y="5223960"/>
            <a:ext cx="4382640" cy="1407240"/>
          </a:xfrm>
          <a:prstGeom prst="rect">
            <a:avLst/>
          </a:prstGeom>
          <a:ln>
            <a:noFill/>
          </a:ln>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3" name="CustomShape 1"/>
          <p:cNvSpPr/>
          <p:nvPr/>
        </p:nvSpPr>
        <p:spPr>
          <a:xfrm>
            <a:off x="355680" y="0"/>
            <a:ext cx="11479680" cy="2753280"/>
          </a:xfrm>
          <a:prstGeom prst="rect">
            <a:avLst/>
          </a:prstGeom>
          <a:gradFill rotWithShape="0">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414" name="Picture 73"/>
          <p:cNvPicPr/>
          <p:nvPr/>
        </p:nvPicPr>
        <p:blipFill>
          <a:blip r:embed="rId1"/>
          <a:stretch>
            <a:fillRect/>
          </a:stretch>
        </p:blipFill>
        <p:spPr>
          <a:xfrm>
            <a:off x="0" y="0"/>
            <a:ext cx="12191400" cy="6857280"/>
          </a:xfrm>
          <a:prstGeom prst="rect">
            <a:avLst/>
          </a:prstGeom>
          <a:ln>
            <a:noFill/>
          </a:ln>
        </p:spPr>
      </p:pic>
      <p:sp>
        <p:nvSpPr>
          <p:cNvPr id="415" name="CustomShape 2"/>
          <p:cNvSpPr/>
          <p:nvPr/>
        </p:nvSpPr>
        <p:spPr>
          <a:xfrm>
            <a:off x="1179360" y="826560"/>
            <a:ext cx="98326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fr-FR" sz="4000" b="0" strike="noStrike" spc="-1">
                <a:solidFill>
                  <a:srgbClr val="FFFFFF"/>
                </a:solidFill>
                <a:latin typeface="Times New Roman" panose="02020603050405020304"/>
              </a:rPr>
              <a:t>Listes chaînées simples</a:t>
            </a:r>
            <a:endParaRPr lang="fr-FR" sz="4000" b="0" strike="noStrike" spc="-1">
              <a:latin typeface="Arial" panose="020B0604020202020204"/>
            </a:endParaRPr>
          </a:p>
        </p:txBody>
      </p:sp>
      <p:pic>
        <p:nvPicPr>
          <p:cNvPr id="416" name="Image 1"/>
          <p:cNvPicPr/>
          <p:nvPr/>
        </p:nvPicPr>
        <p:blipFill>
          <a:blip r:embed="rId2"/>
          <a:stretch>
            <a:fillRect/>
          </a:stretch>
        </p:blipFill>
        <p:spPr>
          <a:xfrm>
            <a:off x="2869200" y="2512440"/>
            <a:ext cx="5627520" cy="4344840"/>
          </a:xfrm>
          <a:prstGeom prst="rect">
            <a:avLst/>
          </a:prstGeom>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0515A"/>
      </a:dk2>
      <a:lt2>
        <a:srgbClr val="8C9CA6"/>
      </a:lt2>
      <a:accent1>
        <a:srgbClr val="0095CD"/>
      </a:accent1>
      <a:accent2>
        <a:srgbClr val="324D5E"/>
      </a:accent2>
      <a:accent3>
        <a:srgbClr val="F17C3F"/>
      </a:accent3>
      <a:accent4>
        <a:srgbClr val="7BB21B"/>
      </a:accent4>
      <a:accent5>
        <a:srgbClr val="814E7E"/>
      </a:accent5>
      <a:accent6>
        <a:srgbClr val="9D121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0515A"/>
      </a:dk2>
      <a:lt2>
        <a:srgbClr val="8C9CA6"/>
      </a:lt2>
      <a:accent1>
        <a:srgbClr val="0095CD"/>
      </a:accent1>
      <a:accent2>
        <a:srgbClr val="324D5E"/>
      </a:accent2>
      <a:accent3>
        <a:srgbClr val="F17C3F"/>
      </a:accent3>
      <a:accent4>
        <a:srgbClr val="7BB21B"/>
      </a:accent4>
      <a:accent5>
        <a:srgbClr val="814E7E"/>
      </a:accent5>
      <a:accent6>
        <a:srgbClr val="9D121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0515A"/>
      </a:dk2>
      <a:lt2>
        <a:srgbClr val="8C9CA6"/>
      </a:lt2>
      <a:accent1>
        <a:srgbClr val="0095CD"/>
      </a:accent1>
      <a:accent2>
        <a:srgbClr val="324D5E"/>
      </a:accent2>
      <a:accent3>
        <a:srgbClr val="F17C3F"/>
      </a:accent3>
      <a:accent4>
        <a:srgbClr val="7BB21B"/>
      </a:accent4>
      <a:accent5>
        <a:srgbClr val="814E7E"/>
      </a:accent5>
      <a:accent6>
        <a:srgbClr val="9D121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0515A"/>
      </a:dk2>
      <a:lt2>
        <a:srgbClr val="8C9CA6"/>
      </a:lt2>
      <a:accent1>
        <a:srgbClr val="0095CD"/>
      </a:accent1>
      <a:accent2>
        <a:srgbClr val="324D5E"/>
      </a:accent2>
      <a:accent3>
        <a:srgbClr val="F17C3F"/>
      </a:accent3>
      <a:accent4>
        <a:srgbClr val="7BB21B"/>
      </a:accent4>
      <a:accent5>
        <a:srgbClr val="814E7E"/>
      </a:accent5>
      <a:accent6>
        <a:srgbClr val="9D121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0515A"/>
      </a:dk2>
      <a:lt2>
        <a:srgbClr val="8C9CA6"/>
      </a:lt2>
      <a:accent1>
        <a:srgbClr val="0095CD"/>
      </a:accent1>
      <a:accent2>
        <a:srgbClr val="324D5E"/>
      </a:accent2>
      <a:accent3>
        <a:srgbClr val="F17C3F"/>
      </a:accent3>
      <a:accent4>
        <a:srgbClr val="7BB21B"/>
      </a:accent4>
      <a:accent5>
        <a:srgbClr val="814E7E"/>
      </a:accent5>
      <a:accent6>
        <a:srgbClr val="9D121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48115</Words>
  <Application>WPS Presentation</Application>
  <PresentationFormat>Grand écran</PresentationFormat>
  <Paragraphs>1565</Paragraphs>
  <Slides>130</Slides>
  <Notes>2</Notes>
  <HiddenSlides>0</HiddenSlides>
  <MMClips>0</MMClips>
  <ScaleCrop>false</ScaleCrop>
  <HeadingPairs>
    <vt:vector size="6" baseType="variant">
      <vt:variant>
        <vt:lpstr>已用的字体</vt:lpstr>
      </vt:variant>
      <vt:variant>
        <vt:i4>16</vt:i4>
      </vt:variant>
      <vt:variant>
        <vt:lpstr>主题</vt:lpstr>
      </vt:variant>
      <vt:variant>
        <vt:i4>4</vt:i4>
      </vt:variant>
      <vt:variant>
        <vt:lpstr>幻灯片标题</vt:lpstr>
      </vt:variant>
      <vt:variant>
        <vt:i4>130</vt:i4>
      </vt:variant>
    </vt:vector>
  </HeadingPairs>
  <TitlesOfParts>
    <vt:vector size="150" baseType="lpstr">
      <vt:lpstr>Arial</vt:lpstr>
      <vt:lpstr>SimSun</vt:lpstr>
      <vt:lpstr>Wingdings</vt:lpstr>
      <vt:lpstr>Calibri</vt:lpstr>
      <vt:lpstr>DejaVu Sans</vt:lpstr>
      <vt:lpstr>Calibri</vt:lpstr>
      <vt:lpstr>Arial</vt:lpstr>
      <vt:lpstr>Symbol</vt:lpstr>
      <vt:lpstr>Times New Roman</vt:lpstr>
      <vt:lpstr>Garamand</vt:lpstr>
      <vt:lpstr>Segoe Print</vt:lpstr>
      <vt:lpstr>Times New Roman</vt:lpstr>
      <vt:lpstr>var(--global-heading-font-family)</vt:lpstr>
      <vt:lpstr>Microsoft YaHei</vt:lpstr>
      <vt:lpstr>Arial Unicode MS</vt:lpstr>
      <vt:lpstr>Wingdings</vt:lpstr>
      <vt:lpstr>Office Theme</vt:lpstr>
      <vt:lpstr>Office Theme</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Généralités sur UML</dc:title>
  <dc:creator>SOUKAINA</dc:creator>
  <cp:lastModifiedBy>LENOVO</cp:lastModifiedBy>
  <cp:revision>178</cp:revision>
  <dcterms:created xsi:type="dcterms:W3CDTF">2019-02-10T20:30:00Z</dcterms:created>
  <dcterms:modified xsi:type="dcterms:W3CDTF">2025-04-23T11:18:58Z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Grand écran</vt:lpwstr>
  </property>
  <property fmtid="{D5CDD505-2E9C-101B-9397-08002B2CF9AE}" pid="9" name="ScaleCrop">
    <vt:bool>false</vt:bool>
  </property>
  <property fmtid="{D5CDD505-2E9C-101B-9397-08002B2CF9AE}" pid="10" name="ShareDoc">
    <vt:bool>false</vt:bool>
  </property>
  <property fmtid="{D5CDD505-2E9C-101B-9397-08002B2CF9AE}" pid="11" name="Slides">
    <vt:i4>51</vt:i4>
  </property>
  <property fmtid="{D5CDD505-2E9C-101B-9397-08002B2CF9AE}" pid="12" name="ICV">
    <vt:lpwstr>3C7B7141A7AE4D3BAE0E720D6202C8AA_13</vt:lpwstr>
  </property>
  <property fmtid="{D5CDD505-2E9C-101B-9397-08002B2CF9AE}" pid="13" name="KSOProductBuildVer">
    <vt:lpwstr>1036-12.2.0.20795</vt:lpwstr>
  </property>
</Properties>
</file>